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565" r:id="rId2"/>
    <p:sldId id="4320" r:id="rId3"/>
    <p:sldId id="4317" r:id="rId4"/>
    <p:sldId id="257" r:id="rId5"/>
    <p:sldId id="4318" r:id="rId6"/>
    <p:sldId id="4321" r:id="rId7"/>
    <p:sldId id="261" r:id="rId8"/>
    <p:sldId id="262" r:id="rId9"/>
    <p:sldId id="263" r:id="rId10"/>
    <p:sldId id="4331" r:id="rId11"/>
    <p:sldId id="4330" r:id="rId12"/>
    <p:sldId id="4395" r:id="rId13"/>
    <p:sldId id="264" r:id="rId14"/>
    <p:sldId id="4453" r:id="rId15"/>
    <p:sldId id="4394" r:id="rId16"/>
    <p:sldId id="258" r:id="rId17"/>
    <p:sldId id="4352" r:id="rId18"/>
    <p:sldId id="4454" r:id="rId19"/>
    <p:sldId id="4452" r:id="rId20"/>
    <p:sldId id="4319" r:id="rId21"/>
    <p:sldId id="4322" r:id="rId22"/>
    <p:sldId id="265" r:id="rId23"/>
    <p:sldId id="4332" r:id="rId24"/>
    <p:sldId id="4393" r:id="rId25"/>
    <p:sldId id="4333" r:id="rId26"/>
    <p:sldId id="4334" r:id="rId27"/>
    <p:sldId id="260" r:id="rId28"/>
    <p:sldId id="4335" r:id="rId29"/>
    <p:sldId id="4348" r:id="rId30"/>
    <p:sldId id="4349" r:id="rId31"/>
    <p:sldId id="4350" r:id="rId32"/>
    <p:sldId id="4351" r:id="rId33"/>
    <p:sldId id="4340" r:id="rId34"/>
    <p:sldId id="266" r:id="rId35"/>
    <p:sldId id="4397" r:id="rId36"/>
    <p:sldId id="4398" r:id="rId37"/>
    <p:sldId id="4390" r:id="rId38"/>
    <p:sldId id="267" r:id="rId39"/>
    <p:sldId id="277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1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69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07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obsidian.md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52561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F286-934A-3E2C-D40D-78926EF9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69BEB-4C02-FD09-3196-54D88A9448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E4E8B-FC27-5770-259F-AF01518D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0D5BDE-E0C0-8AC9-04D7-B6B8F8ED3DA6}"/>
              </a:ext>
            </a:extLst>
          </p:cNvPr>
          <p:cNvSpPr/>
          <p:nvPr/>
        </p:nvSpPr>
        <p:spPr>
          <a:xfrm>
            <a:off x="293914" y="793804"/>
            <a:ext cx="60535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PERSONAL AI AGENT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C04CB-00A7-8F65-7DCD-5450BA9C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7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A577-EEC2-DB1C-51DE-053DEA27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60928B-28B9-C19B-74EA-AB5E53CA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C316B-C597-D186-B6F2-4F9B27D60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1812172-9E6A-3A39-E5F2-045A88857CD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The Rise of Autonomous AI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7EB13-B5C2-3A77-E970-9AED2BACE51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EFCE2D-7A83-E198-7B75-8F3A8174E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EBE777E0-73B8-8F29-B08F-9179931D1222}"/>
              </a:ext>
            </a:extLst>
          </p:cNvPr>
          <p:cNvSpPr/>
          <p:nvPr/>
        </p:nvSpPr>
        <p:spPr>
          <a:xfrm>
            <a:off x="455149" y="3243225"/>
            <a:ext cx="11184400" cy="883939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527733D-0948-4125-C843-6159F7C05882}"/>
              </a:ext>
            </a:extLst>
          </p:cNvPr>
          <p:cNvSpPr/>
          <p:nvPr/>
        </p:nvSpPr>
        <p:spPr>
          <a:xfrm>
            <a:off x="820909" y="3426105"/>
            <a:ext cx="1584960" cy="48768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1265435-F3F8-8A9F-2978-94A9EF4275EB}"/>
              </a:ext>
            </a:extLst>
          </p:cNvPr>
          <p:cNvSpPr/>
          <p:nvPr/>
        </p:nvSpPr>
        <p:spPr>
          <a:xfrm>
            <a:off x="820909" y="3426105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FEB 2026</a:t>
            </a:r>
            <a:endParaRPr lang="en-US" sz="13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E18AC73-77C0-3A2D-1103-BFA99F0204F6}"/>
              </a:ext>
            </a:extLst>
          </p:cNvPr>
          <p:cNvSpPr/>
          <p:nvPr/>
        </p:nvSpPr>
        <p:spPr>
          <a:xfrm>
            <a:off x="2649709" y="3243225"/>
            <a:ext cx="8290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founder joins OpenAI &amp; Hermes Agent Started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C7DE2FD-4F73-4D54-FFF9-B9C8706787D3}"/>
              </a:ext>
            </a:extLst>
          </p:cNvPr>
          <p:cNvSpPr/>
          <p:nvPr/>
        </p:nvSpPr>
        <p:spPr>
          <a:xfrm>
            <a:off x="2649709" y="3694329"/>
            <a:ext cx="886601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OpenClaw's creator joins Sam Altman's team to "drive the next generation of personal agents."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14C74CE-5B63-F1DB-2D65-CF6097D99AA7}"/>
              </a:ext>
            </a:extLst>
          </p:cNvPr>
          <p:cNvSpPr/>
          <p:nvPr/>
        </p:nvSpPr>
        <p:spPr>
          <a:xfrm>
            <a:off x="455149" y="4310044"/>
            <a:ext cx="11184400" cy="85344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C7FDFEB-8B2D-33DF-A146-94A57A268B4F}"/>
              </a:ext>
            </a:extLst>
          </p:cNvPr>
          <p:cNvSpPr/>
          <p:nvPr/>
        </p:nvSpPr>
        <p:spPr>
          <a:xfrm>
            <a:off x="820909" y="4492924"/>
            <a:ext cx="1584960" cy="48768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E9A58E1-BB2D-0DFC-F725-3F4D254B4051}"/>
              </a:ext>
            </a:extLst>
          </p:cNvPr>
          <p:cNvSpPr/>
          <p:nvPr/>
        </p:nvSpPr>
        <p:spPr>
          <a:xfrm>
            <a:off x="820909" y="4492924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MAR 17</a:t>
            </a:r>
            <a:endParaRPr lang="en-US" sz="13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B9AD0DE-DCA5-7099-AF2C-945F2DE13F94}"/>
              </a:ext>
            </a:extLst>
          </p:cNvPr>
          <p:cNvSpPr/>
          <p:nvPr/>
        </p:nvSpPr>
        <p:spPr>
          <a:xfrm>
            <a:off x="2649709" y="4310044"/>
            <a:ext cx="8290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Dispatch Launches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0587A64-C068-63C8-8D70-0CB0E692DA1F}"/>
              </a:ext>
            </a:extLst>
          </p:cNvPr>
          <p:cNvSpPr/>
          <p:nvPr/>
        </p:nvSpPr>
        <p:spPr>
          <a:xfrm>
            <a:off x="2649709" y="4761148"/>
            <a:ext cx="8290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Anthropic's answer to </a:t>
            </a:r>
            <a:r>
              <a:rPr lang="en-US" sz="1400" dirty="0" err="1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400" dirty="0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; control your agent from your phone.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EE476795-2A42-97DA-B704-4F30CDB8F3A5}"/>
              </a:ext>
            </a:extLst>
          </p:cNvPr>
          <p:cNvSpPr/>
          <p:nvPr/>
        </p:nvSpPr>
        <p:spPr>
          <a:xfrm>
            <a:off x="455148" y="5346364"/>
            <a:ext cx="11184399" cy="768096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75B5DA66-CDF7-160D-2CA4-CD318FD564EF}"/>
              </a:ext>
            </a:extLst>
          </p:cNvPr>
          <p:cNvSpPr/>
          <p:nvPr/>
        </p:nvSpPr>
        <p:spPr>
          <a:xfrm>
            <a:off x="820909" y="5504860"/>
            <a:ext cx="1584960" cy="48768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1C545D8-A882-48ED-EAE8-303716DAF435}"/>
              </a:ext>
            </a:extLst>
          </p:cNvPr>
          <p:cNvSpPr/>
          <p:nvPr/>
        </p:nvSpPr>
        <p:spPr>
          <a:xfrm>
            <a:off x="820909" y="5504860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APR 4</a:t>
            </a:r>
            <a:endParaRPr lang="en-US" sz="13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B3C810A-9F9E-1853-761E-B7D6ED37621D}"/>
              </a:ext>
            </a:extLst>
          </p:cNvPr>
          <p:cNvSpPr/>
          <p:nvPr/>
        </p:nvSpPr>
        <p:spPr>
          <a:xfrm>
            <a:off x="2649709" y="5321980"/>
            <a:ext cx="8290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Anthropic Blocks OpenClaw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A6DAD21A-3AA6-D190-25A8-CEC1C800940C}"/>
              </a:ext>
            </a:extLst>
          </p:cNvPr>
          <p:cNvSpPr/>
          <p:nvPr/>
        </p:nvSpPr>
        <p:spPr>
          <a:xfrm>
            <a:off x="2649708" y="5773084"/>
            <a:ext cx="9239711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 &amp; Max subscribers can no longer use flat-rate plans with third-party agents. Pay-as-you-go only.</a:t>
            </a:r>
            <a:endParaRPr lang="en-US" sz="1400" dirty="0">
              <a:latin typeface="Montserrat" panose="00000500000000000000" pitchFamily="2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269EEA6-387C-B588-F545-E4242BF2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98" y="1105190"/>
            <a:ext cx="4112675" cy="88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F35106-DB80-707F-B1A8-472556B3E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18" y="94127"/>
            <a:ext cx="4664709" cy="3109805"/>
          </a:xfrm>
          <a:prstGeom prst="rect">
            <a:avLst/>
          </a:prstGeom>
        </p:spPr>
      </p:pic>
      <p:sp>
        <p:nvSpPr>
          <p:cNvPr id="28" name="Shape 2">
            <a:extLst>
              <a:ext uri="{FF2B5EF4-FFF2-40B4-BE49-F238E27FC236}">
                <a16:creationId xmlns:a16="http://schemas.microsoft.com/office/drawing/2014/main" id="{446F06E3-301A-FB1D-F07E-62B475C65F04}"/>
              </a:ext>
            </a:extLst>
          </p:cNvPr>
          <p:cNvSpPr/>
          <p:nvPr/>
        </p:nvSpPr>
        <p:spPr>
          <a:xfrm>
            <a:off x="455148" y="2237367"/>
            <a:ext cx="11184401" cy="883939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B0F65714-5E24-DF8C-E423-C740FCE139FB}"/>
              </a:ext>
            </a:extLst>
          </p:cNvPr>
          <p:cNvSpPr/>
          <p:nvPr/>
        </p:nvSpPr>
        <p:spPr>
          <a:xfrm>
            <a:off x="820909" y="2420247"/>
            <a:ext cx="1584960" cy="48768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 dirty="0">
              <a:latin typeface="Montserrat" panose="00000500000000000000" pitchFamily="2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713F16D-50BB-C821-0B3E-EBF36F7DDAB3}"/>
              </a:ext>
            </a:extLst>
          </p:cNvPr>
          <p:cNvSpPr/>
          <p:nvPr/>
        </p:nvSpPr>
        <p:spPr>
          <a:xfrm>
            <a:off x="820909" y="2420247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13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92C242C3-F200-15A4-1EA0-B59A6898CF4E}"/>
              </a:ext>
            </a:extLst>
          </p:cNvPr>
          <p:cNvSpPr/>
          <p:nvPr/>
        </p:nvSpPr>
        <p:spPr>
          <a:xfrm>
            <a:off x="2649709" y="2237367"/>
            <a:ext cx="8290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Clawdbot</a:t>
            </a:r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 err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2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) Launch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B8CD904-D88D-6CEA-96A8-B450DFBFE8AF}"/>
              </a:ext>
            </a:extLst>
          </p:cNvPr>
          <p:cNvSpPr/>
          <p:nvPr/>
        </p:nvSpPr>
        <p:spPr>
          <a:xfrm>
            <a:off x="2649709" y="2688471"/>
            <a:ext cx="8290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400" dirty="0">
                <a:solidFill>
                  <a:srgbClr val="9898B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developed by Steinberger became one of the fastest-growing GitHub projects of all time</a:t>
            </a:r>
          </a:p>
        </p:txBody>
      </p:sp>
      <p:pic>
        <p:nvPicPr>
          <p:cNvPr id="1026" name="Picture 2" descr="Hermes Agent Free SVG, PNG, and vect... · LobeHub">
            <a:extLst>
              <a:ext uri="{FF2B5EF4-FFF2-40B4-BE49-F238E27FC236}">
                <a16:creationId xmlns:a16="http://schemas.microsoft.com/office/drawing/2014/main" id="{27690CEF-D4F3-489A-9E44-362BC37FC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4727" y="802987"/>
            <a:ext cx="1298762" cy="129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27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What is a Personal AI Agent?</a:t>
            </a:r>
          </a:p>
        </p:txBody>
      </p:sp>
      <p:sp>
        <p:nvSpPr>
          <p:cNvPr id="7" name="Text 3"/>
          <p:cNvSpPr/>
          <p:nvPr/>
        </p:nvSpPr>
        <p:spPr>
          <a:xfrm>
            <a:off x="280416" y="1194816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framework that turns Claude Code into your personal AI assistant</a:t>
            </a:r>
            <a:endParaRPr lang="en-US" sz="2267" dirty="0"/>
          </a:p>
        </p:txBody>
      </p:sp>
      <p:sp>
        <p:nvSpPr>
          <p:cNvPr id="8" name="Shape 4"/>
          <p:cNvSpPr/>
          <p:nvPr/>
        </p:nvSpPr>
        <p:spPr>
          <a:xfrm>
            <a:off x="280416" y="1901952"/>
            <a:ext cx="3596640" cy="3474720"/>
          </a:xfrm>
          <a:prstGeom prst="roundRect">
            <a:avLst>
              <a:gd name="adj" fmla="val 1754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02336" y="199948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Personality</a:t>
            </a:r>
            <a:endParaRPr lang="en-US" sz="2133" dirty="0"/>
          </a:p>
        </p:txBody>
      </p:sp>
      <p:sp>
        <p:nvSpPr>
          <p:cNvPr id="10" name="Text 6"/>
          <p:cNvSpPr/>
          <p:nvPr/>
        </p:nvSpPr>
        <p:spPr>
          <a:xfrm>
            <a:off x="463296" y="2426208"/>
            <a:ext cx="3230880" cy="282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Soul.md defines your voice, style, priorities, and communication preferences. The agent never reverts to generic AI.</a:t>
            </a:r>
            <a:endParaRPr lang="en-US" sz="1467" dirty="0"/>
          </a:p>
        </p:txBody>
      </p:sp>
      <p:sp>
        <p:nvSpPr>
          <p:cNvPr id="11" name="Shape 7"/>
          <p:cNvSpPr/>
          <p:nvPr/>
        </p:nvSpPr>
        <p:spPr>
          <a:xfrm>
            <a:off x="4157472" y="1901952"/>
            <a:ext cx="3596640" cy="3474720"/>
          </a:xfrm>
          <a:prstGeom prst="roundRect">
            <a:avLst>
              <a:gd name="adj" fmla="val 1754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4279392" y="199948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Memory</a:t>
            </a:r>
            <a:endParaRPr lang="en-US" sz="2133" dirty="0"/>
          </a:p>
        </p:txBody>
      </p:sp>
      <p:sp>
        <p:nvSpPr>
          <p:cNvPr id="13" name="Text 9"/>
          <p:cNvSpPr/>
          <p:nvPr/>
        </p:nvSpPr>
        <p:spPr>
          <a:xfrm>
            <a:off x="4340352" y="2426208"/>
            <a:ext cx="3230880" cy="282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vault system (Karpathy Wiki Pattern) stores knowledge across sessions. Raw sources become linked wiki pages.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8034528" y="1901952"/>
            <a:ext cx="3596640" cy="3474720"/>
          </a:xfrm>
          <a:prstGeom prst="roundRect">
            <a:avLst>
              <a:gd name="adj" fmla="val 1754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8156448" y="199948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</a:t>
            </a:r>
            <a:endParaRPr lang="en-US" sz="2133" dirty="0"/>
          </a:p>
        </p:txBody>
      </p:sp>
      <p:sp>
        <p:nvSpPr>
          <p:cNvPr id="16" name="Text 12"/>
          <p:cNvSpPr/>
          <p:nvPr/>
        </p:nvSpPr>
        <p:spPr>
          <a:xfrm>
            <a:off x="8217408" y="2426208"/>
            <a:ext cx="3230880" cy="282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Build, schedule, and run automations that read your brand, update your vault, and integrate with Gmail, Calendar, and Notion.</a:t>
            </a:r>
            <a:endParaRPr lang="en-US" sz="1467" dirty="0"/>
          </a:p>
        </p:txBody>
      </p:sp>
      <p:sp>
        <p:nvSpPr>
          <p:cNvPr id="17" name="Text 13"/>
          <p:cNvSpPr/>
          <p:nvPr/>
        </p:nvSpPr>
        <p:spPr>
          <a:xfrm>
            <a:off x="726042" y="5717971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Takeaway: Your agent knows who you are, remembers what you told it, and acts on your behalf.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CED4CA-A027-4C2C-BCEF-15BA0172B8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C6379F-E010-5909-F5E2-2DF92094617B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EDA3-9328-7A10-6732-68DA8F24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39B80D-0AE8-3076-8460-AD0AB6583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50371-E8D2-798E-E345-BAB1ADF3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D3092C8-7168-03A5-5EF2-11C0ABCFE07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Your Personal 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D7FE6-BABE-B971-80F1-5E9CB1773F8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1D4BE9-8CCC-48A0-1E6D-C4BAA259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1E389-3603-AE5B-4A77-51FF56FE2628}"/>
              </a:ext>
            </a:extLst>
          </p:cNvPr>
          <p:cNvSpPr txBox="1"/>
          <p:nvPr/>
        </p:nvSpPr>
        <p:spPr>
          <a:xfrm>
            <a:off x="3166623" y="4021735"/>
            <a:ext cx="139183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685800">
              <a:buClrTx/>
              <a:defRPr sz="1600" b="1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CA" sz="2133" dirty="0"/>
              <a:t>soul.md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CBD59-4C92-6CAD-D930-2EFE135DAFE8}"/>
              </a:ext>
            </a:extLst>
          </p:cNvPr>
          <p:cNvSpPr txBox="1"/>
          <p:nvPr/>
        </p:nvSpPr>
        <p:spPr>
          <a:xfrm>
            <a:off x="294469" y="4021735"/>
            <a:ext cx="25390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133" b="1" i="1" dirty="0">
                <a:solidFill>
                  <a:prstClr val="black"/>
                </a:solidFill>
                <a:latin typeface="Montserrat" panose="00000500000000000000" pitchFamily="2" charset="0"/>
              </a:rPr>
              <a:t>Vault/</a:t>
            </a:r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</a:rPr>
              <a:t> </a:t>
            </a:r>
          </a:p>
          <a:p>
            <a:pPr algn="ctr" defTabSz="914377"/>
            <a:r>
              <a:rPr lang="en-US" sz="1600" i="1" dirty="0">
                <a:solidFill>
                  <a:prstClr val="black"/>
                </a:solidFill>
                <a:latin typeface="Montserrat" panose="00000500000000000000" pitchFamily="2" charset="0"/>
              </a:rPr>
              <a:t>An Obsidian wiki that grows with every interaction. People, meetings, projects.</a:t>
            </a:r>
          </a:p>
          <a:p>
            <a:pPr algn="ctr" defTabSz="914377"/>
            <a:endParaRPr lang="en-CA" sz="1067" i="1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4346F4E-6367-8507-E326-3B103EBB76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94689" y="3026228"/>
            <a:ext cx="1834309" cy="995507"/>
          </a:xfrm>
          <a:prstGeom prst="curvedConnector2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2C9F5402-DF83-5766-DFB8-E27896D5E59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230078" y="2253129"/>
            <a:ext cx="1226688" cy="2475960"/>
          </a:xfrm>
          <a:prstGeom prst="curvedConnector2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EA02F9-6779-83EE-1CB2-4BBA94299F49}"/>
              </a:ext>
            </a:extLst>
          </p:cNvPr>
          <p:cNvCxnSpPr>
            <a:cxnSpLocks/>
          </p:cNvCxnSpPr>
          <p:nvPr/>
        </p:nvCxnSpPr>
        <p:spPr>
          <a:xfrm>
            <a:off x="6043439" y="3603850"/>
            <a:ext cx="0" cy="1601761"/>
          </a:xfrm>
          <a:prstGeom prst="line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4507E9-9A8C-0EAE-DB8B-BF0930ED78B0}"/>
              </a:ext>
            </a:extLst>
          </p:cNvPr>
          <p:cNvSpPr/>
          <p:nvPr/>
        </p:nvSpPr>
        <p:spPr>
          <a:xfrm>
            <a:off x="4958868" y="2784115"/>
            <a:ext cx="2219851" cy="1057127"/>
          </a:xfrm>
          <a:prstGeom prst="roundRect">
            <a:avLst/>
          </a:prstGeom>
          <a:solidFill>
            <a:srgbClr val="1313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CA" sz="3200" i="1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DFA26C-89E8-CBF4-FA48-D92B4609F898}"/>
              </a:ext>
            </a:extLst>
          </p:cNvPr>
          <p:cNvSpPr txBox="1"/>
          <p:nvPr/>
        </p:nvSpPr>
        <p:spPr>
          <a:xfrm>
            <a:off x="7485488" y="4155422"/>
            <a:ext cx="264838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685800">
              <a:buClrTx/>
              <a:defRPr sz="1600" b="1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CA" sz="2133" dirty="0"/>
              <a:t>Skills &amp; Plugins</a:t>
            </a:r>
          </a:p>
        </p:txBody>
      </p:sp>
      <p:pic>
        <p:nvPicPr>
          <p:cNvPr id="36" name="Picture 2" descr="Obsidian Review: Free Local-First Knowledge Base &amp; Note-Taking">
            <a:extLst>
              <a:ext uri="{FF2B5EF4-FFF2-40B4-BE49-F238E27FC236}">
                <a16:creationId xmlns:a16="http://schemas.microsoft.com/office/drawing/2014/main" id="{0DB6E5BC-A1BB-91B9-FD86-E0F8A0539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5" b="38356"/>
          <a:stretch>
            <a:fillRect/>
          </a:stretch>
        </p:blipFill>
        <p:spPr bwMode="auto">
          <a:xfrm>
            <a:off x="383166" y="5462395"/>
            <a:ext cx="2361653" cy="50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2E6D080-05BC-32D0-4214-08C6560BF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5" y="2540911"/>
            <a:ext cx="1763715" cy="136430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F51A71-592E-81D0-23AF-C41D9FCEE270}"/>
              </a:ext>
            </a:extLst>
          </p:cNvPr>
          <p:cNvSpPr txBox="1"/>
          <p:nvPr/>
        </p:nvSpPr>
        <p:spPr>
          <a:xfrm>
            <a:off x="2818760" y="4354399"/>
            <a:ext cx="2151856" cy="107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 defTabSz="1219170">
              <a:defRPr/>
            </a:pPr>
            <a:r>
              <a:rPr lang="en-US" sz="1600" i="1" dirty="0">
                <a:solidFill>
                  <a:prstClr val="black"/>
                </a:solidFill>
                <a:latin typeface="Montserrat" panose="00000500000000000000" pitchFamily="2" charset="0"/>
              </a:rPr>
              <a:t>How you write, what you care about, your personality.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30C2069-8AE7-02DF-6638-DF20DCE58324}"/>
              </a:ext>
            </a:extLst>
          </p:cNvPr>
          <p:cNvCxnSpPr>
            <a:cxnSpLocks/>
          </p:cNvCxnSpPr>
          <p:nvPr/>
        </p:nvCxnSpPr>
        <p:spPr>
          <a:xfrm>
            <a:off x="6096000" y="2011862"/>
            <a:ext cx="8748" cy="772253"/>
          </a:xfrm>
          <a:prstGeom prst="line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2EC831D-C45B-E1CD-4C9B-B6E325716257}"/>
              </a:ext>
            </a:extLst>
          </p:cNvPr>
          <p:cNvSpPr txBox="1"/>
          <p:nvPr/>
        </p:nvSpPr>
        <p:spPr>
          <a:xfrm>
            <a:off x="4922993" y="619345"/>
            <a:ext cx="22891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133" b="1" i="1" dirty="0">
                <a:solidFill>
                  <a:prstClr val="black"/>
                </a:solidFill>
                <a:latin typeface="Montserrat" panose="00000500000000000000" pitchFamily="2" charset="0"/>
              </a:rPr>
              <a:t>Brand/</a:t>
            </a:r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</a:rPr>
              <a:t> </a:t>
            </a:r>
          </a:p>
          <a:p>
            <a:pPr algn="ctr" defTabSz="914377"/>
            <a:r>
              <a:rPr lang="en-US" sz="1600" i="1" dirty="0">
                <a:solidFill>
                  <a:prstClr val="black"/>
                </a:solidFill>
                <a:latin typeface="Montserrat" panose="00000500000000000000" pitchFamily="2" charset="0"/>
              </a:rPr>
              <a:t>Logo, </a:t>
            </a:r>
            <a:r>
              <a:rPr lang="en-US" sz="1600" i="1" dirty="0" err="1">
                <a:solidFill>
                  <a:prstClr val="black"/>
                </a:solidFill>
                <a:latin typeface="Montserrat" panose="00000500000000000000" pitchFamily="2" charset="0"/>
              </a:rPr>
              <a:t>colours</a:t>
            </a:r>
            <a:r>
              <a:rPr lang="en-US" sz="1600" i="1" dirty="0">
                <a:solidFill>
                  <a:prstClr val="black"/>
                </a:solidFill>
                <a:latin typeface="Montserrat" panose="00000500000000000000" pitchFamily="2" charset="0"/>
              </a:rPr>
              <a:t>, templates</a:t>
            </a:r>
          </a:p>
          <a:p>
            <a:pPr algn="ctr" defTabSz="914377"/>
            <a:endParaRPr lang="en-CA" sz="1067" i="1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14251701-E481-FEC4-7408-00E8ED04B7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43423" y="1446585"/>
            <a:ext cx="2625361" cy="1329793"/>
          </a:xfrm>
          <a:prstGeom prst="curvedConnector2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AA6AECF-0459-670E-50B3-8262FDCDEC1F}"/>
              </a:ext>
            </a:extLst>
          </p:cNvPr>
          <p:cNvSpPr txBox="1"/>
          <p:nvPr/>
        </p:nvSpPr>
        <p:spPr>
          <a:xfrm>
            <a:off x="9531014" y="1018332"/>
            <a:ext cx="264838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685800">
              <a:buClrTx/>
              <a:defRPr sz="1600" b="1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CA" sz="2133" dirty="0"/>
              <a:t>Dispatch</a:t>
            </a: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34603260-E6DA-24CC-BBD1-4B8C5F58931E}"/>
              </a:ext>
            </a:extLst>
          </p:cNvPr>
          <p:cNvSpPr/>
          <p:nvPr/>
        </p:nvSpPr>
        <p:spPr>
          <a:xfrm>
            <a:off x="9468784" y="1427087"/>
            <a:ext cx="248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600" i="1" dirty="0">
                <a:solidFill>
                  <a:prstClr val="black"/>
                </a:solidFill>
                <a:latin typeface="Montserrat" panose="00000500000000000000" pitchFamily="2" charset="0"/>
              </a:rPr>
              <a:t>Control your agent from your phone. </a:t>
            </a:r>
          </a:p>
        </p:txBody>
      </p:sp>
      <p:pic>
        <p:nvPicPr>
          <p:cNvPr id="44" name="Picture 4" descr="What comes next, if Claude Code is as good as people say.">
            <a:extLst>
              <a:ext uri="{FF2B5EF4-FFF2-40B4-BE49-F238E27FC236}">
                <a16:creationId xmlns:a16="http://schemas.microsoft.com/office/drawing/2014/main" id="{5C709886-4FC6-A466-BB25-6A33756BC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777" y="2839021"/>
            <a:ext cx="1715252" cy="84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Claude Logo - PNG Logo Vector Brand Downloads (SVG, EPS)">
            <a:extLst>
              <a:ext uri="{FF2B5EF4-FFF2-40B4-BE49-F238E27FC236}">
                <a16:creationId xmlns:a16="http://schemas.microsoft.com/office/drawing/2014/main" id="{6F0BEB1F-0E1F-A63A-FFC2-D67599C0C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71"/>
          <a:stretch>
            <a:fillRect/>
          </a:stretch>
        </p:blipFill>
        <p:spPr bwMode="auto">
          <a:xfrm>
            <a:off x="6527341" y="3125124"/>
            <a:ext cx="631047" cy="66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82574ED5-B54D-5656-C5B6-E9E58411EA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82171" y="2902819"/>
            <a:ext cx="3376701" cy="1149007"/>
          </a:xfrm>
          <a:prstGeom prst="curvedConnector2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CDD547DA-184D-064E-C767-50355460046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75931" y="246866"/>
            <a:ext cx="1314403" cy="3744617"/>
          </a:xfrm>
          <a:prstGeom prst="curvedConnector2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A50BEB-BA0E-F130-345B-E87771E712D5}"/>
              </a:ext>
            </a:extLst>
          </p:cNvPr>
          <p:cNvSpPr txBox="1"/>
          <p:nvPr/>
        </p:nvSpPr>
        <p:spPr>
          <a:xfrm>
            <a:off x="-90965" y="828078"/>
            <a:ext cx="205103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133" b="1" i="1" dirty="0">
                <a:solidFill>
                  <a:prstClr val="black"/>
                </a:solidFill>
                <a:latin typeface="Montserrat" panose="00000500000000000000" pitchFamily="2" charset="0"/>
              </a:rPr>
              <a:t>MCP Connectors</a:t>
            </a:r>
            <a:r>
              <a:rPr lang="en-CA" sz="2133" i="1" dirty="0">
                <a:solidFill>
                  <a:prstClr val="black"/>
                </a:solidFill>
                <a:latin typeface="Montserrat" panose="00000500000000000000" pitchFamily="2" charset="0"/>
              </a:rPr>
              <a:t> </a:t>
            </a:r>
          </a:p>
          <a:p>
            <a:pPr algn="ctr" defTabSz="914377"/>
            <a:endParaRPr lang="en-CA" sz="1067" i="1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2853E0B-8C83-519A-84FE-A91FF138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26" y="1560051"/>
            <a:ext cx="1507529" cy="416617"/>
          </a:xfrm>
          <a:prstGeom prst="rect">
            <a:avLst/>
          </a:prstGeom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992659A4-F652-1B80-7FEB-6359D5CDE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9" y="1618957"/>
            <a:ext cx="602585" cy="45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Notion Logo transparent PNG - StickPNG">
            <a:extLst>
              <a:ext uri="{FF2B5EF4-FFF2-40B4-BE49-F238E27FC236}">
                <a16:creationId xmlns:a16="http://schemas.microsoft.com/office/drawing/2014/main" id="{4BE17002-A8A5-4373-73D2-7370EE8BC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12" y="1560051"/>
            <a:ext cx="602585" cy="60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C80CFF7-EA00-BAD9-628D-6AF31ED9D5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9370" y="1525450"/>
            <a:ext cx="1106568" cy="73771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36C4D2-62CC-7AE0-F811-C765F921A196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855208" y="2654860"/>
            <a:ext cx="1387527" cy="138752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FF8EA39-29A4-3FAD-2326-96C67F98312E}"/>
              </a:ext>
            </a:extLst>
          </p:cNvPr>
          <p:cNvSpPr txBox="1"/>
          <p:nvPr/>
        </p:nvSpPr>
        <p:spPr>
          <a:xfrm>
            <a:off x="8081402" y="2442930"/>
            <a:ext cx="198701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685800">
              <a:buClrTx/>
              <a:defRPr sz="1600" b="1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CA" sz="2133" dirty="0"/>
              <a:t>Claude.md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7E95ED-DB60-7B1D-B874-839A3DC0F916}"/>
              </a:ext>
            </a:extLst>
          </p:cNvPr>
          <p:cNvSpPr txBox="1"/>
          <p:nvPr/>
        </p:nvSpPr>
        <p:spPr>
          <a:xfrm>
            <a:off x="8222619" y="2848862"/>
            <a:ext cx="1834309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914400" eaLnBrk="1" fontAlgn="auto" latinLnBrk="0" hangingPunct="1">
              <a:buClrTx/>
              <a:buSzTx/>
              <a:buFontTx/>
              <a:buNone/>
              <a:tabLst/>
              <a:defRPr sz="1200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sz="1600" dirty="0"/>
              <a:t>Master agent instructions &amp; behavior rules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78B056-5269-20CC-10AE-F94B8E9841D5}"/>
              </a:ext>
            </a:extLst>
          </p:cNvPr>
          <p:cNvSpPr txBox="1"/>
          <p:nvPr/>
        </p:nvSpPr>
        <p:spPr>
          <a:xfrm>
            <a:off x="7430698" y="4477509"/>
            <a:ext cx="2757965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defTabSz="914400" eaLnBrk="1" fontAlgn="auto" latinLnBrk="0" hangingPunct="1">
              <a:buClrTx/>
              <a:buSzTx/>
              <a:buFontTx/>
              <a:buNone/>
              <a:tabLst/>
              <a:defRPr sz="1200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sz="1600" dirty="0"/>
              <a:t>Extended capabilities: document creation, data analysis</a:t>
            </a:r>
            <a:endParaRPr lang="en-CA" sz="16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324AFAC-B54D-A44B-CDFF-63D6146B89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8966" y="5307643"/>
            <a:ext cx="1725268" cy="80938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7EDE77A-30B4-01CF-5A88-F89C7DF0D5D2}"/>
              </a:ext>
            </a:extLst>
          </p:cNvPr>
          <p:cNvSpPr txBox="1"/>
          <p:nvPr/>
        </p:nvSpPr>
        <p:spPr>
          <a:xfrm>
            <a:off x="4922993" y="5205610"/>
            <a:ext cx="2291601" cy="165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 defTabSz="685800">
              <a:buClrTx/>
              <a:defRPr sz="1600" b="1" i="1" kern="1200">
                <a:solidFill>
                  <a:prstClr val="black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sz="2133" dirty="0"/>
              <a:t>work/</a:t>
            </a:r>
          </a:p>
          <a:p>
            <a:r>
              <a:rPr lang="en-US" b="0" dirty="0"/>
              <a:t>This is one of your three core layers (soul/vault/work) and where all 10 automations live. </a:t>
            </a:r>
            <a:endParaRPr lang="en-CA" b="0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BA030B5-C686-6383-0339-CCC10478CE2E}"/>
              </a:ext>
            </a:extLst>
          </p:cNvPr>
          <p:cNvCxnSpPr>
            <a:cxnSpLocks/>
          </p:cNvCxnSpPr>
          <p:nvPr/>
        </p:nvCxnSpPr>
        <p:spPr>
          <a:xfrm flipH="1">
            <a:off x="7158388" y="3026228"/>
            <a:ext cx="1014548" cy="0"/>
          </a:xfrm>
          <a:prstGeom prst="line">
            <a:avLst/>
          </a:prstGeom>
          <a:ln w="57150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9DD2E2B6-F487-1D0B-2539-99C44D9F2563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07458" y="1830444"/>
            <a:ext cx="1268587" cy="126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3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4" grpId="0" animBg="1"/>
      <p:bldP spid="35" grpId="0"/>
      <p:bldP spid="38" grpId="0"/>
      <p:bldP spid="40" grpId="0"/>
      <p:bldP spid="42" grpId="0"/>
      <p:bldP spid="43" grpId="0"/>
      <p:bldP spid="48" grpId="0"/>
      <p:bldP spid="54" grpId="0"/>
      <p:bldP spid="55" grpId="0"/>
      <p:bldP spid="56" grpId="0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0A94-0A82-8BB5-EDDC-34FFF200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73DE7E-A09F-5C0B-BE29-22D817B037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AEBF15-57D3-0B14-D568-5F5E894BF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EB0E27-7146-2124-A24A-E0286703B496}"/>
              </a:ext>
            </a:extLst>
          </p:cNvPr>
          <p:cNvSpPr/>
          <p:nvPr/>
        </p:nvSpPr>
        <p:spPr>
          <a:xfrm>
            <a:off x="293914" y="793804"/>
            <a:ext cx="48235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KARPATHY WIKI PATTERN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35695-2D9D-87E5-BE60-385A1102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8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The Karpathy Wiki Pattern</a:t>
            </a:r>
          </a:p>
        </p:txBody>
      </p:sp>
      <p:sp>
        <p:nvSpPr>
          <p:cNvPr id="7" name="Text 3"/>
          <p:cNvSpPr/>
          <p:nvPr/>
        </p:nvSpPr>
        <p:spPr>
          <a:xfrm>
            <a:off x="3389376" y="6263507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Andrej Karpathy, github.com/karpathy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80416" y="1036320"/>
            <a:ext cx="9254110" cy="1036320"/>
          </a:xfrm>
          <a:prstGeom prst="roundRect">
            <a:avLst>
              <a:gd name="adj" fmla="val 5882"/>
            </a:avLst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87680" y="1097280"/>
            <a:ext cx="90468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Instead of just retrieving from raw documents at query time, the LLM incrementally builds and maintains a persistent wiki. The knowledge is compiled, compounded every time and kept current, not re-derived on every query.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304800" y="2682240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>
                    <a:lumMod val="6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with RAG</a:t>
            </a:r>
            <a:endParaRPr lang="en-US" sz="1867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304800" y="3108960"/>
            <a:ext cx="5486400" cy="3048000"/>
          </a:xfrm>
          <a:prstGeom prst="roundRect">
            <a:avLst>
              <a:gd name="adj" fmla="val 2000"/>
            </a:avLst>
          </a:prstGeom>
          <a:solidFill>
            <a:schemeClr val="bg1">
              <a:lumMod val="6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512064" y="3230880"/>
            <a:ext cx="499872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files, retrieve chunks at query time</a:t>
            </a:r>
            <a:endParaRPr lang="en-US" sz="1467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rediscovers knowledge from scratch every question</a:t>
            </a:r>
            <a:endParaRPr lang="en-US" sz="1467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accumulation or synthesis over time</a:t>
            </a:r>
            <a:endParaRPr lang="en-US" sz="1467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Multi-document questions require re-piecing fragments</a:t>
            </a:r>
            <a:endParaRPr lang="en-US" sz="1467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NotebookLM, ChatGPT uploads work this way</a:t>
            </a:r>
            <a:endParaRPr lang="en-US" sz="1467" dirty="0"/>
          </a:p>
        </p:txBody>
      </p:sp>
      <p:sp>
        <p:nvSpPr>
          <p:cNvPr id="13" name="Text 9"/>
          <p:cNvSpPr/>
          <p:nvPr/>
        </p:nvSpPr>
        <p:spPr>
          <a:xfrm>
            <a:off x="6181344" y="2682240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Wiki Solution</a:t>
            </a:r>
            <a:endParaRPr lang="en-US" sz="1867" dirty="0">
              <a:solidFill>
                <a:srgbClr val="D56E48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81344" y="3108960"/>
            <a:ext cx="5486400" cy="3048000"/>
          </a:xfrm>
          <a:prstGeom prst="roundRect">
            <a:avLst>
              <a:gd name="adj" fmla="val 2000"/>
            </a:avLst>
          </a:prstGeom>
          <a:solidFill>
            <a:srgbClr val="D56E48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 dirty="0">
              <a:solidFill>
                <a:srgbClr val="D56E48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64224" y="3230880"/>
            <a:ext cx="499872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builds a persistent, compounding artifact</a:t>
            </a:r>
            <a:endParaRPr lang="en-US" sz="1467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sources are integrated into existing pages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chemeClr val="bg1"/>
                </a:solidFill>
                <a:latin typeface="Montserrat" pitchFamily="34" charset="0"/>
              </a:rPr>
              <a:t>Tags are associated with each wiki for linking and c</a:t>
            </a:r>
            <a:r>
              <a:rPr lang="en-US" sz="1467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ross-references</a:t>
            </a:r>
            <a:endParaRPr lang="en-US" sz="1467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Contradictions are flagged automatically</a:t>
            </a:r>
            <a:endParaRPr lang="en-US" sz="1467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wiki gets richer with every source added</a:t>
            </a:r>
            <a:endParaRPr lang="en-US" sz="1467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D483A3-B449-9087-06D2-0EE648CFFA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B819E0-0902-D7B9-98F9-6FC5CB06DEE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026" name="Picture 2" descr="Andrej Karpathy - YouTube">
            <a:extLst>
              <a:ext uri="{FF2B5EF4-FFF2-40B4-BE49-F238E27FC236}">
                <a16:creationId xmlns:a16="http://schemas.microsoft.com/office/drawing/2014/main" id="{676F3459-0B79-AA5D-A02F-4FAD3480A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784" y="855638"/>
            <a:ext cx="1965960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41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Wiki Architecture - Three Layers</a:t>
            </a:r>
          </a:p>
        </p:txBody>
      </p:sp>
      <p:sp>
        <p:nvSpPr>
          <p:cNvPr id="7" name="Shape 3"/>
          <p:cNvSpPr/>
          <p:nvPr/>
        </p:nvSpPr>
        <p:spPr>
          <a:xfrm>
            <a:off x="129855" y="1189907"/>
            <a:ext cx="3596640" cy="3657600"/>
          </a:xfrm>
          <a:prstGeom prst="roundRect">
            <a:avLst>
              <a:gd name="adj" fmla="val 1695"/>
            </a:avLst>
          </a:prstGeom>
          <a:solidFill>
            <a:srgbClr val="FDF0E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Shape 4"/>
          <p:cNvSpPr/>
          <p:nvPr/>
        </p:nvSpPr>
        <p:spPr>
          <a:xfrm>
            <a:off x="1410015" y="1372787"/>
            <a:ext cx="914400" cy="914400"/>
          </a:xfrm>
          <a:prstGeom prst="ellipse">
            <a:avLst/>
          </a:prstGeom>
          <a:solidFill>
            <a:srgbClr val="D56E48"/>
          </a:solidFill>
          <a:ln>
            <a:noFill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1410015" y="1372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467" dirty="0"/>
          </a:p>
        </p:txBody>
      </p:sp>
      <p:sp>
        <p:nvSpPr>
          <p:cNvPr id="10" name="Text 6"/>
          <p:cNvSpPr/>
          <p:nvPr/>
        </p:nvSpPr>
        <p:spPr>
          <a:xfrm>
            <a:off x="251775" y="2409107"/>
            <a:ext cx="335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Sources</a:t>
            </a:r>
            <a:endParaRPr lang="en-US" sz="2133" dirty="0">
              <a:solidFill>
                <a:srgbClr val="0C1752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251775" y="2774867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curated source of truth</a:t>
            </a:r>
            <a:endParaRPr lang="en-US" sz="1333" dirty="0">
              <a:solidFill>
                <a:srgbClr val="0C1752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373695" y="3201587"/>
            <a:ext cx="3108960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Articles, papers, images, data files. Immutable. The LLM reads but never modifies.</a:t>
            </a:r>
            <a:endParaRPr lang="en-US" sz="1400" dirty="0">
              <a:solidFill>
                <a:srgbClr val="0C1752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4237416" y="1231817"/>
            <a:ext cx="3596640" cy="3657600"/>
          </a:xfrm>
          <a:prstGeom prst="roundRect">
            <a:avLst>
              <a:gd name="adj" fmla="val 1695"/>
            </a:avLst>
          </a:prstGeom>
          <a:solidFill>
            <a:schemeClr val="bg1">
              <a:lumMod val="8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Shape 10"/>
          <p:cNvSpPr/>
          <p:nvPr/>
        </p:nvSpPr>
        <p:spPr>
          <a:xfrm>
            <a:off x="5517576" y="1414697"/>
            <a:ext cx="914400" cy="9144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5517576" y="141469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467" dirty="0"/>
          </a:p>
        </p:txBody>
      </p:sp>
      <p:sp>
        <p:nvSpPr>
          <p:cNvPr id="16" name="Text 12"/>
          <p:cNvSpPr/>
          <p:nvPr/>
        </p:nvSpPr>
        <p:spPr>
          <a:xfrm>
            <a:off x="4359336" y="2451017"/>
            <a:ext cx="335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Wiki</a:t>
            </a:r>
            <a:endParaRPr lang="en-US" sz="2133" dirty="0">
              <a:solidFill>
                <a:srgbClr val="0C1752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359336" y="2816777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LLM-generated knowledge pages</a:t>
            </a:r>
            <a:endParaRPr lang="en-US" sz="1333" dirty="0">
              <a:solidFill>
                <a:srgbClr val="0C1752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481256" y="3243497"/>
            <a:ext cx="3108960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Summaries, entity pages, concept pages. LLM owns this layer entirely with [[wiki links]].</a:t>
            </a:r>
            <a:endParaRPr lang="en-US" sz="1400" dirty="0">
              <a:solidFill>
                <a:srgbClr val="0C1752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292780" y="1189907"/>
            <a:ext cx="3596640" cy="3657600"/>
          </a:xfrm>
          <a:prstGeom prst="roundRect">
            <a:avLst>
              <a:gd name="adj" fmla="val 1695"/>
            </a:avLst>
          </a:prstGeom>
          <a:solidFill>
            <a:srgbClr val="EAF7F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Shape 16"/>
          <p:cNvSpPr/>
          <p:nvPr/>
        </p:nvSpPr>
        <p:spPr>
          <a:xfrm>
            <a:off x="9572940" y="1372787"/>
            <a:ext cx="914400" cy="914400"/>
          </a:xfrm>
          <a:prstGeom prst="ellipse">
            <a:avLst/>
          </a:prstGeom>
          <a:solidFill>
            <a:srgbClr val="1BBFD1"/>
          </a:solidFill>
          <a:ln>
            <a:noFill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7"/>
          <p:cNvSpPr/>
          <p:nvPr/>
        </p:nvSpPr>
        <p:spPr>
          <a:xfrm>
            <a:off x="9572940" y="1372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467" dirty="0"/>
          </a:p>
        </p:txBody>
      </p:sp>
      <p:sp>
        <p:nvSpPr>
          <p:cNvPr id="22" name="Text 18"/>
          <p:cNvSpPr/>
          <p:nvPr/>
        </p:nvSpPr>
        <p:spPr>
          <a:xfrm>
            <a:off x="8414700" y="2409107"/>
            <a:ext cx="335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Schema</a:t>
            </a:r>
            <a:endParaRPr lang="en-US" sz="2133" dirty="0">
              <a:solidFill>
                <a:srgbClr val="0C1752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8414700" y="2774867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(CLAUDE.md)</a:t>
            </a:r>
            <a:endParaRPr lang="en-US" sz="1333" dirty="0">
              <a:solidFill>
                <a:srgbClr val="0C1752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36620" y="3201587"/>
            <a:ext cx="3108960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Tells the LLM how the wiki is structured and what workflows to run.</a:t>
            </a:r>
            <a:endParaRPr lang="en-US" sz="1400" dirty="0">
              <a:solidFill>
                <a:srgbClr val="0C1752"/>
              </a:solidFill>
            </a:endParaRPr>
          </a:p>
        </p:txBody>
      </p:sp>
      <p:sp>
        <p:nvSpPr>
          <p:cNvPr id="29" name="Text 25"/>
          <p:cNvSpPr/>
          <p:nvPr/>
        </p:nvSpPr>
        <p:spPr>
          <a:xfrm>
            <a:off x="2596896" y="6240125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Andrej Karpathy, LLM Wiki (github.com/karpathy)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98E1A3F-EBD7-415E-69F1-EC512EEE43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F9ACFF7-6E07-898C-149D-D2B8CD37258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  <p:extLst>
      <p:ext uri="{BB962C8B-B14F-4D97-AF65-F5344CB8AC3E}">
        <p14:creationId xmlns:p14="http://schemas.microsoft.com/office/powerpoint/2010/main" val="172725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Why This Works + Use Cases</a:t>
            </a:r>
          </a:p>
        </p:txBody>
      </p:sp>
      <p:sp>
        <p:nvSpPr>
          <p:cNvPr id="7" name="Shape 3"/>
          <p:cNvSpPr/>
          <p:nvPr/>
        </p:nvSpPr>
        <p:spPr>
          <a:xfrm>
            <a:off x="304799" y="1054936"/>
            <a:ext cx="11347737" cy="1036320"/>
          </a:xfrm>
          <a:prstGeom prst="roundRect">
            <a:avLst>
              <a:gd name="adj" fmla="val 5882"/>
            </a:avLst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Text 4"/>
          <p:cNvSpPr/>
          <p:nvPr/>
        </p:nvSpPr>
        <p:spPr>
          <a:xfrm>
            <a:off x="539463" y="1074573"/>
            <a:ext cx="10728960" cy="853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Humans abandon wikis because the maintenance burden grows faster than the value. LLMs don't get bored, don't forget to update a cross-reference, and can touch 15 files in one pass.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80416" y="250480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FDF0E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Text 6"/>
          <p:cNvSpPr/>
          <p:nvPr/>
        </p:nvSpPr>
        <p:spPr>
          <a:xfrm>
            <a:off x="402336" y="260233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</a:t>
            </a:r>
            <a:endParaRPr lang="en-US" sz="2133" dirty="0"/>
          </a:p>
        </p:txBody>
      </p:sp>
      <p:sp>
        <p:nvSpPr>
          <p:cNvPr id="11" name="Text 7"/>
          <p:cNvSpPr/>
          <p:nvPr/>
        </p:nvSpPr>
        <p:spPr>
          <a:xfrm>
            <a:off x="463296" y="302905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Goals, health, self-improvement. Journal entries building a structured picture of you.</a:t>
            </a:r>
            <a:endParaRPr lang="en-US" sz="1467" dirty="0"/>
          </a:p>
        </p:txBody>
      </p:sp>
      <p:sp>
        <p:nvSpPr>
          <p:cNvPr id="12" name="Shape 8"/>
          <p:cNvSpPr/>
          <p:nvPr/>
        </p:nvSpPr>
        <p:spPr>
          <a:xfrm>
            <a:off x="4157472" y="250480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EAF7F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9"/>
          <p:cNvSpPr/>
          <p:nvPr/>
        </p:nvSpPr>
        <p:spPr>
          <a:xfrm>
            <a:off x="4279392" y="260233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</a:t>
            </a:r>
            <a:endParaRPr lang="en-US" sz="2133" dirty="0"/>
          </a:p>
        </p:txBody>
      </p:sp>
      <p:sp>
        <p:nvSpPr>
          <p:cNvPr id="14" name="Text 10"/>
          <p:cNvSpPr/>
          <p:nvPr/>
        </p:nvSpPr>
        <p:spPr>
          <a:xfrm>
            <a:off x="4340352" y="302905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topic over weeks. Papers and articles building a comprehensive wiki.</a:t>
            </a:r>
            <a:endParaRPr lang="en-US" sz="1467" dirty="0"/>
          </a:p>
        </p:txBody>
      </p:sp>
      <p:sp>
        <p:nvSpPr>
          <p:cNvPr id="15" name="Shape 11"/>
          <p:cNvSpPr/>
          <p:nvPr/>
        </p:nvSpPr>
        <p:spPr>
          <a:xfrm>
            <a:off x="8034528" y="250480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E8EAF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Text 12"/>
          <p:cNvSpPr/>
          <p:nvPr/>
        </p:nvSpPr>
        <p:spPr>
          <a:xfrm>
            <a:off x="8156448" y="260233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 a Book</a:t>
            </a:r>
            <a:endParaRPr lang="en-US" sz="2133" dirty="0">
              <a:solidFill>
                <a:srgbClr val="0C1752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17408" y="302905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Chapter-by-chapter. Characters, themes, plot threads. Like a fan wiki.</a:t>
            </a:r>
            <a:endParaRPr lang="en-US" sz="1467" dirty="0"/>
          </a:p>
        </p:txBody>
      </p:sp>
      <p:sp>
        <p:nvSpPr>
          <p:cNvPr id="18" name="Shape 14"/>
          <p:cNvSpPr/>
          <p:nvPr/>
        </p:nvSpPr>
        <p:spPr>
          <a:xfrm>
            <a:off x="280416" y="439456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E8EAF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5"/>
          <p:cNvSpPr/>
          <p:nvPr/>
        </p:nvSpPr>
        <p:spPr>
          <a:xfrm>
            <a:off x="402336" y="449209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Notes</a:t>
            </a:r>
            <a:endParaRPr lang="en-US" sz="2133" dirty="0"/>
          </a:p>
        </p:txBody>
      </p:sp>
      <p:sp>
        <p:nvSpPr>
          <p:cNvPr id="20" name="Text 16"/>
          <p:cNvSpPr/>
          <p:nvPr/>
        </p:nvSpPr>
        <p:spPr>
          <a:xfrm>
            <a:off x="463296" y="491881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wiki fed by Slack, meetings, docs. Always current.</a:t>
            </a:r>
            <a:endParaRPr lang="en-US" sz="1467" dirty="0"/>
          </a:p>
        </p:txBody>
      </p:sp>
      <p:sp>
        <p:nvSpPr>
          <p:cNvPr id="21" name="Shape 17"/>
          <p:cNvSpPr/>
          <p:nvPr/>
        </p:nvSpPr>
        <p:spPr>
          <a:xfrm>
            <a:off x="4157472" y="439456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FDF0E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Text 18"/>
          <p:cNvSpPr/>
          <p:nvPr/>
        </p:nvSpPr>
        <p:spPr>
          <a:xfrm>
            <a:off x="4279392" y="449209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Analysis</a:t>
            </a:r>
            <a:endParaRPr lang="en-US" sz="2133" dirty="0"/>
          </a:p>
        </p:txBody>
      </p:sp>
      <p:sp>
        <p:nvSpPr>
          <p:cNvPr id="23" name="Text 19"/>
          <p:cNvSpPr/>
          <p:nvPr/>
        </p:nvSpPr>
        <p:spPr>
          <a:xfrm>
            <a:off x="4340352" y="491881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Due diligence, market research. Knowledge accumulating over time.</a:t>
            </a:r>
            <a:endParaRPr lang="en-US" sz="1467" dirty="0"/>
          </a:p>
        </p:txBody>
      </p:sp>
      <p:sp>
        <p:nvSpPr>
          <p:cNvPr id="24" name="Shape 20"/>
          <p:cNvSpPr/>
          <p:nvPr/>
        </p:nvSpPr>
        <p:spPr>
          <a:xfrm>
            <a:off x="8034528" y="4394561"/>
            <a:ext cx="3596640" cy="1645920"/>
          </a:xfrm>
          <a:prstGeom prst="roundRect">
            <a:avLst>
              <a:gd name="adj" fmla="val 3704"/>
            </a:avLst>
          </a:prstGeom>
          <a:solidFill>
            <a:srgbClr val="EAF7FA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Text 21"/>
          <p:cNvSpPr/>
          <p:nvPr/>
        </p:nvSpPr>
        <p:spPr>
          <a:xfrm>
            <a:off x="8156448" y="4492097"/>
            <a:ext cx="3352800" cy="390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Notes</a:t>
            </a:r>
            <a:endParaRPr lang="en-US" sz="2133" dirty="0"/>
          </a:p>
        </p:txBody>
      </p:sp>
      <p:sp>
        <p:nvSpPr>
          <p:cNvPr id="26" name="Text 22"/>
          <p:cNvSpPr/>
          <p:nvPr/>
        </p:nvSpPr>
        <p:spPr>
          <a:xfrm>
            <a:off x="8217408" y="4918817"/>
            <a:ext cx="3230880" cy="999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Lectures and readings organized into interlinked concept pages.</a:t>
            </a:r>
            <a:endParaRPr lang="en-US" sz="1467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C8C1791-DFDF-86FF-241F-659E6A8C4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075FC77-8221-625A-656E-DFDB80B6EFF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  <p:extLst>
      <p:ext uri="{BB962C8B-B14F-4D97-AF65-F5344CB8AC3E}">
        <p14:creationId xmlns:p14="http://schemas.microsoft.com/office/powerpoint/2010/main" val="247464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0714-24DE-2982-ADB9-1AD24492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7EFED6-141D-CDBF-B72F-45012B29C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617A2-A333-AC76-5351-A3F56E7F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3D288C-F80A-5939-BECC-DD59B13C2B22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OBSIDIAN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2B4B4-468B-B564-A843-685BC553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0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2484-5440-159D-5014-8C0E686A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2310F8-44ED-37AC-4F5B-711CE8D37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02FEE3-A5D9-64EE-6A57-FB0E4656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842E956-5118-7436-EDB0-6A9FCFD8C38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Obsidian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84C65-F58E-07EF-D086-4786FAF87DE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83F2D6-3B79-7F13-7151-AA1BBF020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232B1-CA53-67D0-365A-B3BD29566D9A}"/>
              </a:ext>
            </a:extLst>
          </p:cNvPr>
          <p:cNvSpPr txBox="1"/>
          <p:nvPr/>
        </p:nvSpPr>
        <p:spPr>
          <a:xfrm>
            <a:off x="83400" y="915896"/>
            <a:ext cx="1202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14313" indent="-214313"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44" indent="-285744" defTabSz="1219170">
              <a:buClr>
                <a:srgbClr val="000000"/>
              </a:buClr>
            </a:pPr>
            <a:r>
              <a:rPr lang="en-US" altLang="en-US" sz="1800" kern="0" dirty="0">
                <a:solidFill>
                  <a:srgbClr val="000000"/>
                </a:solidFill>
                <a:sym typeface="Arial"/>
              </a:rPr>
              <a:t>Obsidian acts like a private wiki where your notes are interconnected, so ideas don’t live in isolation; they build on each other over time. </a:t>
            </a:r>
          </a:p>
          <a:p>
            <a:pPr marL="285744" indent="-285744" defTabSz="1219170">
              <a:buClr>
                <a:srgbClr val="000000"/>
              </a:buClr>
            </a:pPr>
            <a:r>
              <a:rPr lang="en-US" altLang="en-US" sz="1800" kern="0" dirty="0">
                <a:solidFill>
                  <a:srgbClr val="000000"/>
                </a:solidFill>
                <a:sym typeface="Arial"/>
              </a:rPr>
              <a:t>It’s a system that shows how you think: it tracks links between concepts (like a “map of your brain”), helping you see patterns, and it grows with every interaction.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84C96A-581F-6787-9252-90FFEAA6E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87" y="2124452"/>
            <a:ext cx="4620733" cy="4079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E8F7B4-D00B-BE17-2690-10D5584355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79" t="15844" r="13799" b="9478"/>
          <a:stretch>
            <a:fillRect/>
          </a:stretch>
        </p:blipFill>
        <p:spPr>
          <a:xfrm>
            <a:off x="479595" y="2124452"/>
            <a:ext cx="6237367" cy="40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3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53F1-B18B-C88C-9B62-3A532C91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E344A-00A5-399D-5F29-62A4A597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88A1C-F4BD-2F27-3171-79EE05551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0A41976-2832-3254-EC0B-D7B64521565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Obsidian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47247-106F-C2B4-ADE4-75B3577D43D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9BBAC1-E6FE-E8F6-2E44-7E17F937C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F328B-57FE-9553-24A4-05F549C3E7E1}"/>
              </a:ext>
            </a:extLst>
          </p:cNvPr>
          <p:cNvSpPr txBox="1"/>
          <p:nvPr/>
        </p:nvSpPr>
        <p:spPr>
          <a:xfrm>
            <a:off x="83400" y="915896"/>
            <a:ext cx="1202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14313" indent="-214313"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44" indent="-285744" defTabSz="1219170">
              <a:buClr>
                <a:srgbClr val="000000"/>
              </a:buClr>
            </a:pPr>
            <a:r>
              <a:rPr lang="en-US" altLang="en-US" sz="1800" kern="0" dirty="0">
                <a:solidFill>
                  <a:srgbClr val="000000"/>
                </a:solidFill>
                <a:sym typeface="Arial"/>
              </a:rPr>
              <a:t>Link to Obsidian: </a:t>
            </a:r>
            <a:r>
              <a:rPr lang="en-US" altLang="en-US" sz="1800" kern="0" dirty="0">
                <a:solidFill>
                  <a:srgbClr val="000000"/>
                </a:solidFill>
                <a:sym typeface="Arial"/>
                <a:hlinkClick r:id="rId4"/>
              </a:rPr>
              <a:t>https://obsidian.md/</a:t>
            </a:r>
            <a:endParaRPr lang="en-US" altLang="en-US" sz="1800" kern="0" dirty="0">
              <a:solidFill>
                <a:srgbClr val="000000"/>
              </a:solidFill>
              <a:sym typeface="Arial"/>
            </a:endParaRPr>
          </a:p>
          <a:p>
            <a:pPr marL="285744" indent="-285744" defTabSz="1219170">
              <a:buClr>
                <a:srgbClr val="000000"/>
              </a:buClr>
            </a:pPr>
            <a:endParaRPr lang="en-US" altLang="en-US" sz="1800" kern="0" dirty="0">
              <a:solidFill>
                <a:srgbClr val="000000"/>
              </a:solidFill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CA30BD-818B-0960-C7D8-C7EB5BF7F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123" y="1859024"/>
            <a:ext cx="8934502" cy="47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5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Obsidian</a:t>
            </a:r>
          </a:p>
        </p:txBody>
      </p:sp>
      <p:sp>
        <p:nvSpPr>
          <p:cNvPr id="7" name="Text 3"/>
          <p:cNvSpPr/>
          <p:nvPr/>
        </p:nvSpPr>
        <p:spPr>
          <a:xfrm>
            <a:off x="158496" y="935736"/>
            <a:ext cx="11730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Note that Obsidian is the viewer. Claude Code is the programmer. The wiki is the knowledge base contained in markdown files.</a:t>
            </a:r>
          </a:p>
          <a:p>
            <a:pPr marL="285744" indent="-285744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 Graph view in Obsidian is a </a:t>
            </a:r>
            <a:r>
              <a:rPr lang="en-US" kern="0" dirty="0">
                <a:solidFill>
                  <a:srgbClr val="333333"/>
                </a:solidFill>
                <a:latin typeface="Montserrat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uilt-in feature that allows you to view clusters and connections.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280416" y="2329892"/>
            <a:ext cx="5486400" cy="2255520"/>
          </a:xfrm>
          <a:prstGeom prst="roundRect">
            <a:avLst>
              <a:gd name="adj" fmla="val 2703"/>
            </a:avLst>
          </a:prstGeom>
          <a:solidFill>
            <a:srgbClr val="1BBFD1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02336" y="2427428"/>
            <a:ext cx="5242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Obsidian?</a:t>
            </a:r>
            <a:endParaRPr lang="en-US" sz="2133" dirty="0"/>
          </a:p>
        </p:txBody>
      </p:sp>
      <p:sp>
        <p:nvSpPr>
          <p:cNvPr id="10" name="Text 6"/>
          <p:cNvSpPr/>
          <p:nvPr/>
        </p:nvSpPr>
        <p:spPr>
          <a:xfrm>
            <a:off x="487680" y="3022550"/>
            <a:ext cx="49987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Free, local-first markdown knowledge base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 are just .md files on your computer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[[Wiki links]] connect pages together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view shows how everything connects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156960" y="2329892"/>
            <a:ext cx="5486400" cy="2255520"/>
          </a:xfrm>
          <a:prstGeom prst="roundRect">
            <a:avLst>
              <a:gd name="adj" fmla="val 2703"/>
            </a:avLst>
          </a:prstGeom>
          <a:solidFill>
            <a:srgbClr val="D56E48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6278880" y="2427428"/>
            <a:ext cx="5242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Personal OS</a:t>
            </a:r>
            <a:endParaRPr lang="en-US" sz="2133" dirty="0"/>
          </a:p>
        </p:txBody>
      </p:sp>
      <p:sp>
        <p:nvSpPr>
          <p:cNvPr id="13" name="Text 9"/>
          <p:cNvSpPr/>
          <p:nvPr/>
        </p:nvSpPr>
        <p:spPr>
          <a:xfrm>
            <a:off x="6328758" y="3022550"/>
            <a:ext cx="49987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vault/ folder as an Obsidian vault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Code edits pages, you browse in real-time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view reveals orphan pages and clusters</a:t>
            </a:r>
            <a:endParaRPr lang="en-US" sz="1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7707497-7802-CAD5-EE09-12063C6978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EC610F0-A550-8CFE-928A-FEBC5F6ED7A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  <p:extLst>
      <p:ext uri="{BB962C8B-B14F-4D97-AF65-F5344CB8AC3E}">
        <p14:creationId xmlns:p14="http://schemas.microsoft.com/office/powerpoint/2010/main" val="22597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CE80-7328-5CC8-D060-ECAD4BEB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7CCB6-EDFD-3D53-BA89-AFD4A817F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6D479-4141-03A6-0AC7-1D375572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95F7028-D917-14C2-6AEB-C0F10AA14E0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Obsidian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2ED12-3591-712F-0722-E244E0DD697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" name="Picture 2" descr="Obsidian Review: Free Local-First Knowledge Base &amp; Note-Taking">
            <a:extLst>
              <a:ext uri="{FF2B5EF4-FFF2-40B4-BE49-F238E27FC236}">
                <a16:creationId xmlns:a16="http://schemas.microsoft.com/office/drawing/2014/main" id="{9F229CB5-B291-CA66-A12A-C19FBF840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5" b="38356"/>
          <a:stretch>
            <a:fillRect/>
          </a:stretch>
        </p:blipFill>
        <p:spPr bwMode="auto">
          <a:xfrm>
            <a:off x="1172078" y="2344600"/>
            <a:ext cx="10206239" cy="216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4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22D2-AFF7-C9DE-242D-03386D6C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1B44E0-0B6B-B413-6942-363FD30B2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924A46-0D51-CB81-0C2F-0EABB7E2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8B04FF-2547-7CE0-8C8D-50A4BD088EB2}"/>
              </a:ext>
            </a:extLst>
          </p:cNvPr>
          <p:cNvSpPr/>
          <p:nvPr/>
        </p:nvSpPr>
        <p:spPr>
          <a:xfrm>
            <a:off x="293914" y="793804"/>
            <a:ext cx="48235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PERSONAL AGENT FOLDER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5130C-476A-4B0A-5027-E75EB1620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12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Startup Folder Structure</a:t>
            </a:r>
          </a:p>
        </p:txBody>
      </p:sp>
      <p:sp>
        <p:nvSpPr>
          <p:cNvPr id="7" name="Shape 3"/>
          <p:cNvSpPr/>
          <p:nvPr/>
        </p:nvSpPr>
        <p:spPr>
          <a:xfrm>
            <a:off x="280416" y="755904"/>
            <a:ext cx="5608320" cy="5242560"/>
          </a:xfrm>
          <a:prstGeom prst="roundRect">
            <a:avLst>
              <a:gd name="adj" fmla="val 1163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Text 4"/>
          <p:cNvSpPr/>
          <p:nvPr/>
        </p:nvSpPr>
        <p:spPr>
          <a:xfrm>
            <a:off x="548640" y="914400"/>
            <a:ext cx="4998720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0C17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personal-os/</a:t>
            </a:r>
            <a:endParaRPr lang="en-US" sz="1600" dirty="0"/>
          </a:p>
          <a:p>
            <a:r>
              <a:rPr lang="en-US" sz="1467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CLAUDE.md</a:t>
            </a:r>
            <a:endParaRPr lang="en-US" sz="1600" dirty="0"/>
          </a:p>
          <a:p>
            <a:r>
              <a:rPr lang="en-US" sz="1467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soul.md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GETTING-STARTED.md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SCHEDULING-GUIDE.md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.claude/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settings.json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commands/ (7 commands)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brand/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config/ | images/ | templates/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vault/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me/ | business/ | people/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index.md | log.md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75249" y="1290125"/>
            <a:ext cx="5684590" cy="682752"/>
          </a:xfrm>
          <a:prstGeom prst="roundRect">
            <a:avLst>
              <a:gd name="adj" fmla="val 7143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Text 6"/>
          <p:cNvSpPr/>
          <p:nvPr/>
        </p:nvSpPr>
        <p:spPr>
          <a:xfrm>
            <a:off x="6358129" y="1290125"/>
            <a:ext cx="1950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467" dirty="0"/>
          </a:p>
        </p:txBody>
      </p:sp>
      <p:sp>
        <p:nvSpPr>
          <p:cNvPr id="11" name="Text 7"/>
          <p:cNvSpPr/>
          <p:nvPr/>
        </p:nvSpPr>
        <p:spPr>
          <a:xfrm>
            <a:off x="8308849" y="1290125"/>
            <a:ext cx="3553288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Playbook – it orchestrates everything</a:t>
            </a:r>
            <a:endParaRPr lang="en-US" sz="1333" dirty="0"/>
          </a:p>
        </p:txBody>
      </p:sp>
      <p:sp>
        <p:nvSpPr>
          <p:cNvPr id="12" name="Shape 8"/>
          <p:cNvSpPr/>
          <p:nvPr/>
        </p:nvSpPr>
        <p:spPr>
          <a:xfrm>
            <a:off x="6175248" y="2143565"/>
            <a:ext cx="5684589" cy="682752"/>
          </a:xfrm>
          <a:prstGeom prst="roundRect">
            <a:avLst>
              <a:gd name="adj" fmla="val 7143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9"/>
          <p:cNvSpPr/>
          <p:nvPr/>
        </p:nvSpPr>
        <p:spPr>
          <a:xfrm>
            <a:off x="6358129" y="2143565"/>
            <a:ext cx="1950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1467" dirty="0"/>
          </a:p>
        </p:txBody>
      </p:sp>
      <p:sp>
        <p:nvSpPr>
          <p:cNvPr id="14" name="Text 10"/>
          <p:cNvSpPr/>
          <p:nvPr/>
        </p:nvSpPr>
        <p:spPr>
          <a:xfrm>
            <a:off x="8308849" y="2143565"/>
            <a:ext cx="31699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Personality and voice</a:t>
            </a:r>
            <a:endParaRPr lang="en-US" sz="1333" dirty="0"/>
          </a:p>
        </p:txBody>
      </p:sp>
      <p:sp>
        <p:nvSpPr>
          <p:cNvPr id="15" name="Shape 11"/>
          <p:cNvSpPr/>
          <p:nvPr/>
        </p:nvSpPr>
        <p:spPr>
          <a:xfrm>
            <a:off x="6175249" y="2997005"/>
            <a:ext cx="5684588" cy="682752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Text 12"/>
          <p:cNvSpPr/>
          <p:nvPr/>
        </p:nvSpPr>
        <p:spPr>
          <a:xfrm>
            <a:off x="6358129" y="2997005"/>
            <a:ext cx="1950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endParaRPr lang="en-US" sz="1467" dirty="0"/>
          </a:p>
        </p:txBody>
      </p:sp>
      <p:sp>
        <p:nvSpPr>
          <p:cNvPr id="17" name="Text 13"/>
          <p:cNvSpPr/>
          <p:nvPr/>
        </p:nvSpPr>
        <p:spPr>
          <a:xfrm>
            <a:off x="8308849" y="2997005"/>
            <a:ext cx="31699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Settings, hooks, and slash commands</a:t>
            </a:r>
            <a:endParaRPr lang="en-US" sz="1333" dirty="0"/>
          </a:p>
        </p:txBody>
      </p:sp>
      <p:sp>
        <p:nvSpPr>
          <p:cNvPr id="18" name="Shape 14"/>
          <p:cNvSpPr/>
          <p:nvPr/>
        </p:nvSpPr>
        <p:spPr>
          <a:xfrm>
            <a:off x="6175248" y="3850445"/>
            <a:ext cx="5684587" cy="682752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5"/>
          <p:cNvSpPr/>
          <p:nvPr/>
        </p:nvSpPr>
        <p:spPr>
          <a:xfrm>
            <a:off x="6358129" y="3850445"/>
            <a:ext cx="1950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brand/</a:t>
            </a:r>
            <a:endParaRPr lang="en-US" sz="1467" dirty="0"/>
          </a:p>
        </p:txBody>
      </p:sp>
      <p:sp>
        <p:nvSpPr>
          <p:cNvPr id="20" name="Text 16"/>
          <p:cNvSpPr/>
          <p:nvPr/>
        </p:nvSpPr>
        <p:spPr>
          <a:xfrm>
            <a:off x="8308849" y="3850445"/>
            <a:ext cx="31699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Logos, templates, color config</a:t>
            </a:r>
            <a:endParaRPr lang="en-US" sz="1333" dirty="0"/>
          </a:p>
        </p:txBody>
      </p:sp>
      <p:sp>
        <p:nvSpPr>
          <p:cNvPr id="21" name="Shape 17"/>
          <p:cNvSpPr/>
          <p:nvPr/>
        </p:nvSpPr>
        <p:spPr>
          <a:xfrm>
            <a:off x="6175249" y="4703885"/>
            <a:ext cx="5693664" cy="682752"/>
          </a:xfrm>
          <a:prstGeom prst="roundRect">
            <a:avLst>
              <a:gd name="adj" fmla="val 7143"/>
            </a:avLst>
          </a:prstGeom>
          <a:solidFill>
            <a:srgbClr val="E8EAF2"/>
          </a:solidFill>
          <a:ln w="1270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Text 18"/>
          <p:cNvSpPr/>
          <p:nvPr/>
        </p:nvSpPr>
        <p:spPr>
          <a:xfrm>
            <a:off x="6358129" y="4703885"/>
            <a:ext cx="1950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vault/</a:t>
            </a:r>
            <a:endParaRPr lang="en-US" sz="1467" dirty="0"/>
          </a:p>
        </p:txBody>
      </p:sp>
      <p:sp>
        <p:nvSpPr>
          <p:cNvPr id="23" name="Text 19"/>
          <p:cNvSpPr/>
          <p:nvPr/>
        </p:nvSpPr>
        <p:spPr>
          <a:xfrm>
            <a:off x="8308849" y="4703885"/>
            <a:ext cx="31699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 (wiki pattern)</a:t>
            </a:r>
            <a:endParaRPr lang="en-US" sz="13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E376C-65BD-3A7E-3FE0-2562B5E4BDCA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6602804-1205-4A03-1543-7210292C00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5027-F285-AA65-EE76-B1A4F338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B545B4-E1FD-83ED-34AE-984B4795A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674D6F1-7C45-F817-2EA4-5B372387069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Inside Your Personal 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DD91A-398D-7CCC-AB03-D81DF4827CE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63C364-B8D0-009E-F957-8E993977B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410B6325-AB98-153D-1E08-C271026B348E}"/>
              </a:ext>
            </a:extLst>
          </p:cNvPr>
          <p:cNvSpPr/>
          <p:nvPr/>
        </p:nvSpPr>
        <p:spPr>
          <a:xfrm>
            <a:off x="4076426" y="104137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.claude/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943AC988-BB7F-773F-B1FC-DC8CAA3167B3}"/>
              </a:ext>
            </a:extLst>
          </p:cNvPr>
          <p:cNvSpPr/>
          <p:nvPr/>
        </p:nvSpPr>
        <p:spPr>
          <a:xfrm>
            <a:off x="6514826" y="1041376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Agent config, commands, settings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D2FD35F-F9DF-D0BE-796A-05311EA800CF}"/>
              </a:ext>
            </a:extLst>
          </p:cNvPr>
          <p:cNvSpPr/>
          <p:nvPr/>
        </p:nvSpPr>
        <p:spPr>
          <a:xfrm>
            <a:off x="4076426" y="167536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brand/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295E36B-200D-87C3-66A8-2B0383177062}"/>
              </a:ext>
            </a:extLst>
          </p:cNvPr>
          <p:cNvSpPr/>
          <p:nvPr/>
        </p:nvSpPr>
        <p:spPr>
          <a:xfrm>
            <a:off x="6514826" y="167536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Logo, colors, templates — branded outputs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C235031-1982-E6F1-35C3-23D53A0BD6FC}"/>
              </a:ext>
            </a:extLst>
          </p:cNvPr>
          <p:cNvSpPr/>
          <p:nvPr/>
        </p:nvSpPr>
        <p:spPr>
          <a:xfrm>
            <a:off x="4076426" y="2309344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my data/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43C5159B-87DB-B66B-2831-19F781FED73A}"/>
              </a:ext>
            </a:extLst>
          </p:cNvPr>
          <p:cNvSpPr/>
          <p:nvPr/>
        </p:nvSpPr>
        <p:spPr>
          <a:xfrm>
            <a:off x="6514826" y="230934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Your CV, social links, personal docs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2333EED2-A575-16D4-C25A-7724B6FCFBE5}"/>
              </a:ext>
            </a:extLst>
          </p:cNvPr>
          <p:cNvSpPr/>
          <p:nvPr/>
        </p:nvSpPr>
        <p:spPr>
          <a:xfrm>
            <a:off x="4076426" y="296781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vault/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9A1314D5-AC47-4824-4E3B-7BD45A4FBFDB}"/>
              </a:ext>
            </a:extLst>
          </p:cNvPr>
          <p:cNvSpPr/>
          <p:nvPr/>
        </p:nvSpPr>
        <p:spPr>
          <a:xfrm>
            <a:off x="6514826" y="2967815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Obsidian knowledge base (business, people, projects)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5DEE9AD8-3A8E-EAE3-7718-7D715FAAF440}"/>
              </a:ext>
            </a:extLst>
          </p:cNvPr>
          <p:cNvSpPr/>
          <p:nvPr/>
        </p:nvSpPr>
        <p:spPr>
          <a:xfrm>
            <a:off x="4076426" y="3601799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work/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B3DE10BD-D113-76F5-7A5C-C7C068C5D36A}"/>
              </a:ext>
            </a:extLst>
          </p:cNvPr>
          <p:cNvSpPr/>
          <p:nvPr/>
        </p:nvSpPr>
        <p:spPr>
          <a:xfrm>
            <a:off x="6514826" y="3601799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Sprint tracker, morning brief, all 10 automations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1EC8A276-4426-46FC-BB70-298F7340568F}"/>
              </a:ext>
            </a:extLst>
          </p:cNvPr>
          <p:cNvSpPr/>
          <p:nvPr/>
        </p:nvSpPr>
        <p:spPr>
          <a:xfrm>
            <a:off x="4076426" y="4235783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CLAUDE.md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A2D2469D-8FAD-3939-68E4-6F7C15578CBD}"/>
              </a:ext>
            </a:extLst>
          </p:cNvPr>
          <p:cNvSpPr/>
          <p:nvPr/>
        </p:nvSpPr>
        <p:spPr>
          <a:xfrm>
            <a:off x="6514826" y="4235783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Master agent instructions &amp; behavior rules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76374498-4C0F-3DBC-08B4-D80B926CE7A2}"/>
              </a:ext>
            </a:extLst>
          </p:cNvPr>
          <p:cNvSpPr/>
          <p:nvPr/>
        </p:nvSpPr>
        <p:spPr>
          <a:xfrm>
            <a:off x="4076426" y="4869767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  <a:sym typeface="Arial"/>
              </a:rPr>
              <a:t>soul.md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10AFBEE0-3E07-1F3E-AF79-E7EA155F9DE8}"/>
              </a:ext>
            </a:extLst>
          </p:cNvPr>
          <p:cNvSpPr/>
          <p:nvPr/>
        </p:nvSpPr>
        <p:spPr>
          <a:xfrm>
            <a:off x="6514826" y="4869767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  <a:sym typeface="Arial"/>
              </a:rPr>
              <a:t>Your identity, voice &amp; personality file</a:t>
            </a:r>
            <a:endParaRPr lang="en-US" sz="1867" kern="0" dirty="0">
              <a:solidFill>
                <a:srgbClr val="0C1752"/>
              </a:solidFill>
              <a:latin typeface="DM Sans" pitchFamily="2" charset="0"/>
              <a:cs typeface="Arial"/>
              <a:sym typeface="Arial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CEA7226-0FA0-60F3-1FD5-BCC57C985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008" b="7267"/>
          <a:stretch>
            <a:fillRect/>
          </a:stretch>
        </p:blipFill>
        <p:spPr>
          <a:xfrm>
            <a:off x="1114369" y="1041376"/>
            <a:ext cx="2149432" cy="494291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0CB5C4D-9C0B-F3FB-0B18-E5FA327A93AC}"/>
              </a:ext>
            </a:extLst>
          </p:cNvPr>
          <p:cNvSpPr txBox="1"/>
          <p:nvPr/>
        </p:nvSpPr>
        <p:spPr>
          <a:xfrm>
            <a:off x="4076426" y="5310751"/>
            <a:ext cx="6153011" cy="69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b="1">
                <a:solidFill>
                  <a:srgbClr val="02291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US" sz="1733" kern="0" dirty="0">
                <a:solidFill>
                  <a:srgbClr val="0C1752"/>
                </a:solidFill>
                <a:sym typeface="Arial"/>
              </a:rPr>
              <a:t>Skills </a:t>
            </a:r>
            <a:r>
              <a:rPr lang="en-US" sz="1733" kern="0">
                <a:solidFill>
                  <a:srgbClr val="0C1752"/>
                </a:solidFill>
                <a:sym typeface="Arial"/>
              </a:rPr>
              <a:t>&amp; </a:t>
            </a:r>
            <a:r>
              <a:rPr lang="en-US" sz="1733" kern="0" dirty="0">
                <a:solidFill>
                  <a:srgbClr val="0C1752"/>
                </a:solidFill>
                <a:sym typeface="Arial"/>
              </a:rPr>
              <a:t>Plugins</a:t>
            </a:r>
            <a:endParaRPr lang="en-CA" sz="1733" kern="0" dirty="0">
              <a:solidFill>
                <a:srgbClr val="0C1752"/>
              </a:solidFill>
              <a:sym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600227-D10D-F84A-8E23-F7134CB7CA47}"/>
              </a:ext>
            </a:extLst>
          </p:cNvPr>
          <p:cNvSpPr txBox="1"/>
          <p:nvPr/>
        </p:nvSpPr>
        <p:spPr>
          <a:xfrm>
            <a:off x="6514826" y="5389336"/>
            <a:ext cx="5061859" cy="69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022911"/>
                </a:solidFill>
                <a:latin typeface="DM Sans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US" sz="1733" kern="0" dirty="0">
                <a:solidFill>
                  <a:srgbClr val="0C1752"/>
                </a:solidFill>
                <a:sym typeface="Arial"/>
              </a:rPr>
              <a:t>Portable capabilities (PDF, PPTX, data, finance). Plugins = full job roles.</a:t>
            </a:r>
            <a:endParaRPr lang="en-CA" sz="1733" kern="0" dirty="0">
              <a:solidFill>
                <a:srgbClr val="0C1752"/>
              </a:solidFill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5AE700-B90C-E6AE-3708-208F47E46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7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52D2-84CD-AA98-09B4-EDB8D709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63F720-B8D2-74B5-566B-34F5F1FA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277977-9676-E22B-5513-9D21D3439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48BD3F5-9059-8F0F-F23A-83268374A81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Quick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A526C-8C90-9062-3789-8FD74CCFFB4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026" name="Picture 2" descr="Claude Code - Complete Beginner's Guide | Hieu Nguyen">
            <a:extLst>
              <a:ext uri="{FF2B5EF4-FFF2-40B4-BE49-F238E27FC236}">
                <a16:creationId xmlns:a16="http://schemas.microsoft.com/office/drawing/2014/main" id="{5858BE4C-1DB9-A6E9-FC3B-9D9A22C82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621" y="2071396"/>
            <a:ext cx="6304179" cy="326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0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44D9-0329-5F66-FBD3-79465A89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FC472-7B44-5CBE-54B5-09D0CB6ECC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33A48-928D-E5AE-90D4-00D236F15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596F4F-0450-7B7B-EE6E-140F9945A3C9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VAULT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5CB37-D003-AA7F-46FD-853A011E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1183-CE99-FBE6-CA15-DFC9C50D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CA09E4-43A6-658E-A879-26F692DC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ADBB67-2625-C06E-CCBE-3244E1A33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CF4486C-5006-470A-FD1E-D2F3786478F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The Vault: Your Agent's Long-Term Brain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62152-3986-04A7-BD86-9F6A32D0347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1E84D9-DC8A-1A8A-E82A-E1A112B17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35D11A7-7E19-2387-936B-B16EA299BB18}"/>
              </a:ext>
            </a:extLst>
          </p:cNvPr>
          <p:cNvSpPr/>
          <p:nvPr/>
        </p:nvSpPr>
        <p:spPr>
          <a:xfrm>
            <a:off x="487680" y="642642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lt1"/>
              </a:buClr>
              <a:buSzPts val="2500"/>
            </a:pPr>
            <a:endParaRPr lang="en-US" sz="3200" b="1" dirty="0">
              <a:solidFill>
                <a:srgbClr val="0C1752"/>
              </a:solidFill>
              <a:latin typeface="DM Sans"/>
              <a:sym typeface="DM Sans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F04CAEA-C9FF-2CE4-C7F8-DD3A41CD0673}"/>
              </a:ext>
            </a:extLst>
          </p:cNvPr>
          <p:cNvSpPr/>
          <p:nvPr/>
        </p:nvSpPr>
        <p:spPr>
          <a:xfrm>
            <a:off x="154722" y="989317"/>
            <a:ext cx="10485120" cy="487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 defTabSz="1219170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</a:rPr>
              <a:t>Powered by Obsidian: a knowledge base that grows with every interaction.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CBC8ECA-31F6-62DE-6C71-216C28FE1831}"/>
              </a:ext>
            </a:extLst>
          </p:cNvPr>
          <p:cNvSpPr/>
          <p:nvPr/>
        </p:nvSpPr>
        <p:spPr>
          <a:xfrm>
            <a:off x="581267" y="1727730"/>
            <a:ext cx="3474720" cy="16459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60D9403-8A48-E354-CB61-2B4C9B04C3BA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25107" y="1971570"/>
            <a:ext cx="487680" cy="487680"/>
          </a:xfrm>
          <a:prstGeom prst="rect">
            <a:avLst/>
          </a:prstGeom>
          <a:solidFill>
            <a:srgbClr val="0C1752"/>
          </a:solidFill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A0698038-4B11-A359-E7D2-78B267CBC654}"/>
              </a:ext>
            </a:extLst>
          </p:cNvPr>
          <p:cNvSpPr/>
          <p:nvPr/>
        </p:nvSpPr>
        <p:spPr>
          <a:xfrm>
            <a:off x="1434707" y="1910610"/>
            <a:ext cx="2377440" cy="48768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business/</a:t>
            </a:r>
            <a:endParaRPr lang="en-US" sz="1867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9BD3934-C219-C5AC-0E3E-F07065C25499}"/>
              </a:ext>
            </a:extLst>
          </p:cNvPr>
          <p:cNvSpPr/>
          <p:nvPr/>
        </p:nvSpPr>
        <p:spPr>
          <a:xfrm>
            <a:off x="825107" y="2581170"/>
            <a:ext cx="2987040" cy="60960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8F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Company info, competitors, market data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F84EFAD5-3EB0-E87C-A6BB-95329EB8CDA3}"/>
              </a:ext>
            </a:extLst>
          </p:cNvPr>
          <p:cNvSpPr/>
          <p:nvPr/>
        </p:nvSpPr>
        <p:spPr>
          <a:xfrm>
            <a:off x="4360787" y="1727730"/>
            <a:ext cx="3474720" cy="16459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F13D3DCA-EDEC-7BED-B727-6920088A353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604627" y="1971570"/>
            <a:ext cx="487680" cy="487680"/>
          </a:xfrm>
          <a:prstGeom prst="rect">
            <a:avLst/>
          </a:prstGeom>
          <a:solidFill>
            <a:srgbClr val="0C1752"/>
          </a:solidFill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DF557A77-FA5C-2F14-B252-45E429FC1C55}"/>
              </a:ext>
            </a:extLst>
          </p:cNvPr>
          <p:cNvSpPr/>
          <p:nvPr/>
        </p:nvSpPr>
        <p:spPr>
          <a:xfrm>
            <a:off x="5214227" y="1910610"/>
            <a:ext cx="2377440" cy="48768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me/</a:t>
            </a:r>
            <a:endParaRPr lang="en-US" sz="1867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12EA545-8A76-192D-0590-DB793BBE4AC9}"/>
              </a:ext>
            </a:extLst>
          </p:cNvPr>
          <p:cNvSpPr/>
          <p:nvPr/>
        </p:nvSpPr>
        <p:spPr>
          <a:xfrm>
            <a:off x="4604627" y="2581170"/>
            <a:ext cx="2987040" cy="60960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8F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Your role, goals, preferences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3CBB35E-3540-C079-3CAB-325872124F16}"/>
              </a:ext>
            </a:extLst>
          </p:cNvPr>
          <p:cNvSpPr/>
          <p:nvPr/>
        </p:nvSpPr>
        <p:spPr>
          <a:xfrm>
            <a:off x="8140307" y="1727730"/>
            <a:ext cx="3474720" cy="16459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5C3BB7AA-E56D-622E-6B1B-E889B22C082F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8384147" y="1971570"/>
            <a:ext cx="487680" cy="487680"/>
          </a:xfrm>
          <a:prstGeom prst="rect">
            <a:avLst/>
          </a:prstGeom>
          <a:solidFill>
            <a:srgbClr val="0C1752"/>
          </a:solidFill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49272B42-91B7-1655-3183-ECA28ADEEA23}"/>
              </a:ext>
            </a:extLst>
          </p:cNvPr>
          <p:cNvSpPr/>
          <p:nvPr/>
        </p:nvSpPr>
        <p:spPr>
          <a:xfrm>
            <a:off x="8993747" y="1910610"/>
            <a:ext cx="2377440" cy="48768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people/</a:t>
            </a:r>
            <a:endParaRPr lang="en-US" sz="1867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5603FD52-1A33-90AD-CFE8-F4110DC44A63}"/>
              </a:ext>
            </a:extLst>
          </p:cNvPr>
          <p:cNvSpPr/>
          <p:nvPr/>
        </p:nvSpPr>
        <p:spPr>
          <a:xfrm>
            <a:off x="8384147" y="2581170"/>
            <a:ext cx="2987040" cy="60960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8F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Contacts, meeting history, relationships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D7D7BA5B-DB01-489E-BAB9-F8DBDF4E395B}"/>
              </a:ext>
            </a:extLst>
          </p:cNvPr>
          <p:cNvSpPr/>
          <p:nvPr/>
        </p:nvSpPr>
        <p:spPr>
          <a:xfrm>
            <a:off x="2623427" y="3708930"/>
            <a:ext cx="3474720" cy="16459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E6304087-C3CD-4DC9-6545-85BA807B25EF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2867267" y="3952770"/>
            <a:ext cx="487680" cy="487680"/>
          </a:xfrm>
          <a:prstGeom prst="rect">
            <a:avLst/>
          </a:prstGeom>
          <a:solidFill>
            <a:srgbClr val="0C1752"/>
          </a:solidFill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FBF6FA39-0421-1E90-A27C-36C5F6595F4B}"/>
              </a:ext>
            </a:extLst>
          </p:cNvPr>
          <p:cNvSpPr/>
          <p:nvPr/>
        </p:nvSpPr>
        <p:spPr>
          <a:xfrm>
            <a:off x="3476867" y="3891810"/>
            <a:ext cx="2377440" cy="48768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867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46B91DD-29D3-4A54-3240-DC47E03A9DE0}"/>
              </a:ext>
            </a:extLst>
          </p:cNvPr>
          <p:cNvSpPr/>
          <p:nvPr/>
        </p:nvSpPr>
        <p:spPr>
          <a:xfrm>
            <a:off x="2867267" y="4562370"/>
            <a:ext cx="2987040" cy="60960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8F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Map of everything 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7A741739-0FBC-7C4E-9311-7305A5AE90F0}"/>
              </a:ext>
            </a:extLst>
          </p:cNvPr>
          <p:cNvSpPr/>
          <p:nvPr/>
        </p:nvSpPr>
        <p:spPr>
          <a:xfrm>
            <a:off x="6402947" y="3708930"/>
            <a:ext cx="3474720" cy="16459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9B5FA08B-E032-2113-27B7-1AE09D6DB6F9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6646787" y="3952770"/>
            <a:ext cx="487680" cy="487680"/>
          </a:xfrm>
          <a:prstGeom prst="rect">
            <a:avLst/>
          </a:prstGeom>
          <a:solidFill>
            <a:srgbClr val="0C1752"/>
          </a:solidFill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6B13A7B8-3697-47FD-DD4E-6700BCF79176}"/>
              </a:ext>
            </a:extLst>
          </p:cNvPr>
          <p:cNvSpPr/>
          <p:nvPr/>
        </p:nvSpPr>
        <p:spPr>
          <a:xfrm>
            <a:off x="7256387" y="3891810"/>
            <a:ext cx="2377440" cy="48768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log.md</a:t>
            </a:r>
            <a:endParaRPr lang="en-US" sz="1867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9216E552-DCE4-03BB-4590-9CB6C5F7C270}"/>
              </a:ext>
            </a:extLst>
          </p:cNvPr>
          <p:cNvSpPr/>
          <p:nvPr/>
        </p:nvSpPr>
        <p:spPr>
          <a:xfrm>
            <a:off x="6646787" y="4562370"/>
            <a:ext cx="2987040" cy="60960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8E8F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Running diary of agent actions &amp; decisions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818B4ED1-B305-D21D-99E3-FCEB621FBA4F}"/>
              </a:ext>
            </a:extLst>
          </p:cNvPr>
          <p:cNvSpPr/>
          <p:nvPr/>
        </p:nvSpPr>
        <p:spPr>
          <a:xfrm>
            <a:off x="670560" y="550725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i="1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 longer you use it, the smarter it gets. Every automation reads from and writes to the vault.</a:t>
            </a:r>
            <a:endParaRPr lang="en-US" sz="1733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45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B32F-F0AC-BCD0-F834-80A8A7A6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74FEBD-C11A-4712-92B8-BE303A00B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84A6A3-E649-3EFF-CC6C-A9157F571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F1A60AD-9935-64EE-564A-D0B32EE690C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What’s inside the Vault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A529C-8D35-9BCA-8790-E3C36D9C94D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5DF685-C0AE-0866-1863-2AA0713E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5EB47EA-407B-02A8-FCF0-6F387269B4A8}"/>
              </a:ext>
            </a:extLst>
          </p:cNvPr>
          <p:cNvSpPr/>
          <p:nvPr/>
        </p:nvSpPr>
        <p:spPr>
          <a:xfrm>
            <a:off x="174409" y="907669"/>
            <a:ext cx="10485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lt1"/>
              </a:buClr>
              <a:buSzPts val="2500"/>
            </a:pPr>
            <a:endParaRPr lang="en-US" sz="3200" b="1" dirty="0">
              <a:solidFill>
                <a:srgbClr val="0C1752"/>
              </a:solidFill>
              <a:latin typeface="DM Sans"/>
              <a:sym typeface="DM San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05CFEE-0471-32AC-8941-6A3341FA6C1F}"/>
              </a:ext>
            </a:extLst>
          </p:cNvPr>
          <p:cNvSpPr txBox="1"/>
          <p:nvPr/>
        </p:nvSpPr>
        <p:spPr>
          <a:xfrm>
            <a:off x="174409" y="907669"/>
            <a:ext cx="12569912" cy="543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rmAutofit/>
          </a:bodyPr>
          <a:lstStyle>
            <a:defPPr>
              <a:defRPr lang="en-US"/>
            </a:defPPr>
            <a:lvl1pPr marL="228600" lvl="0" indent="-228600" defTabSz="4572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  <a:defRPr>
                <a:solidFill>
                  <a:prstClr val="black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marL="304792" indent="-304792" defTabSz="609585">
              <a:buClr>
                <a:srgbClr val="022911"/>
              </a:buClr>
            </a:pPr>
            <a:r>
              <a:rPr lang="en-US" sz="1867" kern="0" dirty="0">
                <a:sym typeface="Arial"/>
              </a:rPr>
              <a:t>An Obsidian wiki that grows with every interaction. People, meetings, projects, research.</a:t>
            </a:r>
          </a:p>
          <a:p>
            <a:pPr marL="304792" indent="-304792" defTabSz="609585">
              <a:buClr>
                <a:srgbClr val="022911"/>
              </a:buClr>
            </a:pPr>
            <a:endParaRPr lang="en-US" sz="1867" kern="0" dirty="0">
              <a:sym typeface="Arial"/>
            </a:endParaRPr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AAA02A60-5C82-9720-5BB6-17755847C4AF}"/>
              </a:ext>
            </a:extLst>
          </p:cNvPr>
          <p:cNvSpPr/>
          <p:nvPr/>
        </p:nvSpPr>
        <p:spPr>
          <a:xfrm>
            <a:off x="4235270" y="1399489"/>
            <a:ext cx="3523259" cy="4737108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ADE6D7D7-2C85-C246-20DF-DFC351ECE977}"/>
              </a:ext>
            </a:extLst>
          </p:cNvPr>
          <p:cNvSpPr/>
          <p:nvPr/>
        </p:nvSpPr>
        <p:spPr>
          <a:xfrm>
            <a:off x="4430572" y="1354767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people</a:t>
            </a: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3F62B996-3A4C-3FE1-E3F0-019C27B61201}"/>
              </a:ext>
            </a:extLst>
          </p:cNvPr>
          <p:cNvSpPr/>
          <p:nvPr/>
        </p:nvSpPr>
        <p:spPr>
          <a:xfrm>
            <a:off x="209651" y="1399489"/>
            <a:ext cx="3830319" cy="4737108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9C521A6C-99FF-E3C9-3C39-D0AE21B47FAE}"/>
              </a:ext>
            </a:extLst>
          </p:cNvPr>
          <p:cNvSpPr/>
          <p:nvPr/>
        </p:nvSpPr>
        <p:spPr>
          <a:xfrm>
            <a:off x="404952" y="1354767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me</a:t>
            </a:r>
            <a:endParaRPr lang="en-US" sz="2133" kern="0" dirty="0">
              <a:solidFill>
                <a:srgbClr val="D56E4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904213F1-85F3-06CE-5D01-C5FC8C8F4270}"/>
              </a:ext>
            </a:extLst>
          </p:cNvPr>
          <p:cNvSpPr/>
          <p:nvPr/>
        </p:nvSpPr>
        <p:spPr>
          <a:xfrm>
            <a:off x="8071800" y="1399489"/>
            <a:ext cx="3523259" cy="4737108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72BC9B39-54C6-1280-1599-D41D12A70F26}"/>
              </a:ext>
            </a:extLst>
          </p:cNvPr>
          <p:cNvSpPr/>
          <p:nvPr/>
        </p:nvSpPr>
        <p:spPr>
          <a:xfrm>
            <a:off x="8267101" y="1354767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business</a:t>
            </a: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AA058286-1739-6449-23F7-820411AA34EC}"/>
              </a:ext>
            </a:extLst>
          </p:cNvPr>
          <p:cNvSpPr/>
          <p:nvPr/>
        </p:nvSpPr>
        <p:spPr>
          <a:xfrm>
            <a:off x="8271623" y="1832287"/>
            <a:ext cx="3195877" cy="4304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 Brand Identity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TODO: /setup populates this from user input. /brand-docs reads this.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Company Name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What We Do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&lt;!-- 2-3 sentences --&gt;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Who We Serve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&lt;!-- Target audience --&gt;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Tone of Voice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&lt;!-- How the brand communicates:&gt;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Visual Identity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&lt;!-- Colors, fonts, logo description. Reference assets in work/03-brand-docs/sample-data/assets/ --&gt;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## Things We Never Say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E2E8F0"/>
                </a:solidFill>
                <a:latin typeface="Consolas" pitchFamily="34" charset="0"/>
                <a:cs typeface="Arial"/>
                <a:sym typeface="Arial"/>
              </a:rPr>
              <a:t>&lt;!-- Brand guardrails --&gt;</a:t>
            </a: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7755CE9E-C266-BE16-308D-D6E2338964A3}"/>
              </a:ext>
            </a:extLst>
          </p:cNvPr>
          <p:cNvSpPr/>
          <p:nvPr/>
        </p:nvSpPr>
        <p:spPr>
          <a:xfrm>
            <a:off x="4430573" y="1923727"/>
            <a:ext cx="3195877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## TODO: This is a template. 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The agent creates real contact pages automatically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## when it encounters people in emails, meetings, or other interactions.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## Role</a:t>
            </a: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&lt;!-- Their role, company, what they do --&gt;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## Relationship</a:t>
            </a: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&lt;!-- How you know them, how often you interact --&gt;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## Last Interaction</a:t>
            </a: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&lt;!-- Date and brief summary --&gt;</a:t>
            </a: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D4AF78A1-D09A-BC58-CEAB-7822D576F702}"/>
              </a:ext>
            </a:extLst>
          </p:cNvPr>
          <p:cNvSpPr/>
          <p:nvPr/>
        </p:nvSpPr>
        <p:spPr>
          <a:xfrm>
            <a:off x="404953" y="1923727"/>
            <a:ext cx="3340377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About Me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This folder contains pages about you. The /setup command creates these from your LinkedIn profile, posts, and self-description.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Pages the agent will create here: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role.md - Your role, responsibilities, what you do day to day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goals.md - Current goals and priorities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preferences.md - Communication preferences, tools you use, habits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journal/ - Daily reflections and notes (if you want the agent to file these)</a:t>
            </a:r>
          </a:p>
          <a:p>
            <a:pPr defTabSz="1219170">
              <a:buClr>
                <a:srgbClr val="000000"/>
              </a:buClr>
            </a:pPr>
            <a:endParaRPr lang="en-US" sz="1200" kern="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To get started: run /setup and paste your LinkedIn About section when asked.</a:t>
            </a:r>
          </a:p>
        </p:txBody>
      </p:sp>
    </p:spTree>
    <p:extLst>
      <p:ext uri="{BB962C8B-B14F-4D97-AF65-F5344CB8AC3E}">
        <p14:creationId xmlns:p14="http://schemas.microsoft.com/office/powerpoint/2010/main" val="180564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The Vault</a:t>
            </a:r>
          </a:p>
        </p:txBody>
      </p:sp>
      <p:sp>
        <p:nvSpPr>
          <p:cNvPr id="7" name="Text 3"/>
          <p:cNvSpPr/>
          <p:nvPr/>
        </p:nvSpPr>
        <p:spPr>
          <a:xfrm>
            <a:off x="280416" y="1194816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Personal OS implements the Karpathy Wiki Pattern</a:t>
            </a:r>
            <a:endParaRPr lang="en-US" sz="2267" dirty="0"/>
          </a:p>
        </p:txBody>
      </p:sp>
      <p:sp>
        <p:nvSpPr>
          <p:cNvPr id="8" name="Shape 4"/>
          <p:cNvSpPr/>
          <p:nvPr/>
        </p:nvSpPr>
        <p:spPr>
          <a:xfrm>
            <a:off x="280416" y="1853184"/>
            <a:ext cx="3596640" cy="1584960"/>
          </a:xfrm>
          <a:prstGeom prst="roundRect">
            <a:avLst>
              <a:gd name="adj" fmla="val 3846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02336" y="1950720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Sources</a:t>
            </a:r>
            <a:endParaRPr lang="en-US" sz="2133" dirty="0"/>
          </a:p>
        </p:txBody>
      </p:sp>
      <p:sp>
        <p:nvSpPr>
          <p:cNvPr id="10" name="Text 6"/>
          <p:cNvSpPr/>
          <p:nvPr/>
        </p:nvSpPr>
        <p:spPr>
          <a:xfrm>
            <a:off x="463296" y="2377440"/>
            <a:ext cx="32308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Immutable originals: PDFs, screenshots, transcripts. Dropped into vault/sources/</a:t>
            </a:r>
            <a:endParaRPr lang="en-US" sz="1467" dirty="0"/>
          </a:p>
        </p:txBody>
      </p:sp>
      <p:sp>
        <p:nvSpPr>
          <p:cNvPr id="11" name="Shape 7"/>
          <p:cNvSpPr/>
          <p:nvPr/>
        </p:nvSpPr>
        <p:spPr>
          <a:xfrm>
            <a:off x="4157472" y="1853184"/>
            <a:ext cx="3596640" cy="1584960"/>
          </a:xfrm>
          <a:prstGeom prst="roundRect">
            <a:avLst>
              <a:gd name="adj" fmla="val 3846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4279392" y="1950720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Wiki Pages</a:t>
            </a:r>
            <a:endParaRPr lang="en-US" sz="2133" dirty="0"/>
          </a:p>
        </p:txBody>
      </p:sp>
      <p:sp>
        <p:nvSpPr>
          <p:cNvPr id="13" name="Text 9"/>
          <p:cNvSpPr/>
          <p:nvPr/>
        </p:nvSpPr>
        <p:spPr>
          <a:xfrm>
            <a:off x="4340352" y="2377440"/>
            <a:ext cx="32308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Mutable pages with [[wiki links]] and YAML frontmatter. Organized by: me/, business/, people/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8034528" y="1853184"/>
            <a:ext cx="3596640" cy="1584960"/>
          </a:xfrm>
          <a:prstGeom prst="roundRect">
            <a:avLst>
              <a:gd name="adj" fmla="val 3846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8156448" y="1950720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</a:t>
            </a:r>
            <a:endParaRPr lang="en-US" sz="2133" dirty="0"/>
          </a:p>
        </p:txBody>
      </p:sp>
      <p:sp>
        <p:nvSpPr>
          <p:cNvPr id="16" name="Text 12"/>
          <p:cNvSpPr/>
          <p:nvPr/>
        </p:nvSpPr>
        <p:spPr>
          <a:xfrm>
            <a:off x="8217408" y="2377440"/>
            <a:ext cx="32308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index.md catalogs all pages. log.md tracks every change. Structured, queryable.</a:t>
            </a:r>
            <a:endParaRPr lang="en-US" sz="1467" dirty="0"/>
          </a:p>
        </p:txBody>
      </p:sp>
      <p:sp>
        <p:nvSpPr>
          <p:cNvPr id="19" name="Text 15"/>
          <p:cNvSpPr/>
          <p:nvPr/>
        </p:nvSpPr>
        <p:spPr>
          <a:xfrm>
            <a:off x="280416" y="3718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Core Operations</a:t>
            </a:r>
            <a:endParaRPr lang="en-US" sz="1867" dirty="0"/>
          </a:p>
        </p:txBody>
      </p:sp>
      <p:sp>
        <p:nvSpPr>
          <p:cNvPr id="20" name="Shape 16"/>
          <p:cNvSpPr/>
          <p:nvPr/>
        </p:nvSpPr>
        <p:spPr>
          <a:xfrm>
            <a:off x="280416" y="4206240"/>
            <a:ext cx="3596640" cy="1463040"/>
          </a:xfrm>
          <a:prstGeom prst="roundRect">
            <a:avLst>
              <a:gd name="adj" fmla="val 4167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7"/>
          <p:cNvSpPr/>
          <p:nvPr/>
        </p:nvSpPr>
        <p:spPr>
          <a:xfrm>
            <a:off x="402336" y="430377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</a:t>
            </a:r>
            <a:endParaRPr lang="en-US" sz="2133" dirty="0"/>
          </a:p>
        </p:txBody>
      </p:sp>
      <p:sp>
        <p:nvSpPr>
          <p:cNvPr id="22" name="Text 18"/>
          <p:cNvSpPr/>
          <p:nvPr/>
        </p:nvSpPr>
        <p:spPr>
          <a:xfrm>
            <a:off x="463296" y="4730496"/>
            <a:ext cx="32308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new raw sources into wiki pages with [[links]], create people pages, update index &amp; log</a:t>
            </a:r>
            <a:endParaRPr lang="en-US" sz="1467" dirty="0"/>
          </a:p>
        </p:txBody>
      </p:sp>
      <p:sp>
        <p:nvSpPr>
          <p:cNvPr id="23" name="Shape 19"/>
          <p:cNvSpPr/>
          <p:nvPr/>
        </p:nvSpPr>
        <p:spPr>
          <a:xfrm>
            <a:off x="4157472" y="4206240"/>
            <a:ext cx="3596640" cy="1463040"/>
          </a:xfrm>
          <a:prstGeom prst="roundRect">
            <a:avLst>
              <a:gd name="adj" fmla="val 4167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4279392" y="430377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2133" dirty="0"/>
          </a:p>
        </p:txBody>
      </p:sp>
      <p:sp>
        <p:nvSpPr>
          <p:cNvPr id="25" name="Text 21"/>
          <p:cNvSpPr/>
          <p:nvPr/>
        </p:nvSpPr>
        <p:spPr>
          <a:xfrm>
            <a:off x="4340352" y="4730496"/>
            <a:ext cx="32308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index, drill into relevant pages, synthesize answers from structured knowledge</a:t>
            </a:r>
            <a:endParaRPr lang="en-US" sz="1467" dirty="0"/>
          </a:p>
        </p:txBody>
      </p:sp>
      <p:sp>
        <p:nvSpPr>
          <p:cNvPr id="26" name="Shape 22"/>
          <p:cNvSpPr/>
          <p:nvPr/>
        </p:nvSpPr>
        <p:spPr>
          <a:xfrm>
            <a:off x="8034528" y="4206240"/>
            <a:ext cx="3596640" cy="1463040"/>
          </a:xfrm>
          <a:prstGeom prst="roundRect">
            <a:avLst>
              <a:gd name="adj" fmla="val 4167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Text 23"/>
          <p:cNvSpPr/>
          <p:nvPr/>
        </p:nvSpPr>
        <p:spPr>
          <a:xfrm>
            <a:off x="8156448" y="430377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Lint</a:t>
            </a:r>
            <a:endParaRPr lang="en-US" sz="2133" dirty="0"/>
          </a:p>
        </p:txBody>
      </p:sp>
      <p:sp>
        <p:nvSpPr>
          <p:cNvPr id="28" name="Text 24"/>
          <p:cNvSpPr/>
          <p:nvPr/>
        </p:nvSpPr>
        <p:spPr>
          <a:xfrm>
            <a:off x="8217408" y="4730496"/>
            <a:ext cx="32308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checks: orphan pages, stale info, broken links, contradictions, missing cross-references</a:t>
            </a:r>
            <a:endParaRPr lang="en-US" sz="1467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95CC95A-760C-2D07-0854-30EBAF8C10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33E8ADB-52D5-4128-9A35-9EF1F5623AF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FBFF-A292-FEF9-2D04-DAAEDF70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649467-203C-1980-9CE7-8054309D21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F2B86-152B-967E-6600-E028AD667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4D56FF-5FBA-E6E3-799F-5AC130A61055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SOUL.md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C6A53-4A8D-FF9E-48F0-EAB5E1019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08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SOUL.md - Your Agent's Personality</a:t>
            </a:r>
          </a:p>
        </p:txBody>
      </p:sp>
      <p:sp>
        <p:nvSpPr>
          <p:cNvPr id="7" name="Text 3"/>
          <p:cNvSpPr/>
          <p:nvPr/>
        </p:nvSpPr>
        <p:spPr>
          <a:xfrm>
            <a:off x="347472" y="855214"/>
            <a:ext cx="11216640" cy="101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rmAutofit/>
          </a:bodyPr>
          <a:lstStyle/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r>
              <a:rPr lang="en-US" sz="1600" kern="0" dirty="0">
                <a:solidFill>
                  <a:prstClr val="black"/>
                </a:solidFill>
                <a:latin typeface="Montserrat"/>
              </a:rPr>
              <a:t>SOUL.md is a markdown file you add to your project that includes how you write, what you care about, and your personality. </a:t>
            </a:r>
          </a:p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endParaRPr lang="en-US" sz="1600" kern="0" dirty="0">
              <a:solidFill>
                <a:prstClr val="black"/>
              </a:solidFill>
              <a:latin typeface="Montserrat"/>
            </a:endParaRPr>
          </a:p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r>
              <a:rPr lang="en-US" sz="1600" kern="0" dirty="0">
                <a:solidFill>
                  <a:prstClr val="black"/>
                </a:solidFill>
                <a:latin typeface="Montserrat"/>
              </a:rPr>
              <a:t>Injected automatically at every session start via hooks</a:t>
            </a:r>
          </a:p>
        </p:txBody>
      </p:sp>
      <p:sp>
        <p:nvSpPr>
          <p:cNvPr id="8" name="Shape 4"/>
          <p:cNvSpPr/>
          <p:nvPr/>
        </p:nvSpPr>
        <p:spPr>
          <a:xfrm>
            <a:off x="305803" y="231277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27723" y="241031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Role</a:t>
            </a:r>
            <a:endParaRPr lang="en-US" sz="2133" dirty="0"/>
          </a:p>
        </p:txBody>
      </p:sp>
      <p:sp>
        <p:nvSpPr>
          <p:cNvPr id="10" name="Text 6"/>
          <p:cNvSpPr/>
          <p:nvPr/>
        </p:nvSpPr>
        <p:spPr>
          <a:xfrm>
            <a:off x="488683" y="283703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are, what you do, your company description</a:t>
            </a:r>
            <a:endParaRPr lang="en-US" sz="1467" dirty="0"/>
          </a:p>
        </p:txBody>
      </p:sp>
      <p:sp>
        <p:nvSpPr>
          <p:cNvPr id="11" name="Shape 7"/>
          <p:cNvSpPr/>
          <p:nvPr/>
        </p:nvSpPr>
        <p:spPr>
          <a:xfrm>
            <a:off x="4182859" y="231277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4304779" y="241031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Writing Samples</a:t>
            </a:r>
            <a:endParaRPr lang="en-US" sz="2133" dirty="0"/>
          </a:p>
        </p:txBody>
      </p:sp>
      <p:sp>
        <p:nvSpPr>
          <p:cNvPr id="13" name="Text 9"/>
          <p:cNvSpPr/>
          <p:nvPr/>
        </p:nvSpPr>
        <p:spPr>
          <a:xfrm>
            <a:off x="4365739" y="283703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3+ real sentences so the agent matches your exact tone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8059915" y="231277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8181835" y="241031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Priorities</a:t>
            </a:r>
            <a:endParaRPr lang="en-US" sz="2133" dirty="0"/>
          </a:p>
        </p:txBody>
      </p:sp>
      <p:sp>
        <p:nvSpPr>
          <p:cNvPr id="16" name="Text 12"/>
          <p:cNvSpPr/>
          <p:nvPr/>
        </p:nvSpPr>
        <p:spPr>
          <a:xfrm>
            <a:off x="8242795" y="283703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 priorities that guide every decision the agent makes</a:t>
            </a:r>
            <a:endParaRPr lang="en-US" sz="1467" dirty="0"/>
          </a:p>
        </p:txBody>
      </p:sp>
      <p:sp>
        <p:nvSpPr>
          <p:cNvPr id="17" name="Shape 13"/>
          <p:cNvSpPr/>
          <p:nvPr/>
        </p:nvSpPr>
        <p:spPr>
          <a:xfrm>
            <a:off x="305803" y="426349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Text 14"/>
          <p:cNvSpPr/>
          <p:nvPr/>
        </p:nvSpPr>
        <p:spPr>
          <a:xfrm>
            <a:off x="427723" y="436103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 Style</a:t>
            </a:r>
            <a:endParaRPr lang="en-US" sz="2133" dirty="0"/>
          </a:p>
        </p:txBody>
      </p:sp>
      <p:sp>
        <p:nvSpPr>
          <p:cNvPr id="19" name="Text 15"/>
          <p:cNvSpPr/>
          <p:nvPr/>
        </p:nvSpPr>
        <p:spPr>
          <a:xfrm>
            <a:off x="488683" y="478775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Preferred length, formality, technical depth</a:t>
            </a:r>
            <a:endParaRPr lang="en-US" sz="1467" dirty="0"/>
          </a:p>
        </p:txBody>
      </p:sp>
      <p:sp>
        <p:nvSpPr>
          <p:cNvPr id="20" name="Shape 16"/>
          <p:cNvSpPr/>
          <p:nvPr/>
        </p:nvSpPr>
        <p:spPr>
          <a:xfrm>
            <a:off x="4182859" y="426349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7"/>
          <p:cNvSpPr/>
          <p:nvPr/>
        </p:nvSpPr>
        <p:spPr>
          <a:xfrm>
            <a:off x="4304779" y="436103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 Voice Rules</a:t>
            </a:r>
            <a:endParaRPr lang="en-US" sz="2133" dirty="0"/>
          </a:p>
        </p:txBody>
      </p:sp>
      <p:sp>
        <p:nvSpPr>
          <p:cNvPr id="22" name="Text 18"/>
          <p:cNvSpPr/>
          <p:nvPr/>
        </p:nvSpPr>
        <p:spPr>
          <a:xfrm>
            <a:off x="4365739" y="478775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AI speak, no em-dashes, no filler, no fluff</a:t>
            </a:r>
            <a:endParaRPr lang="en-US" sz="1467" dirty="0"/>
          </a:p>
        </p:txBody>
      </p:sp>
      <p:sp>
        <p:nvSpPr>
          <p:cNvPr id="23" name="Shape 19"/>
          <p:cNvSpPr/>
          <p:nvPr/>
        </p:nvSpPr>
        <p:spPr>
          <a:xfrm>
            <a:off x="8059915" y="4263497"/>
            <a:ext cx="3596640" cy="1706880"/>
          </a:xfrm>
          <a:prstGeom prst="roundRect">
            <a:avLst>
              <a:gd name="adj" fmla="val 3571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8181835" y="4361033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Things to Avoid</a:t>
            </a:r>
            <a:endParaRPr lang="en-US" sz="2133" dirty="0"/>
          </a:p>
        </p:txBody>
      </p:sp>
      <p:sp>
        <p:nvSpPr>
          <p:cNvPr id="25" name="Text 21"/>
          <p:cNvSpPr/>
          <p:nvPr/>
        </p:nvSpPr>
        <p:spPr>
          <a:xfrm>
            <a:off x="8242795" y="4787753"/>
            <a:ext cx="3230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 phrases, patterns, and output styles to never use</a:t>
            </a:r>
            <a:endParaRPr lang="en-US" sz="146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514C-CA09-0797-5557-F231E41A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32A86E-3CC4-8019-E712-CCA456E48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79AC27-87E4-7D08-FE8B-38C99581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E704918-EF79-3A44-A05A-71A996D404C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does SOUL.md file look like?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679A0-8B88-14A8-8E7D-E6BCFF31B91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F4D8C2-E91B-7E1B-FE1E-ACF82AE58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D557910-E809-1038-A314-DE178CF991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76284" y="5810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D68163B1-F13B-DC8D-98CF-78880BC8EB3B}"/>
              </a:ext>
            </a:extLst>
          </p:cNvPr>
          <p:cNvSpPr/>
          <p:nvPr/>
        </p:nvSpPr>
        <p:spPr>
          <a:xfrm>
            <a:off x="2908040" y="661644"/>
            <a:ext cx="5722620" cy="6105867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89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FB8AD96F-38E5-5679-FC9D-323DA72C680D}"/>
              </a:ext>
            </a:extLst>
          </p:cNvPr>
          <p:cNvSpPr/>
          <p:nvPr/>
        </p:nvSpPr>
        <p:spPr>
          <a:xfrm>
            <a:off x="2994399" y="589958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2133" dirty="0">
              <a:solidFill>
                <a:srgbClr val="D56E48"/>
              </a:solidFill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C0730407-3CF0-9DBF-79D9-0E27D28732A7}"/>
              </a:ext>
            </a:extLst>
          </p:cNvPr>
          <p:cNvSpPr/>
          <p:nvPr/>
        </p:nvSpPr>
        <p:spPr>
          <a:xfrm>
            <a:off x="3062436" y="1103862"/>
            <a:ext cx="5454732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 Soul - Who I Am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TODO: This is a template. The /setup command guides the user through filling this in.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The agent synthesizes raw inputs (LinkedIn, posts, docs) into this structured format.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Keep under 2KB total. Specific and actionable, not a biography.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Writing Style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&lt;!-- 3 examples of real sentences the user has written. The agent learns tone from these.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- Example 1: ""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How I Communicate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Formal or casual? Verbose or terse? Bullet points or paragraphs?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My Priorities (most to least important)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Max 5 items. What matters most when filtering information?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My Role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One sentence. What do you do?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My Company/Business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&lt;!-- 2-3 sentences. What does your company do? Who do you serve?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Voice Rules (always active, non-negotiable)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These are baked in. Every output follows these regardless of the task. --&gt;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- Never sound like AI. No polished, corporate, or robotic tone. Write like a real person.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- Never use </a:t>
            </a:r>
            <a:r>
              <a:rPr lang="en-CA" sz="1000" dirty="0" err="1">
                <a:solidFill>
                  <a:srgbClr val="FFFFFF"/>
                </a:solidFill>
                <a:latin typeface="Consolas" panose="020B0609020204030204" pitchFamily="49" charset="0"/>
              </a:rPr>
              <a:t>em</a:t>
            </a:r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-dashes. Use commas, periods, or restructure the sentence.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- Have personality. Be direct. Sound like the person described above, not a language model.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## Things I Never Want in My Outputs</a:t>
            </a:r>
          </a:p>
          <a:p>
            <a:r>
              <a:rPr lang="en-CA" sz="1000" dirty="0">
                <a:solidFill>
                  <a:srgbClr val="FFFFFF"/>
                </a:solidFill>
                <a:latin typeface="Consolas" panose="020B0609020204030204" pitchFamily="49" charset="0"/>
              </a:rPr>
              <a:t>&lt;!-- Add your own. These are on top of the voice rules above. --&gt;</a:t>
            </a:r>
          </a:p>
        </p:txBody>
      </p:sp>
    </p:spTree>
    <p:extLst>
      <p:ext uri="{BB962C8B-B14F-4D97-AF65-F5344CB8AC3E}">
        <p14:creationId xmlns:p14="http://schemas.microsoft.com/office/powerpoint/2010/main" val="377543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9FF4-EEFD-52D3-4AC0-8F6EB6C7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64AF97-7D2C-CEF1-297B-EB5BA3109E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452409-F70A-B51E-498D-E8EFF7F14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D18542-3247-6624-EFF2-A91C0BDAF82B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E05CF0-5423-BFF0-20B6-ADADB4B64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73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CLAUDE.md - The Playbook </a:t>
            </a:r>
          </a:p>
        </p:txBody>
      </p:sp>
      <p:sp>
        <p:nvSpPr>
          <p:cNvPr id="7" name="Text 3"/>
          <p:cNvSpPr/>
          <p:nvPr/>
        </p:nvSpPr>
        <p:spPr>
          <a:xfrm>
            <a:off x="158496" y="910502"/>
            <a:ext cx="11216640" cy="100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rmAutofit/>
          </a:bodyPr>
          <a:lstStyle/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r>
              <a:rPr lang="en-US" kern="0" dirty="0">
                <a:solidFill>
                  <a:prstClr val="black"/>
                </a:solidFill>
                <a:latin typeface="Montserrat"/>
              </a:rPr>
              <a:t>The master orchestrator (playbook) that defines agent protocols and </a:t>
            </a:r>
            <a:r>
              <a:rPr lang="en-US" kern="0" dirty="0" err="1">
                <a:solidFill>
                  <a:prstClr val="black"/>
                </a:solidFill>
                <a:latin typeface="Montserrat"/>
              </a:rPr>
              <a:t>behaviour</a:t>
            </a:r>
            <a:endParaRPr lang="en-US" kern="0" dirty="0">
              <a:solidFill>
                <a:prstClr val="black"/>
              </a:solidFill>
              <a:latin typeface="Montserrat"/>
            </a:endParaRPr>
          </a:p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r>
              <a:rPr lang="en-US" kern="0" dirty="0">
                <a:solidFill>
                  <a:prstClr val="black"/>
                </a:solidFill>
                <a:latin typeface="Montserrat"/>
              </a:rPr>
              <a:t>CLAUDE.md is a markdown file you add to your project root that Claude Code reads at the start of every session and acts like a briefing note. </a:t>
            </a:r>
          </a:p>
          <a:p>
            <a:pPr marL="304792" indent="-304792" defTabSz="609585">
              <a:lnSpc>
                <a:spcPct val="90000"/>
              </a:lnSpc>
              <a:buClr>
                <a:srgbClr val="022911"/>
              </a:buClr>
              <a:buSzPts val="1800"/>
              <a:buFont typeface="Arial"/>
              <a:buChar char="•"/>
            </a:pPr>
            <a:endParaRPr lang="en-US" kern="0" dirty="0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15638" y="1826602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622902" y="1826602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Vault Protocol</a:t>
            </a:r>
            <a:endParaRPr lang="en-US" sz="1733" dirty="0"/>
          </a:p>
        </p:txBody>
      </p:sp>
      <p:sp>
        <p:nvSpPr>
          <p:cNvPr id="10" name="Text 6"/>
          <p:cNvSpPr/>
          <p:nvPr/>
        </p:nvSpPr>
        <p:spPr>
          <a:xfrm>
            <a:off x="3183222" y="1826602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Three-layer knowledge (</a:t>
            </a:r>
            <a:r>
              <a:rPr lang="en-US" sz="1467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Karpathy</a:t>
            </a:r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Wiki Pattern): 1. raw sources, 2. wiki pages, 3. schema. </a:t>
            </a:r>
            <a:endParaRPr lang="en-US" sz="1467" dirty="0"/>
          </a:p>
        </p:txBody>
      </p:sp>
      <p:sp>
        <p:nvSpPr>
          <p:cNvPr id="11" name="Shape 7"/>
          <p:cNvSpPr/>
          <p:nvPr/>
        </p:nvSpPr>
        <p:spPr>
          <a:xfrm>
            <a:off x="415638" y="2533738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622902" y="2533738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Protocol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3183222" y="2533738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outputs use brand config. PPT/Excel use skills + templates. Logo on every slide.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415638" y="3240874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E8EAF2"/>
          </a:solidFill>
          <a:ln w="1270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622902" y="3240874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 Integrations</a:t>
            </a:r>
            <a:endParaRPr lang="en-US" sz="1733" dirty="0"/>
          </a:p>
        </p:txBody>
      </p:sp>
      <p:sp>
        <p:nvSpPr>
          <p:cNvPr id="16" name="Text 12"/>
          <p:cNvSpPr/>
          <p:nvPr/>
        </p:nvSpPr>
        <p:spPr>
          <a:xfrm>
            <a:off x="3183222" y="3240874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Gmail, Calendar, Notion with documented parameter formats. Deferred loading.</a:t>
            </a:r>
            <a:endParaRPr lang="en-US" sz="1467" dirty="0"/>
          </a:p>
        </p:txBody>
      </p:sp>
      <p:sp>
        <p:nvSpPr>
          <p:cNvPr id="17" name="Shape 13"/>
          <p:cNvSpPr/>
          <p:nvPr/>
        </p:nvSpPr>
        <p:spPr>
          <a:xfrm>
            <a:off x="415638" y="3948010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Text 14"/>
          <p:cNvSpPr/>
          <p:nvPr/>
        </p:nvSpPr>
        <p:spPr>
          <a:xfrm>
            <a:off x="622902" y="394801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Self-Correction</a:t>
            </a:r>
            <a:endParaRPr lang="en-US" sz="1733" dirty="0"/>
          </a:p>
        </p:txBody>
      </p:sp>
      <p:sp>
        <p:nvSpPr>
          <p:cNvPr id="19" name="Text 15"/>
          <p:cNvSpPr/>
          <p:nvPr/>
        </p:nvSpPr>
        <p:spPr>
          <a:xfrm>
            <a:off x="3183222" y="3948010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logged to error-log.md. Agent checks past fixes before retrying.</a:t>
            </a:r>
            <a:endParaRPr lang="en-US" sz="1467" dirty="0"/>
          </a:p>
        </p:txBody>
      </p:sp>
      <p:sp>
        <p:nvSpPr>
          <p:cNvPr id="20" name="Shape 16"/>
          <p:cNvSpPr/>
          <p:nvPr/>
        </p:nvSpPr>
        <p:spPr>
          <a:xfrm>
            <a:off x="415638" y="4655146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7"/>
          <p:cNvSpPr/>
          <p:nvPr/>
        </p:nvSpPr>
        <p:spPr>
          <a:xfrm>
            <a:off x="622902" y="4655146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Rules</a:t>
            </a:r>
            <a:endParaRPr lang="en-US" sz="1733" dirty="0"/>
          </a:p>
        </p:txBody>
      </p:sp>
      <p:sp>
        <p:nvSpPr>
          <p:cNvPr id="22" name="Text 18"/>
          <p:cNvSpPr/>
          <p:nvPr/>
        </p:nvSpPr>
        <p:spPr>
          <a:xfrm>
            <a:off x="3183222" y="4655146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SOUL.md personality at all times. Never degrades with long context.</a:t>
            </a:r>
            <a:endParaRPr lang="en-US" sz="1467" dirty="0"/>
          </a:p>
        </p:txBody>
      </p:sp>
      <p:sp>
        <p:nvSpPr>
          <p:cNvPr id="23" name="Shape 19"/>
          <p:cNvSpPr/>
          <p:nvPr/>
        </p:nvSpPr>
        <p:spPr>
          <a:xfrm>
            <a:off x="415638" y="5362282"/>
            <a:ext cx="11216640" cy="585216"/>
          </a:xfrm>
          <a:prstGeom prst="roundRect">
            <a:avLst>
              <a:gd name="adj" fmla="val 8333"/>
            </a:avLst>
          </a:prstGeom>
          <a:solidFill>
            <a:srgbClr val="E8EAF2"/>
          </a:solidFill>
          <a:ln w="1270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622902" y="5362282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Post-Run Ingestion</a:t>
            </a:r>
            <a:endParaRPr lang="en-US" sz="1733" dirty="0"/>
          </a:p>
        </p:txBody>
      </p:sp>
      <p:sp>
        <p:nvSpPr>
          <p:cNvPr id="25" name="Text 21"/>
          <p:cNvSpPr/>
          <p:nvPr/>
        </p:nvSpPr>
        <p:spPr>
          <a:xfrm>
            <a:off x="3183222" y="5362282"/>
            <a:ext cx="816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every automation: extract people, companies, links back to vault.</a:t>
            </a:r>
            <a:endParaRPr lang="en-US" sz="1467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573F54-9DFC-B2C6-AC5A-71C14C4D7C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229913-AB0D-6CAC-4995-51399EBC790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F078-0911-F300-182F-D811E4E3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3DD05C-3E45-2605-BF35-1AF2E597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46C3F61-2512-8F6D-F7AD-F4192FBA653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 (Summarized)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F663A-47CB-7BBD-3863-28547C79A2F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E1C003-BE10-5968-B06C-6CE391A28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72FC8FB-C36E-4FDE-7E07-B8430B9EEE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79943" y="6410210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1E444CF9-2B52-25BF-48F8-7DAF32D1EAED}"/>
              </a:ext>
            </a:extLst>
          </p:cNvPr>
          <p:cNvSpPr/>
          <p:nvPr/>
        </p:nvSpPr>
        <p:spPr>
          <a:xfrm>
            <a:off x="3498058" y="1189667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2133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B57CA21D-9065-769F-B646-ECFF95D8E983}"/>
              </a:ext>
            </a:extLst>
          </p:cNvPr>
          <p:cNvSpPr txBox="1">
            <a:spLocks/>
          </p:cNvSpPr>
          <p:nvPr/>
        </p:nvSpPr>
        <p:spPr>
          <a:xfrm>
            <a:off x="6369578" y="5791498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C7A16FE3-8B4B-4730-4E66-4CB42C0709C9}"/>
              </a:ext>
            </a:extLst>
          </p:cNvPr>
          <p:cNvSpPr/>
          <p:nvPr/>
        </p:nvSpPr>
        <p:spPr>
          <a:xfrm>
            <a:off x="2957725" y="642642"/>
            <a:ext cx="6276549" cy="6219766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89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2EF90562-89DB-E68E-B442-6ECCF1AB07EB}"/>
              </a:ext>
            </a:extLst>
          </p:cNvPr>
          <p:cNvSpPr/>
          <p:nvPr/>
        </p:nvSpPr>
        <p:spPr>
          <a:xfrm>
            <a:off x="3129172" y="579270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</a:rPr>
              <a:t>CLAUDE.md</a:t>
            </a: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45EACBC3-996C-468B-C6CC-2F3535F2C5D2}"/>
              </a:ext>
            </a:extLst>
          </p:cNvPr>
          <p:cNvSpPr/>
          <p:nvPr/>
        </p:nvSpPr>
        <p:spPr>
          <a:xfrm>
            <a:off x="3129173" y="1081555"/>
            <a:ext cx="6505892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Core Identity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You are the user’s personal AI agent (not generic AI)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Everything about how you act comes from soul.md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Vault = System of Record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A living wiki (Obsidian) you continuously maintain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- 3 parts: (1) Sources → read-only, (2) Wiki → you create/update, (3) Schema → rules (this file + soul.md)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How You Operate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Ingest → turn inputs into structured wiki pages + links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Query → read index → navigate → synthesize → store insights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Always cross-link + keep consistency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Memory Rule (Most Important Behavior)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Treat vault like permanent memory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Organize by type: People, business, projects, meetings, research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Index + Log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index.md → map of everything (always updated)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log.md → append-only history of actions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Brand Execution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Follow brand config for all outputs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Excel → real formulas only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PPT → template + logo always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Outputs must be consistent + production-ready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Tooling Rules (MCP)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Use correct formats (Calendar ISO, Gmail queries, Notion structured fields)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Self-Correction Loop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On failure: Check past fixes &amp; Reuse if exists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Log new fix and Never repeat same mistake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Execution Discipline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Each project has its own context (read its CLAUDE.md)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Voice (Non-Negotiable)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Not robotic, not corporate, Direct, human, opinionated &amp; Matches soul.md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After Every Run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Update: People, Businesses, Projects, Index + log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Output Hygiene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Clean deliverables only, No temp files, Organized folders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Hard Rules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Never edit vault/sources/</a:t>
            </a:r>
          </a:p>
          <a:p>
            <a:r>
              <a:rPr lang="en-CA" sz="750" dirty="0">
                <a:solidFill>
                  <a:srgbClr val="FFFFFF"/>
                </a:solidFill>
                <a:latin typeface="Consolas" panose="020B0609020204030204" pitchFamily="49" charset="0"/>
              </a:rPr>
              <a:t>- Always act in soul.md voice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ED064-72E6-DD5E-E30F-3DA573CF0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0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  <p:bldP spid="10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7773-C494-4DB9-8CFC-0C1B192D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BCF675-7C1A-6203-5D7A-0BDA51A43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CE00CEA-0715-B24F-B16E-076068FCEBE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 Detailed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B72A0-4947-1690-04C9-357709ADD25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86B336-A62C-FD40-FCCE-8F980AB1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C0531A3D-AF29-391F-5587-29F71D9DE5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837170" y="586318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fld id="{00000000-1234-1234-1234-123412341234}" type="slidenum">
              <a:rPr lang="en" kern="0"/>
              <a:pPr defTabSz="1219170"/>
              <a:t>29</a:t>
            </a:fld>
            <a:endParaRPr kern="0"/>
          </a:p>
        </p:txBody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709291A3-9F8B-4A3F-D9B7-0ACC24078C83}"/>
              </a:ext>
            </a:extLst>
          </p:cNvPr>
          <p:cNvSpPr/>
          <p:nvPr/>
        </p:nvSpPr>
        <p:spPr>
          <a:xfrm>
            <a:off x="5368926" y="714328"/>
            <a:ext cx="5722620" cy="5810297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01E5E929-F3C2-293D-F312-9871B352F65F}"/>
              </a:ext>
            </a:extLst>
          </p:cNvPr>
          <p:cNvSpPr/>
          <p:nvPr/>
        </p:nvSpPr>
        <p:spPr>
          <a:xfrm>
            <a:off x="5455285" y="642642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CLAUDE.md</a:t>
            </a: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8CC92C62-CD7E-EDCD-72AA-9AB697951C01}"/>
              </a:ext>
            </a:extLst>
          </p:cNvPr>
          <p:cNvSpPr/>
          <p:nvPr/>
        </p:nvSpPr>
        <p:spPr>
          <a:xfrm>
            <a:off x="5564228" y="1238566"/>
            <a:ext cx="5277485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## Who You Are (HIGHEST PRIORITY, NEVER OVERRIDE)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You are this user's personal AI agent. Not "Claude Code." Not "an AI assistant."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Your full identity, voice, priorities, and personality are in soul.md. </a:t>
            </a:r>
          </a:p>
          <a:p>
            <a:pPr defTabSz="1219170">
              <a:buClr>
                <a:srgbClr val="000000"/>
              </a:buClr>
            </a:pPr>
            <a:endParaRPr lang="en-CA" sz="1200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Vault Protocol (</a:t>
            </a:r>
            <a:r>
              <a:rPr lang="en-CA" sz="1200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Karpathy</a:t>
            </a: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 Wiki Pattern)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The vault is a persistent, compounding wiki. You maintain it. The user reads it in Obsidian.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### Three Layers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1. **Raw sources** (vault/sources/) - Immutable. You NEVER modify them.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2. **The wiki** (everything else in vault/) - You own this. Create, update, cross-reference, keep consistent.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3. **The schema** (this file + soul.md) - How the vault is structured.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### Wiki Page Rules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Every page uses [[wiki links]]. One topic per page.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Link to [[people/name]], [[business/company]], [[projects/name]].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Add YAML frontmatter: tags, date created, date updated.</a:t>
            </a:r>
          </a:p>
          <a:p>
            <a:pPr defTabSz="1219170">
              <a:buClr>
                <a:srgbClr val="000000"/>
              </a:buClr>
            </a:pPr>
            <a:r>
              <a:rPr lang="en-CA" sz="1200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  <a:endParaRPr lang="en-US" sz="667" kern="0" dirty="0">
              <a:solidFill>
                <a:srgbClr val="FFFFF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36BF0F-F5FC-119D-EB4D-37F266CE9B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6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577C-0893-9EF2-B163-BAADB466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AA98DC-40DB-9724-E799-E1A6600B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77C111-C665-7DB6-F66F-3929312CF50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 Detailed (Continued)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B25B1-4820-7A12-D701-81C64A5C3C0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2219F3-3298-33D8-A591-1DE3CE273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E21EBC2-079F-6EAD-D205-F4BFBD82CE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30846" y="580344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fld id="{00000000-1234-1234-1234-123412341234}" type="slidenum">
              <a:rPr lang="en" kern="0"/>
              <a:pPr defTabSz="1219170"/>
              <a:t>30</a:t>
            </a:fld>
            <a:endParaRPr kern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D7B37525-106B-B999-8032-E8F32728EDDE}"/>
              </a:ext>
            </a:extLst>
          </p:cNvPr>
          <p:cNvSpPr/>
          <p:nvPr/>
        </p:nvSpPr>
        <p:spPr>
          <a:xfrm>
            <a:off x="5262602" y="654589"/>
            <a:ext cx="5722620" cy="610912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525C12A0-8178-962D-58F0-584663D6BF7B}"/>
              </a:ext>
            </a:extLst>
          </p:cNvPr>
          <p:cNvSpPr/>
          <p:nvPr/>
        </p:nvSpPr>
        <p:spPr>
          <a:xfrm>
            <a:off x="5348961" y="582902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CLAUDE.md</a:t>
            </a:r>
          </a:p>
        </p:txBody>
      </p:sp>
      <p:sp>
        <p:nvSpPr>
          <p:cNvPr id="8" name="Text 22">
            <a:extLst>
              <a:ext uri="{FF2B5EF4-FFF2-40B4-BE49-F238E27FC236}">
                <a16:creationId xmlns:a16="http://schemas.microsoft.com/office/drawing/2014/main" id="{C872B5F8-51B1-C806-9DF8-36F5168CE9FC}"/>
              </a:ext>
            </a:extLst>
          </p:cNvPr>
          <p:cNvSpPr/>
          <p:nvPr/>
        </p:nvSpPr>
        <p:spPr>
          <a:xfrm>
            <a:off x="5457904" y="1178826"/>
            <a:ext cx="5277485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### Operations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**Ingest** (/ingest or during any interaction): Read source, create/update wiki pages, add [[links]], flag contradictions, update log and index. A single source might touch 10-15 pages.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**Query**: Read vault/index.md first, drill into relevant pages, synthesize answer. File valuable answers as new wiki pages.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### Indexing and Logging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**vault/index.md** - Catalog of all pages. Read this first. Update on every ingest.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**vault/log.md** - Append-only. Format: `## [YYYY-MM-DD HH:MM] command | description`.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### Always-On Vault Updates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Update the vault like memory. No command needed. Save immediately when you learn: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When you learn... | Save to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|---|---|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Something about the user | vault/me/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A person's name, role, context | vault/people/{name}.md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Business info, competitor moves | vault/business/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Project status changes | vault/projects/{name}.md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User decisions or preferences | vault/me/preferences.md or goals.md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A meeting or call | vault/meetings/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| Research or analysis | vault/research/ |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After every vault write: add [[wiki links]], append to vault/log.md, update vault/index.md if new page.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**The rule:** If you'd lose the information when this session ends, save it now.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  <a:endParaRPr lang="en-US" sz="533" kern="0" dirty="0">
              <a:solidFill>
                <a:srgbClr val="FFFFF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81BF6D-EB48-18C1-89B9-BD95B2D65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8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7D83-CF40-55D4-8BD7-7B893231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25525-906B-95F0-1E45-F9D91A9F2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D0E48C9-89E4-912A-B8EE-0DA4CE6D207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 Detailed (Continued)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9426A-9E6E-09E8-C1FA-A6115F95D63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64F35A-0518-4899-345E-5B1805402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13B09DE-5120-3EDF-09D5-71AE875354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854037" y="58317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fld id="{00000000-1234-1234-1234-123412341234}" type="slidenum">
              <a:rPr lang="en" kern="0"/>
              <a:pPr defTabSz="1219170"/>
              <a:t>31</a:t>
            </a:fld>
            <a:endParaRPr kern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8E6D3A44-14A8-E913-D3F8-5F0110B230D5}"/>
              </a:ext>
            </a:extLst>
          </p:cNvPr>
          <p:cNvSpPr/>
          <p:nvPr/>
        </p:nvSpPr>
        <p:spPr>
          <a:xfrm>
            <a:off x="5385793" y="682868"/>
            <a:ext cx="5722620" cy="5994158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BCEDE9D9-F66B-F27D-2250-AA7EB130FAD5}"/>
              </a:ext>
            </a:extLst>
          </p:cNvPr>
          <p:cNvSpPr/>
          <p:nvPr/>
        </p:nvSpPr>
        <p:spPr>
          <a:xfrm>
            <a:off x="5472152" y="611181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CLAUDE.md</a:t>
            </a:r>
          </a:p>
        </p:txBody>
      </p:sp>
      <p:sp>
        <p:nvSpPr>
          <p:cNvPr id="8" name="Text 22">
            <a:extLst>
              <a:ext uri="{FF2B5EF4-FFF2-40B4-BE49-F238E27FC236}">
                <a16:creationId xmlns:a16="http://schemas.microsoft.com/office/drawing/2014/main" id="{8CB468C0-E12F-6865-F49F-65168D89BE50}"/>
              </a:ext>
            </a:extLst>
          </p:cNvPr>
          <p:cNvSpPr/>
          <p:nvPr/>
        </p:nvSpPr>
        <p:spPr>
          <a:xfrm>
            <a:off x="5581095" y="1207105"/>
            <a:ext cx="5277485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Brand Protocol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When generating PPT, Excel, PDF, or images: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Read brand/config/brand-config.md for colors, fonts, formatting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Use brand/templates/ if available, brand/images/ for logo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Use skills: /pptx, /xlsx, /ppt-visual, /xlsx-manipulation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All outputs consistent across automations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**Excel:** ALWAYS real formulas (=SUM, =SUMIFS, =IF), never hardcoded values. Usable standalone.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**PPT:** Use /pptx skill + brand template. Logo on every slide.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MCP Reference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**Google Calendar:** `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timeMin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`/`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timeMax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` in ISO 8601. NOT 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time_min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, date, start, end.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**Gmail:** `query` with Gmail search syntax. `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gmail_create_draft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` for staging drafts (NOT Chrome).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**Notion property formats:**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Date: `"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date:FieldName:start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": "2026-04-07"` (NOT flat string)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Checkbox: `"__YES__"` / `"__NO__"` (NOT true/false or 1/0)</a:t>
            </a:r>
          </a:p>
          <a:p>
            <a:pPr defTabSz="1219170">
              <a:buClr>
                <a:srgbClr val="000000"/>
              </a:buClr>
            </a:pPr>
            <a:endParaRPr lang="en-CA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Self-Correction Loop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When an MCP call fails: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1. Check vault/projects/error-log.md for past fixes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2. If known fix exists, use it immediately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3. If new error, fix it, then log: date, MCP, what went wrong, fix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4. Do NOT retry the same wrong approach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  <a:endParaRPr lang="en-US" sz="533" kern="0" dirty="0">
              <a:solidFill>
                <a:srgbClr val="FFFFF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B35F3D-DB43-ACAA-9D15-DEEBD92068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1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CD9E-9B2D-D658-C857-D3B824B0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27AC0D-2789-AD1B-1BE0-15F60C4A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E60698E-4372-DFD5-4477-BED6DF2AB4F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CLAUDE.md Detailed (Continued)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80003-3B77-7D98-5000-E7EB5E3CBEF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35B349-DE1B-5DD6-81A2-688482AE9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2300066-1444-10D4-24A2-E8EA7C3DCE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63179" y="583710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fld id="{00000000-1234-1234-1234-123412341234}" type="slidenum">
              <a:rPr lang="en" kern="0"/>
              <a:pPr defTabSz="1219170"/>
              <a:t>32</a:t>
            </a:fld>
            <a:endParaRPr kern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E8F9DEF2-578F-6997-33BE-FFA774C45120}"/>
              </a:ext>
            </a:extLst>
          </p:cNvPr>
          <p:cNvSpPr/>
          <p:nvPr/>
        </p:nvSpPr>
        <p:spPr>
          <a:xfrm>
            <a:off x="5194935" y="688246"/>
            <a:ext cx="5722620" cy="6053183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DF64DFD9-DBB2-7F94-030D-C501FD65F8EC}"/>
              </a:ext>
            </a:extLst>
          </p:cNvPr>
          <p:cNvSpPr/>
          <p:nvPr/>
        </p:nvSpPr>
        <p:spPr>
          <a:xfrm>
            <a:off x="5281294" y="616560"/>
            <a:ext cx="195072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CLAUDE.md</a:t>
            </a:r>
          </a:p>
        </p:txBody>
      </p:sp>
      <p:sp>
        <p:nvSpPr>
          <p:cNvPr id="8" name="Text 22">
            <a:extLst>
              <a:ext uri="{FF2B5EF4-FFF2-40B4-BE49-F238E27FC236}">
                <a16:creationId xmlns:a16="http://schemas.microsoft.com/office/drawing/2014/main" id="{619093FF-0BBE-01A4-C7E9-3F7A5616CD9E}"/>
              </a:ext>
            </a:extLst>
          </p:cNvPr>
          <p:cNvSpPr/>
          <p:nvPr/>
        </p:nvSpPr>
        <p:spPr>
          <a:xfrm>
            <a:off x="5398134" y="1130464"/>
            <a:ext cx="5277485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Project Discovery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Each work/ folder is an automation or project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Read its CLAUDE.md before executing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Utility Commands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/setup - First-run onboarding wizard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/ingest - Process new raw sources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/status - Health check and "what happened while I was away"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/lint - Vault health check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/new - Create a new automation or project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cron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-setup - Manage system schedules (on/off/specific)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/brand - Set up or refresh brand config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Voice (non-negotiable, ALL outputs, ALL times)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Never sound like AI. No polished, robotic, corporate tone.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Never use 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em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-dashes.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Have personality. Be direct. Match soul.md.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Post-Run Ingestion (mandatory after every automation)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Before presenting results: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1. Create vault/people/ for every new person found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2. Create vault/business/ for every new company found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3. Update vault/projects/ for status changes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4. Update vault/index.md and vault/log.md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Output Hygiene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Deliverables to outputs/{automation-name}/YYYY-MM-DD/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DELETE all temp artifacts (build scripts, unpacked 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dirs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, .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tmp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 files)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Only final .pptx/.xlsx/.pdf/.</a:t>
            </a:r>
            <a:r>
              <a:rPr lang="en-CA" sz="1067" kern="0" dirty="0" err="1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png</a:t>
            </a: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 remain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 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Rules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Never modify vault/sources/. Read only.</a:t>
            </a:r>
          </a:p>
          <a:p>
            <a:pPr defTabSz="1219170">
              <a:buClr>
                <a:srgbClr val="000000"/>
              </a:buClr>
            </a:pPr>
            <a:r>
              <a:rPr lang="en-CA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Always use soul.md voice for ANY user-facing output.</a:t>
            </a:r>
          </a:p>
          <a:p>
            <a:pPr defTabSz="1219170">
              <a:buClr>
                <a:srgbClr val="000000"/>
              </a:buClr>
            </a:pPr>
            <a:endParaRPr lang="en-US" sz="533" kern="0" dirty="0">
              <a:solidFill>
                <a:srgbClr val="FFFFF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F502CE-A986-46EC-CF6C-7420E0A70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1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0389-18D1-8FF4-9D06-A564F147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14D93E-C467-5BB8-52FA-9B0C24D17F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D7920D-BA1C-1033-E494-923E9FE3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06D5BF-6998-40F7-14EE-27E8E52EDC46}"/>
              </a:ext>
            </a:extLst>
          </p:cNvPr>
          <p:cNvSpPr/>
          <p:nvPr/>
        </p:nvSpPr>
        <p:spPr>
          <a:xfrm>
            <a:off x="293913" y="793804"/>
            <a:ext cx="544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BRAND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88A3A-5F14-1F8F-1371-7818830A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50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Brand Folder</a:t>
            </a:r>
          </a:p>
        </p:txBody>
      </p:sp>
      <p:sp>
        <p:nvSpPr>
          <p:cNvPr id="7" name="Text 3"/>
          <p:cNvSpPr/>
          <p:nvPr/>
        </p:nvSpPr>
        <p:spPr>
          <a:xfrm>
            <a:off x="304800" y="1054608"/>
            <a:ext cx="11216640" cy="46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Every output uses your brand identity: colors, fonts, logo, and tone</a:t>
            </a:r>
          </a:p>
        </p:txBody>
      </p:sp>
      <p:sp>
        <p:nvSpPr>
          <p:cNvPr id="8" name="Shape 4"/>
          <p:cNvSpPr/>
          <p:nvPr/>
        </p:nvSpPr>
        <p:spPr>
          <a:xfrm>
            <a:off x="280416" y="1731264"/>
            <a:ext cx="5242560" cy="3901440"/>
          </a:xfrm>
          <a:prstGeom prst="roundRect">
            <a:avLst>
              <a:gd name="adj" fmla="val 1563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548640" y="1889760"/>
            <a:ext cx="463296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0C17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brand/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brand-config.md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logo.png / brand images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meta.json</a:t>
            </a:r>
            <a:endParaRPr lang="en-US" sz="1600" dirty="0"/>
          </a:p>
          <a:p>
            <a:r>
              <a:rPr lang="en-US" sz="1467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template.pptx</a:t>
            </a:r>
            <a:endParaRPr lang="en-US" sz="1600" dirty="0"/>
          </a:p>
          <a:p>
            <a:r>
              <a:rPr lang="en-US" sz="13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template.xlsx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852160" y="1731264"/>
            <a:ext cx="5791200" cy="3901440"/>
          </a:xfrm>
          <a:prstGeom prst="roundRect">
            <a:avLst>
              <a:gd name="adj" fmla="val 1563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7"/>
          <p:cNvSpPr/>
          <p:nvPr/>
        </p:nvSpPr>
        <p:spPr>
          <a:xfrm>
            <a:off x="5974080" y="1828800"/>
            <a:ext cx="5547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brand-config.md</a:t>
            </a:r>
            <a:endParaRPr lang="en-US" sz="2133" dirty="0"/>
          </a:p>
        </p:txBody>
      </p:sp>
      <p:sp>
        <p:nvSpPr>
          <p:cNvPr id="12" name="Shape 8"/>
          <p:cNvSpPr/>
          <p:nvPr/>
        </p:nvSpPr>
        <p:spPr>
          <a:xfrm>
            <a:off x="6035040" y="2292096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9"/>
          <p:cNvSpPr/>
          <p:nvPr/>
        </p:nvSpPr>
        <p:spPr>
          <a:xfrm>
            <a:off x="6156960" y="2292096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Colors</a:t>
            </a:r>
            <a:endParaRPr lang="en-US" sz="1333" dirty="0"/>
          </a:p>
        </p:txBody>
      </p:sp>
      <p:sp>
        <p:nvSpPr>
          <p:cNvPr id="14" name="Text 10"/>
          <p:cNvSpPr/>
          <p:nvPr/>
        </p:nvSpPr>
        <p:spPr>
          <a:xfrm>
            <a:off x="7315200" y="2292096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Primary, Accent, Background, Text hex codes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804160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Text 12"/>
          <p:cNvSpPr/>
          <p:nvPr/>
        </p:nvSpPr>
        <p:spPr>
          <a:xfrm>
            <a:off x="6156960" y="2804160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Fonts</a:t>
            </a:r>
            <a:endParaRPr lang="en-US" sz="1333" dirty="0"/>
          </a:p>
        </p:txBody>
      </p:sp>
      <p:sp>
        <p:nvSpPr>
          <p:cNvPr id="17" name="Text 13"/>
          <p:cNvSpPr/>
          <p:nvPr/>
        </p:nvSpPr>
        <p:spPr>
          <a:xfrm>
            <a:off x="7315200" y="2804160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Heading: Calibri Bold  |  Body: Calibri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3316224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5"/>
          <p:cNvSpPr/>
          <p:nvPr/>
        </p:nvSpPr>
        <p:spPr>
          <a:xfrm>
            <a:off x="6156960" y="3316224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</a:t>
            </a:r>
            <a:endParaRPr lang="en-US" sz="1333" dirty="0"/>
          </a:p>
        </p:txBody>
      </p:sp>
      <p:sp>
        <p:nvSpPr>
          <p:cNvPr id="20" name="Text 16"/>
          <p:cNvSpPr/>
          <p:nvPr/>
        </p:nvSpPr>
        <p:spPr>
          <a:xfrm>
            <a:off x="7315200" y="3316224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to brand/images/ logo file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3828288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Text 18"/>
          <p:cNvSpPr/>
          <p:nvPr/>
        </p:nvSpPr>
        <p:spPr>
          <a:xfrm>
            <a:off x="6156960" y="3828288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Tone</a:t>
            </a:r>
            <a:endParaRPr lang="en-US" sz="1333" dirty="0"/>
          </a:p>
        </p:txBody>
      </p:sp>
      <p:sp>
        <p:nvSpPr>
          <p:cNvPr id="23" name="Text 19"/>
          <p:cNvSpPr/>
          <p:nvPr/>
        </p:nvSpPr>
        <p:spPr>
          <a:xfrm>
            <a:off x="7315200" y="3828288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soul.md voice rules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035040" y="4340352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Text 21"/>
          <p:cNvSpPr/>
          <p:nvPr/>
        </p:nvSpPr>
        <p:spPr>
          <a:xfrm>
            <a:off x="6156960" y="4340352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en-US" sz="1333" dirty="0"/>
          </a:p>
        </p:txBody>
      </p:sp>
      <p:sp>
        <p:nvSpPr>
          <p:cNvPr id="26" name="Text 22"/>
          <p:cNvSpPr/>
          <p:nvPr/>
        </p:nvSpPr>
        <p:spPr>
          <a:xfrm>
            <a:off x="7315200" y="4340352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Headers, alternating rows, currency format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035040" y="4852416"/>
            <a:ext cx="5364480" cy="41452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Text 24"/>
          <p:cNvSpPr/>
          <p:nvPr/>
        </p:nvSpPr>
        <p:spPr>
          <a:xfrm>
            <a:off x="6156960" y="4852416"/>
            <a:ext cx="1097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</a:t>
            </a:r>
            <a:endParaRPr lang="en-US" sz="1333" dirty="0"/>
          </a:p>
        </p:txBody>
      </p:sp>
      <p:sp>
        <p:nvSpPr>
          <p:cNvPr id="29" name="Text 25"/>
          <p:cNvSpPr/>
          <p:nvPr/>
        </p:nvSpPr>
        <p:spPr>
          <a:xfrm>
            <a:off x="7315200" y="4852416"/>
            <a:ext cx="3901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Header bar with logo, body 11pt, headings 14pt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D2B5A0-A7F2-37D9-AA15-25C92C36F76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C11B9-261C-75BB-3E4F-9464F3FE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4B324C-A3C8-566A-8F23-85D1C6177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A9E0FB2-A166-845D-D910-127085458F6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Brand-config.md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4E7DC-6992-FBCD-4342-E38F3495553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99F918-2298-F5A4-9970-6F1B151B7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8E7B0C05-4A75-35AC-E267-F5E199B789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320279" y="583710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fld id="{00000000-1234-1234-1234-123412341234}" type="slidenum">
              <a:rPr lang="en" kern="0"/>
              <a:pPr defTabSz="1219170"/>
              <a:t>35</a:t>
            </a:fld>
            <a:endParaRPr kern="0"/>
          </a:p>
        </p:txBody>
      </p:sp>
      <p:sp>
        <p:nvSpPr>
          <p:cNvPr id="11" name="Shape 20">
            <a:extLst>
              <a:ext uri="{FF2B5EF4-FFF2-40B4-BE49-F238E27FC236}">
                <a16:creationId xmlns:a16="http://schemas.microsoft.com/office/drawing/2014/main" id="{E4DC744C-FEBF-6220-205B-6AA27BA52A11}"/>
              </a:ext>
            </a:extLst>
          </p:cNvPr>
          <p:cNvSpPr/>
          <p:nvPr/>
        </p:nvSpPr>
        <p:spPr>
          <a:xfrm>
            <a:off x="4852035" y="688246"/>
            <a:ext cx="5722620" cy="6053183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248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18E23C90-AE21-2723-A8B7-C01566F15D05}"/>
              </a:ext>
            </a:extLst>
          </p:cNvPr>
          <p:cNvSpPr/>
          <p:nvPr/>
        </p:nvSpPr>
        <p:spPr>
          <a:xfrm>
            <a:off x="4938394" y="616560"/>
            <a:ext cx="2597786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buClr>
                <a:srgbClr val="000000"/>
              </a:buClr>
            </a:pPr>
            <a:r>
              <a:rPr lang="en-US" sz="2133" kern="0" dirty="0">
                <a:solidFill>
                  <a:srgbClr val="D56E48"/>
                </a:solidFill>
                <a:latin typeface="Consolas" pitchFamily="34" charset="0"/>
                <a:sym typeface="Arial"/>
              </a:rPr>
              <a:t>Brand-config.md</a:t>
            </a: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025B3952-C5AB-D8A8-0613-CA37E248DBF2}"/>
              </a:ext>
            </a:extLst>
          </p:cNvPr>
          <p:cNvSpPr/>
          <p:nvPr/>
        </p:nvSpPr>
        <p:spPr>
          <a:xfrm>
            <a:off x="5055234" y="1130464"/>
            <a:ext cx="5277485" cy="558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 Brand Configuration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Colors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&lt;!-- Fill in your brand colors. /setup will help you generate this. --&gt;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**Primary:** #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**Accent:** #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**Background:** #FFFFFF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**Text:** #1A1A2E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Fonts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**Headings:** Calibri Bold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**Body:** Calibri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Logo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&lt;!-- Drop your logo in brand/images/ and update the path here --&gt;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Location: brand/images/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Tone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Match soul.md voice rules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Excel Formatting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Headers: Primary color background, white text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Data rows: alternating white and light background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Accent highlights for important values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Currency: dollar format with 2 decimals</a:t>
            </a:r>
          </a:p>
          <a:p>
            <a:pPr defTabSz="1219170">
              <a:buClr>
                <a:srgbClr val="000000"/>
              </a:buClr>
            </a:pPr>
            <a:endParaRPr lang="en-US" sz="1067" kern="0" dirty="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## PDF Formatting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Header: Primary color bar with logo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Body font: 11pt</a:t>
            </a:r>
          </a:p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- Section headings: Bold 14pt, primary color</a:t>
            </a:r>
          </a:p>
          <a:p>
            <a:pPr defTabSz="1219170">
              <a:buClr>
                <a:srgbClr val="000000"/>
              </a:buClr>
            </a:pPr>
            <a:endParaRPr lang="en-US" sz="533" kern="0" dirty="0">
              <a:solidFill>
                <a:srgbClr val="FFFFF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  <a:sym typeface="Arial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A5302646-6191-721A-E4B7-8CCCA5689537}"/>
              </a:ext>
            </a:extLst>
          </p:cNvPr>
          <p:cNvSpPr/>
          <p:nvPr/>
        </p:nvSpPr>
        <p:spPr>
          <a:xfrm>
            <a:off x="304800" y="1054608"/>
            <a:ext cx="29034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Note that when you run the setup, the brand-config.md file will get generated based on the assets you share (logo, slide template, and colors).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B6FCF6-48FC-D79D-FA90-251182DA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0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785A-46D6-7480-1833-AD98561B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9C2046-0C94-F66B-ACB5-0E3EE880F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574B135-B602-2B41-9575-2B010E2D7F5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Brand assets 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EE636-7310-CB8D-477D-908518B24D8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7BFAD3-C042-F5B6-7124-8F58FB911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76FB471-55E8-C793-252F-0BFE49300902}"/>
              </a:ext>
            </a:extLst>
          </p:cNvPr>
          <p:cNvSpPr/>
          <p:nvPr/>
        </p:nvSpPr>
        <p:spPr>
          <a:xfrm>
            <a:off x="304800" y="1054608"/>
            <a:ext cx="10850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Note that these assets are for demonstration purposes only; you will need to replace these brand assets with your company logo, slide, and sample table.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8F962-0D84-145C-86CB-D493F018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31" y="2440195"/>
            <a:ext cx="3692838" cy="1020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9C2CD7-FEA0-4DDB-3CF5-1D6FE741C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92" y="1862516"/>
            <a:ext cx="4533900" cy="2536336"/>
          </a:xfrm>
          <a:prstGeom prst="rect">
            <a:avLst/>
          </a:prstGeom>
          <a:ln w="38100">
            <a:solidFill>
              <a:srgbClr val="0C1752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9C59BA-27F7-8AA5-E5A6-F0CE4585E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810" y="4675035"/>
            <a:ext cx="9338859" cy="14854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4353CD-828B-270B-B021-49657C41C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53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C37D-7305-5CC8-70AB-9D6D8DAE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09718C-1233-3779-3CB3-167C757063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A5A932-392C-0F1E-0E8B-7CF9C4AF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190A26-9DF9-1BCB-81E9-97ACFF8F49D0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SLASH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5A1B1-6938-F477-4CC2-94D11091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43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Slash Commands Summary</a:t>
            </a:r>
          </a:p>
        </p:txBody>
      </p:sp>
      <p:sp>
        <p:nvSpPr>
          <p:cNvPr id="7" name="Text 3"/>
          <p:cNvSpPr/>
          <p:nvPr/>
        </p:nvSpPr>
        <p:spPr>
          <a:xfrm>
            <a:off x="280416" y="1194816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Located in .claude/commands/ — type the command name to run</a:t>
            </a:r>
            <a:endParaRPr lang="en-US" sz="2267" dirty="0"/>
          </a:p>
        </p:txBody>
      </p:sp>
      <p:sp>
        <p:nvSpPr>
          <p:cNvPr id="8" name="Shape 4"/>
          <p:cNvSpPr/>
          <p:nvPr/>
        </p:nvSpPr>
        <p:spPr>
          <a:xfrm>
            <a:off x="280416" y="18288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87680" y="18288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/setup</a:t>
            </a:r>
            <a:endParaRPr lang="en-US" sz="1733" dirty="0"/>
          </a:p>
        </p:txBody>
      </p:sp>
      <p:sp>
        <p:nvSpPr>
          <p:cNvPr id="10" name="Text 6"/>
          <p:cNvSpPr/>
          <p:nvPr/>
        </p:nvSpPr>
        <p:spPr>
          <a:xfrm>
            <a:off x="2255520" y="18288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First-run onboarding: install skills, build identity, configure brand, initialize vault &amp; Notion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80416" y="24384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8"/>
          <p:cNvSpPr/>
          <p:nvPr/>
        </p:nvSpPr>
        <p:spPr>
          <a:xfrm>
            <a:off x="487680" y="24384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2255520" y="24384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new automation: scaffold folder, CLAUDE.md, Notion DB, command, vault entries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80416" y="30480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E8EAF2"/>
          </a:solidFill>
          <a:ln w="1270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487680" y="30480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733" dirty="0"/>
          </a:p>
        </p:txBody>
      </p:sp>
      <p:sp>
        <p:nvSpPr>
          <p:cNvPr id="16" name="Text 12"/>
          <p:cNvSpPr/>
          <p:nvPr/>
        </p:nvSpPr>
        <p:spPr>
          <a:xfrm>
            <a:off x="2255520" y="30480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happening: recent runs, project progress, upcoming tasks (quick or full mode)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80416" y="36576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EAF7FA"/>
          </a:solidFill>
          <a:ln w="1270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Text 14"/>
          <p:cNvSpPr/>
          <p:nvPr/>
        </p:nvSpPr>
        <p:spPr>
          <a:xfrm>
            <a:off x="487680" y="36576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733" dirty="0"/>
          </a:p>
        </p:txBody>
      </p:sp>
      <p:sp>
        <p:nvSpPr>
          <p:cNvPr id="19" name="Text 15"/>
          <p:cNvSpPr/>
          <p:nvPr/>
        </p:nvSpPr>
        <p:spPr>
          <a:xfrm>
            <a:off x="2255520" y="36576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raw sources into wiki pages with [[links]], extract people &amp; companies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80416" y="42672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FDF0EA"/>
          </a:solidFill>
          <a:ln w="1270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7"/>
          <p:cNvSpPr/>
          <p:nvPr/>
        </p:nvSpPr>
        <p:spPr>
          <a:xfrm>
            <a:off x="487680" y="42672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/lint</a:t>
            </a:r>
            <a:endParaRPr lang="en-US" sz="1733" dirty="0"/>
          </a:p>
        </p:txBody>
      </p:sp>
      <p:sp>
        <p:nvSpPr>
          <p:cNvPr id="22" name="Text 18"/>
          <p:cNvSpPr/>
          <p:nvPr/>
        </p:nvSpPr>
        <p:spPr>
          <a:xfrm>
            <a:off x="2255520" y="42672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Vault health check: orphans, stale pages, broken links, contradictions, data gaps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80416" y="4876800"/>
            <a:ext cx="11216640" cy="512064"/>
          </a:xfrm>
          <a:prstGeom prst="roundRect">
            <a:avLst>
              <a:gd name="adj" fmla="val 9524"/>
            </a:avLst>
          </a:prstGeom>
          <a:solidFill>
            <a:srgbClr val="E8EAF2"/>
          </a:solidFill>
          <a:ln w="1270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487680" y="48768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/brand</a:t>
            </a:r>
            <a:endParaRPr lang="en-US" sz="1733" dirty="0"/>
          </a:p>
        </p:txBody>
      </p:sp>
      <p:sp>
        <p:nvSpPr>
          <p:cNvPr id="25" name="Text 21"/>
          <p:cNvSpPr/>
          <p:nvPr/>
        </p:nvSpPr>
        <p:spPr>
          <a:xfrm>
            <a:off x="2255520" y="4876800"/>
            <a:ext cx="902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 or refresh brand config from templates, logos, and color/font preferences</a:t>
            </a:r>
            <a:endParaRPr lang="en-US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700A97-F64C-9A0C-EE1D-E302349CE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7827</TotalTime>
  <Words>4304</Words>
  <Application>Microsoft Office PowerPoint</Application>
  <PresentationFormat>Widescreen</PresentationFormat>
  <Paragraphs>582</Paragraphs>
  <Slides>39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DM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833</cp:revision>
  <dcterms:created xsi:type="dcterms:W3CDTF">2019-11-18T17:58:36Z</dcterms:created>
  <dcterms:modified xsi:type="dcterms:W3CDTF">2026-05-12T05:42:12Z</dcterms:modified>
</cp:coreProperties>
</file>