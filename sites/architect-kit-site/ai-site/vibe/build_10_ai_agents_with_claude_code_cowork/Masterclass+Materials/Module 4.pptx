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565" r:id="rId2"/>
    <p:sldId id="4399" r:id="rId3"/>
    <p:sldId id="274" r:id="rId4"/>
    <p:sldId id="272" r:id="rId5"/>
    <p:sldId id="268" r:id="rId6"/>
    <p:sldId id="273" r:id="rId7"/>
    <p:sldId id="4402" r:id="rId8"/>
    <p:sldId id="4401" r:id="rId9"/>
    <p:sldId id="4408" r:id="rId10"/>
    <p:sldId id="4409" r:id="rId11"/>
    <p:sldId id="4403" r:id="rId12"/>
    <p:sldId id="4404" r:id="rId13"/>
    <p:sldId id="4406" r:id="rId14"/>
    <p:sldId id="4405" r:id="rId15"/>
    <p:sldId id="4407" r:id="rId16"/>
    <p:sldId id="27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F9F9F9"/>
    <a:srgbClr val="11CCDD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9" autoAdjust="0"/>
    <p:restoredTop sz="94721"/>
  </p:normalViewPr>
  <p:slideViewPr>
    <p:cSldViewPr snapToGrid="0" snapToObjects="1">
      <p:cViewPr varScale="1">
        <p:scale>
          <a:sx n="109" d="100"/>
          <a:sy n="109" d="100"/>
        </p:scale>
        <p:origin x="126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F5D4-7A36-6F74-2E12-619186A7B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3F1C4-1C50-3ED7-DE9F-770E7BFE5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6A42F-B0A1-994A-C4DF-84E8C11B4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024B2-E47F-CE75-D003-2DAAA64602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1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63DF5-3BA2-342B-F915-4AC36402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D3BB1-EF6A-6DE8-9F33-61715707F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C731C-A5F3-3A48-0A79-84382D2DC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55CB3-0FB5-2707-9D2B-DD9238B0B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97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A66E-EB30-3669-77E9-CE9C75EA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E209F-5DB5-107E-1443-6B2E49742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A0AD1-D449-09FE-429A-2626F2E99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8DF7A-6B4F-B801-C5B9-E7195C599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78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99EF-EBFB-9E2D-3DF0-461F20AFE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D0C36-2E35-CDD7-EA8A-504C3F9A5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47E33-6484-1ADF-8318-F77E6A54B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FFCF3-F148-1645-DE1E-2B5AF4BC7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47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A8952-F1D6-38C0-9643-D6701DB23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1CCF8-1124-19FC-9B04-8729D8BC8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6E883-A054-DDF9-988C-7F788EC2C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37C24-3C18-A0C3-C8A1-6F5F4A2DD0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44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A54C1-AA4F-0515-F847-C133DB52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9C48A-C783-A9F0-5FF2-EE747ECA0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8FE2A-E452-6C80-F927-0CC06B3E5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3F83C-3D1F-80DC-7A83-5CCB91FBB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01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F74DA-5E26-50A2-B5EB-D481604FC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D54D0-4449-1408-EB3B-361E00A36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5552F-1CA1-9A43-987C-389DFA302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116DC-8FC2-6F93-E702-F7C383680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26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CA02E-85F4-320A-1965-75C6B1D0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05FAC-4FD7-1F6A-7CD2-22AF653A3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6602C-789C-DF3D-4AD6-A251785E4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81C31-7E0C-2240-A4A5-E0E1975C81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1" y="70651"/>
            <a:ext cx="525614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BUILD YOUR PERSONAL AI AGENT WITH CLAUDE CODE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3858-8258-1565-7A2C-AC192FF2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87266A-5215-716F-7115-44218644EA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CF3B5-B2B0-E8DB-B3A8-7785A10D1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83E4FC-01A0-8BB0-6EAE-7F7BED1A9C93}"/>
              </a:ext>
            </a:extLst>
          </p:cNvPr>
          <p:cNvSpPr/>
          <p:nvPr/>
        </p:nvSpPr>
        <p:spPr>
          <a:xfrm>
            <a:off x="293914" y="793804"/>
            <a:ext cx="55785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INRODUCTION TO PERSONAL AI AGENT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7FA3F-133D-32A7-CAF8-FB3BCA1BC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66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Architecture at a Glance</a:t>
            </a:r>
          </a:p>
        </p:txBody>
      </p:sp>
      <p:sp>
        <p:nvSpPr>
          <p:cNvPr id="7" name="Shape 3"/>
          <p:cNvSpPr/>
          <p:nvPr/>
        </p:nvSpPr>
        <p:spPr>
          <a:xfrm>
            <a:off x="182880" y="1335024"/>
            <a:ext cx="2621280" cy="1158240"/>
          </a:xfrm>
          <a:prstGeom prst="roundRect">
            <a:avLst>
              <a:gd name="adj" fmla="val 5263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" name="Text 4"/>
          <p:cNvSpPr/>
          <p:nvPr/>
        </p:nvSpPr>
        <p:spPr>
          <a:xfrm>
            <a:off x="304800" y="14325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</a:t>
            </a:r>
            <a:endParaRPr lang="en-US" sz="2133" dirty="0"/>
          </a:p>
        </p:txBody>
      </p:sp>
      <p:sp>
        <p:nvSpPr>
          <p:cNvPr id="9" name="Text 5"/>
          <p:cNvSpPr/>
          <p:nvPr/>
        </p:nvSpPr>
        <p:spPr>
          <a:xfrm>
            <a:off x="365760" y="1859280"/>
            <a:ext cx="225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 commands in Claude Code</a:t>
            </a:r>
            <a:endParaRPr lang="en-US" sz="1467" dirty="0"/>
          </a:p>
        </p:txBody>
      </p:sp>
      <p:sp>
        <p:nvSpPr>
          <p:cNvPr id="10" name="Shape 6"/>
          <p:cNvSpPr/>
          <p:nvPr/>
        </p:nvSpPr>
        <p:spPr>
          <a:xfrm>
            <a:off x="3169920" y="1335024"/>
            <a:ext cx="2621280" cy="1158240"/>
          </a:xfrm>
          <a:prstGeom prst="roundRect">
            <a:avLst>
              <a:gd name="adj" fmla="val 5263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1" name="Text 7"/>
          <p:cNvSpPr/>
          <p:nvPr/>
        </p:nvSpPr>
        <p:spPr>
          <a:xfrm>
            <a:off x="3291840" y="14325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Code</a:t>
            </a:r>
            <a:endParaRPr lang="en-US" sz="2133" dirty="0"/>
          </a:p>
        </p:txBody>
      </p:sp>
      <p:sp>
        <p:nvSpPr>
          <p:cNvPr id="12" name="Text 8"/>
          <p:cNvSpPr/>
          <p:nvPr/>
        </p:nvSpPr>
        <p:spPr>
          <a:xfrm>
            <a:off x="3352800" y="1859280"/>
            <a:ext cx="225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 with MCP connections</a:t>
            </a:r>
            <a:endParaRPr lang="en-US" sz="1467" dirty="0"/>
          </a:p>
        </p:txBody>
      </p:sp>
      <p:sp>
        <p:nvSpPr>
          <p:cNvPr id="13" name="Shape 9"/>
          <p:cNvSpPr/>
          <p:nvPr/>
        </p:nvSpPr>
        <p:spPr>
          <a:xfrm>
            <a:off x="6156960" y="1335024"/>
            <a:ext cx="2621280" cy="1158240"/>
          </a:xfrm>
          <a:prstGeom prst="roundRect">
            <a:avLst>
              <a:gd name="adj" fmla="val 5263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4" name="Text 10"/>
          <p:cNvSpPr/>
          <p:nvPr/>
        </p:nvSpPr>
        <p:spPr>
          <a:xfrm>
            <a:off x="6278880" y="14325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OS</a:t>
            </a:r>
            <a:endParaRPr lang="en-US" sz="2133" dirty="0"/>
          </a:p>
        </p:txBody>
      </p:sp>
      <p:sp>
        <p:nvSpPr>
          <p:cNvPr id="15" name="Text 11"/>
          <p:cNvSpPr/>
          <p:nvPr/>
        </p:nvSpPr>
        <p:spPr>
          <a:xfrm>
            <a:off x="6339840" y="1859280"/>
            <a:ext cx="225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CLAUDE.md + soul.md + vault</a:t>
            </a:r>
            <a:endParaRPr lang="en-US" sz="1467" dirty="0"/>
          </a:p>
        </p:txBody>
      </p:sp>
      <p:sp>
        <p:nvSpPr>
          <p:cNvPr id="16" name="Shape 12"/>
          <p:cNvSpPr/>
          <p:nvPr/>
        </p:nvSpPr>
        <p:spPr>
          <a:xfrm>
            <a:off x="9144000" y="1335024"/>
            <a:ext cx="2621280" cy="1158240"/>
          </a:xfrm>
          <a:prstGeom prst="roundRect">
            <a:avLst>
              <a:gd name="adj" fmla="val 5263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7" name="Text 13"/>
          <p:cNvSpPr/>
          <p:nvPr/>
        </p:nvSpPr>
        <p:spPr>
          <a:xfrm>
            <a:off x="9265920" y="1432560"/>
            <a:ext cx="2377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Outputs</a:t>
            </a:r>
            <a:endParaRPr lang="en-US" sz="2133" dirty="0"/>
          </a:p>
        </p:txBody>
      </p:sp>
      <p:sp>
        <p:nvSpPr>
          <p:cNvPr id="18" name="Text 14"/>
          <p:cNvSpPr/>
          <p:nvPr/>
        </p:nvSpPr>
        <p:spPr>
          <a:xfrm>
            <a:off x="9326880" y="1859280"/>
            <a:ext cx="225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PPTs, emails, tasks, reports</a:t>
            </a:r>
            <a:endParaRPr lang="en-US" sz="1467" dirty="0"/>
          </a:p>
        </p:txBody>
      </p:sp>
      <p:sp>
        <p:nvSpPr>
          <p:cNvPr id="19" name="Text 15"/>
          <p:cNvSpPr/>
          <p:nvPr/>
        </p:nvSpPr>
        <p:spPr>
          <a:xfrm>
            <a:off x="2907792" y="1578864"/>
            <a:ext cx="2103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C1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67" dirty="0"/>
          </a:p>
        </p:txBody>
      </p:sp>
      <p:sp>
        <p:nvSpPr>
          <p:cNvPr id="20" name="Text 16"/>
          <p:cNvSpPr/>
          <p:nvPr/>
        </p:nvSpPr>
        <p:spPr>
          <a:xfrm>
            <a:off x="5844540" y="1577340"/>
            <a:ext cx="274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C1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67" dirty="0"/>
          </a:p>
        </p:txBody>
      </p:sp>
      <p:sp>
        <p:nvSpPr>
          <p:cNvPr id="21" name="Text 17"/>
          <p:cNvSpPr/>
          <p:nvPr/>
        </p:nvSpPr>
        <p:spPr>
          <a:xfrm>
            <a:off x="8816340" y="1578864"/>
            <a:ext cx="304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dirty="0">
                <a:solidFill>
                  <a:srgbClr val="0C1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67" dirty="0"/>
          </a:p>
        </p:txBody>
      </p:sp>
      <p:sp>
        <p:nvSpPr>
          <p:cNvPr id="22" name="Text 18"/>
          <p:cNvSpPr/>
          <p:nvPr/>
        </p:nvSpPr>
        <p:spPr>
          <a:xfrm>
            <a:off x="280416" y="2916936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Design Patterns</a:t>
            </a:r>
            <a:endParaRPr lang="en-US" sz="1867" dirty="0"/>
          </a:p>
        </p:txBody>
      </p:sp>
      <p:sp>
        <p:nvSpPr>
          <p:cNvPr id="23" name="Shape 19"/>
          <p:cNvSpPr/>
          <p:nvPr/>
        </p:nvSpPr>
        <p:spPr>
          <a:xfrm>
            <a:off x="1920240" y="3429000"/>
            <a:ext cx="2743200" cy="1158240"/>
          </a:xfrm>
          <a:prstGeom prst="roundRect">
            <a:avLst>
              <a:gd name="adj" fmla="val 5263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4" name="Text 20"/>
          <p:cNvSpPr/>
          <p:nvPr/>
        </p:nvSpPr>
        <p:spPr>
          <a:xfrm>
            <a:off x="2042160" y="348996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Karpathy Wiki</a:t>
            </a:r>
            <a:endParaRPr lang="en-US" sz="1467" dirty="0"/>
          </a:p>
        </p:txBody>
      </p:sp>
      <p:sp>
        <p:nvSpPr>
          <p:cNvPr id="25" name="Text 21"/>
          <p:cNvSpPr/>
          <p:nvPr/>
        </p:nvSpPr>
        <p:spPr>
          <a:xfrm>
            <a:off x="2042160" y="3892296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Three-layer: sources, wiki, schema</a:t>
            </a:r>
            <a:endParaRPr lang="en-US" sz="1267" dirty="0"/>
          </a:p>
        </p:txBody>
      </p:sp>
      <p:sp>
        <p:nvSpPr>
          <p:cNvPr id="26" name="Shape 22"/>
          <p:cNvSpPr/>
          <p:nvPr/>
        </p:nvSpPr>
        <p:spPr>
          <a:xfrm>
            <a:off x="4907280" y="3429000"/>
            <a:ext cx="2743200" cy="1158240"/>
          </a:xfrm>
          <a:prstGeom prst="roundRect">
            <a:avLst>
              <a:gd name="adj" fmla="val 5263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7" name="Text 23"/>
          <p:cNvSpPr/>
          <p:nvPr/>
        </p:nvSpPr>
        <p:spPr>
          <a:xfrm>
            <a:off x="5029200" y="348996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 System</a:t>
            </a:r>
            <a:endParaRPr lang="en-US" sz="1467" dirty="0"/>
          </a:p>
        </p:txBody>
      </p:sp>
      <p:sp>
        <p:nvSpPr>
          <p:cNvPr id="28" name="Text 24"/>
          <p:cNvSpPr/>
          <p:nvPr/>
        </p:nvSpPr>
        <p:spPr>
          <a:xfrm>
            <a:off x="5029200" y="3892296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Soul.md injected at start, never degrades</a:t>
            </a:r>
            <a:endParaRPr lang="en-US" sz="1267" dirty="0"/>
          </a:p>
        </p:txBody>
      </p:sp>
      <p:sp>
        <p:nvSpPr>
          <p:cNvPr id="29" name="Shape 25"/>
          <p:cNvSpPr/>
          <p:nvPr/>
        </p:nvSpPr>
        <p:spPr>
          <a:xfrm>
            <a:off x="7894320" y="3429000"/>
            <a:ext cx="2743200" cy="1158240"/>
          </a:xfrm>
          <a:prstGeom prst="roundRect">
            <a:avLst>
              <a:gd name="adj" fmla="val 5263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0" name="Text 26"/>
          <p:cNvSpPr/>
          <p:nvPr/>
        </p:nvSpPr>
        <p:spPr>
          <a:xfrm>
            <a:off x="8016240" y="3489960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Blueprints</a:t>
            </a:r>
            <a:endParaRPr lang="en-US" sz="1467" dirty="0"/>
          </a:p>
        </p:txBody>
      </p:sp>
      <p:sp>
        <p:nvSpPr>
          <p:cNvPr id="31" name="Text 27"/>
          <p:cNvSpPr/>
          <p:nvPr/>
        </p:nvSpPr>
        <p:spPr>
          <a:xfrm>
            <a:off x="8016240" y="3892296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/new scaffolds full project structure</a:t>
            </a:r>
            <a:endParaRPr lang="en-US" sz="1267" dirty="0"/>
          </a:p>
        </p:txBody>
      </p:sp>
      <p:sp>
        <p:nvSpPr>
          <p:cNvPr id="38" name="Shape 34"/>
          <p:cNvSpPr/>
          <p:nvPr/>
        </p:nvSpPr>
        <p:spPr>
          <a:xfrm>
            <a:off x="1920240" y="5043127"/>
            <a:ext cx="2743200" cy="1158240"/>
          </a:xfrm>
          <a:prstGeom prst="roundRect">
            <a:avLst>
              <a:gd name="adj" fmla="val 5263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9" name="Text 35"/>
          <p:cNvSpPr/>
          <p:nvPr/>
        </p:nvSpPr>
        <p:spPr>
          <a:xfrm>
            <a:off x="2042160" y="5104087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Protocol</a:t>
            </a:r>
            <a:endParaRPr lang="en-US" sz="1467" dirty="0"/>
          </a:p>
        </p:txBody>
      </p:sp>
      <p:sp>
        <p:nvSpPr>
          <p:cNvPr id="40" name="Text 36"/>
          <p:cNvSpPr/>
          <p:nvPr/>
        </p:nvSpPr>
        <p:spPr>
          <a:xfrm>
            <a:off x="2042160" y="5506423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outputs use brand-config.md</a:t>
            </a:r>
            <a:endParaRPr lang="en-US" sz="1267" dirty="0"/>
          </a:p>
        </p:txBody>
      </p:sp>
      <p:sp>
        <p:nvSpPr>
          <p:cNvPr id="41" name="Shape 37"/>
          <p:cNvSpPr/>
          <p:nvPr/>
        </p:nvSpPr>
        <p:spPr>
          <a:xfrm>
            <a:off x="4907280" y="5043127"/>
            <a:ext cx="2743200" cy="1158240"/>
          </a:xfrm>
          <a:prstGeom prst="roundRect">
            <a:avLst>
              <a:gd name="adj" fmla="val 5263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2" name="Text 38"/>
          <p:cNvSpPr/>
          <p:nvPr/>
        </p:nvSpPr>
        <p:spPr>
          <a:xfrm>
            <a:off x="5029200" y="5104087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Post-Run Ingestion</a:t>
            </a:r>
            <a:endParaRPr lang="en-US" sz="1467" dirty="0"/>
          </a:p>
        </p:txBody>
      </p:sp>
      <p:sp>
        <p:nvSpPr>
          <p:cNvPr id="43" name="Text 39"/>
          <p:cNvSpPr/>
          <p:nvPr/>
        </p:nvSpPr>
        <p:spPr>
          <a:xfrm>
            <a:off x="5029200" y="5506423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run writes back to the vault</a:t>
            </a:r>
            <a:endParaRPr lang="en-US" sz="1267" dirty="0"/>
          </a:p>
        </p:txBody>
      </p:sp>
      <p:sp>
        <p:nvSpPr>
          <p:cNvPr id="44" name="Shape 40"/>
          <p:cNvSpPr/>
          <p:nvPr/>
        </p:nvSpPr>
        <p:spPr>
          <a:xfrm>
            <a:off x="7894320" y="5043127"/>
            <a:ext cx="2743200" cy="1158240"/>
          </a:xfrm>
          <a:prstGeom prst="roundRect">
            <a:avLst>
              <a:gd name="adj" fmla="val 5263"/>
            </a:avLst>
          </a:prstGeom>
          <a:solidFill>
            <a:srgbClr val="F0E8FA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45" name="Text 41"/>
          <p:cNvSpPr/>
          <p:nvPr/>
        </p:nvSpPr>
        <p:spPr>
          <a:xfrm>
            <a:off x="8016240" y="5104087"/>
            <a:ext cx="249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Self-Correction</a:t>
            </a:r>
            <a:endParaRPr lang="en-US" sz="1467" dirty="0"/>
          </a:p>
        </p:txBody>
      </p:sp>
      <p:sp>
        <p:nvSpPr>
          <p:cNvPr id="46" name="Text 42"/>
          <p:cNvSpPr/>
          <p:nvPr/>
        </p:nvSpPr>
        <p:spPr>
          <a:xfrm>
            <a:off x="8016240" y="5506423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 log checked before retrying</a:t>
            </a:r>
            <a:endParaRPr lang="en-US" sz="1267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5B51D2B-A16A-E0FF-0198-014533E949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33B7266-3304-8E7F-EE0E-0CAFB2D31526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solidFill>
                  <a:schemeClr val="lt1"/>
                </a:solidFill>
                <a:latin typeface="Montserrat"/>
              </a:rPr>
              <a:t>MCP Integrations for our Personal AI Agent</a:t>
            </a:r>
          </a:p>
        </p:txBody>
      </p:sp>
      <p:sp>
        <p:nvSpPr>
          <p:cNvPr id="7" name="Text 3"/>
          <p:cNvSpPr/>
          <p:nvPr/>
        </p:nvSpPr>
        <p:spPr>
          <a:xfrm>
            <a:off x="158496" y="958421"/>
            <a:ext cx="11216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Model Context Protocol connects your agent to external services</a:t>
            </a:r>
          </a:p>
        </p:txBody>
      </p:sp>
      <p:sp>
        <p:nvSpPr>
          <p:cNvPr id="8" name="Shape 4"/>
          <p:cNvSpPr/>
          <p:nvPr/>
        </p:nvSpPr>
        <p:spPr>
          <a:xfrm>
            <a:off x="280416" y="1828800"/>
            <a:ext cx="3596640" cy="3840480"/>
          </a:xfrm>
          <a:prstGeom prst="roundRect">
            <a:avLst>
              <a:gd name="adj" fmla="val 1695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800">
              <a:latin typeface="Montserrat" panose="00000500000000000000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02336" y="1926336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6CCAD8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Gmail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63296" y="2316480"/>
            <a:ext cx="32308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Read threads, create drafts, search emails. Use MCP, never Chrome.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63296" y="3230880"/>
            <a:ext cx="323088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Search threads by query</a:t>
            </a:r>
            <a:endParaRPr lang="en-US" sz="1600" dirty="0">
              <a:latin typeface="Montserrat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Create and send drafts</a:t>
            </a:r>
            <a:endParaRPr lang="en-US" sz="1600" dirty="0">
              <a:latin typeface="Montserrat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Read full thread contents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157472" y="1828800"/>
            <a:ext cx="3596640" cy="3840480"/>
          </a:xfrm>
          <a:prstGeom prst="roundRect">
            <a:avLst>
              <a:gd name="adj" fmla="val 1695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800">
              <a:latin typeface="Montserrat" panose="00000500000000000000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279392" y="1926336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C1752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Google Calendar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340352" y="2316480"/>
            <a:ext cx="32308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List events, create, update, suggest times. Use ISO 8601 format.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340352" y="3230880"/>
            <a:ext cx="323088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List upcoming events</a:t>
            </a:r>
            <a:endParaRPr lang="en-US" sz="1600" dirty="0">
              <a:latin typeface="Montserrat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Create/update meetings</a:t>
            </a:r>
            <a:endParaRPr lang="en-US" sz="1600" dirty="0">
              <a:latin typeface="Montserrat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Find available time slots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034528" y="1828800"/>
            <a:ext cx="3596640" cy="3840480"/>
          </a:xfrm>
          <a:prstGeom prst="roundRect">
            <a:avLst>
              <a:gd name="adj" fmla="val 1695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800">
              <a:latin typeface="Montserrat" panose="00000500000000000000" pitchFamily="2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156448" y="1926336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D56E48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Notion</a:t>
            </a:r>
            <a:endParaRPr lang="en-US" sz="2400" dirty="0">
              <a:latin typeface="Montserrat" panose="00000500000000000000" pitchFamily="2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217408" y="2316480"/>
            <a:ext cx="32308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Create pages, databases, manage tasks. Special date/checkbox formats.</a:t>
            </a: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217408" y="3230880"/>
            <a:ext cx="3230880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Create databases &amp; pages</a:t>
            </a:r>
            <a:endParaRPr lang="en-US" sz="1600" dirty="0">
              <a:latin typeface="Montserrat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Track project progress</a:t>
            </a:r>
            <a:endParaRPr lang="en-US" sz="1600" dirty="0">
              <a:latin typeface="Montserrat" panose="00000500000000000000" pitchFamily="2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33333"/>
                </a:solidFill>
                <a:latin typeface="Montserrat" panose="00000500000000000000" pitchFamily="2" charset="0"/>
                <a:ea typeface="Montserrat" pitchFamily="34" charset="-122"/>
                <a:cs typeface="Montserrat" pitchFamily="34" charset="-120"/>
              </a:rPr>
              <a:t>Manage sprint boards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pic>
        <p:nvPicPr>
          <p:cNvPr id="20" name="Google Shape;113;p5">
            <a:extLst>
              <a:ext uri="{FF2B5EF4-FFF2-40B4-BE49-F238E27FC236}">
                <a16:creationId xmlns:a16="http://schemas.microsoft.com/office/drawing/2014/main" id="{4EE26AE4-8008-909C-368F-71EAA97EAAE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731" t="18967" r="5593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5;p5">
            <a:extLst>
              <a:ext uri="{FF2B5EF4-FFF2-40B4-BE49-F238E27FC236}">
                <a16:creationId xmlns:a16="http://schemas.microsoft.com/office/drawing/2014/main" id="{333ED67C-8E43-5125-53A9-DE9D90E769F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 dirty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© All rights reserved for Dr. Ryan Ahmed @Stemplicity Inc.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/setup - First-Run Onboarding</a:t>
            </a:r>
          </a:p>
        </p:txBody>
      </p:sp>
      <p:sp>
        <p:nvSpPr>
          <p:cNvPr id="7" name="Text 3"/>
          <p:cNvSpPr/>
          <p:nvPr/>
        </p:nvSpPr>
        <p:spPr>
          <a:xfrm>
            <a:off x="280416" y="67056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command that transforms a blank template into YOUR personal agent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80416" y="1219200"/>
            <a:ext cx="5486400" cy="1219200"/>
          </a:xfrm>
          <a:prstGeom prst="roundRect">
            <a:avLst>
              <a:gd name="adj" fmla="val 5000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9" name="Shape 5"/>
          <p:cNvSpPr/>
          <p:nvPr/>
        </p:nvSpPr>
        <p:spPr>
          <a:xfrm>
            <a:off x="426720" y="1402080"/>
            <a:ext cx="670560" cy="670560"/>
          </a:xfrm>
          <a:prstGeom prst="ellipse">
            <a:avLst/>
          </a:prstGeom>
          <a:solidFill>
            <a:srgbClr val="6CCAD8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0" name="Text 6"/>
          <p:cNvSpPr/>
          <p:nvPr/>
        </p:nvSpPr>
        <p:spPr>
          <a:xfrm>
            <a:off x="426720" y="140208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255776" y="1316736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Skills</a:t>
            </a:r>
            <a:endParaRPr lang="en-US" sz="1733" dirty="0"/>
          </a:p>
        </p:txBody>
      </p:sp>
      <p:sp>
        <p:nvSpPr>
          <p:cNvPr id="12" name="Text 8"/>
          <p:cNvSpPr/>
          <p:nvPr/>
        </p:nvSpPr>
        <p:spPr>
          <a:xfrm>
            <a:off x="1255776" y="1731264"/>
            <a:ext cx="414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pptx, xlsx skills. Test Gmail, Calendar, Notion MCP connections.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32576" y="1219200"/>
            <a:ext cx="5486400" cy="1219200"/>
          </a:xfrm>
          <a:prstGeom prst="roundRect">
            <a:avLst>
              <a:gd name="adj" fmla="val 5000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4" name="Shape 10"/>
          <p:cNvSpPr/>
          <p:nvPr/>
        </p:nvSpPr>
        <p:spPr>
          <a:xfrm>
            <a:off x="6278880" y="1402080"/>
            <a:ext cx="670560" cy="67056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5" name="Text 11"/>
          <p:cNvSpPr/>
          <p:nvPr/>
        </p:nvSpPr>
        <p:spPr>
          <a:xfrm>
            <a:off x="6278880" y="140208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107936" y="1316736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Identity</a:t>
            </a:r>
            <a:endParaRPr lang="en-US" sz="1733" dirty="0"/>
          </a:p>
        </p:txBody>
      </p:sp>
      <p:sp>
        <p:nvSpPr>
          <p:cNvPr id="17" name="Text 13"/>
          <p:cNvSpPr/>
          <p:nvPr/>
        </p:nvSpPr>
        <p:spPr>
          <a:xfrm>
            <a:off x="7107936" y="1731264"/>
            <a:ext cx="414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questions about you. Needs 5-10 writing samples.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280416" y="2682240"/>
            <a:ext cx="5486400" cy="1219200"/>
          </a:xfrm>
          <a:prstGeom prst="roundRect">
            <a:avLst>
              <a:gd name="adj" fmla="val 5000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9" name="Shape 15"/>
          <p:cNvSpPr/>
          <p:nvPr/>
        </p:nvSpPr>
        <p:spPr>
          <a:xfrm>
            <a:off x="426720" y="2865120"/>
            <a:ext cx="670560" cy="670560"/>
          </a:xfrm>
          <a:prstGeom prst="ellipse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20" name="Text 16"/>
          <p:cNvSpPr/>
          <p:nvPr/>
        </p:nvSpPr>
        <p:spPr>
          <a:xfrm>
            <a:off x="426720" y="28651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1255776" y="2779776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Setup</a:t>
            </a:r>
            <a:endParaRPr lang="en-US" sz="1733" dirty="0"/>
          </a:p>
        </p:txBody>
      </p:sp>
      <p:sp>
        <p:nvSpPr>
          <p:cNvPr id="22" name="Text 18"/>
          <p:cNvSpPr/>
          <p:nvPr/>
        </p:nvSpPr>
        <p:spPr>
          <a:xfrm>
            <a:off x="1255776" y="3194304"/>
            <a:ext cx="414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Replace with your brand or use defaults. Extracts colors/fonts.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132576" y="2682240"/>
            <a:ext cx="5486400" cy="1219200"/>
          </a:xfrm>
          <a:prstGeom prst="roundRect">
            <a:avLst>
              <a:gd name="adj" fmla="val 5000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4" name="Shape 20"/>
          <p:cNvSpPr/>
          <p:nvPr/>
        </p:nvSpPr>
        <p:spPr>
          <a:xfrm>
            <a:off x="6278880" y="2865120"/>
            <a:ext cx="670560" cy="670560"/>
          </a:xfrm>
          <a:prstGeom prst="ellipse">
            <a:avLst/>
          </a:prstGeom>
          <a:solidFill>
            <a:srgbClr val="6CCAD8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25" name="Text 21"/>
          <p:cNvSpPr/>
          <p:nvPr/>
        </p:nvSpPr>
        <p:spPr>
          <a:xfrm>
            <a:off x="6278880" y="28651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7107936" y="2779776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 to Wiki</a:t>
            </a:r>
            <a:endParaRPr lang="en-US" sz="1733" dirty="0"/>
          </a:p>
        </p:txBody>
      </p:sp>
      <p:sp>
        <p:nvSpPr>
          <p:cNvPr id="27" name="Text 23"/>
          <p:cNvSpPr/>
          <p:nvPr/>
        </p:nvSpPr>
        <p:spPr>
          <a:xfrm>
            <a:off x="7107936" y="3194304"/>
            <a:ext cx="414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Writes soul.md, creates wiki pages with [[links]].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280416" y="4145280"/>
            <a:ext cx="5486400" cy="1219200"/>
          </a:xfrm>
          <a:prstGeom prst="roundRect">
            <a:avLst>
              <a:gd name="adj" fmla="val 5000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9" name="Shape 25"/>
          <p:cNvSpPr/>
          <p:nvPr/>
        </p:nvSpPr>
        <p:spPr>
          <a:xfrm>
            <a:off x="426720" y="4328160"/>
            <a:ext cx="670560" cy="67056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30" name="Text 26"/>
          <p:cNvSpPr/>
          <p:nvPr/>
        </p:nvSpPr>
        <p:spPr>
          <a:xfrm>
            <a:off x="426720" y="43281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7"/>
          <p:cNvSpPr/>
          <p:nvPr/>
        </p:nvSpPr>
        <p:spPr>
          <a:xfrm>
            <a:off x="1255776" y="4242816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Initialize Notion</a:t>
            </a:r>
            <a:endParaRPr lang="en-US" sz="1733" dirty="0"/>
          </a:p>
        </p:txBody>
      </p:sp>
      <p:sp>
        <p:nvSpPr>
          <p:cNvPr id="32" name="Text 28"/>
          <p:cNvSpPr/>
          <p:nvPr/>
        </p:nvSpPr>
        <p:spPr>
          <a:xfrm>
            <a:off x="1255776" y="4657344"/>
            <a:ext cx="414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Creates Personal OS page and Progress Tracker database.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6132576" y="4145280"/>
            <a:ext cx="5486400" cy="1219200"/>
          </a:xfrm>
          <a:prstGeom prst="roundRect">
            <a:avLst>
              <a:gd name="adj" fmla="val 5000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34" name="Shape 30"/>
          <p:cNvSpPr/>
          <p:nvPr/>
        </p:nvSpPr>
        <p:spPr>
          <a:xfrm>
            <a:off x="6278880" y="4328160"/>
            <a:ext cx="670560" cy="670560"/>
          </a:xfrm>
          <a:prstGeom prst="ellipse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35" name="Text 31"/>
          <p:cNvSpPr/>
          <p:nvPr/>
        </p:nvSpPr>
        <p:spPr>
          <a:xfrm>
            <a:off x="6278880" y="43281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Text 32"/>
          <p:cNvSpPr/>
          <p:nvPr/>
        </p:nvSpPr>
        <p:spPr>
          <a:xfrm>
            <a:off x="7107936" y="4242816"/>
            <a:ext cx="4145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Up Obsidian</a:t>
            </a:r>
            <a:endParaRPr lang="en-US" sz="1733" dirty="0"/>
          </a:p>
        </p:txBody>
      </p:sp>
      <p:sp>
        <p:nvSpPr>
          <p:cNvPr id="37" name="Text 33"/>
          <p:cNvSpPr/>
          <p:nvPr/>
        </p:nvSpPr>
        <p:spPr>
          <a:xfrm>
            <a:off x="7107936" y="4657344"/>
            <a:ext cx="414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Opens vault/ folder as an Obsidian vault for browsing.</a:t>
            </a:r>
            <a:endParaRPr lang="en-US" sz="14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D82AA36-04E5-600F-B54B-78748CD85B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87D1F2D-2870-5DC1-511F-112C5FA70443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/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Getting Started</a:t>
            </a:r>
          </a:p>
        </p:txBody>
      </p:sp>
      <p:sp>
        <p:nvSpPr>
          <p:cNvPr id="7" name="Shape 3"/>
          <p:cNvSpPr/>
          <p:nvPr/>
        </p:nvSpPr>
        <p:spPr>
          <a:xfrm>
            <a:off x="280416" y="1158240"/>
            <a:ext cx="5486400" cy="1402080"/>
          </a:xfrm>
          <a:prstGeom prst="roundRect">
            <a:avLst>
              <a:gd name="adj" fmla="val 4348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8" name="Shape 4"/>
          <p:cNvSpPr/>
          <p:nvPr/>
        </p:nvSpPr>
        <p:spPr>
          <a:xfrm>
            <a:off x="426720" y="1426464"/>
            <a:ext cx="731520" cy="731520"/>
          </a:xfrm>
          <a:prstGeom prst="ellipse">
            <a:avLst/>
          </a:prstGeom>
          <a:solidFill>
            <a:srgbClr val="6CCAD8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9" name="Text 5"/>
          <p:cNvSpPr/>
          <p:nvPr/>
        </p:nvSpPr>
        <p:spPr>
          <a:xfrm>
            <a:off x="426720" y="14264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67" dirty="0"/>
          </a:p>
        </p:txBody>
      </p:sp>
      <p:sp>
        <p:nvSpPr>
          <p:cNvPr id="10" name="Text 6"/>
          <p:cNvSpPr/>
          <p:nvPr/>
        </p:nvSpPr>
        <p:spPr>
          <a:xfrm>
            <a:off x="1316736" y="128016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Claude Code</a:t>
            </a:r>
            <a:endParaRPr lang="en-US" sz="1867" dirty="0"/>
          </a:p>
        </p:txBody>
      </p:sp>
      <p:sp>
        <p:nvSpPr>
          <p:cNvPr id="11" name="Text 7"/>
          <p:cNvSpPr/>
          <p:nvPr/>
        </p:nvSpPr>
        <p:spPr>
          <a:xfrm>
            <a:off x="1316736" y="1743456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npm install -g @anthropic-ai/claude-code</a:t>
            </a:r>
            <a:endParaRPr lang="en-US" sz="1467" dirty="0"/>
          </a:p>
        </p:txBody>
      </p:sp>
      <p:sp>
        <p:nvSpPr>
          <p:cNvPr id="12" name="Shape 8"/>
          <p:cNvSpPr/>
          <p:nvPr/>
        </p:nvSpPr>
        <p:spPr>
          <a:xfrm>
            <a:off x="6132576" y="1158240"/>
            <a:ext cx="5486400" cy="1402080"/>
          </a:xfrm>
          <a:prstGeom prst="roundRect">
            <a:avLst>
              <a:gd name="adj" fmla="val 4348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3" name="Shape 9"/>
          <p:cNvSpPr/>
          <p:nvPr/>
        </p:nvSpPr>
        <p:spPr>
          <a:xfrm>
            <a:off x="6278880" y="1426464"/>
            <a:ext cx="731520" cy="73152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4" name="Text 10"/>
          <p:cNvSpPr/>
          <p:nvPr/>
        </p:nvSpPr>
        <p:spPr>
          <a:xfrm>
            <a:off x="6278880" y="14264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67" dirty="0"/>
          </a:p>
        </p:txBody>
      </p:sp>
      <p:sp>
        <p:nvSpPr>
          <p:cNvPr id="15" name="Text 11"/>
          <p:cNvSpPr/>
          <p:nvPr/>
        </p:nvSpPr>
        <p:spPr>
          <a:xfrm>
            <a:off x="7168896" y="128016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Obsidian</a:t>
            </a:r>
            <a:endParaRPr lang="en-US" sz="1867" dirty="0"/>
          </a:p>
        </p:txBody>
      </p:sp>
      <p:sp>
        <p:nvSpPr>
          <p:cNvPr id="16" name="Text 12"/>
          <p:cNvSpPr/>
          <p:nvPr/>
        </p:nvSpPr>
        <p:spPr>
          <a:xfrm>
            <a:off x="7168896" y="1743456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 download from obsidian.md for vault browsing</a:t>
            </a:r>
            <a:endParaRPr lang="en-US" sz="1467" dirty="0"/>
          </a:p>
        </p:txBody>
      </p:sp>
      <p:sp>
        <p:nvSpPr>
          <p:cNvPr id="17" name="Shape 13"/>
          <p:cNvSpPr/>
          <p:nvPr/>
        </p:nvSpPr>
        <p:spPr>
          <a:xfrm>
            <a:off x="280416" y="2804160"/>
            <a:ext cx="5486400" cy="1402080"/>
          </a:xfrm>
          <a:prstGeom prst="roundRect">
            <a:avLst>
              <a:gd name="adj" fmla="val 4348"/>
            </a:avLst>
          </a:prstGeom>
          <a:solidFill>
            <a:srgbClr val="E8EAF2"/>
          </a:solidFill>
          <a:ln w="19050">
            <a:solidFill>
              <a:srgbClr val="0C1752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18" name="Shape 14"/>
          <p:cNvSpPr/>
          <p:nvPr/>
        </p:nvSpPr>
        <p:spPr>
          <a:xfrm>
            <a:off x="426720" y="3072384"/>
            <a:ext cx="731520" cy="731520"/>
          </a:xfrm>
          <a:prstGeom prst="ellipse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19" name="Text 15"/>
          <p:cNvSpPr/>
          <p:nvPr/>
        </p:nvSpPr>
        <p:spPr>
          <a:xfrm>
            <a:off x="426720" y="30723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67" dirty="0"/>
          </a:p>
        </p:txBody>
      </p:sp>
      <p:sp>
        <p:nvSpPr>
          <p:cNvPr id="20" name="Text 16"/>
          <p:cNvSpPr/>
          <p:nvPr/>
        </p:nvSpPr>
        <p:spPr>
          <a:xfrm>
            <a:off x="1316736" y="292608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Authenticate MCPs</a:t>
            </a:r>
            <a:endParaRPr lang="en-US" sz="1867" dirty="0"/>
          </a:p>
        </p:txBody>
      </p:sp>
      <p:sp>
        <p:nvSpPr>
          <p:cNvPr id="21" name="Text 17"/>
          <p:cNvSpPr/>
          <p:nvPr/>
        </p:nvSpPr>
        <p:spPr>
          <a:xfrm>
            <a:off x="1316736" y="3389376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/mcp to connect Gmail, Calendar, and Notion</a:t>
            </a:r>
            <a:endParaRPr lang="en-US" sz="1467" dirty="0"/>
          </a:p>
        </p:txBody>
      </p:sp>
      <p:sp>
        <p:nvSpPr>
          <p:cNvPr id="22" name="Shape 18"/>
          <p:cNvSpPr/>
          <p:nvPr/>
        </p:nvSpPr>
        <p:spPr>
          <a:xfrm>
            <a:off x="6132576" y="2804160"/>
            <a:ext cx="5486400" cy="1402080"/>
          </a:xfrm>
          <a:prstGeom prst="roundRect">
            <a:avLst>
              <a:gd name="adj" fmla="val 4348"/>
            </a:avLst>
          </a:prstGeom>
          <a:solidFill>
            <a:srgbClr val="EAF7FA"/>
          </a:solidFill>
          <a:ln w="19050">
            <a:solidFill>
              <a:srgbClr val="6CCAD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3" name="Shape 19"/>
          <p:cNvSpPr/>
          <p:nvPr/>
        </p:nvSpPr>
        <p:spPr>
          <a:xfrm>
            <a:off x="6278880" y="3072384"/>
            <a:ext cx="731520" cy="731520"/>
          </a:xfrm>
          <a:prstGeom prst="ellipse">
            <a:avLst/>
          </a:prstGeom>
          <a:solidFill>
            <a:srgbClr val="6CCAD8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24" name="Text 20"/>
          <p:cNvSpPr/>
          <p:nvPr/>
        </p:nvSpPr>
        <p:spPr>
          <a:xfrm>
            <a:off x="6278880" y="30723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667" dirty="0"/>
          </a:p>
        </p:txBody>
      </p:sp>
      <p:sp>
        <p:nvSpPr>
          <p:cNvPr id="25" name="Text 21"/>
          <p:cNvSpPr/>
          <p:nvPr/>
        </p:nvSpPr>
        <p:spPr>
          <a:xfrm>
            <a:off x="7168896" y="2926080"/>
            <a:ext cx="4023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6CCA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/setup</a:t>
            </a:r>
            <a:endParaRPr lang="en-US" sz="1867" dirty="0"/>
          </a:p>
        </p:txBody>
      </p:sp>
      <p:sp>
        <p:nvSpPr>
          <p:cNvPr id="26" name="Text 22"/>
          <p:cNvSpPr/>
          <p:nvPr/>
        </p:nvSpPr>
        <p:spPr>
          <a:xfrm>
            <a:off x="7168896" y="3389376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personal-os folder in Claude Code and type /setup</a:t>
            </a:r>
            <a:endParaRPr lang="en-US" sz="1467" dirty="0"/>
          </a:p>
        </p:txBody>
      </p:sp>
      <p:sp>
        <p:nvSpPr>
          <p:cNvPr id="27" name="Shape 23"/>
          <p:cNvSpPr/>
          <p:nvPr/>
        </p:nvSpPr>
        <p:spPr>
          <a:xfrm>
            <a:off x="280416" y="4450080"/>
            <a:ext cx="11338560" cy="1402080"/>
          </a:xfrm>
          <a:prstGeom prst="roundRect">
            <a:avLst>
              <a:gd name="adj" fmla="val 4348"/>
            </a:avLst>
          </a:prstGeom>
          <a:solidFill>
            <a:srgbClr val="FDF0EA"/>
          </a:solidFill>
          <a:ln w="19050">
            <a:solidFill>
              <a:srgbClr val="D56E48"/>
            </a:solidFill>
            <a:prstDash val="solid"/>
          </a:ln>
        </p:spPr>
        <p:txBody>
          <a:bodyPr/>
          <a:lstStyle/>
          <a:p>
            <a:endParaRPr lang="en-CA" sz="2400"/>
          </a:p>
        </p:txBody>
      </p:sp>
      <p:sp>
        <p:nvSpPr>
          <p:cNvPr id="28" name="Shape 24"/>
          <p:cNvSpPr/>
          <p:nvPr/>
        </p:nvSpPr>
        <p:spPr>
          <a:xfrm>
            <a:off x="426720" y="4718304"/>
            <a:ext cx="731520" cy="731520"/>
          </a:xfrm>
          <a:prstGeom prst="ellipse">
            <a:avLst/>
          </a:prstGeom>
          <a:solidFill>
            <a:srgbClr val="D56E48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29" name="Text 25"/>
          <p:cNvSpPr/>
          <p:nvPr/>
        </p:nvSpPr>
        <p:spPr>
          <a:xfrm>
            <a:off x="426720" y="47183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67" dirty="0"/>
          </a:p>
        </p:txBody>
      </p:sp>
      <p:sp>
        <p:nvSpPr>
          <p:cNvPr id="30" name="Text 26"/>
          <p:cNvSpPr/>
          <p:nvPr/>
        </p:nvSpPr>
        <p:spPr>
          <a:xfrm>
            <a:off x="1316736" y="457200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D56E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Building</a:t>
            </a:r>
            <a:endParaRPr lang="en-US" sz="1867" dirty="0"/>
          </a:p>
        </p:txBody>
      </p:sp>
      <p:sp>
        <p:nvSpPr>
          <p:cNvPr id="31" name="Text 27"/>
          <p:cNvSpPr/>
          <p:nvPr/>
        </p:nvSpPr>
        <p:spPr>
          <a:xfrm>
            <a:off x="1316736" y="5035296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prompts/ folder or type /new for your first automation</a:t>
            </a:r>
            <a:endParaRPr lang="en-US" sz="1467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B80D25-793D-1356-FCDB-AFC3C73F1FC2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4862-CC0B-C696-038A-BC3EA3C8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52BB04-9319-35D6-0511-C0978888AA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5DB84B-684C-3E52-CD52-1EADD70C7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0937D0-5FB5-A5DD-EB22-63BCB5AA533C}"/>
              </a:ext>
            </a:extLst>
          </p:cNvPr>
          <p:cNvSpPr/>
          <p:nvPr/>
        </p:nvSpPr>
        <p:spPr>
          <a:xfrm>
            <a:off x="293914" y="793804"/>
            <a:ext cx="55785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PERSONAL AI AGENT SETUP (WHAT TO EXPECT)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C751C-5D1F-039A-9192-33EEBFCC3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0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D695B-2A56-2068-7FE3-2B2C51D69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3C28381-56AA-F5F9-43DF-4241301F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0630845-48CA-868F-81D8-BCC69BE0A6D1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2C9E2DE-84CF-B049-B3F0-7BE8AE3256F2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Personal AI Agent Setup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CBA3045-12E0-8E46-D063-970D00AC65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B1DEA54-C507-58EC-0D6E-AD471152192F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DEC4ACB-4C2A-FE9C-14B2-46F5F6FE01DE}"/>
              </a:ext>
            </a:extLst>
          </p:cNvPr>
          <p:cNvSpPr/>
          <p:nvPr/>
        </p:nvSpPr>
        <p:spPr>
          <a:xfrm>
            <a:off x="304800" y="1145080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When you run /setup, you will be asked to place your data in the inbox folder.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Data such as your CV, along with a document containing links to your social media, a sample email write-up, a sample LinkedIn post, a list of future goals, and a personality for the agent.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You will be asked to replace the brand info with your brand, type skip to use the default brand colors and template.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94C3E26-CDEF-8BB2-0820-DADBAB7C7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70128"/>
            <a:ext cx="4265688" cy="330789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782ADD3-5CD8-DE17-32BC-3BEF5575A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102" y="1707077"/>
            <a:ext cx="3770208" cy="4996577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A478509-2428-2E8C-C640-5DDF4068DF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0724" y="1707077"/>
            <a:ext cx="3539845" cy="471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45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DD819-92F0-80EC-1A5A-C8000F4ED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0823FDE-0275-2525-8F80-09E337D3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1DD85D0-571F-C325-98FB-365385ED6FE7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503E691-ADA3-6997-FB7A-B095DBB9F279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Personal AI Agent Setup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C0484E5-9355-F30F-A927-F25F91163A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4A5562B-0E9A-AA6D-75DE-921E0141BE0D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B5197B-8E98-F0AE-5B83-270068A6E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33" y="1740797"/>
            <a:ext cx="9632358" cy="384977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67E63B7-470E-BD82-3BB2-13C99C3F5EA2}"/>
              </a:ext>
            </a:extLst>
          </p:cNvPr>
          <p:cNvSpPr/>
          <p:nvPr/>
        </p:nvSpPr>
        <p:spPr>
          <a:xfrm>
            <a:off x="341036" y="978852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After your run /setup, you should receive a message in Claude Code that looks like below.</a:t>
            </a:r>
          </a:p>
        </p:txBody>
      </p:sp>
    </p:spTree>
    <p:extLst>
      <p:ext uri="{BB962C8B-B14F-4D97-AF65-F5344CB8AC3E}">
        <p14:creationId xmlns:p14="http://schemas.microsoft.com/office/powerpoint/2010/main" val="325204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55A5E-E8A8-DE48-8E67-F5442F6D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810431A-F6A4-42F0-0325-FFE9DF867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DB61D72-15CD-990D-1E49-845201BAB122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8443841-9834-2EB9-7403-009E52615D97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Personal AI Agent Setup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CCD2114-2667-0BA5-7B83-08B00968D4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64C3FA3-A85A-28AC-96BC-2077A8811DFE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AEF4275-4316-FFCF-1FBA-D2CDA1E21CF5}"/>
              </a:ext>
            </a:extLst>
          </p:cNvPr>
          <p:cNvSpPr/>
          <p:nvPr/>
        </p:nvSpPr>
        <p:spPr>
          <a:xfrm>
            <a:off x="341036" y="978852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Navigate to soul.md and explore your agent’s new personality!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BB8965A-5E52-8671-659A-9BB017DBD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9003" y="1657118"/>
            <a:ext cx="5478403" cy="467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4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94C7-C4B0-5DFE-C8E6-5B86C757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7A04E08-CB6B-A79E-782A-79D750A2C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6904615-331C-4810-55FF-9A7A9801CE84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39AB2A6-FF95-2904-E873-E6B8CB0B26DE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Personal AI Agent Setup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B5AFE9F-C4D8-36EB-B0F0-01B2069D5F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01273B0-E533-52D2-64EF-11C51933CAE9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354851-3FA1-E689-9D1E-651FE831707F}"/>
              </a:ext>
            </a:extLst>
          </p:cNvPr>
          <p:cNvSpPr/>
          <p:nvPr/>
        </p:nvSpPr>
        <p:spPr>
          <a:xfrm>
            <a:off x="341036" y="978852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Check Notion, and you should see the </a:t>
            </a:r>
            <a:r>
              <a:rPr lang="en-US" sz="1600" b="1" dirty="0">
                <a:solidFill>
                  <a:srgbClr val="666666"/>
                </a:solidFill>
                <a:latin typeface="Montserrat" pitchFamily="34" charset="0"/>
              </a:rPr>
              <a:t>Personal OS </a:t>
            </a: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page that has been created.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Note that we haven’t set up any of the 10 automations yet so status should show “To Do”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66D469-9CC4-5EA1-6175-7B0066C60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045" y="1568161"/>
            <a:ext cx="8819909" cy="456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57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1237-872E-A7C1-861F-7BC82A390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07A1A6-4670-1B3B-7B16-0890B1751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47BEC59-CA8E-3B7B-3B41-A22F6BB26AA4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6665C35-B7ED-7D6F-A6B2-2AEFFF5BF2F8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Personal AI Agent Setup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892CB22-6B7A-74AC-2746-0EA7CEE4AB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CD902DA-A039-6A8B-1D96-4A296BB827CB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A5486DA-6E83-5B8E-3626-6FD46677B552}"/>
              </a:ext>
            </a:extLst>
          </p:cNvPr>
          <p:cNvSpPr/>
          <p:nvPr/>
        </p:nvSpPr>
        <p:spPr>
          <a:xfrm>
            <a:off x="341036" y="978852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You can now view the Vault.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C093A8-6DB8-4CD9-8CA9-05D3ABF39D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953"/>
          <a:stretch>
            <a:fillRect/>
          </a:stretch>
        </p:blipFill>
        <p:spPr>
          <a:xfrm>
            <a:off x="3917455" y="1575546"/>
            <a:ext cx="3895456" cy="38124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ACE2E4-A646-3EE7-7E49-5B29FAA0B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496" y="1575546"/>
            <a:ext cx="3672054" cy="38124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66120B9-05F4-29D9-DAA6-154BEFA185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2447" y="1575545"/>
            <a:ext cx="3977206" cy="38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45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133A4-CF8F-FD23-23EF-5B20CF6E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C59EB3B-6332-307E-6253-3F75FE056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26F8581-1879-3854-8136-66EBD1D3F1E1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17B8FFA-F250-2852-EB6D-D8C94B756A0A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Personal AI Agent Setup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78C0CA7-DDBF-DA35-B17C-E20C0B849F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96151BD-7D68-9D92-A784-A7A3687B5E07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04B845C-6EC1-298A-573B-9538190850B2}"/>
              </a:ext>
            </a:extLst>
          </p:cNvPr>
          <p:cNvSpPr/>
          <p:nvPr/>
        </p:nvSpPr>
        <p:spPr>
          <a:xfrm>
            <a:off x="341036" y="978852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Now it’s time to install Obsidian and direct it to the Vault to view your private wiki!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Choose Open folder as Vault option below and navigate to the vault that was just created by Claude Code.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7A02D0-ADAF-3594-C8AC-885E3C1FD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10" y="2030481"/>
            <a:ext cx="3561144" cy="2891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8652A4-B413-3B2C-C25D-664CD3F8CD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609" y="2030481"/>
            <a:ext cx="4796781" cy="28605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7F4E50-1D50-DB86-CD0C-ABF80FA32A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5475" y="1866264"/>
            <a:ext cx="3668248" cy="356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63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03BAD-9C77-2AC1-664B-6CD908C3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7E2C2DA-F550-86C0-6C27-0227DD66E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197C6C1-FA18-CE77-A5A6-62817EA19BF5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1EE696F-3F75-1278-4BFA-548EB7378E20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Personal AI Agent Setup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62FCF14-E338-99B8-DD12-FDFBBD8BDF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3BB653F9-C7C1-C8DB-D4A3-05BA0B4731B4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93A9C52-66DD-55A8-F543-8AD5265F80EF}"/>
              </a:ext>
            </a:extLst>
          </p:cNvPr>
          <p:cNvSpPr/>
          <p:nvPr/>
        </p:nvSpPr>
        <p:spPr>
          <a:xfrm>
            <a:off x="341036" y="978852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You can now view the Vault’s “index.md” and “log.md”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F9AFA6-098A-2AEC-6507-41215DAF2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989" y="1483301"/>
            <a:ext cx="4021965" cy="51547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6ED655-D125-03BC-9849-A0A3B2383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9355" y="1483301"/>
            <a:ext cx="4977815" cy="515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16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C75B-F095-FCC6-FBA5-5D0598487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5815DC9-8328-5535-BE74-A33C55463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96" y="0"/>
            <a:ext cx="12216384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7608F43-9F0F-046A-FCA6-73A8A33E64C6}"/>
              </a:ext>
            </a:extLst>
          </p:cNvPr>
          <p:cNvSpPr/>
          <p:nvPr/>
        </p:nvSpPr>
        <p:spPr>
          <a:xfrm>
            <a:off x="158496" y="91440"/>
            <a:ext cx="9875520" cy="463296"/>
          </a:xfrm>
          <a:prstGeom prst="rect">
            <a:avLst/>
          </a:prstGeom>
          <a:solidFill>
            <a:srgbClr val="0C1752"/>
          </a:solidFill>
          <a:ln/>
        </p:spPr>
        <p:txBody>
          <a:bodyPr/>
          <a:lstStyle/>
          <a:p>
            <a:endParaRPr lang="en-CA" sz="2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4E283C0-2123-4E5F-BACA-74E409F38F3A}"/>
              </a:ext>
            </a:extLst>
          </p:cNvPr>
          <p:cNvSpPr/>
          <p:nvPr/>
        </p:nvSpPr>
        <p:spPr>
          <a:xfrm>
            <a:off x="304800" y="91440"/>
            <a:ext cx="9509760" cy="46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</a:rPr>
              <a:t>Personal AI Agent Setup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2858B63-AE45-1E40-513C-67F5B48A86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C01293D-E411-1EF7-8671-2A7A6464D42A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5FC8631-5295-2D77-F1E5-CD701951949A}"/>
              </a:ext>
            </a:extLst>
          </p:cNvPr>
          <p:cNvSpPr/>
          <p:nvPr/>
        </p:nvSpPr>
        <p:spPr>
          <a:xfrm>
            <a:off x="341036" y="978852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</a:rPr>
              <a:t>Also note that a new folder titled sources\notes that contains onboarding-raw data. This data is imputable and Claude Code won’t override it.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6D494-3C85-2959-E587-0BFA1DC64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572" y="1261179"/>
            <a:ext cx="4274057" cy="541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24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7674</TotalTime>
  <Words>828</Words>
  <Application>Microsoft Office PowerPoint</Application>
  <PresentationFormat>Widescreen</PresentationFormat>
  <Paragraphs>126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834</cp:revision>
  <dcterms:created xsi:type="dcterms:W3CDTF">2019-11-18T17:58:36Z</dcterms:created>
  <dcterms:modified xsi:type="dcterms:W3CDTF">2026-05-06T04:42:42Z</dcterms:modified>
</cp:coreProperties>
</file>