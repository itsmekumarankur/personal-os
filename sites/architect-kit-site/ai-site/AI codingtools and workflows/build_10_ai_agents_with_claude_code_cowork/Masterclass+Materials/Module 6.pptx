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565" r:id="rId2"/>
    <p:sldId id="4412" r:id="rId3"/>
    <p:sldId id="4341" r:id="rId4"/>
    <p:sldId id="4338" r:id="rId5"/>
    <p:sldId id="4339" r:id="rId6"/>
    <p:sldId id="4410" r:id="rId7"/>
    <p:sldId id="4432" r:id="rId8"/>
    <p:sldId id="4433" r:id="rId9"/>
    <p:sldId id="4449" r:id="rId10"/>
    <p:sldId id="4436" r:id="rId11"/>
    <p:sldId id="4438" r:id="rId12"/>
    <p:sldId id="4450" r:id="rId13"/>
    <p:sldId id="4439" r:id="rId14"/>
    <p:sldId id="4440" r:id="rId15"/>
    <p:sldId id="4451" r:id="rId16"/>
    <p:sldId id="4441" r:id="rId17"/>
    <p:sldId id="4442" r:id="rId18"/>
    <p:sldId id="27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109" d="100"/>
          <a:sy n="109" d="100"/>
        </p:scale>
        <p:origin x="12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7A69-28D1-4200-A8AC-43F985D6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0C364-D0B1-5966-8EEB-1C08ABF15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94BFF-7E11-8849-BDBB-8F2035DE2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FC6DD-9D6C-475C-8FA7-6A18C3F23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16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B49F-AB29-A23A-3785-7C776CFA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BE715-6A59-E460-67A7-FA8EEEE54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A71FC-6FEF-F986-26FF-B0D4FFC9C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C0CA4-01B6-A3DD-934C-D278245CC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94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0AF8-B251-E77E-172A-7E066118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58114-1A3B-1E6D-650F-ACBAEB7D5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F1DC2-096F-1BD9-7996-46F04C390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11796-8BA6-6853-7566-3AE6A6E008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26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667D-0651-CB3C-D525-B5C0F393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785C1-FFD3-3B6A-3519-D8A08EAD6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703A8-AD2F-809D-1985-ABBB0E6EE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214B7-777E-C10D-63EE-3D9B655E3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29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6F48-E343-0F99-F102-79E3D785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7AA1F-8C48-7C27-4681-7FA383DBF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2E0EA-F007-1C91-8C42-CB6E29C56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298E0-63AF-C006-2EFD-061B7BBED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11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91C5-D47D-C2C2-EB8E-7299AF0C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B276A-C73B-839A-E471-C442D525C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25F9F-58D5-5AC6-203F-A2A9AAA5B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A1E58-1C8A-2ED2-6CE8-1054A3B30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78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CABC-D78F-FE97-7882-69903A2B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88135-EB5F-2EFB-F8EC-437094267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11626-1C97-556D-107B-C848FE8CA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08471-2BF3-9AB2-DF2D-F9E3C695E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69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FE4B-6239-1779-10CD-24E2FCB8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609A2-CFE8-63DD-C444-2B60A42E5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94FF2-2C74-D0DC-14C8-AA1602920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CADF7-3CE5-AC54-8A3D-9EC4CF897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1" y="70651"/>
            <a:ext cx="52561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BUILD YOUR PERSONAL AI AGENT WITH CLAUDE CODE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What you're building</a:t>
            </a:r>
          </a:p>
        </p:txBody>
      </p:sp>
      <p:pic>
        <p:nvPicPr>
          <p:cNvPr id="4" name="Picture 3" descr="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56E48"/>
                </a:solidFill>
                <a:latin typeface="Montserrat"/>
              </a:defRPr>
            </a:pPr>
            <a: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752"/>
                </a:solidFill>
                <a:latin typeface="Montserrat"/>
              </a:defRPr>
            </a:pPr>
            <a:r>
              <a:t>A personal AI agent OS, not a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ontserrat"/>
              </a:defRPr>
            </a:pPr>
            <a:r>
              <a:t>soul.md = your voice. Vault = persistent wiki. Notion = dashboards. Obsidian = read-only graph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6888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24688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soul.md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Your identity, voice, priorities. Injected into every session. The agent never sounds generic.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46888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63240" y="24688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D5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3756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Karpathy-pattern wiki. Pages, [[wiki links]], index, log. Compounds with every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6888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52160" y="24688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6C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Notion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33756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10 databases under one parent page. Boards, tables, calendars. Dashboards you read on phone.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2468880"/>
            <a:ext cx="26974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41080" y="2468880"/>
            <a:ext cx="2697480" cy="640080"/>
          </a:xfrm>
          <a:prstGeom prst="roundRect">
            <a:avLst>
              <a:gd name="adj" fmla="val 8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Obsidian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3756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Montserrat"/>
              </a:defRPr>
            </a:pPr>
            <a:r>
              <a:t>Open the vault folder, see the graph. Cross-references light up. Search by tag or backlink.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D1AE-EE41-A7D2-CF12-95E834E5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22EAF-EA7E-4FEA-685F-3A017464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9D63CDD-FF93-64E3-EDEC-88527EB3F78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The Three-Layer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47B998-248F-B181-91AB-0771F3BCEC1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A623D31-D8D0-188F-9870-7C149D517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15DDB805-AB99-B245-5A85-724DC2702009}"/>
              </a:ext>
            </a:extLst>
          </p:cNvPr>
          <p:cNvSpPr/>
          <p:nvPr/>
        </p:nvSpPr>
        <p:spPr>
          <a:xfrm>
            <a:off x="923925" y="915261"/>
            <a:ext cx="10485120" cy="152400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CA" sz="240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8DF399A7-D6D5-559D-AF84-86744DD250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1605" y="1220061"/>
            <a:ext cx="853440" cy="853440"/>
          </a:xfrm>
          <a:prstGeom prst="rect">
            <a:avLst/>
          </a:prstGeom>
        </p:spPr>
      </p:pic>
      <p:sp>
        <p:nvSpPr>
          <p:cNvPr id="48" name="Text 4">
            <a:extLst>
              <a:ext uri="{FF2B5EF4-FFF2-40B4-BE49-F238E27FC236}">
                <a16:creationId xmlns:a16="http://schemas.microsoft.com/office/drawing/2014/main" id="{9ED65BF2-EA66-9BF8-B6FF-40D5675A3F0C}"/>
              </a:ext>
            </a:extLst>
          </p:cNvPr>
          <p:cNvSpPr/>
          <p:nvPr/>
        </p:nvSpPr>
        <p:spPr>
          <a:xfrm>
            <a:off x="2630805" y="1037181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2933" b="1" dirty="0">
                <a:solidFill>
                  <a:srgbClr val="1F1F1E">
                    <a:lumMod val="50000"/>
                    <a:lumOff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soul.md</a:t>
            </a:r>
            <a:endParaRPr lang="en-US" sz="2933" dirty="0">
              <a:solidFill>
                <a:srgbClr val="1F1F1E">
                  <a:lumMod val="50000"/>
                  <a:lumOff val="50000"/>
                </a:srgbClr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1078C2D3-3367-D34E-A4A5-2F6C8F028FDB}"/>
              </a:ext>
            </a:extLst>
          </p:cNvPr>
          <p:cNvSpPr/>
          <p:nvPr/>
        </p:nvSpPr>
        <p:spPr>
          <a:xfrm>
            <a:off x="5556885" y="1098141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333" b="1" kern="0" spc="4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Arial"/>
              </a:rPr>
              <a:t>YOUR IDENTITY</a:t>
            </a:r>
            <a:endParaRPr lang="en-US" sz="1333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E02046A4-BE6C-0AC9-B915-F7A8624EBD7A}"/>
              </a:ext>
            </a:extLst>
          </p:cNvPr>
          <p:cNvSpPr/>
          <p:nvPr/>
        </p:nvSpPr>
        <p:spPr>
          <a:xfrm>
            <a:off x="2630805" y="1646781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733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How you write, what you care about, your personality. Every output sounds like you wrote it.</a:t>
            </a:r>
            <a:endParaRPr lang="en-US" sz="1733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69573A89-E9FE-83F8-BFA7-373315492235}"/>
              </a:ext>
            </a:extLst>
          </p:cNvPr>
          <p:cNvSpPr/>
          <p:nvPr/>
        </p:nvSpPr>
        <p:spPr>
          <a:xfrm>
            <a:off x="923925" y="2683101"/>
            <a:ext cx="10485120" cy="152400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CA" sz="240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pic>
        <p:nvPicPr>
          <p:cNvPr id="52" name="Image 1" descr="preencoded.png">
            <a:extLst>
              <a:ext uri="{FF2B5EF4-FFF2-40B4-BE49-F238E27FC236}">
                <a16:creationId xmlns:a16="http://schemas.microsoft.com/office/drawing/2014/main" id="{479157C2-369D-341C-B655-F9EDC014702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1605" y="2987901"/>
            <a:ext cx="853440" cy="853440"/>
          </a:xfrm>
          <a:prstGeom prst="rect">
            <a:avLst/>
          </a:prstGeom>
        </p:spPr>
      </p:pic>
      <p:sp>
        <p:nvSpPr>
          <p:cNvPr id="53" name="Text 9">
            <a:extLst>
              <a:ext uri="{FF2B5EF4-FFF2-40B4-BE49-F238E27FC236}">
                <a16:creationId xmlns:a16="http://schemas.microsoft.com/office/drawing/2014/main" id="{82B66FD6-590F-D0D9-8DEA-E263E9F226C7}"/>
              </a:ext>
            </a:extLst>
          </p:cNvPr>
          <p:cNvSpPr/>
          <p:nvPr/>
        </p:nvSpPr>
        <p:spPr>
          <a:xfrm>
            <a:off x="2630805" y="2805021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2933" b="1" dirty="0">
                <a:solidFill>
                  <a:srgbClr val="1F1F1E">
                    <a:lumMod val="50000"/>
                    <a:lumOff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vault</a:t>
            </a:r>
            <a:endParaRPr lang="en-US" sz="2933" dirty="0">
              <a:solidFill>
                <a:srgbClr val="1F1F1E">
                  <a:lumMod val="50000"/>
                  <a:lumOff val="50000"/>
                </a:srgbClr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B40CD6C8-4A55-C81C-A274-DC27B4C57A66}"/>
              </a:ext>
            </a:extLst>
          </p:cNvPr>
          <p:cNvSpPr/>
          <p:nvPr/>
        </p:nvSpPr>
        <p:spPr>
          <a:xfrm>
            <a:off x="5556885" y="2865981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333" b="1" kern="0" spc="4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Arial"/>
              </a:rPr>
              <a:t>YOUR BRAIN</a:t>
            </a:r>
            <a:endParaRPr lang="en-US" sz="1333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7F99D1B3-2FA6-4B4F-D326-A9AFE484276C}"/>
              </a:ext>
            </a:extLst>
          </p:cNvPr>
          <p:cNvSpPr/>
          <p:nvPr/>
        </p:nvSpPr>
        <p:spPr>
          <a:xfrm>
            <a:off x="2630805" y="3414621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733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An Obsidian wiki that grows with every interaction. People, meetings, projects, research.</a:t>
            </a:r>
            <a:endParaRPr lang="en-US" sz="1733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95983FFC-5C03-74A2-E805-7B76FF7BF00C}"/>
              </a:ext>
            </a:extLst>
          </p:cNvPr>
          <p:cNvSpPr/>
          <p:nvPr/>
        </p:nvSpPr>
        <p:spPr>
          <a:xfrm>
            <a:off x="923925" y="4450941"/>
            <a:ext cx="10485120" cy="152400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defRPr/>
            </a:pPr>
            <a:endParaRPr lang="en-CA" sz="240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A9E24506-B864-C3E5-CDA1-B2FE6F9AD2E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11605" y="4755741"/>
            <a:ext cx="853440" cy="853440"/>
          </a:xfrm>
          <a:prstGeom prst="rect">
            <a:avLst/>
          </a:prstGeom>
        </p:spPr>
      </p:pic>
      <p:sp>
        <p:nvSpPr>
          <p:cNvPr id="58" name="Text 14">
            <a:extLst>
              <a:ext uri="{FF2B5EF4-FFF2-40B4-BE49-F238E27FC236}">
                <a16:creationId xmlns:a16="http://schemas.microsoft.com/office/drawing/2014/main" id="{96E39790-9FFF-1652-FC4C-0358F756C101}"/>
              </a:ext>
            </a:extLst>
          </p:cNvPr>
          <p:cNvSpPr/>
          <p:nvPr/>
        </p:nvSpPr>
        <p:spPr>
          <a:xfrm>
            <a:off x="2630805" y="4572861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2933" b="1" dirty="0">
                <a:solidFill>
                  <a:srgbClr val="1F1F1E">
                    <a:lumMod val="50000"/>
                    <a:lumOff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work</a:t>
            </a:r>
            <a:endParaRPr lang="en-US" sz="2933" dirty="0">
              <a:solidFill>
                <a:srgbClr val="1F1F1E">
                  <a:lumMod val="50000"/>
                  <a:lumOff val="50000"/>
                </a:srgbClr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4E481F2F-5A66-090A-E5C7-E841AB016D92}"/>
              </a:ext>
            </a:extLst>
          </p:cNvPr>
          <p:cNvSpPr/>
          <p:nvPr/>
        </p:nvSpPr>
        <p:spPr>
          <a:xfrm>
            <a:off x="5556885" y="4633821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333" b="1" kern="0" spc="4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Arial"/>
              </a:rPr>
              <a:t>YOUR AUTOMATIONS</a:t>
            </a:r>
            <a:endParaRPr lang="en-US" sz="1333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C14B9E34-7442-78CC-B79A-BBF3D0262FC8}"/>
              </a:ext>
            </a:extLst>
          </p:cNvPr>
          <p:cNvSpPr/>
          <p:nvPr/>
        </p:nvSpPr>
        <p:spPr>
          <a:xfrm>
            <a:off x="2630805" y="5182461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lang="en-US" sz="1733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Each automation reads from the vault, does its job, writes back. The vault gets richer. The automations get better.</a:t>
            </a:r>
            <a:endParaRPr lang="en-US" sz="1733" dirty="0">
              <a:solidFill>
                <a:prstClr val="black"/>
              </a:solidFill>
              <a:latin typeface="Calibri" panose="020F0502020204030204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CD9190-A02F-519C-9E41-2981C9F0A1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0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F030-4B7F-216D-D1D0-C38C87F4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72B487-DB38-5DD8-0A04-FE4DE21CD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F57971E-752D-531B-2FF4-4361052B9F0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10 Automations. All Connected.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B139C-6A65-9B82-6E2F-6D1DBA8AE95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219005-B880-E2A0-0FD4-0810B9481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D6A892E-9B2D-4C5A-F148-CF469525B7F4}"/>
              </a:ext>
            </a:extLst>
          </p:cNvPr>
          <p:cNvSpPr/>
          <p:nvPr/>
        </p:nvSpPr>
        <p:spPr>
          <a:xfrm>
            <a:off x="48768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81607B9-7CA3-A485-97D2-BBF5BC2346BF}"/>
              </a:ext>
            </a:extLst>
          </p:cNvPr>
          <p:cNvSpPr/>
          <p:nvPr/>
        </p:nvSpPr>
        <p:spPr>
          <a:xfrm>
            <a:off x="115824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3BD1829-3047-4613-1406-E9658D659FB8}"/>
              </a:ext>
            </a:extLst>
          </p:cNvPr>
          <p:cNvSpPr/>
          <p:nvPr/>
        </p:nvSpPr>
        <p:spPr>
          <a:xfrm>
            <a:off x="115824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01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7E94512-CB33-7D4E-27A4-B95C9D4D2224}"/>
              </a:ext>
            </a:extLst>
          </p:cNvPr>
          <p:cNvSpPr/>
          <p:nvPr/>
        </p:nvSpPr>
        <p:spPr>
          <a:xfrm>
            <a:off x="60960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Sprint Tracker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9469612-9BBC-42E4-BC4C-579126B0DBAF}"/>
              </a:ext>
            </a:extLst>
          </p:cNvPr>
          <p:cNvSpPr/>
          <p:nvPr/>
        </p:nvSpPr>
        <p:spPr>
          <a:xfrm>
            <a:off x="60960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Project board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7C6162D7-6C2B-E531-019F-8866A55BCAC4}"/>
              </a:ext>
            </a:extLst>
          </p:cNvPr>
          <p:cNvSpPr/>
          <p:nvPr/>
        </p:nvSpPr>
        <p:spPr>
          <a:xfrm>
            <a:off x="280416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A435BB8-7056-67C3-4B2C-77617FE4E82B}"/>
              </a:ext>
            </a:extLst>
          </p:cNvPr>
          <p:cNvSpPr/>
          <p:nvPr/>
        </p:nvSpPr>
        <p:spPr>
          <a:xfrm>
            <a:off x="347472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DAA7338-EA61-CFB8-FF75-B05793A4D9ED}"/>
              </a:ext>
            </a:extLst>
          </p:cNvPr>
          <p:cNvSpPr/>
          <p:nvPr/>
        </p:nvSpPr>
        <p:spPr>
          <a:xfrm>
            <a:off x="347472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02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00CED4D3-71B6-76E3-AC55-F3DF321EFAD2}"/>
              </a:ext>
            </a:extLst>
          </p:cNvPr>
          <p:cNvSpPr/>
          <p:nvPr/>
        </p:nvSpPr>
        <p:spPr>
          <a:xfrm>
            <a:off x="292608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Morning Brief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C894CAB2-5B89-46E3-12D9-EE7588C7637A}"/>
              </a:ext>
            </a:extLst>
          </p:cNvPr>
          <p:cNvSpPr/>
          <p:nvPr/>
        </p:nvSpPr>
        <p:spPr>
          <a:xfrm>
            <a:off x="292608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Daily snapshot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DE02EC5-58B1-201F-3935-98276B1294A5}"/>
              </a:ext>
            </a:extLst>
          </p:cNvPr>
          <p:cNvSpPr/>
          <p:nvPr/>
        </p:nvSpPr>
        <p:spPr>
          <a:xfrm>
            <a:off x="512064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CDBC6F57-57FB-9460-826A-EC24731BA8F3}"/>
              </a:ext>
            </a:extLst>
          </p:cNvPr>
          <p:cNvSpPr/>
          <p:nvPr/>
        </p:nvSpPr>
        <p:spPr>
          <a:xfrm>
            <a:off x="579120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7B439F7-0A3E-9650-BACE-59559E0B1729}"/>
              </a:ext>
            </a:extLst>
          </p:cNvPr>
          <p:cNvSpPr/>
          <p:nvPr/>
        </p:nvSpPr>
        <p:spPr>
          <a:xfrm>
            <a:off x="579120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03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67202FA0-8035-0012-DC99-2F89E44D77C2}"/>
              </a:ext>
            </a:extLst>
          </p:cNvPr>
          <p:cNvSpPr/>
          <p:nvPr/>
        </p:nvSpPr>
        <p:spPr>
          <a:xfrm>
            <a:off x="524256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Market Pulse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03F66EB7-187B-1E98-C902-D905F1517CBB}"/>
              </a:ext>
            </a:extLst>
          </p:cNvPr>
          <p:cNvSpPr/>
          <p:nvPr/>
        </p:nvSpPr>
        <p:spPr>
          <a:xfrm>
            <a:off x="524256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Competitor radar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BA46081B-C464-9647-6944-179ABBB327FD}"/>
              </a:ext>
            </a:extLst>
          </p:cNvPr>
          <p:cNvSpPr/>
          <p:nvPr/>
        </p:nvSpPr>
        <p:spPr>
          <a:xfrm>
            <a:off x="743712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87551A9C-4BB7-ADC9-740E-2840B834E58F}"/>
              </a:ext>
            </a:extLst>
          </p:cNvPr>
          <p:cNvSpPr/>
          <p:nvPr/>
        </p:nvSpPr>
        <p:spPr>
          <a:xfrm>
            <a:off x="810768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7560CE19-46F4-177A-D6A3-3D0AD1EEC0F1}"/>
              </a:ext>
            </a:extLst>
          </p:cNvPr>
          <p:cNvSpPr/>
          <p:nvPr/>
        </p:nvSpPr>
        <p:spPr>
          <a:xfrm>
            <a:off x="810768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04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65FB27D9-389E-601D-8608-AA8FF534DD23}"/>
              </a:ext>
            </a:extLst>
          </p:cNvPr>
          <p:cNvSpPr/>
          <p:nvPr/>
        </p:nvSpPr>
        <p:spPr>
          <a:xfrm>
            <a:off x="755904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Research Team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2C0306B3-E8C1-738C-0870-FB324AE73703}"/>
              </a:ext>
            </a:extLst>
          </p:cNvPr>
          <p:cNvSpPr/>
          <p:nvPr/>
        </p:nvSpPr>
        <p:spPr>
          <a:xfrm>
            <a:off x="755904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Multi-agent research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248823C5-2D5A-55A3-8446-F8874FB7A6C7}"/>
              </a:ext>
            </a:extLst>
          </p:cNvPr>
          <p:cNvSpPr/>
          <p:nvPr/>
        </p:nvSpPr>
        <p:spPr>
          <a:xfrm>
            <a:off x="9753600" y="95707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0F2176CC-8321-F093-C35D-2F27B94CA35A}"/>
              </a:ext>
            </a:extLst>
          </p:cNvPr>
          <p:cNvSpPr/>
          <p:nvPr/>
        </p:nvSpPr>
        <p:spPr>
          <a:xfrm>
            <a:off x="10424160" y="113995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B58424AE-B0FC-0C60-B0C6-7F467D66A814}"/>
              </a:ext>
            </a:extLst>
          </p:cNvPr>
          <p:cNvSpPr/>
          <p:nvPr/>
        </p:nvSpPr>
        <p:spPr>
          <a:xfrm>
            <a:off x="10424160" y="113995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05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4B0AA1DC-01AF-E736-705E-38645D919541}"/>
              </a:ext>
            </a:extLst>
          </p:cNvPr>
          <p:cNvSpPr/>
          <p:nvPr/>
        </p:nvSpPr>
        <p:spPr>
          <a:xfrm>
            <a:off x="9875520" y="205435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Personal CRM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E891A9DB-17DD-E9C5-E480-5724BC2D9B03}"/>
              </a:ext>
            </a:extLst>
          </p:cNvPr>
          <p:cNvSpPr/>
          <p:nvPr/>
        </p:nvSpPr>
        <p:spPr>
          <a:xfrm>
            <a:off x="9875520" y="260299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Relationship tracker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A656A0BA-9A80-CC80-E3C4-5D876A1E7DA3}"/>
              </a:ext>
            </a:extLst>
          </p:cNvPr>
          <p:cNvSpPr/>
          <p:nvPr/>
        </p:nvSpPr>
        <p:spPr>
          <a:xfrm>
            <a:off x="48768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CF576048-F4A5-3A1A-B214-89665470BB76}"/>
              </a:ext>
            </a:extLst>
          </p:cNvPr>
          <p:cNvSpPr/>
          <p:nvPr/>
        </p:nvSpPr>
        <p:spPr>
          <a:xfrm>
            <a:off x="115824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AEB563D4-F1D7-7BDE-D774-4DC6376995EB}"/>
              </a:ext>
            </a:extLst>
          </p:cNvPr>
          <p:cNvSpPr/>
          <p:nvPr/>
        </p:nvSpPr>
        <p:spPr>
          <a:xfrm>
            <a:off x="115824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06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E53AC9BF-A279-9CC1-570E-A965EF3261EF}"/>
              </a:ext>
            </a:extLst>
          </p:cNvPr>
          <p:cNvSpPr/>
          <p:nvPr/>
        </p:nvSpPr>
        <p:spPr>
          <a:xfrm>
            <a:off x="60960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Meeting Intel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EC65D3EC-CF4E-48E0-2984-193D10D7124F}"/>
              </a:ext>
            </a:extLst>
          </p:cNvPr>
          <p:cNvSpPr/>
          <p:nvPr/>
        </p:nvSpPr>
        <p:spPr>
          <a:xfrm>
            <a:off x="60960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Prep &amp; extraction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E6EEBB13-4FFD-A497-ED86-C65B1D250377}"/>
              </a:ext>
            </a:extLst>
          </p:cNvPr>
          <p:cNvSpPr/>
          <p:nvPr/>
        </p:nvSpPr>
        <p:spPr>
          <a:xfrm>
            <a:off x="280416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C2C4763D-C62D-57DC-4D40-1C914D127BB4}"/>
              </a:ext>
            </a:extLst>
          </p:cNvPr>
          <p:cNvSpPr/>
          <p:nvPr/>
        </p:nvSpPr>
        <p:spPr>
          <a:xfrm>
            <a:off x="3474720" y="3761232"/>
            <a:ext cx="792480" cy="79248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F20610F9-82C7-165C-3713-930AF3B578B6}"/>
              </a:ext>
            </a:extLst>
          </p:cNvPr>
          <p:cNvSpPr/>
          <p:nvPr/>
        </p:nvSpPr>
        <p:spPr>
          <a:xfrm>
            <a:off x="3474720" y="3761232"/>
            <a:ext cx="792480" cy="792480"/>
          </a:xfrm>
          <a:prstGeom prst="rect">
            <a:avLst/>
          </a:prstGeom>
          <a:solidFill>
            <a:srgbClr val="D56E48"/>
          </a:solidFill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07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51F4EC3C-4895-875E-CA0A-56383ACEBD4C}"/>
              </a:ext>
            </a:extLst>
          </p:cNvPr>
          <p:cNvSpPr/>
          <p:nvPr/>
        </p:nvSpPr>
        <p:spPr>
          <a:xfrm>
            <a:off x="292608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Email Triage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E969E69A-4C83-6E3E-F267-EFA0707897B0}"/>
              </a:ext>
            </a:extLst>
          </p:cNvPr>
          <p:cNvSpPr/>
          <p:nvPr/>
        </p:nvSpPr>
        <p:spPr>
          <a:xfrm>
            <a:off x="292608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Inbox manager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4E879326-861C-FEBA-2D60-B4855B173D27}"/>
              </a:ext>
            </a:extLst>
          </p:cNvPr>
          <p:cNvSpPr/>
          <p:nvPr/>
        </p:nvSpPr>
        <p:spPr>
          <a:xfrm>
            <a:off x="512064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18E1529A-AF1F-0E54-9B36-6DA641C32285}"/>
              </a:ext>
            </a:extLst>
          </p:cNvPr>
          <p:cNvSpPr/>
          <p:nvPr/>
        </p:nvSpPr>
        <p:spPr>
          <a:xfrm>
            <a:off x="579120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658E69EE-CE02-EEF6-EA5C-1BF13E33AAA9}"/>
              </a:ext>
            </a:extLst>
          </p:cNvPr>
          <p:cNvSpPr/>
          <p:nvPr/>
        </p:nvSpPr>
        <p:spPr>
          <a:xfrm>
            <a:off x="579120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08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BADA7095-CC91-045C-D60F-4408CB9C9E13}"/>
              </a:ext>
            </a:extLst>
          </p:cNvPr>
          <p:cNvSpPr/>
          <p:nvPr/>
        </p:nvSpPr>
        <p:spPr>
          <a:xfrm>
            <a:off x="524256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Expense Wrangler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EA883F99-24A1-59B9-44DD-FA212CA93297}"/>
              </a:ext>
            </a:extLst>
          </p:cNvPr>
          <p:cNvSpPr/>
          <p:nvPr/>
        </p:nvSpPr>
        <p:spPr>
          <a:xfrm>
            <a:off x="524256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Receipt processing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" name="Shape 42">
            <a:extLst>
              <a:ext uri="{FF2B5EF4-FFF2-40B4-BE49-F238E27FC236}">
                <a16:creationId xmlns:a16="http://schemas.microsoft.com/office/drawing/2014/main" id="{D405B2EA-83F9-A3FF-5380-7E963B4619FD}"/>
              </a:ext>
            </a:extLst>
          </p:cNvPr>
          <p:cNvSpPr/>
          <p:nvPr/>
        </p:nvSpPr>
        <p:spPr>
          <a:xfrm>
            <a:off x="743712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" name="Shape 43">
            <a:extLst>
              <a:ext uri="{FF2B5EF4-FFF2-40B4-BE49-F238E27FC236}">
                <a16:creationId xmlns:a16="http://schemas.microsoft.com/office/drawing/2014/main" id="{B26C400D-E2A2-A03F-10DC-3695B54AF991}"/>
              </a:ext>
            </a:extLst>
          </p:cNvPr>
          <p:cNvSpPr/>
          <p:nvPr/>
        </p:nvSpPr>
        <p:spPr>
          <a:xfrm>
            <a:off x="810768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Text 44">
            <a:extLst>
              <a:ext uri="{FF2B5EF4-FFF2-40B4-BE49-F238E27FC236}">
                <a16:creationId xmlns:a16="http://schemas.microsoft.com/office/drawing/2014/main" id="{DB883776-5209-6280-C773-24AA6945CE3E}"/>
              </a:ext>
            </a:extLst>
          </p:cNvPr>
          <p:cNvSpPr/>
          <p:nvPr/>
        </p:nvSpPr>
        <p:spPr>
          <a:xfrm>
            <a:off x="810768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09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" name="Text 45">
            <a:extLst>
              <a:ext uri="{FF2B5EF4-FFF2-40B4-BE49-F238E27FC236}">
                <a16:creationId xmlns:a16="http://schemas.microsoft.com/office/drawing/2014/main" id="{A173BABA-157B-9457-20DF-447379E6496D}"/>
              </a:ext>
            </a:extLst>
          </p:cNvPr>
          <p:cNvSpPr/>
          <p:nvPr/>
        </p:nvSpPr>
        <p:spPr>
          <a:xfrm>
            <a:off x="755904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Content Machine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Text 46">
            <a:extLst>
              <a:ext uri="{FF2B5EF4-FFF2-40B4-BE49-F238E27FC236}">
                <a16:creationId xmlns:a16="http://schemas.microsoft.com/office/drawing/2014/main" id="{A94570C7-EB89-D0B6-0A1E-F3D25CE93CE6}"/>
              </a:ext>
            </a:extLst>
          </p:cNvPr>
          <p:cNvSpPr/>
          <p:nvPr/>
        </p:nvSpPr>
        <p:spPr>
          <a:xfrm>
            <a:off x="755904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Multi-format content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Shape 47">
            <a:extLst>
              <a:ext uri="{FF2B5EF4-FFF2-40B4-BE49-F238E27FC236}">
                <a16:creationId xmlns:a16="http://schemas.microsoft.com/office/drawing/2014/main" id="{9974BEF4-7B62-3F49-90AE-E72334D1583E}"/>
              </a:ext>
            </a:extLst>
          </p:cNvPr>
          <p:cNvSpPr/>
          <p:nvPr/>
        </p:nvSpPr>
        <p:spPr>
          <a:xfrm>
            <a:off x="9753600" y="3578352"/>
            <a:ext cx="2133600" cy="231648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" name="Shape 48">
            <a:extLst>
              <a:ext uri="{FF2B5EF4-FFF2-40B4-BE49-F238E27FC236}">
                <a16:creationId xmlns:a16="http://schemas.microsoft.com/office/drawing/2014/main" id="{CC4F8346-0E31-BB53-DF95-4596558E9568}"/>
              </a:ext>
            </a:extLst>
          </p:cNvPr>
          <p:cNvSpPr/>
          <p:nvPr/>
        </p:nvSpPr>
        <p:spPr>
          <a:xfrm>
            <a:off x="10424160" y="3761232"/>
            <a:ext cx="792480" cy="79248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pPr defTabSz="1219170">
              <a:buClr>
                <a:srgbClr val="000000"/>
              </a:buClr>
            </a:pPr>
            <a:endParaRPr lang="en-CA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Text 49">
            <a:extLst>
              <a:ext uri="{FF2B5EF4-FFF2-40B4-BE49-F238E27FC236}">
                <a16:creationId xmlns:a16="http://schemas.microsoft.com/office/drawing/2014/main" id="{151057A2-2608-C745-2285-6AD85C8FFEF1}"/>
              </a:ext>
            </a:extLst>
          </p:cNvPr>
          <p:cNvSpPr/>
          <p:nvPr/>
        </p:nvSpPr>
        <p:spPr>
          <a:xfrm>
            <a:off x="10424160" y="3761232"/>
            <a:ext cx="792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2133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sym typeface="Arial"/>
              </a:rPr>
              <a:t>10</a:t>
            </a:r>
            <a:endParaRPr lang="en-US" sz="21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" name="Text 50">
            <a:extLst>
              <a:ext uri="{FF2B5EF4-FFF2-40B4-BE49-F238E27FC236}">
                <a16:creationId xmlns:a16="http://schemas.microsoft.com/office/drawing/2014/main" id="{40F5D18A-6A40-C2F1-18E0-E15A5EE7C2EA}"/>
              </a:ext>
            </a:extLst>
          </p:cNvPr>
          <p:cNvSpPr/>
          <p:nvPr/>
        </p:nvSpPr>
        <p:spPr>
          <a:xfrm>
            <a:off x="9875520" y="4675632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Weekly Exec Report</a:t>
            </a:r>
            <a:endParaRPr lang="en-US"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2" name="Text 51">
            <a:extLst>
              <a:ext uri="{FF2B5EF4-FFF2-40B4-BE49-F238E27FC236}">
                <a16:creationId xmlns:a16="http://schemas.microsoft.com/office/drawing/2014/main" id="{98A57646-D2F1-7945-9B7C-D134D202AB89}"/>
              </a:ext>
            </a:extLst>
          </p:cNvPr>
          <p:cNvSpPr/>
          <p:nvPr/>
        </p:nvSpPr>
        <p:spPr>
          <a:xfrm>
            <a:off x="9875520" y="5224272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333" kern="0" dirty="0">
                <a:solidFill>
                  <a:srgbClr val="9898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Capstone rollup</a:t>
            </a:r>
            <a:endParaRPr lang="en-US"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3" name="Text 52">
            <a:extLst>
              <a:ext uri="{FF2B5EF4-FFF2-40B4-BE49-F238E27FC236}">
                <a16:creationId xmlns:a16="http://schemas.microsoft.com/office/drawing/2014/main" id="{B3C47644-7E44-AF65-C8E7-A20F0054D176}"/>
              </a:ext>
            </a:extLst>
          </p:cNvPr>
          <p:cNvSpPr/>
          <p:nvPr/>
        </p:nvSpPr>
        <p:spPr>
          <a:xfrm>
            <a:off x="889847" y="5894832"/>
            <a:ext cx="11387667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i="1" kern="0" dirty="0">
                <a:solidFill>
                  <a:srgbClr val="02291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  <a:sym typeface="Arial"/>
              </a:rPr>
              <a:t>Each automation reads from the vault, does its job, and writes back. The system compounds.</a:t>
            </a:r>
            <a:endParaRPr lang="en-US" sz="1867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B06F40-D096-5D9B-C3EB-1256CCB1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28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95381-A012-1AFF-FB50-003BC2A4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B1E92-BADC-F8E6-FCC9-49637B18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9CE1EDB5-3AE8-99C9-881B-627CD2B6E23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10 Automations. All Connected.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BE012-C079-0B86-75A9-9C873BC6189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DA0B8A-D79A-C072-4CC6-E6D47482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FAC86-D95B-769D-C4AA-7F475812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268" y="717805"/>
            <a:ext cx="9287352" cy="57877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47F73C-9D8B-A00C-7DCC-1756FAC64F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1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1BEB-9F1E-F1B8-358F-106E7990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B28FDE-BC69-93C9-2265-05B2B4DD94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C6F16-638D-905D-9C48-62F727413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765C5B-027D-BA77-5E68-84D8FA1D71D9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RESEARCH 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377B1-21FF-06E8-D56C-72FF99D16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A922-534D-1566-57BB-4C782C77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61D04D9-3FBC-69F5-40BE-336659334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9A1FFE9-3760-51F6-29E8-203389CCC25A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94A957E-236D-CC7A-BC76-202F49F9F1F7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4: Research Team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4206501-7A11-B324-181E-1E7EC55C09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23F65AE-11B6-06CC-B325-78DC7A5A8A19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2AE7D2C-9F94-FF27-768D-EB18B17A571C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research team,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00F1F7-D898-50F6-C7BF-296A4ADD2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7443" y="1379561"/>
            <a:ext cx="6029326" cy="4820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0FDF3-C509-170D-012D-13738EA8A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47" y="2230388"/>
            <a:ext cx="5370653" cy="296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6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DD27-1B4E-F551-3247-AB5C2288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A364A71-925F-9D74-DEFA-6568EDA20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EDE1A2A-FE11-983E-FC6F-21C80C48F38D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ADDA332-4760-5E8F-071E-173C1613BE89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Now Let’s test the /research-team command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0E8DC45-91A1-1D64-2353-1CED5B7F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FA48EC8-2079-771A-DA67-F0192B73DBFC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70A5088-422B-4F12-D4B9-651A477F42FF}"/>
              </a:ext>
            </a:extLst>
          </p:cNvPr>
          <p:cNvSpPr/>
          <p:nvPr/>
        </p:nvSpPr>
        <p:spPr>
          <a:xfrm>
            <a:off x="242650" y="687350"/>
            <a:ext cx="11644549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Now you can run the research-team command with the following prompt:</a:t>
            </a:r>
          </a:p>
          <a:p>
            <a:pPr lvl="2"/>
            <a:r>
              <a:rPr lang="en-US" sz="1600" i="1" dirty="0">
                <a:solidFill>
                  <a:srgbClr val="666666"/>
                </a:solidFill>
                <a:latin typeface="Montserrat" pitchFamily="34" charset="0"/>
              </a:rPr>
              <a:t>/research-team Top 3 humanoid robotics companies and provide a concise breakdown of their edge, current progress, and likelihood of winning. Generate a 5-slide </a:t>
            </a:r>
            <a:r>
              <a:rPr lang="en-US" sz="1600" i="1" dirty="0" err="1">
                <a:solidFill>
                  <a:srgbClr val="666666"/>
                </a:solidFill>
                <a:latin typeface="Montserrat" pitchFamily="34" charset="0"/>
              </a:rPr>
              <a:t>Powerpoint</a:t>
            </a:r>
            <a:r>
              <a:rPr lang="en-US" sz="1600" i="1" dirty="0">
                <a:solidFill>
                  <a:srgbClr val="666666"/>
                </a:solidFill>
                <a:latin typeface="Montserrat" pitchFamily="34" charset="0"/>
              </a:rPr>
              <a:t> deck using the brand color.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9828D-71A8-65C5-BA0C-A19A26431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59" y="1871193"/>
            <a:ext cx="4128304" cy="2305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3D0EAD-F154-CD62-57D7-A6D0D78B7A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07" y="4363350"/>
            <a:ext cx="4188007" cy="2346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EA9D43-F995-87C6-E341-45D9F9F2E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0876" y="1597969"/>
            <a:ext cx="4330642" cy="500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6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814A-5E06-4E2C-0A46-D64BAAC9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C68127-61CE-CE83-A9D6-512A1236BC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32559B-F19D-1F17-7A7E-13D8D8FD2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B3343C-5377-65AE-9AC6-82C24597AB54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PERSONAL CRM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68F97-78D2-83CC-9DB6-15BCC2001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80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8ABA-0C69-509D-83C2-A0BD7CBA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84FC307-2B02-96BE-3495-9C299D7C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B0CFFF8-F1B2-EEFE-033C-DF021A3063F6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46C12D5-CCB6-882D-0A86-FFE834F7284E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5: Personal CRM 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D9C412A-F93B-74EB-2222-67C17EFFBB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7C8EDBF-F819-3861-543E-B8BC53B7FD22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BD920F-4A33-A918-F345-5B9257AC5C7C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personal CRM,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63843-16E2-4E2B-20B1-02E0A1844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96" y="1876307"/>
            <a:ext cx="7251539" cy="40419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187ED1-66E1-662A-7D29-97B6AC854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966" y="1823305"/>
            <a:ext cx="5092886" cy="441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83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7BAB-255B-A5AE-BEA4-623F6315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43F2F3-5CEE-18A6-5C2E-568CC36FE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FE7653C-0BC9-2576-F133-B7999E2CEBC4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4C9AC3C-E7FE-7358-BFCF-470203364680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Let’s test the Personal-CRM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DB81F74-C22E-DB43-4F0C-DF56F92F3E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3325BBD-6613-C9B6-53BE-FC7B1F12C46B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4937A30-1594-9E7C-3041-EDE2E80063EC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personal CRM,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Assume that David Chen sent this email to 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Now run /personal-</a:t>
            </a:r>
            <a:r>
              <a:rPr lang="en-US" sz="1600" dirty="0" err="1">
                <a:solidFill>
                  <a:srgbClr val="666666"/>
                </a:solidFill>
                <a:latin typeface="Montserrat" pitchFamily="34" charset="0"/>
              </a:rPr>
              <a:t>crm</a:t>
            </a: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F954D3-BE4E-066B-E3BD-B77BFB1AC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" y="1810378"/>
            <a:ext cx="3312650" cy="3395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2BC3E-8BB7-BA29-7AAB-8C386F8A213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5468" y="2884134"/>
            <a:ext cx="8729566" cy="113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7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D250-7E0B-D6BE-93FB-D45BDD69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62EACB-C052-F24A-D4DB-062F4E2A0C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1693BB-7EBB-3C33-FF3A-1971AFCD2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F72DE9-C15A-7B1B-77B8-C5DF2B77E57D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MEETING INTEL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FB491-DAF9-395C-A0AE-FDB86A1A3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1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64DC-9FDB-3E3D-2C50-FF158422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B60029B-DC15-862F-9283-D03D8118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627B504-1137-0420-7C08-8FF274FF1B3E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167441C-9AFD-B810-A428-CADD21CE7698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6: Meeting Intel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68376FA-A4FD-1D80-E7C5-3225AAB2FC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AFB0D6B-4679-7C07-2C70-E42C73A1FAB7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427196-7CC1-278D-1C68-545F90D459D2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meeting intel,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2124DF-36C6-D00E-4E67-4AD0149B0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468" y="1614283"/>
            <a:ext cx="4914116" cy="4315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3D082C-4F58-70A9-4BAD-591DD4475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28" y="2066493"/>
            <a:ext cx="6713316" cy="32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1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0259-BBD0-712B-7084-65C479E0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CA689B2-5D2E-4A4D-B82E-D4D50CF88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DE33A24-55A2-DF62-5CAE-5E37080D370F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9D23B9F-2596-3A7C-F9AE-4E99EAE86B7C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Let’s test the Meeting intelligence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E0A4CAB-2B52-01F0-AD96-DB529BC01D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30B381C-5A28-B7C9-1F4B-5844DAAD2D71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69C9BEA-2B52-E718-BB24-24B2F461A52D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Assume that you received the meeting invitation below, now run the meeting intelligence slash command.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2F64BE-CF67-FF6A-526F-793CFFAC4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38" y="1680170"/>
            <a:ext cx="5698033" cy="4317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D773CB-1C8E-97F5-C5F4-854031300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096" y="1754133"/>
            <a:ext cx="6037712" cy="42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49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73A9-F615-27E8-5C41-DB2DE05B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EDDF5-EAF0-BF66-2078-CAEC837560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CF9133-5BC1-24EB-5526-920BED290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9D8809-EC34-E214-B721-49E4230D0045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EMAIL TRIAGE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FE538-C783-3C8D-FE0B-99019AD0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19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7F91-0687-B350-2734-228AC95CA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A702647-DE96-EB59-8CE9-D6FDC17CC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7315C4E-B621-93E3-B440-F17B477CA7ED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222A826-D0B9-0A0D-3AD4-D01DA072ED8C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Prompt 7: Email Triage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7323C5D-77DD-4AA5-5864-0EA880B4EC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3496B53-77E1-157C-B596-10341A175F2F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326DAC-B95B-4A5B-5E0F-549556CB898D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running the Email Triage, a Claude.md file is created under the work folder along with a new slash 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666666"/>
              </a:solidFill>
              <a:latin typeface="Montserrat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8B0F5-919A-5738-7C6A-4E68E89E8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24" y="1453861"/>
            <a:ext cx="6404525" cy="4899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0A51E4-FB7A-06B2-A6DE-CDD35E438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92477"/>
            <a:ext cx="5347437" cy="250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81B4-7648-1FA5-8555-A10FB639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E8351D0-4DF1-EBB4-C58D-3822E0B85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994EF01-B554-FB7B-B72D-ACC34E6B7D06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04FAFD9-01B6-2B69-9C90-EF638051356C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Let’s run the email triage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787F86A-C23C-0735-BF11-969966377C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A7B6D4F-B9B6-CF59-522A-4FABF088EC00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EEE1F5-E38B-090C-D69C-D5437AAAA9DB}"/>
              </a:ext>
            </a:extLst>
          </p:cNvPr>
          <p:cNvSpPr/>
          <p:nvPr/>
        </p:nvSpPr>
        <p:spPr>
          <a:xfrm>
            <a:off x="242651" y="776863"/>
            <a:ext cx="11216640" cy="97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 draft email will be written as shown below.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F11905-AB21-EBBB-D0A9-9D56E0E0D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954" y="4325028"/>
            <a:ext cx="9363919" cy="22225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6020BF-D5C8-5803-38CF-A6F8C6324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394" y="1676356"/>
            <a:ext cx="9769033" cy="262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32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7787</TotalTime>
  <Words>706</Words>
  <Application>Microsoft Office PowerPoint</Application>
  <PresentationFormat>Widescreen</PresentationFormat>
  <Paragraphs>104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Georgia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842</cp:revision>
  <dcterms:created xsi:type="dcterms:W3CDTF">2019-11-18T17:58:36Z</dcterms:created>
  <dcterms:modified xsi:type="dcterms:W3CDTF">2026-05-07T03:20:29Z</dcterms:modified>
</cp:coreProperties>
</file>