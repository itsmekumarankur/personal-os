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565" r:id="rId2"/>
    <p:sldId id="4338" r:id="rId3"/>
    <p:sldId id="4452" r:id="rId4"/>
    <p:sldId id="4443" r:id="rId5"/>
    <p:sldId id="4344" r:id="rId6"/>
    <p:sldId id="4444" r:id="rId7"/>
    <p:sldId id="4453" r:id="rId8"/>
    <p:sldId id="4445" r:id="rId9"/>
    <p:sldId id="4448" r:id="rId10"/>
    <p:sldId id="4454" r:id="rId11"/>
    <p:sldId id="4446" r:id="rId12"/>
    <p:sldId id="4447" r:id="rId13"/>
    <p:sldId id="2772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2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01F0-6F94-51A6-3448-3728D1C00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DE541-970D-AF32-BEDD-1BBA7480F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A538A-435F-9A11-6667-710250095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1A7F3-D62A-BF6A-F3EC-56194FCBB5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7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7578-A405-8609-070A-E2B6B9B8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46ED5-DD4F-5289-A093-D8242823F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FEAA9-FAD0-9D71-8ED6-F80B338C1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1A016-FB21-A07A-3C51-5B2317D01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78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6032F-1BDD-83B4-7C9D-B2ECA883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3B694-CDF0-7FE6-59C6-1F5B595E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2A7A6-F69F-9C7F-8F62-BCF8E94D0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3C3A-CDEF-4108-9F6E-A824C797B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83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5C93-83DE-CD20-A106-D3491F3D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33AEC-BEF7-623C-10B2-5B2DB9131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9E2E7-3F88-1E8A-4DEB-A58A6D7AA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CF3E6-8991-2506-CDEF-CDD31E45F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82A6-D78F-6D1F-6242-15A3788F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A1DD0-4D39-F832-7310-8E44B8EF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9B288-0AF4-D0A7-BD19-AD9A43749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5E69E-592D-2440-70E0-00DEC6E6A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29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00E6-CC7C-2550-1C68-BE93F895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619A9-BC4A-59BC-3CEC-29C80A12A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224D4-C128-DB9A-3CA5-6A1D360EE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9EC3E-4F98-9B16-A4CB-9E114183D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52561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F030-4B7F-216D-D1D0-C38C87F4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72B487-DB38-5DD8-0A04-FE4DE21CD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F57971E-752D-531B-2FF4-4361052B9F0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10 Automations. All Connected.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B139C-6A65-9B82-6E2F-6D1DBA8AE95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219005-B880-E2A0-0FD4-0810B9481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D6A892E-9B2D-4C5A-F148-CF469525B7F4}"/>
              </a:ext>
            </a:extLst>
          </p:cNvPr>
          <p:cNvSpPr/>
          <p:nvPr/>
        </p:nvSpPr>
        <p:spPr>
          <a:xfrm>
            <a:off x="48768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1607B9-7CA3-A485-97D2-BBF5BC2346BF}"/>
              </a:ext>
            </a:extLst>
          </p:cNvPr>
          <p:cNvSpPr/>
          <p:nvPr/>
        </p:nvSpPr>
        <p:spPr>
          <a:xfrm>
            <a:off x="115824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3BD1829-3047-4613-1406-E9658D659FB8}"/>
              </a:ext>
            </a:extLst>
          </p:cNvPr>
          <p:cNvSpPr/>
          <p:nvPr/>
        </p:nvSpPr>
        <p:spPr>
          <a:xfrm>
            <a:off x="115824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01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7E94512-CB33-7D4E-27A4-B95C9D4D2224}"/>
              </a:ext>
            </a:extLst>
          </p:cNvPr>
          <p:cNvSpPr/>
          <p:nvPr/>
        </p:nvSpPr>
        <p:spPr>
          <a:xfrm>
            <a:off x="60960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Sprint Tracker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9469612-9BBC-42E4-BC4C-579126B0DBAF}"/>
              </a:ext>
            </a:extLst>
          </p:cNvPr>
          <p:cNvSpPr/>
          <p:nvPr/>
        </p:nvSpPr>
        <p:spPr>
          <a:xfrm>
            <a:off x="60960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Project board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C6162D7-6C2B-E531-019F-8866A55BCAC4}"/>
              </a:ext>
            </a:extLst>
          </p:cNvPr>
          <p:cNvSpPr/>
          <p:nvPr/>
        </p:nvSpPr>
        <p:spPr>
          <a:xfrm>
            <a:off x="280416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A435BB8-7056-67C3-4B2C-77617FE4E82B}"/>
              </a:ext>
            </a:extLst>
          </p:cNvPr>
          <p:cNvSpPr/>
          <p:nvPr/>
        </p:nvSpPr>
        <p:spPr>
          <a:xfrm>
            <a:off x="347472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DAA7338-EA61-CFB8-FF75-B05793A4D9ED}"/>
              </a:ext>
            </a:extLst>
          </p:cNvPr>
          <p:cNvSpPr/>
          <p:nvPr/>
        </p:nvSpPr>
        <p:spPr>
          <a:xfrm>
            <a:off x="347472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02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00CED4D3-71B6-76E3-AC55-F3DF321EFAD2}"/>
              </a:ext>
            </a:extLst>
          </p:cNvPr>
          <p:cNvSpPr/>
          <p:nvPr/>
        </p:nvSpPr>
        <p:spPr>
          <a:xfrm>
            <a:off x="292608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Morning Brief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894CAB2-5B89-46E3-12D9-EE7588C7637A}"/>
              </a:ext>
            </a:extLst>
          </p:cNvPr>
          <p:cNvSpPr/>
          <p:nvPr/>
        </p:nvSpPr>
        <p:spPr>
          <a:xfrm>
            <a:off x="292608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Daily snapshot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DE02EC5-58B1-201F-3935-98276B1294A5}"/>
              </a:ext>
            </a:extLst>
          </p:cNvPr>
          <p:cNvSpPr/>
          <p:nvPr/>
        </p:nvSpPr>
        <p:spPr>
          <a:xfrm>
            <a:off x="512064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CDBC6F57-57FB-9460-826A-EC24731BA8F3}"/>
              </a:ext>
            </a:extLst>
          </p:cNvPr>
          <p:cNvSpPr/>
          <p:nvPr/>
        </p:nvSpPr>
        <p:spPr>
          <a:xfrm>
            <a:off x="579120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7B439F7-0A3E-9650-BACE-59559E0B1729}"/>
              </a:ext>
            </a:extLst>
          </p:cNvPr>
          <p:cNvSpPr/>
          <p:nvPr/>
        </p:nvSpPr>
        <p:spPr>
          <a:xfrm>
            <a:off x="579120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03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67202FA0-8035-0012-DC99-2F89E44D77C2}"/>
              </a:ext>
            </a:extLst>
          </p:cNvPr>
          <p:cNvSpPr/>
          <p:nvPr/>
        </p:nvSpPr>
        <p:spPr>
          <a:xfrm>
            <a:off x="524256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Market Pulse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03F66EB7-187B-1E98-C902-D905F1517CBB}"/>
              </a:ext>
            </a:extLst>
          </p:cNvPr>
          <p:cNvSpPr/>
          <p:nvPr/>
        </p:nvSpPr>
        <p:spPr>
          <a:xfrm>
            <a:off x="524256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Competitor radar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BA46081B-C464-9647-6944-179ABBB327FD}"/>
              </a:ext>
            </a:extLst>
          </p:cNvPr>
          <p:cNvSpPr/>
          <p:nvPr/>
        </p:nvSpPr>
        <p:spPr>
          <a:xfrm>
            <a:off x="743712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87551A9C-4BB7-ADC9-740E-2840B834E58F}"/>
              </a:ext>
            </a:extLst>
          </p:cNvPr>
          <p:cNvSpPr/>
          <p:nvPr/>
        </p:nvSpPr>
        <p:spPr>
          <a:xfrm>
            <a:off x="810768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7560CE19-46F4-177A-D6A3-3D0AD1EEC0F1}"/>
              </a:ext>
            </a:extLst>
          </p:cNvPr>
          <p:cNvSpPr/>
          <p:nvPr/>
        </p:nvSpPr>
        <p:spPr>
          <a:xfrm>
            <a:off x="810768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04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65FB27D9-389E-601D-8608-AA8FF534DD23}"/>
              </a:ext>
            </a:extLst>
          </p:cNvPr>
          <p:cNvSpPr/>
          <p:nvPr/>
        </p:nvSpPr>
        <p:spPr>
          <a:xfrm>
            <a:off x="755904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Research Team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C0306B3-E8C1-738C-0870-FB324AE73703}"/>
              </a:ext>
            </a:extLst>
          </p:cNvPr>
          <p:cNvSpPr/>
          <p:nvPr/>
        </p:nvSpPr>
        <p:spPr>
          <a:xfrm>
            <a:off x="755904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Multi-agent research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48823C5-2D5A-55A3-8446-F8874FB7A6C7}"/>
              </a:ext>
            </a:extLst>
          </p:cNvPr>
          <p:cNvSpPr/>
          <p:nvPr/>
        </p:nvSpPr>
        <p:spPr>
          <a:xfrm>
            <a:off x="975360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0F2176CC-8321-F093-C35D-2F27B94CA35A}"/>
              </a:ext>
            </a:extLst>
          </p:cNvPr>
          <p:cNvSpPr/>
          <p:nvPr/>
        </p:nvSpPr>
        <p:spPr>
          <a:xfrm>
            <a:off x="1042416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B58424AE-B0FC-0C60-B0C6-7F467D66A814}"/>
              </a:ext>
            </a:extLst>
          </p:cNvPr>
          <p:cNvSpPr/>
          <p:nvPr/>
        </p:nvSpPr>
        <p:spPr>
          <a:xfrm>
            <a:off x="1042416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05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4B0AA1DC-01AF-E736-705E-38645D919541}"/>
              </a:ext>
            </a:extLst>
          </p:cNvPr>
          <p:cNvSpPr/>
          <p:nvPr/>
        </p:nvSpPr>
        <p:spPr>
          <a:xfrm>
            <a:off x="987552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Personal CRM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E891A9DB-17DD-E9C5-E480-5724BC2D9B03}"/>
              </a:ext>
            </a:extLst>
          </p:cNvPr>
          <p:cNvSpPr/>
          <p:nvPr/>
        </p:nvSpPr>
        <p:spPr>
          <a:xfrm>
            <a:off x="987552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Relationship tracker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A656A0BA-9A80-CC80-E3C4-5D876A1E7DA3}"/>
              </a:ext>
            </a:extLst>
          </p:cNvPr>
          <p:cNvSpPr/>
          <p:nvPr/>
        </p:nvSpPr>
        <p:spPr>
          <a:xfrm>
            <a:off x="48768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CF576048-F4A5-3A1A-B214-89665470BB76}"/>
              </a:ext>
            </a:extLst>
          </p:cNvPr>
          <p:cNvSpPr/>
          <p:nvPr/>
        </p:nvSpPr>
        <p:spPr>
          <a:xfrm>
            <a:off x="115824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EB563D4-F1D7-7BDE-D774-4DC6376995EB}"/>
              </a:ext>
            </a:extLst>
          </p:cNvPr>
          <p:cNvSpPr/>
          <p:nvPr/>
        </p:nvSpPr>
        <p:spPr>
          <a:xfrm>
            <a:off x="115824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06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E53AC9BF-A279-9CC1-570E-A965EF3261EF}"/>
              </a:ext>
            </a:extLst>
          </p:cNvPr>
          <p:cNvSpPr/>
          <p:nvPr/>
        </p:nvSpPr>
        <p:spPr>
          <a:xfrm>
            <a:off x="60960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Meeting Intel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EC65D3EC-CF4E-48E0-2984-193D10D7124F}"/>
              </a:ext>
            </a:extLst>
          </p:cNvPr>
          <p:cNvSpPr/>
          <p:nvPr/>
        </p:nvSpPr>
        <p:spPr>
          <a:xfrm>
            <a:off x="60960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Prep &amp; extraction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E6EEBB13-4FFD-A497-ED86-C65B1D250377}"/>
              </a:ext>
            </a:extLst>
          </p:cNvPr>
          <p:cNvSpPr/>
          <p:nvPr/>
        </p:nvSpPr>
        <p:spPr>
          <a:xfrm>
            <a:off x="280416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C2C4763D-C62D-57DC-4D40-1C914D127BB4}"/>
              </a:ext>
            </a:extLst>
          </p:cNvPr>
          <p:cNvSpPr/>
          <p:nvPr/>
        </p:nvSpPr>
        <p:spPr>
          <a:xfrm>
            <a:off x="3474720" y="3761232"/>
            <a:ext cx="792480" cy="79248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F20610F9-82C7-165C-3713-930AF3B578B6}"/>
              </a:ext>
            </a:extLst>
          </p:cNvPr>
          <p:cNvSpPr/>
          <p:nvPr/>
        </p:nvSpPr>
        <p:spPr>
          <a:xfrm>
            <a:off x="3474720" y="3761232"/>
            <a:ext cx="792480" cy="792480"/>
          </a:xfrm>
          <a:prstGeom prst="rect">
            <a:avLst/>
          </a:prstGeom>
          <a:solidFill>
            <a:srgbClr val="D56E48"/>
          </a:solidFill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07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51F4EC3C-4895-875E-CA0A-56383ACEBD4C}"/>
              </a:ext>
            </a:extLst>
          </p:cNvPr>
          <p:cNvSpPr/>
          <p:nvPr/>
        </p:nvSpPr>
        <p:spPr>
          <a:xfrm>
            <a:off x="292608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Email Triage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E969E69A-4C83-6E3E-F267-EFA0707897B0}"/>
              </a:ext>
            </a:extLst>
          </p:cNvPr>
          <p:cNvSpPr/>
          <p:nvPr/>
        </p:nvSpPr>
        <p:spPr>
          <a:xfrm>
            <a:off x="292608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Inbox manager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4E879326-861C-FEBA-2D60-B4855B173D27}"/>
              </a:ext>
            </a:extLst>
          </p:cNvPr>
          <p:cNvSpPr/>
          <p:nvPr/>
        </p:nvSpPr>
        <p:spPr>
          <a:xfrm>
            <a:off x="512064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18E1529A-AF1F-0E54-9B36-6DA641C32285}"/>
              </a:ext>
            </a:extLst>
          </p:cNvPr>
          <p:cNvSpPr/>
          <p:nvPr/>
        </p:nvSpPr>
        <p:spPr>
          <a:xfrm>
            <a:off x="579120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658E69EE-CE02-EEF6-EA5C-1BF13E33AAA9}"/>
              </a:ext>
            </a:extLst>
          </p:cNvPr>
          <p:cNvSpPr/>
          <p:nvPr/>
        </p:nvSpPr>
        <p:spPr>
          <a:xfrm>
            <a:off x="579120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08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BADA7095-CC91-045C-D60F-4408CB9C9E13}"/>
              </a:ext>
            </a:extLst>
          </p:cNvPr>
          <p:cNvSpPr/>
          <p:nvPr/>
        </p:nvSpPr>
        <p:spPr>
          <a:xfrm>
            <a:off x="524256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Expense Wrangler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EA883F99-24A1-59B9-44DD-FA212CA93297}"/>
              </a:ext>
            </a:extLst>
          </p:cNvPr>
          <p:cNvSpPr/>
          <p:nvPr/>
        </p:nvSpPr>
        <p:spPr>
          <a:xfrm>
            <a:off x="524256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Receipt processing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D405B2EA-83F9-A3FF-5380-7E963B4619FD}"/>
              </a:ext>
            </a:extLst>
          </p:cNvPr>
          <p:cNvSpPr/>
          <p:nvPr/>
        </p:nvSpPr>
        <p:spPr>
          <a:xfrm>
            <a:off x="743712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" name="Shape 43">
            <a:extLst>
              <a:ext uri="{FF2B5EF4-FFF2-40B4-BE49-F238E27FC236}">
                <a16:creationId xmlns:a16="http://schemas.microsoft.com/office/drawing/2014/main" id="{B26C400D-E2A2-A03F-10DC-3695B54AF991}"/>
              </a:ext>
            </a:extLst>
          </p:cNvPr>
          <p:cNvSpPr/>
          <p:nvPr/>
        </p:nvSpPr>
        <p:spPr>
          <a:xfrm>
            <a:off x="810768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Text 44">
            <a:extLst>
              <a:ext uri="{FF2B5EF4-FFF2-40B4-BE49-F238E27FC236}">
                <a16:creationId xmlns:a16="http://schemas.microsoft.com/office/drawing/2014/main" id="{DB883776-5209-6280-C773-24AA6945CE3E}"/>
              </a:ext>
            </a:extLst>
          </p:cNvPr>
          <p:cNvSpPr/>
          <p:nvPr/>
        </p:nvSpPr>
        <p:spPr>
          <a:xfrm>
            <a:off x="810768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09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Text 45">
            <a:extLst>
              <a:ext uri="{FF2B5EF4-FFF2-40B4-BE49-F238E27FC236}">
                <a16:creationId xmlns:a16="http://schemas.microsoft.com/office/drawing/2014/main" id="{A173BABA-157B-9457-20DF-447379E6496D}"/>
              </a:ext>
            </a:extLst>
          </p:cNvPr>
          <p:cNvSpPr/>
          <p:nvPr/>
        </p:nvSpPr>
        <p:spPr>
          <a:xfrm>
            <a:off x="755904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Content Machine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Text 46">
            <a:extLst>
              <a:ext uri="{FF2B5EF4-FFF2-40B4-BE49-F238E27FC236}">
                <a16:creationId xmlns:a16="http://schemas.microsoft.com/office/drawing/2014/main" id="{A94570C7-EB89-D0B6-0A1E-F3D25CE93CE6}"/>
              </a:ext>
            </a:extLst>
          </p:cNvPr>
          <p:cNvSpPr/>
          <p:nvPr/>
        </p:nvSpPr>
        <p:spPr>
          <a:xfrm>
            <a:off x="755904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Multi-format content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Shape 47">
            <a:extLst>
              <a:ext uri="{FF2B5EF4-FFF2-40B4-BE49-F238E27FC236}">
                <a16:creationId xmlns:a16="http://schemas.microsoft.com/office/drawing/2014/main" id="{9974BEF4-7B62-3F49-90AE-E72334D1583E}"/>
              </a:ext>
            </a:extLst>
          </p:cNvPr>
          <p:cNvSpPr/>
          <p:nvPr/>
        </p:nvSpPr>
        <p:spPr>
          <a:xfrm>
            <a:off x="975360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Shape 48">
            <a:extLst>
              <a:ext uri="{FF2B5EF4-FFF2-40B4-BE49-F238E27FC236}">
                <a16:creationId xmlns:a16="http://schemas.microsoft.com/office/drawing/2014/main" id="{CC4F8346-0E31-BB53-DF95-4596558E9568}"/>
              </a:ext>
            </a:extLst>
          </p:cNvPr>
          <p:cNvSpPr/>
          <p:nvPr/>
        </p:nvSpPr>
        <p:spPr>
          <a:xfrm>
            <a:off x="1042416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151057A2-2608-C745-2285-6AD85C8FFEF1}"/>
              </a:ext>
            </a:extLst>
          </p:cNvPr>
          <p:cNvSpPr/>
          <p:nvPr/>
        </p:nvSpPr>
        <p:spPr>
          <a:xfrm>
            <a:off x="1042416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10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" name="Text 50">
            <a:extLst>
              <a:ext uri="{FF2B5EF4-FFF2-40B4-BE49-F238E27FC236}">
                <a16:creationId xmlns:a16="http://schemas.microsoft.com/office/drawing/2014/main" id="{40F5D18A-6A40-C2F1-18E0-E15A5EE7C2EA}"/>
              </a:ext>
            </a:extLst>
          </p:cNvPr>
          <p:cNvSpPr/>
          <p:nvPr/>
        </p:nvSpPr>
        <p:spPr>
          <a:xfrm>
            <a:off x="987552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Weekly Exec Report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" name="Text 51">
            <a:extLst>
              <a:ext uri="{FF2B5EF4-FFF2-40B4-BE49-F238E27FC236}">
                <a16:creationId xmlns:a16="http://schemas.microsoft.com/office/drawing/2014/main" id="{98A57646-D2F1-7945-9B7C-D134D202AB89}"/>
              </a:ext>
            </a:extLst>
          </p:cNvPr>
          <p:cNvSpPr/>
          <p:nvPr/>
        </p:nvSpPr>
        <p:spPr>
          <a:xfrm>
            <a:off x="987552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Capstone rollup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" name="Text 52">
            <a:extLst>
              <a:ext uri="{FF2B5EF4-FFF2-40B4-BE49-F238E27FC236}">
                <a16:creationId xmlns:a16="http://schemas.microsoft.com/office/drawing/2014/main" id="{B3C47644-7E44-AF65-C8E7-A20F0054D176}"/>
              </a:ext>
            </a:extLst>
          </p:cNvPr>
          <p:cNvSpPr/>
          <p:nvPr/>
        </p:nvSpPr>
        <p:spPr>
          <a:xfrm>
            <a:off x="889847" y="5894832"/>
            <a:ext cx="1138766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i="1" kern="0" dirty="0">
                <a:solidFill>
                  <a:srgbClr val="02291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  <a:sym typeface="Arial"/>
              </a:rPr>
              <a:t>Each automation reads from the vault, does its job, and writes back. The system compounds.</a:t>
            </a:r>
            <a:endParaRPr lang="en-US" sz="1867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B06F40-D096-5D9B-C3EB-1256CCB1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2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B5C9-CE8B-5B6A-BC7F-63993CFE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4CD692-9C07-6C94-42B9-CA29BFDF2C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14279-9332-8155-48EB-3262F90E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C7A0F4-33A0-8B98-2031-56D4E3448227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EXPENSE WRANGLER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300B5-2586-C166-A285-64B73770B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3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7638-7596-AC21-A588-0038DE7B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DC26E20-E86D-E693-7D53-3BDEFE879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4BDA05E-8871-41D9-B3F6-A453762B0B6D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4FA99C-A5F4-59C5-E432-AB18697DF8EB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8: Expense Wrangler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8FB7775-3E57-F477-4A76-4B75B99EDF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D773BD8-51E2-5553-375F-2D350A3F0FA7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84DD8C3-D1C3-6868-37B9-3BB60A23A874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Expense Wrangler,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406FE3-9F30-8DF4-49CE-02DECDB01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44343"/>
            <a:ext cx="6096000" cy="3511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B06DBC-29F7-3443-FF8E-50FCB376C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971" y="1502056"/>
            <a:ext cx="5719758" cy="46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645C-1AEB-694F-2CDB-4D3C7243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51AB4E-4AFC-A865-7045-53EDC1895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56C8F2F-7B4A-ECD1-E350-759FE901C3A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Sample 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A3080-F0A7-5145-DE80-D4099E08BBC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93E319-B87A-0B47-44B0-45283887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8A47E-67FB-5533-4135-E1BAE093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9" y="1024633"/>
            <a:ext cx="3918040" cy="3671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2E8E1-E94A-2079-757F-0A3AAFD9D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883" y="810054"/>
            <a:ext cx="3400662" cy="4989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44F900-FAD8-C94B-D1D9-8480E88251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74" r="22178"/>
          <a:stretch>
            <a:fillRect/>
          </a:stretch>
        </p:blipFill>
        <p:spPr>
          <a:xfrm>
            <a:off x="8225714" y="652267"/>
            <a:ext cx="3219686" cy="5318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171A68-272A-E77D-392B-F969430CF0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5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B4B4-819E-C458-B927-0AE88879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5CA0A4F-F824-EA44-09B6-7F62A9CD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474A5E7-2B85-982C-2B18-41179D77A0E0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CE1CA0-BE2F-81CA-D999-C078F46AA98D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Let’s run the Expense Wrangler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8CCDDD6-3342-7FC5-4384-358289CF7F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CB51C5D-7CB5-F375-A903-E3B103F8AE18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E054C-F4A4-E89F-3517-53A395A75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96" y="939561"/>
            <a:ext cx="8426370" cy="195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3BFB2-D584-E902-E22A-CD7C7933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00" y="2752304"/>
            <a:ext cx="6024254" cy="32683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99CB2-4408-3E9B-2CBF-06031A5C20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03" y="2752304"/>
            <a:ext cx="5377102" cy="31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9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F75E-3C18-8615-7F83-242C924E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053E3C-8F43-7238-36F2-B09912CDE3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F199A-A2C6-0B8D-9F81-D6A46B5CD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DBD983-DEDF-B30B-436C-C200E85891F6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CONTENT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E25A3-97DA-5BE5-F1AD-EE7D8430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1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0805-EC3A-E652-2AE6-CF8EA2B59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22599C-1D92-FD88-0F60-0A52D7954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ADA9A1B-E63D-FF04-211E-3A724FC113FC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07C665C-8B2F-1E3C-D376-DB5556A516D5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9: Content Machine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2D046BE-6957-B67F-E036-6CB630753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3BD5981-0BC4-4813-F7B1-2AECAE5B28C2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90A99D-7B5A-73A2-3B5A-D6011A6715D3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content machine,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61047-A4DC-08BA-6FAD-36FF09893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394" y="1837134"/>
            <a:ext cx="6716640" cy="3845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A6FD0D-96A0-615E-41E5-910F84D13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093" y="1726441"/>
            <a:ext cx="5768347" cy="44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8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096C-E435-8C0D-F0C6-F2A12543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1231F4-651E-71BD-FD20-D69FCCB57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2EEE2E7-FC13-4521-BE61-473F8898A824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F0EEAC5-5D82-4A55-194C-B7A5516B5303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Let’s run the content machine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550E09-6D38-AC56-7534-F7F36C213C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96B9F26-8123-CC81-6B8A-73BA0D2291D5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E655D-F0B1-0019-8900-1A7557AADFAB}"/>
              </a:ext>
            </a:extLst>
          </p:cNvPr>
          <p:cNvSpPr txBox="1"/>
          <p:nvPr/>
        </p:nvSpPr>
        <p:spPr>
          <a:xfrm>
            <a:off x="493370" y="1270879"/>
            <a:ext cx="11058163" cy="1200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solidFill>
                  <a:srgbClr val="666666"/>
                </a:solidFill>
                <a:latin typeface="Montserrat" pitchFamily="34" charset="0"/>
              </a:defRPr>
            </a:lvl1pPr>
          </a:lstStyle>
          <a:p>
            <a:r>
              <a:rPr lang="en-CA" dirty="0"/>
              <a:t> /content-machine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CA" dirty="0"/>
              <a:t>Turn my new Claude Code and </a:t>
            </a:r>
            <a:r>
              <a:rPr lang="en-CA" dirty="0" err="1"/>
              <a:t>Cowork</a:t>
            </a:r>
            <a:r>
              <a:rPr lang="en-CA" dirty="0"/>
              <a:t> Cohort on Maven into a content machine → generate 5 high-converting posts, 5 email ideas, and 3 lead magnets with strong hooks and CTAs.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/content-plan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CA" dirty="0"/>
              <a:t>I want to launch a new Claude Code and </a:t>
            </a:r>
            <a:r>
              <a:rPr lang="en-CA" dirty="0" err="1"/>
              <a:t>Cowork</a:t>
            </a:r>
            <a:r>
              <a:rPr lang="en-CA" dirty="0"/>
              <a:t> Cohort on Maven. Create a content plan for it.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6D0438-0FAA-F9B7-3992-57729CD34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292" y="2699221"/>
            <a:ext cx="8119641" cy="350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6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A5C3-A2FC-F9CD-AEF5-684FF48A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908F62-9606-C75B-D8DB-CFF288A136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B4A7D-7A80-D14C-C0AA-E5D36F8D1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48D5B6-77C2-DADD-B27D-683B48FA41BA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WEEKLY EXECUTIVE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30779-02F1-5F80-BEA6-F3FDE461F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55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4836-7CF9-D14F-2CB4-AAC1B542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FE22B39-C153-A2F2-F535-D23C0C595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B7C4237-77FF-1531-F680-3B3D7D2B5B7D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5492B2C-D819-9E02-F075-162DE76B027C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10: Weekly Executive Report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33F38C5-3369-2169-F8CB-0290E2D322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7EF2AD8-5BBC-B1C4-4BAF-EC75FE7ED0C5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07CDBC-A899-CAF3-69D9-66416130B71F}"/>
              </a:ext>
            </a:extLst>
          </p:cNvPr>
          <p:cNvSpPr/>
          <p:nvPr/>
        </p:nvSpPr>
        <p:spPr>
          <a:xfrm>
            <a:off x="193470" y="671700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weekly executive report,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57A7C6-9C01-B671-77D8-C78A32333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53" y="1619945"/>
            <a:ext cx="5242499" cy="41999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34FC47-E7DC-1E89-CBEE-9F1FEA0C9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83" y="1870107"/>
            <a:ext cx="5806517" cy="348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27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4076-FD37-1BEC-C910-3310B021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759093-9F47-81DA-7FFA-10C04720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A816A80-5C4B-9F10-8E93-68FFBBFF47E6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F943B9F-B848-42CC-1021-730B926A635D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After Running the Weekly Executive Report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6EFB3D6-697E-D163-144A-413FE9CA2F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51E7C19-3519-CD47-99BB-5623674C265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17820A8-D255-9E9E-51BB-15A50E52139D}"/>
              </a:ext>
            </a:extLst>
          </p:cNvPr>
          <p:cNvSpPr/>
          <p:nvPr/>
        </p:nvSpPr>
        <p:spPr>
          <a:xfrm>
            <a:off x="193470" y="671700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weekly executive report,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FC9B5D-6D12-2F40-7DF3-5732014A3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70" y="1394727"/>
            <a:ext cx="4262005" cy="2603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EFD85-4C29-18B9-6928-5DACF3764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067" y="1160335"/>
            <a:ext cx="3434808" cy="1903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715B79-FEE8-BCE9-CA1C-996A5CFA9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067" y="3508901"/>
            <a:ext cx="3423776" cy="19659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F5D3CB-E316-1E01-EEF6-9325D4B79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5549" y="1129871"/>
            <a:ext cx="3888227" cy="47580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C98B1E-9FE4-0977-4F99-C6A817CBFE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132" y="3998648"/>
            <a:ext cx="4077586" cy="26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0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If something breaks</a:t>
            </a: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56E48"/>
                </a:solidFill>
                <a:latin typeface="Montserrat"/>
              </a:defRPr>
            </a:pPr>
            <a:r>
              <a:t>COMMON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752"/>
                </a:solidFill>
                <a:latin typeface="Montserrat"/>
              </a:defRPr>
            </a:pPr>
            <a:r>
              <a:t>Most issues are MCP-related. These cover 90%.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74519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020823"/>
            <a:ext cx="3200400" cy="5486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t>MCP tool not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19"/>
            <a:ext cx="74066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t>Type ToolSearch in chat. Loads deferred MCP tools. Or restart Claude Code if persistent.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761487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907791"/>
            <a:ext cx="3200400" cy="5486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t>Notion DB write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90087"/>
            <a:ext cx="74066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t>Check vault/projects/error-log.md — known fixes are logged. Date format is date:Field:start, not flat string.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48455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3794759"/>
            <a:ext cx="3200400" cy="5486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t>Gmail draft stuck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877055"/>
            <a:ext cx="74066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t>Use gmail_create_draft MCP, never Chrome. The Chrome MCP cannot send via Gmail.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535423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681727"/>
            <a:ext cx="3200400" cy="5486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t>soul.md sounds generic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64023"/>
            <a:ext cx="74066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t>Add more writing samples to inbox/, run /ingest. soul.md updates as you feed more voice.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422391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568695"/>
            <a:ext cx="3200400" cy="5486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127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C1752"/>
                </a:solidFill>
                <a:latin typeface="Montserrat"/>
              </a:defRPr>
            </a:pPr>
            <a:r>
              <a:t>Vault feels stale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50991"/>
            <a:ext cx="74066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ontserrat"/>
              </a:defRPr>
            </a:pPr>
            <a:r>
              <a:t>Run /lint. Reports orphans, broken links, stale pages, missing cross-references. /lint --fix applies safe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552</Words>
  <Application>Microsoft Office PowerPoint</Application>
  <PresentationFormat>Widescreen</PresentationFormat>
  <Paragraphs>82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844</cp:revision>
  <dcterms:created xsi:type="dcterms:W3CDTF">2019-11-18T17:58:36Z</dcterms:created>
  <dcterms:modified xsi:type="dcterms:W3CDTF">2026-05-07T05:23:31Z</dcterms:modified>
</cp:coreProperties>
</file>