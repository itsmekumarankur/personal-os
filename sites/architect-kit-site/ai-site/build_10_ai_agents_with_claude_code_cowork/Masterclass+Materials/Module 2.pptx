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4388" r:id="rId2"/>
    <p:sldId id="569" r:id="rId3"/>
    <p:sldId id="4341" r:id="rId4"/>
    <p:sldId id="4390" r:id="rId5"/>
    <p:sldId id="4345" r:id="rId6"/>
    <p:sldId id="4333" r:id="rId7"/>
    <p:sldId id="4334" r:id="rId8"/>
    <p:sldId id="4339" r:id="rId9"/>
    <p:sldId id="4322" r:id="rId10"/>
    <p:sldId id="4315" r:id="rId11"/>
    <p:sldId id="4327" r:id="rId12"/>
    <p:sldId id="4326" r:id="rId13"/>
    <p:sldId id="4337" r:id="rId14"/>
    <p:sldId id="4338" r:id="rId15"/>
    <p:sldId id="4335" r:id="rId16"/>
    <p:sldId id="4340" r:id="rId17"/>
    <p:sldId id="4310" r:id="rId18"/>
    <p:sldId id="4321" r:id="rId19"/>
    <p:sldId id="4313" r:id="rId20"/>
    <p:sldId id="4319" r:id="rId21"/>
    <p:sldId id="4314" r:id="rId22"/>
    <p:sldId id="4318" r:id="rId23"/>
    <p:sldId id="4346" r:id="rId24"/>
    <p:sldId id="4320" r:id="rId25"/>
    <p:sldId id="4241" r:id="rId26"/>
    <p:sldId id="4323" r:id="rId27"/>
    <p:sldId id="4389" r:id="rId28"/>
    <p:sldId id="4290" r:id="rId29"/>
    <p:sldId id="259" r:id="rId30"/>
    <p:sldId id="277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D56E48"/>
    <a:srgbClr val="1BBFD1"/>
    <a:srgbClr val="F9F9F9"/>
    <a:srgbClr val="11CCDD"/>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39" autoAdjust="0"/>
    <p:restoredTop sz="94721"/>
  </p:normalViewPr>
  <p:slideViewPr>
    <p:cSldViewPr snapToGrid="0" snapToObjects="1">
      <p:cViewPr varScale="1">
        <p:scale>
          <a:sx n="109" d="100"/>
          <a:sy n="109" d="100"/>
        </p:scale>
        <p:origin x="126"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CF45-5F11-0082-F61F-C11EF3B61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1C4C0-A391-D279-D6D3-B054A148258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0195D14-85BD-80D5-897A-2992F497A38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41E54C9-24B1-FD56-942E-12401ABC403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CA" sz="1200" b="0" i="0" u="none" strike="noStrike" kern="1200" cap="none" spc="0" normalizeH="0" baseline="0" noProof="0" smtClean="0">
                <a:ln>
                  <a:noFill/>
                </a:ln>
                <a:solidFill>
                  <a:prstClr val="black"/>
                </a:solidFill>
                <a:effectLst/>
                <a:uLnTx/>
                <a:uFillTx/>
                <a:latin typeface="Calibri"/>
                <a:ea typeface="Calibri"/>
                <a:cs typeface="Calibri"/>
                <a:sym typeface="Calibri"/>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250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D4211-8EF6-2D3D-0C8F-9F0221503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08622-77AB-3469-C9E8-C8AD7B89DC6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6FA53A8-91B5-9FAB-1F51-404ECA2FD15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1FEFFB8-54B3-D1DB-9E57-1174AC90A68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7</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1164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616ED-C828-636E-A57C-746C32AA3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78ADF-CC27-105E-5658-3F99519EB85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2CF71F8-631C-8B3A-2AA0-CB37F0A43863}"/>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93C509A-747A-1F74-8152-0B5D20090A5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8</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63439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59B24-05F7-F883-D1D6-14A2BD441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7EA96-E359-4B46-B1E8-99645418195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F24C00A-1713-DA21-14F3-8BF4ED9D1C1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A7BC7F2-FD3B-EC4F-A89B-23C85254C72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10</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69878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D2DA-554C-58DE-9F94-4FA1B19A2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6D157-C2FF-F16D-DEF8-0C48D6A9DFC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D81F55F-F6CE-E37C-28D0-19222D72C0C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D0A0C6A-A123-B514-B899-D30A74BAC2A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11</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2403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69C3-AB9F-F2A8-7325-154F897A3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AA438-0666-F6E1-2AF0-ED5893EEAF3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E525C57-7866-6733-BE3C-708B9B62E41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A7A37A9-F9A9-CAF7-D024-A416A79DBCA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12</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93403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804C-4FD0-E74A-BAF9-94F5CF888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3ECA3-CDE0-37C7-7632-9D45D3E20B0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CFF9A6D-6BD5-210E-5D94-81B5D8DF9F6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4B44D83-F651-7ADB-51EC-8B35DFB2710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14</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2439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60CE-43BC-FF50-5764-D47394B86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BA283-F8D3-D8B8-77CD-F234D3265E2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9CA9E4D-E851-C436-F72C-38C8E72BD12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6C19127-C721-6266-81BA-4E7FF224178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15</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3762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6E01-D16C-7A27-C032-1369AAE8D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5A4A8-F268-41DD-7317-70295B7CA1A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50C4BED-FA81-55E7-B3C4-20546D40940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3DC9D8F-BA49-36A1-10EF-DEB5251A80B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19</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4318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9C334-5B29-3605-E54D-C34B84F8F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B2E89-D568-57FA-2BC5-0382125F9BF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2562E12-E2E7-0A86-CD88-56FBA218AD0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9B3443D-71C3-BCD7-6213-7936DC83047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20</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7073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69B4-CDC3-17B3-32F2-66A9F8C7C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C5CAC-4EBB-2765-D32E-C90A8ED87EC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75C6EC1-ED7F-CD07-CD87-A223CF5818D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90546FB-F322-B930-43FF-723202CE588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21</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5865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ED548-B5D0-961C-6F89-91CBAB2D1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E7C4A-250B-F7FB-829F-9C91AF5233D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1895744-1799-0BF3-572C-C4B674D161B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F20688A-56DE-1FE5-368D-DE8161D59CA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22</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2166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D9F5F-5804-6A16-D858-852903DF2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AF778-7C56-5979-A482-8B00C5BE77B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2E2D4C0-5383-F755-A2AA-062ED9FA75B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E213A6E-EF92-3659-6D3F-4DF86B7E87E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23</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1592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25</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9900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FD7CD-6ADA-AB62-70AB-50FF48ADF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E7B2A-B258-5977-2869-56AEF48DE5C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F60AA3F-1874-5EE7-C377-10BB75D4CC5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B352DE9-B908-979B-7573-2B85A69B651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26</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02336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6AEE1EF-10EF-1031-2962-1D5997B5B865}"/>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36820379-55A3-1AC6-7060-B86CEDABB8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64D450F6-4A69-B2CF-A62F-DAB69098B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1411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5/7/2026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5/7/2026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5/7/2026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5/7/2026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5/7/2026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5/7/2026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5/7/2026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5/7/2026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5/7/2026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5/7/2026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5/7/2026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5/7/2026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github.com/anthropics/skills/tree/main/skills"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3.png"/><Relationship Id="rId12"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anthropic.com/news/model-context-protocol" TargetMode="External"/><Relationship Id="rId5" Type="http://schemas.openxmlformats.org/officeDocument/2006/relationships/image" Target="../media/image20.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5" y="489004"/>
            <a:ext cx="4743450"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CODE</a:t>
            </a: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1595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55F7-D3CE-503A-06B0-415EBF4A47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BE74D-72DE-1ECA-0B68-A8F5C0DF635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68C15DF-79C1-8260-335D-38302FEC0BC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172E0F-F674-1396-8D50-B98BB01F267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 Code</a:t>
            </a:r>
          </a:p>
        </p:txBody>
      </p:sp>
      <p:sp>
        <p:nvSpPr>
          <p:cNvPr id="9" name="TextBox 8">
            <a:extLst>
              <a:ext uri="{FF2B5EF4-FFF2-40B4-BE49-F238E27FC236}">
                <a16:creationId xmlns:a16="http://schemas.microsoft.com/office/drawing/2014/main" id="{F4A68AC4-8901-A54A-0C5D-14603BCF598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3" name="TextBox 32">
            <a:extLst>
              <a:ext uri="{FF2B5EF4-FFF2-40B4-BE49-F238E27FC236}">
                <a16:creationId xmlns:a16="http://schemas.microsoft.com/office/drawing/2014/main" id="{D86BCDC4-1681-62E4-2C41-AA0478515F57}"/>
              </a:ext>
            </a:extLst>
          </p:cNvPr>
          <p:cNvSpPr txBox="1"/>
          <p:nvPr/>
        </p:nvSpPr>
        <p:spPr>
          <a:xfrm>
            <a:off x="154722" y="937404"/>
            <a:ext cx="11431905" cy="1477328"/>
          </a:xfrm>
          <a:prstGeom prst="rect">
            <a:avLst/>
          </a:prstGeom>
          <a:noFill/>
        </p:spPr>
        <p:txBody>
          <a:bodyPr wrap="square">
            <a:spAutoFit/>
          </a:bodyPr>
          <a:lstStyle/>
          <a:p>
            <a:pPr marL="285750" indent="-285750" algn="l">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Claude </a:t>
            </a:r>
            <a:r>
              <a:rPr lang="en-US" dirty="0">
                <a:latin typeface="Montserrat" panose="00000500000000000000" pitchFamily="2" charset="0"/>
                <a:ea typeface="Calibri" pitchFamily="34" charset="-122"/>
                <a:cs typeface="Calibri" pitchFamily="34" charset="-120"/>
              </a:rPr>
              <a:t>c</a:t>
            </a:r>
            <a:r>
              <a:rPr lang="en-US" sz="1800" dirty="0">
                <a:latin typeface="Montserrat" panose="00000500000000000000" pitchFamily="2" charset="0"/>
                <a:ea typeface="Calibri" pitchFamily="34" charset="-122"/>
                <a:cs typeface="Calibri" pitchFamily="34" charset="-120"/>
              </a:rPr>
              <a:t>ode is an agentic AI coding tool that reads your codebase, edits files, runs commands, and autonomously works through problems.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Instead of responding to prompts one at a time, Claude can take on complex, multi-step tasks and execute them on your behalf.</a:t>
            </a:r>
            <a:endParaRPr lang="en-US" dirty="0">
              <a:latin typeface="Montserrat" panose="00000500000000000000" pitchFamily="2" charset="0"/>
            </a:endParaRPr>
          </a:p>
          <a:p>
            <a:pPr marL="285750" indent="-285750" algn="l">
              <a:buFont typeface="Arial" panose="020B0604020202020204" pitchFamily="34" charset="0"/>
              <a:buChar char="•"/>
            </a:pPr>
            <a:endParaRPr lang="en-US" sz="1800" dirty="0">
              <a:latin typeface="Montserrat" panose="00000500000000000000" pitchFamily="2" charset="0"/>
              <a:ea typeface="Calibri" pitchFamily="34" charset="-122"/>
              <a:cs typeface="Calibri" pitchFamily="34" charset="-120"/>
            </a:endParaRPr>
          </a:p>
        </p:txBody>
      </p:sp>
      <p:pic>
        <p:nvPicPr>
          <p:cNvPr id="1026" name="Picture 2" descr="Claude Code - Complete Beginner's Guide | Hieu Nguyen">
            <a:extLst>
              <a:ext uri="{FF2B5EF4-FFF2-40B4-BE49-F238E27FC236}">
                <a16:creationId xmlns:a16="http://schemas.microsoft.com/office/drawing/2014/main" id="{65B9B7B6-E77F-2389-98BD-D0C0860AB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535" y="2480921"/>
            <a:ext cx="6007355" cy="3113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50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9E23-2BAB-73A6-BF7A-29AE3F48B5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C07622-66D1-F07B-59A8-4CD4022B45F1}"/>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D10EEB3D-C926-4597-B1EB-79C7177C29F2}"/>
              </a:ext>
            </a:extLst>
          </p:cNvPr>
          <p:cNvSpPr/>
          <p:nvPr/>
        </p:nvSpPr>
        <p:spPr>
          <a:xfrm>
            <a:off x="293915" y="205965"/>
            <a:ext cx="5336864" cy="646331"/>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SLASH COMMANDS</a:t>
            </a:r>
          </a:p>
        </p:txBody>
      </p:sp>
      <p:pic>
        <p:nvPicPr>
          <p:cNvPr id="6" name="Picture 5">
            <a:extLst>
              <a:ext uri="{FF2B5EF4-FFF2-40B4-BE49-F238E27FC236}">
                <a16:creationId xmlns:a16="http://schemas.microsoft.com/office/drawing/2014/main" id="{A846689C-C050-81DC-4F24-8C9EB117F303}"/>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644377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rPr>
              <a:t>Use Claude </a:t>
            </a:r>
            <a:r>
              <a:rPr sz="2400" dirty="0">
                <a:solidFill>
                  <a:schemeClr val="bg1"/>
                </a:solidFill>
                <a:latin typeface="Montserrat" charset="0"/>
              </a:rPr>
              <a:t>Built-in Slash Commands</a:t>
            </a:r>
          </a:p>
        </p:txBody>
      </p:sp>
      <p:pic>
        <p:nvPicPr>
          <p:cNvPr id="4" name="Picture 3" descr="Picture_5.png"/>
          <p:cNvPicPr>
            <a:picLocks noChangeAspect="1"/>
          </p:cNvPicPr>
          <p:nvPr/>
        </p:nvPicPr>
        <p:blipFill>
          <a:blip r:embed="rId3"/>
          <a:stretch>
            <a:fillRect/>
          </a:stretch>
        </p:blipFill>
        <p:spPr>
          <a:xfrm>
            <a:off x="9428854" y="90489"/>
            <a:ext cx="2763146" cy="477788"/>
          </a:xfrm>
          <a:prstGeom prst="rect">
            <a:avLst/>
          </a:prstGeom>
        </p:spPr>
      </p:pic>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64816" y="812899"/>
            <a:ext cx="11624604" cy="1815882"/>
          </a:xfrm>
          <a:prstGeom prst="rect">
            <a:avLst/>
          </a:prstGeom>
          <a:noFill/>
        </p:spPr>
        <p:txBody>
          <a:bodyPr wrap="square">
            <a:spAutoFit/>
          </a:bodyPr>
          <a:lstStyle>
            <a:defPPr>
              <a:defRPr lang="en-US"/>
            </a:defPPr>
            <a:lvl1pPr marL="285750" marR="0" lvl="0" indent="-285750" eaLnBrk="0" fontAlgn="base" hangingPunct="0">
              <a:lnSpc>
                <a:spcPct val="100000"/>
              </a:lnSpc>
              <a:spcBef>
                <a:spcPct val="0"/>
              </a:spcBef>
              <a:spcAft>
                <a:spcPct val="0"/>
              </a:spcAft>
              <a:buClrTx/>
              <a:buSzTx/>
              <a:buFont typeface="Arial" panose="020B0604020202020204" pitchFamily="34" charset="0"/>
              <a:buChar char="•"/>
              <a:tabLst/>
              <a:defRPr kumimoji="0" i="0" u="none" strike="noStrike" cap="none" normalizeH="0" baseline="0">
                <a:ln>
                  <a:noFill/>
                </a:ln>
                <a:effectLst/>
                <a:latin typeface="Montserrat" panose="00000500000000000000" pitchFamily="2" charset="0"/>
              </a:defRPr>
            </a:lvl1pPr>
          </a:lstStyle>
          <a:p>
            <a:r>
              <a:rPr lang="en-US" altLang="en-US" sz="1600" dirty="0"/>
              <a:t>A slash command is a shortcut that starts with </a:t>
            </a:r>
            <a:r>
              <a:rPr lang="en-US" altLang="en-US" sz="1600" b="1" dirty="0"/>
              <a:t>/</a:t>
            </a:r>
            <a:r>
              <a:rPr lang="en-US" altLang="en-US" sz="1600" dirty="0"/>
              <a:t> to quickly trigger an action in Claude Code. </a:t>
            </a:r>
          </a:p>
          <a:p>
            <a:r>
              <a:rPr lang="en-US" altLang="en-US" sz="1600" dirty="0"/>
              <a:t>It helps you work faster by giving structured instructions to Claude. Instead of typing a long request, the slash command immediately tells the AI what kind of operation you want.</a:t>
            </a:r>
            <a:endParaRPr lang="en-CA" sz="1600" dirty="0"/>
          </a:p>
          <a:p>
            <a:r>
              <a:rPr sz="1600" dirty="0"/>
              <a:t>Type / in Claude Code to see all available commands</a:t>
            </a:r>
            <a:r>
              <a:rPr lang="en-CA" sz="1600" dirty="0"/>
              <a:t>. </a:t>
            </a:r>
            <a:r>
              <a:rPr lang="en-US" sz="1600" dirty="0"/>
              <a:t>These are built-in slash commands. The real power is creating your own commands.</a:t>
            </a:r>
          </a:p>
          <a:p>
            <a:endParaRPr lang="en-CA" sz="1600" dirty="0"/>
          </a:p>
          <a:p>
            <a:endParaRPr sz="1600" dirty="0"/>
          </a:p>
        </p:txBody>
      </p:sp>
      <p:sp>
        <p:nvSpPr>
          <p:cNvPr id="7" name="Rounded Rectangle 6"/>
          <p:cNvSpPr/>
          <p:nvPr/>
        </p:nvSpPr>
        <p:spPr>
          <a:xfrm>
            <a:off x="627395" y="2157139"/>
            <a:ext cx="5394960" cy="777240"/>
          </a:xfrm>
          <a:prstGeom prst="roundRect">
            <a:avLst>
              <a:gd name="adj" fmla="val 5000"/>
            </a:avLst>
          </a:prstGeom>
          <a:solidFill>
            <a:srgbClr val="FFFFFF"/>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6CCAD8"/>
                </a:solidFill>
                <a:latin typeface="Montserrat"/>
              </a:rPr>
              <a:t>/help  </a:t>
            </a:r>
            <a:r>
              <a:rPr sz="1400" dirty="0">
                <a:solidFill>
                  <a:srgbClr val="333333"/>
                </a:solidFill>
                <a:latin typeface="Montserrat"/>
              </a:rPr>
              <a:t>See all available commands and skills</a:t>
            </a:r>
          </a:p>
        </p:txBody>
      </p:sp>
      <p:sp>
        <p:nvSpPr>
          <p:cNvPr id="8" name="Rounded Rectangle 7"/>
          <p:cNvSpPr/>
          <p:nvPr/>
        </p:nvSpPr>
        <p:spPr>
          <a:xfrm>
            <a:off x="6296675" y="2157139"/>
            <a:ext cx="5394960" cy="777240"/>
          </a:xfrm>
          <a:prstGeom prst="roundRect">
            <a:avLst>
              <a:gd name="adj" fmla="val 5000"/>
            </a:avLst>
          </a:prstGeom>
          <a:solidFill>
            <a:srgbClr val="FFFFFF"/>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D56E48"/>
                </a:solidFill>
                <a:latin typeface="Montserrat"/>
              </a:rPr>
              <a:t>/</a:t>
            </a:r>
            <a:r>
              <a:rPr lang="en-CA" b="1" dirty="0">
                <a:solidFill>
                  <a:srgbClr val="D56E48"/>
                </a:solidFill>
                <a:latin typeface="Montserrat"/>
              </a:rPr>
              <a:t>usage</a:t>
            </a:r>
            <a:r>
              <a:rPr b="1" dirty="0">
                <a:solidFill>
                  <a:srgbClr val="D56E48"/>
                </a:solidFill>
                <a:latin typeface="Montserrat"/>
              </a:rPr>
              <a:t>  </a:t>
            </a:r>
            <a:r>
              <a:rPr sz="1400" dirty="0">
                <a:solidFill>
                  <a:srgbClr val="333333"/>
                </a:solidFill>
                <a:latin typeface="Montserrat"/>
              </a:rPr>
              <a:t>Check your token usage and spending</a:t>
            </a:r>
          </a:p>
        </p:txBody>
      </p:sp>
      <p:sp>
        <p:nvSpPr>
          <p:cNvPr id="9" name="Rounded Rectangle 8"/>
          <p:cNvSpPr/>
          <p:nvPr/>
        </p:nvSpPr>
        <p:spPr>
          <a:xfrm>
            <a:off x="627395" y="3071539"/>
            <a:ext cx="5394960" cy="777240"/>
          </a:xfrm>
          <a:prstGeom prst="roundRect">
            <a:avLst>
              <a:gd name="adj" fmla="val 5000"/>
            </a:avLst>
          </a:prstGeom>
          <a:solidFill>
            <a:srgbClr val="FFFFFF"/>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a:solidFill>
                  <a:srgbClr val="0C1752"/>
                </a:solidFill>
                <a:latin typeface="Montserrat"/>
              </a:rPr>
              <a:t>/model  </a:t>
            </a:r>
            <a:r>
              <a:rPr sz="1400">
                <a:solidFill>
                  <a:srgbClr val="333333"/>
                </a:solidFill>
                <a:latin typeface="Montserrat"/>
              </a:rPr>
              <a:t>Switch between AI models (faster vs smarter)</a:t>
            </a:r>
          </a:p>
        </p:txBody>
      </p:sp>
      <p:sp>
        <p:nvSpPr>
          <p:cNvPr id="10" name="Rounded Rectangle 9"/>
          <p:cNvSpPr/>
          <p:nvPr/>
        </p:nvSpPr>
        <p:spPr>
          <a:xfrm>
            <a:off x="6296675" y="3071539"/>
            <a:ext cx="5394960" cy="777240"/>
          </a:xfrm>
          <a:prstGeom prst="roundRect">
            <a:avLst>
              <a:gd name="adj" fmla="val 5000"/>
            </a:avLst>
          </a:prstGeom>
          <a:solidFill>
            <a:srgbClr val="FFFFFF"/>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6CCAD8"/>
                </a:solidFill>
                <a:latin typeface="Montserrat"/>
              </a:rPr>
              <a:t>/compact  </a:t>
            </a:r>
            <a:r>
              <a:rPr sz="1400" dirty="0">
                <a:solidFill>
                  <a:srgbClr val="333333"/>
                </a:solidFill>
                <a:latin typeface="Montserrat"/>
              </a:rPr>
              <a:t>Summarize conversation to free up context</a:t>
            </a:r>
          </a:p>
        </p:txBody>
      </p:sp>
      <p:sp>
        <p:nvSpPr>
          <p:cNvPr id="11" name="Rounded Rectangle 10"/>
          <p:cNvSpPr/>
          <p:nvPr/>
        </p:nvSpPr>
        <p:spPr>
          <a:xfrm>
            <a:off x="627395" y="3985939"/>
            <a:ext cx="5394960" cy="777240"/>
          </a:xfrm>
          <a:prstGeom prst="roundRect">
            <a:avLst>
              <a:gd name="adj" fmla="val 5000"/>
            </a:avLst>
          </a:prstGeom>
          <a:solidFill>
            <a:srgbClr val="FFFFFF"/>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D56E48"/>
                </a:solidFill>
                <a:latin typeface="Montserrat"/>
              </a:rPr>
              <a:t>/diff  </a:t>
            </a:r>
            <a:r>
              <a:rPr sz="1400" dirty="0">
                <a:solidFill>
                  <a:srgbClr val="333333"/>
                </a:solidFill>
                <a:latin typeface="Montserrat"/>
              </a:rPr>
              <a:t>Review all file changes Claude just made</a:t>
            </a:r>
          </a:p>
        </p:txBody>
      </p:sp>
      <p:sp>
        <p:nvSpPr>
          <p:cNvPr id="12" name="Rounded Rectangle 11"/>
          <p:cNvSpPr/>
          <p:nvPr/>
        </p:nvSpPr>
        <p:spPr>
          <a:xfrm>
            <a:off x="6296675" y="3985939"/>
            <a:ext cx="5394960" cy="777240"/>
          </a:xfrm>
          <a:prstGeom prst="roundRect">
            <a:avLst>
              <a:gd name="adj" fmla="val 5000"/>
            </a:avLst>
          </a:prstGeom>
          <a:solidFill>
            <a:srgbClr val="FFFFFF"/>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a:solidFill>
                  <a:srgbClr val="0C1752"/>
                </a:solidFill>
                <a:latin typeface="Montserrat"/>
              </a:rPr>
              <a:t>/status  </a:t>
            </a:r>
            <a:r>
              <a:rPr sz="1400">
                <a:solidFill>
                  <a:srgbClr val="333333"/>
                </a:solidFill>
                <a:latin typeface="Montserrat"/>
              </a:rPr>
              <a:t>Check your account, model, and connection</a:t>
            </a:r>
          </a:p>
        </p:txBody>
      </p:sp>
      <p:sp>
        <p:nvSpPr>
          <p:cNvPr id="13" name="Rounded Rectangle 12"/>
          <p:cNvSpPr/>
          <p:nvPr/>
        </p:nvSpPr>
        <p:spPr>
          <a:xfrm>
            <a:off x="627395" y="4900339"/>
            <a:ext cx="5394960" cy="777240"/>
          </a:xfrm>
          <a:prstGeom prst="roundRect">
            <a:avLst>
              <a:gd name="adj" fmla="val 5000"/>
            </a:avLst>
          </a:prstGeom>
          <a:solidFill>
            <a:srgbClr val="FFFFFF"/>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6CCAD8"/>
                </a:solidFill>
                <a:latin typeface="Montserrat"/>
              </a:rPr>
              <a:t>/skills  </a:t>
            </a:r>
            <a:r>
              <a:rPr sz="1400" dirty="0">
                <a:solidFill>
                  <a:srgbClr val="333333"/>
                </a:solidFill>
                <a:latin typeface="Montserrat"/>
              </a:rPr>
              <a:t>List all installed skills</a:t>
            </a:r>
          </a:p>
        </p:txBody>
      </p:sp>
      <p:sp>
        <p:nvSpPr>
          <p:cNvPr id="14" name="Rounded Rectangle 13"/>
          <p:cNvSpPr/>
          <p:nvPr/>
        </p:nvSpPr>
        <p:spPr>
          <a:xfrm>
            <a:off x="6296675" y="4900339"/>
            <a:ext cx="5394960" cy="777240"/>
          </a:xfrm>
          <a:prstGeom prst="roundRect">
            <a:avLst>
              <a:gd name="adj" fmla="val 5000"/>
            </a:avLst>
          </a:prstGeom>
          <a:solidFill>
            <a:srgbClr val="FFFFFF"/>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a:solidFill>
                  <a:srgbClr val="D56E48"/>
                </a:solidFill>
                <a:latin typeface="Montserrat"/>
              </a:rPr>
              <a:t>/init  </a:t>
            </a:r>
            <a:r>
              <a:rPr sz="1400">
                <a:solidFill>
                  <a:srgbClr val="333333"/>
                </a:solidFill>
                <a:latin typeface="Montserrat"/>
              </a:rPr>
              <a:t>Create a CLAUDE.md project guide</a:t>
            </a:r>
          </a:p>
        </p:txBody>
      </p:sp>
      <p:sp>
        <p:nvSpPr>
          <p:cNvPr id="16" name="Rounded Rectangle 12">
            <a:extLst>
              <a:ext uri="{FF2B5EF4-FFF2-40B4-BE49-F238E27FC236}">
                <a16:creationId xmlns:a16="http://schemas.microsoft.com/office/drawing/2014/main" id="{3B9BF7D3-1F98-E518-8BD2-FC1DCDA885B9}"/>
              </a:ext>
            </a:extLst>
          </p:cNvPr>
          <p:cNvSpPr/>
          <p:nvPr/>
        </p:nvSpPr>
        <p:spPr>
          <a:xfrm>
            <a:off x="3408695" y="5782505"/>
            <a:ext cx="5394960" cy="777240"/>
          </a:xfrm>
          <a:prstGeom prst="roundRect">
            <a:avLst>
              <a:gd name="adj" fmla="val 5000"/>
            </a:avLst>
          </a:prstGeom>
          <a:solidFill>
            <a:srgbClr val="FFFFFF"/>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b="1" dirty="0">
                <a:solidFill>
                  <a:srgbClr val="6CCAD8"/>
                </a:solidFill>
                <a:latin typeface="Montserrat"/>
              </a:rPr>
              <a:t>/</a:t>
            </a:r>
            <a:r>
              <a:rPr lang="en-CA" b="1" dirty="0">
                <a:solidFill>
                  <a:srgbClr val="6CCAD8"/>
                </a:solidFill>
                <a:latin typeface="Montserrat"/>
              </a:rPr>
              <a:t>context</a:t>
            </a:r>
            <a:r>
              <a:rPr b="1" dirty="0">
                <a:solidFill>
                  <a:srgbClr val="6CCAD8"/>
                </a:solidFill>
                <a:latin typeface="Montserrat"/>
              </a:rPr>
              <a:t>  </a:t>
            </a:r>
            <a:r>
              <a:rPr lang="en-CA" sz="1400" dirty="0">
                <a:solidFill>
                  <a:srgbClr val="333333"/>
                </a:solidFill>
                <a:latin typeface="Montserrat"/>
              </a:rPr>
              <a:t>shows Claude context window utilization</a:t>
            </a:r>
            <a:endParaRPr sz="1400" dirty="0">
              <a:solidFill>
                <a:srgbClr val="333333"/>
              </a:solidFill>
              <a:latin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65DF1-4BB0-8945-AEBF-3BB03A50EFC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B242D1-28F7-A77E-671C-769552DC8F98}"/>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E03702AA-22FD-219E-C0A1-37DED7104C1C}"/>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38036B8-33E4-2C02-B8C2-7512E0EDBDC9}"/>
              </a:ext>
            </a:extLst>
          </p:cNvPr>
          <p:cNvSpPr/>
          <p:nvPr/>
        </p:nvSpPr>
        <p:spPr>
          <a:xfrm>
            <a:off x="154722" y="90489"/>
            <a:ext cx="9827492"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Montserrat" charset="0"/>
                <a:ea typeface="Montserrat" charset="0"/>
                <a:cs typeface="Montserrat" charset="0"/>
              </a:rPr>
              <a:t>Slash Commands Demo in Claude Code</a:t>
            </a:r>
          </a:p>
        </p:txBody>
      </p:sp>
      <p:sp>
        <p:nvSpPr>
          <p:cNvPr id="3" name="Rectangle 1">
            <a:extLst>
              <a:ext uri="{FF2B5EF4-FFF2-40B4-BE49-F238E27FC236}">
                <a16:creationId xmlns:a16="http://schemas.microsoft.com/office/drawing/2014/main" id="{6022137A-2802-5C9E-B589-DD0F5B674F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A2D9224-3EDC-2B03-AAEA-A74C178F860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bg1">
                    <a:lumMod val="65000"/>
                  </a:schemeClr>
                </a:solidFill>
              </a:rPr>
              <a:t>© All rights reserved for Dr. Ryan Ahmed @Stemplicity Inc. </a:t>
            </a:r>
          </a:p>
        </p:txBody>
      </p:sp>
      <p:pic>
        <p:nvPicPr>
          <p:cNvPr id="4098" name="Picture 2" descr="AI Tools 101: Claude Code Guide to Build Real Apps Faster">
            <a:extLst>
              <a:ext uri="{FF2B5EF4-FFF2-40B4-BE49-F238E27FC236}">
                <a16:creationId xmlns:a16="http://schemas.microsoft.com/office/drawing/2014/main" id="{C8E5198A-348F-D60A-19AC-771918A4B1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5477" y="1864965"/>
            <a:ext cx="5720348" cy="3680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41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E060-1576-5DFA-7B8B-D5953F4C2F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CBEACA-894A-9DAF-CF8D-E7432AA92C9F}"/>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557C2B6D-34D3-AE77-5C54-B81D4B6528EC}"/>
              </a:ext>
            </a:extLst>
          </p:cNvPr>
          <p:cNvSpPr/>
          <p:nvPr/>
        </p:nvSpPr>
        <p:spPr>
          <a:xfrm>
            <a:off x="293915" y="205965"/>
            <a:ext cx="5336864" cy="1754326"/>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PROJECT: BUILD A DASHBOARD WITH NO SKILLS (PART A)</a:t>
            </a:r>
          </a:p>
        </p:txBody>
      </p:sp>
      <p:pic>
        <p:nvPicPr>
          <p:cNvPr id="6" name="Picture 5">
            <a:extLst>
              <a:ext uri="{FF2B5EF4-FFF2-40B4-BE49-F238E27FC236}">
                <a16:creationId xmlns:a16="http://schemas.microsoft.com/office/drawing/2014/main" id="{447ABACC-57A4-B937-D93B-E66C08B498B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75770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211FF-AEC5-8328-4C42-29172734D99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AB32FC-9151-E6D6-CEF0-F7BB42AE1F57}"/>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6D0C2BD-78FB-247E-1EA8-FD2EBD2B62AE}"/>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3E0DCBB-2FFF-371E-28A5-F8710D4341D4}"/>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overview</a:t>
            </a:r>
          </a:p>
        </p:txBody>
      </p:sp>
      <p:sp>
        <p:nvSpPr>
          <p:cNvPr id="9" name="TextBox 8">
            <a:extLst>
              <a:ext uri="{FF2B5EF4-FFF2-40B4-BE49-F238E27FC236}">
                <a16:creationId xmlns:a16="http://schemas.microsoft.com/office/drawing/2014/main" id="{7D21B469-C494-24DE-D382-0E0A013D6A8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A1150CE5-5C09-0C57-9B5B-9905EE378B6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1" name="TextBox 10">
            <a:extLst>
              <a:ext uri="{FF2B5EF4-FFF2-40B4-BE49-F238E27FC236}">
                <a16:creationId xmlns:a16="http://schemas.microsoft.com/office/drawing/2014/main" id="{54C10627-7286-C5E1-0AA0-A4759D473954}"/>
              </a:ext>
            </a:extLst>
          </p:cNvPr>
          <p:cNvSpPr txBox="1"/>
          <p:nvPr/>
        </p:nvSpPr>
        <p:spPr>
          <a:xfrm>
            <a:off x="285570" y="930176"/>
            <a:ext cx="11603850" cy="147732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ontserrat" panose="00000500000000000000" pitchFamily="2" charset="0"/>
              </a:rPr>
              <a:t>Using Claude Code, we will build a single-page dashboard that reads stock financial data from Yahoo Finance and </a:t>
            </a:r>
            <a:r>
              <a:rPr lang="en-US" altLang="en-US" dirty="0">
                <a:latin typeface="Montserrat" panose="00000500000000000000" pitchFamily="2" charset="0"/>
              </a:rPr>
              <a:t>create a single </a:t>
            </a:r>
            <a:r>
              <a:rPr kumimoji="0" lang="en-US" altLang="en-US" sz="1800" i="0" u="none" strike="noStrike" cap="none" normalizeH="0" baseline="0" dirty="0">
                <a:ln>
                  <a:noFill/>
                </a:ln>
                <a:solidFill>
                  <a:schemeClr val="tx1"/>
                </a:solidFill>
                <a:effectLst/>
                <a:latin typeface="Montserrat" panose="00000500000000000000" pitchFamily="2" charset="0"/>
              </a:rPr>
              <a:t>HTML file.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Montserrat"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ontserrat" panose="00000500000000000000" pitchFamily="2" charset="0"/>
              </a:rPr>
              <a:t>A baseline build without any skills</a:t>
            </a:r>
            <a:r>
              <a:rPr lang="en-US" altLang="en-US" dirty="0">
                <a:latin typeface="Montserrat" panose="00000500000000000000" pitchFamily="2" charset="0"/>
              </a:rPr>
              <a:t>, </a:t>
            </a:r>
            <a:r>
              <a:rPr kumimoji="0" lang="en-US" altLang="en-US" sz="1800" i="0" u="none" strike="noStrike" cap="none" normalizeH="0" baseline="0" dirty="0">
                <a:ln>
                  <a:noFill/>
                </a:ln>
                <a:solidFill>
                  <a:schemeClr val="tx1"/>
                </a:solidFill>
                <a:effectLst/>
                <a:latin typeface="Montserrat" panose="00000500000000000000" pitchFamily="2" charset="0"/>
              </a:rPr>
              <a:t>so we can later compare the raw output against a skill-enhanced version to see how much design quality and polish the frontend-design skill adds. </a:t>
            </a:r>
          </a:p>
        </p:txBody>
      </p:sp>
      <p:pic>
        <p:nvPicPr>
          <p:cNvPr id="8" name="Picture 7">
            <a:extLst>
              <a:ext uri="{FF2B5EF4-FFF2-40B4-BE49-F238E27FC236}">
                <a16:creationId xmlns:a16="http://schemas.microsoft.com/office/drawing/2014/main" id="{675EFD70-C920-A389-924B-3658679FEFA2}"/>
              </a:ext>
            </a:extLst>
          </p:cNvPr>
          <p:cNvPicPr>
            <a:picLocks noChangeAspect="1"/>
          </p:cNvPicPr>
          <p:nvPr/>
        </p:nvPicPr>
        <p:blipFill>
          <a:blip r:embed="rId5"/>
          <a:stretch>
            <a:fillRect/>
          </a:stretch>
        </p:blipFill>
        <p:spPr>
          <a:xfrm>
            <a:off x="2415489" y="2407504"/>
            <a:ext cx="6279332" cy="3551487"/>
          </a:xfrm>
          <a:prstGeom prst="rect">
            <a:avLst/>
          </a:prstGeom>
        </p:spPr>
      </p:pic>
    </p:spTree>
    <p:extLst>
      <p:ext uri="{BB962C8B-B14F-4D97-AF65-F5344CB8AC3E}">
        <p14:creationId xmlns:p14="http://schemas.microsoft.com/office/powerpoint/2010/main" val="234560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80AF5-28D3-775B-B5BD-3ACF2DEB4A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C4631C-7207-4679-EE20-2CA38C74E733}"/>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C711D78E-C70A-BD05-8FAC-B56D704573C3}"/>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4E3CE4A-B649-176D-C934-DE89FBFCA68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overview</a:t>
            </a:r>
          </a:p>
        </p:txBody>
      </p:sp>
      <p:sp>
        <p:nvSpPr>
          <p:cNvPr id="9" name="TextBox 8">
            <a:extLst>
              <a:ext uri="{FF2B5EF4-FFF2-40B4-BE49-F238E27FC236}">
                <a16:creationId xmlns:a16="http://schemas.microsoft.com/office/drawing/2014/main" id="{5A061B4C-55B5-12AF-0F12-CAA198856CC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4DC84AB8-745D-59B9-F25E-F64E8D55852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Rounded Rectangle 5">
            <a:extLst>
              <a:ext uri="{FF2B5EF4-FFF2-40B4-BE49-F238E27FC236}">
                <a16:creationId xmlns:a16="http://schemas.microsoft.com/office/drawing/2014/main" id="{A6A747AD-3A89-E13E-72DC-78BC4D89AC03}"/>
              </a:ext>
            </a:extLst>
          </p:cNvPr>
          <p:cNvSpPr/>
          <p:nvPr/>
        </p:nvSpPr>
        <p:spPr>
          <a:xfrm>
            <a:off x="320040" y="2055644"/>
            <a:ext cx="2468880" cy="2377440"/>
          </a:xfrm>
          <a:prstGeom prst="roundRect">
            <a:avLst>
              <a:gd name="adj" fmla="val 5000"/>
            </a:avLst>
          </a:prstGeom>
          <a:solidFill>
            <a:srgbClr val="D56E48"/>
          </a:solidFill>
          <a:ln w="19050">
            <a:noFill/>
          </a:ln>
        </p:spPr>
        <p:style>
          <a:lnRef idx="1">
            <a:schemeClr val="accent1"/>
          </a:lnRef>
          <a:fillRef idx="3">
            <a:schemeClr val="accent1"/>
          </a:fillRef>
          <a:effectRef idx="2">
            <a:schemeClr val="accent1"/>
          </a:effectRef>
          <a:fontRef idx="minor">
            <a:schemeClr val="lt1"/>
          </a:fontRef>
        </p:style>
        <p:txBody>
          <a:bodyPr wrap="square" lIns="137160" tIns="594360" rIns="137160" rtlCol="0" anchor="t"/>
          <a:lstStyle/>
          <a:p>
            <a:pPr algn="ctr">
              <a:defRPr sz="1800" b="1">
                <a:solidFill>
                  <a:srgbClr val="0C1752"/>
                </a:solidFill>
                <a:latin typeface="Montserrat"/>
              </a:defRPr>
            </a:pPr>
            <a:r>
              <a:rPr sz="2400" dirty="0"/>
              <a:t>Build Raw</a:t>
            </a:r>
          </a:p>
          <a:p>
            <a:pPr algn="ctr">
              <a:spcBef>
                <a:spcPts val="1000"/>
              </a:spcBef>
              <a:defRPr sz="1400">
                <a:solidFill>
                  <a:srgbClr val="333333"/>
                </a:solidFill>
                <a:latin typeface="Montserrat"/>
              </a:defRPr>
            </a:pPr>
            <a:r>
              <a:rPr dirty="0"/>
              <a:t>One prompt → full</a:t>
            </a:r>
            <a:br>
              <a:rPr dirty="0"/>
            </a:br>
            <a:r>
              <a:rPr lang="en-CA" dirty="0"/>
              <a:t>dashboard</a:t>
            </a:r>
            <a:endParaRPr dirty="0"/>
          </a:p>
        </p:txBody>
      </p:sp>
      <p:sp>
        <p:nvSpPr>
          <p:cNvPr id="8" name="Rounded Rectangle 6">
            <a:extLst>
              <a:ext uri="{FF2B5EF4-FFF2-40B4-BE49-F238E27FC236}">
                <a16:creationId xmlns:a16="http://schemas.microsoft.com/office/drawing/2014/main" id="{DCC442B9-9019-BDAB-8B7F-29A9E11C556C}"/>
              </a:ext>
            </a:extLst>
          </p:cNvPr>
          <p:cNvSpPr/>
          <p:nvPr/>
        </p:nvSpPr>
        <p:spPr>
          <a:xfrm>
            <a:off x="1303020" y="1371456"/>
            <a:ext cx="502920" cy="502920"/>
          </a:xfrm>
          <a:prstGeom prst="roundRect">
            <a:avLst>
              <a:gd name="adj" fmla="val 50000"/>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Montserrat"/>
              </a:defRPr>
            </a:pPr>
            <a:r>
              <a:t>1</a:t>
            </a:r>
          </a:p>
        </p:txBody>
      </p:sp>
      <p:sp>
        <p:nvSpPr>
          <p:cNvPr id="10" name="Right Arrow 7">
            <a:extLst>
              <a:ext uri="{FF2B5EF4-FFF2-40B4-BE49-F238E27FC236}">
                <a16:creationId xmlns:a16="http://schemas.microsoft.com/office/drawing/2014/main" id="{9A7C09C3-92D0-A0C9-CBD8-3EF09AD7A212}"/>
              </a:ext>
            </a:extLst>
          </p:cNvPr>
          <p:cNvSpPr/>
          <p:nvPr/>
        </p:nvSpPr>
        <p:spPr>
          <a:xfrm>
            <a:off x="3046476" y="2981618"/>
            <a:ext cx="1347630"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8">
            <a:extLst>
              <a:ext uri="{FF2B5EF4-FFF2-40B4-BE49-F238E27FC236}">
                <a16:creationId xmlns:a16="http://schemas.microsoft.com/office/drawing/2014/main" id="{37BC8796-3023-6BC0-99B9-04B609AC20DE}"/>
              </a:ext>
            </a:extLst>
          </p:cNvPr>
          <p:cNvSpPr/>
          <p:nvPr/>
        </p:nvSpPr>
        <p:spPr>
          <a:xfrm>
            <a:off x="4651662" y="2067218"/>
            <a:ext cx="2468880" cy="2377440"/>
          </a:xfrm>
          <a:prstGeom prst="roundRect">
            <a:avLst>
              <a:gd name="adj" fmla="val 5000"/>
            </a:avLst>
          </a:prstGeom>
          <a:solidFill>
            <a:srgbClr val="0C1752"/>
          </a:solidFill>
          <a:ln w="19050">
            <a:noFill/>
          </a:ln>
        </p:spPr>
        <p:style>
          <a:lnRef idx="1">
            <a:schemeClr val="accent1"/>
          </a:lnRef>
          <a:fillRef idx="3">
            <a:schemeClr val="accent1"/>
          </a:fillRef>
          <a:effectRef idx="2">
            <a:schemeClr val="accent1"/>
          </a:effectRef>
          <a:fontRef idx="minor">
            <a:schemeClr val="lt1"/>
          </a:fontRef>
        </p:style>
        <p:txBody>
          <a:bodyPr wrap="square" lIns="137160" tIns="594360" rIns="137160" rtlCol="0" anchor="t"/>
          <a:lstStyle/>
          <a:p>
            <a:pPr algn="ctr">
              <a:defRPr sz="1800" b="1">
                <a:solidFill>
                  <a:srgbClr val="0C1752"/>
                </a:solidFill>
                <a:latin typeface="Montserrat"/>
              </a:defRPr>
            </a:pPr>
            <a:r>
              <a:rPr sz="2400" dirty="0">
                <a:solidFill>
                  <a:schemeClr val="bg1"/>
                </a:solidFill>
              </a:rPr>
              <a:t>Install Skill</a:t>
            </a:r>
          </a:p>
          <a:p>
            <a:pPr algn="ctr">
              <a:spcBef>
                <a:spcPts val="1000"/>
              </a:spcBef>
              <a:defRPr sz="1400">
                <a:solidFill>
                  <a:srgbClr val="333333"/>
                </a:solidFill>
                <a:latin typeface="Montserrat"/>
              </a:defRPr>
            </a:pPr>
            <a:r>
              <a:rPr dirty="0">
                <a:solidFill>
                  <a:schemeClr val="bg1"/>
                </a:solidFill>
              </a:rPr>
              <a:t>Add the frontend-</a:t>
            </a:r>
            <a:br>
              <a:rPr dirty="0">
                <a:solidFill>
                  <a:schemeClr val="bg1"/>
                </a:solidFill>
              </a:rPr>
            </a:br>
            <a:r>
              <a:rPr dirty="0">
                <a:solidFill>
                  <a:schemeClr val="bg1"/>
                </a:solidFill>
              </a:rPr>
              <a:t>design skill</a:t>
            </a:r>
          </a:p>
        </p:txBody>
      </p:sp>
      <p:sp>
        <p:nvSpPr>
          <p:cNvPr id="13" name="Rounded Rectangle 9">
            <a:extLst>
              <a:ext uri="{FF2B5EF4-FFF2-40B4-BE49-F238E27FC236}">
                <a16:creationId xmlns:a16="http://schemas.microsoft.com/office/drawing/2014/main" id="{34760E33-5D0A-03D3-0763-96AF375AA6EA}"/>
              </a:ext>
            </a:extLst>
          </p:cNvPr>
          <p:cNvSpPr/>
          <p:nvPr/>
        </p:nvSpPr>
        <p:spPr>
          <a:xfrm>
            <a:off x="5603143" y="1371456"/>
            <a:ext cx="502920" cy="502920"/>
          </a:xfrm>
          <a:prstGeom prst="roundRect">
            <a:avLst>
              <a:gd name="adj" fmla="val 50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Montserrat"/>
              </a:defRPr>
            </a:pPr>
            <a:r>
              <a:rPr dirty="0"/>
              <a:t>2</a:t>
            </a:r>
          </a:p>
        </p:txBody>
      </p:sp>
      <p:sp>
        <p:nvSpPr>
          <p:cNvPr id="14" name="Right Arrow 10">
            <a:extLst>
              <a:ext uri="{FF2B5EF4-FFF2-40B4-BE49-F238E27FC236}">
                <a16:creationId xmlns:a16="http://schemas.microsoft.com/office/drawing/2014/main" id="{0C7FE36D-7113-E4A8-3ED7-3FE2C32BB2F7}"/>
              </a:ext>
            </a:extLst>
          </p:cNvPr>
          <p:cNvSpPr/>
          <p:nvPr/>
        </p:nvSpPr>
        <p:spPr>
          <a:xfrm>
            <a:off x="7175405" y="2981618"/>
            <a:ext cx="1212309"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1">
            <a:extLst>
              <a:ext uri="{FF2B5EF4-FFF2-40B4-BE49-F238E27FC236}">
                <a16:creationId xmlns:a16="http://schemas.microsoft.com/office/drawing/2014/main" id="{7CCEEA1F-C04E-6530-72D3-7987F90E82E3}"/>
              </a:ext>
            </a:extLst>
          </p:cNvPr>
          <p:cNvSpPr/>
          <p:nvPr/>
        </p:nvSpPr>
        <p:spPr>
          <a:xfrm>
            <a:off x="8671560" y="2047582"/>
            <a:ext cx="2468880" cy="2377440"/>
          </a:xfrm>
          <a:prstGeom prst="roundRect">
            <a:avLst>
              <a:gd name="adj" fmla="val 5000"/>
            </a:avLst>
          </a:prstGeom>
          <a:solidFill>
            <a:srgbClr val="11CCDD"/>
          </a:solidFill>
          <a:ln w="19050">
            <a:noFill/>
          </a:ln>
        </p:spPr>
        <p:style>
          <a:lnRef idx="1">
            <a:schemeClr val="accent1"/>
          </a:lnRef>
          <a:fillRef idx="3">
            <a:schemeClr val="accent1"/>
          </a:fillRef>
          <a:effectRef idx="2">
            <a:schemeClr val="accent1"/>
          </a:effectRef>
          <a:fontRef idx="minor">
            <a:schemeClr val="lt1"/>
          </a:fontRef>
        </p:style>
        <p:txBody>
          <a:bodyPr wrap="square" lIns="137160" tIns="594360" rIns="137160" rtlCol="0" anchor="t"/>
          <a:lstStyle/>
          <a:p>
            <a:pPr algn="ctr">
              <a:defRPr sz="1800" b="1">
                <a:solidFill>
                  <a:srgbClr val="0C1752"/>
                </a:solidFill>
                <a:latin typeface="Montserrat"/>
              </a:defRPr>
            </a:pPr>
            <a:r>
              <a:rPr sz="2400" dirty="0"/>
              <a:t>Rebuild</a:t>
            </a:r>
          </a:p>
          <a:p>
            <a:pPr algn="ctr">
              <a:spcBef>
                <a:spcPts val="1000"/>
              </a:spcBef>
              <a:defRPr sz="1400">
                <a:solidFill>
                  <a:srgbClr val="333333"/>
                </a:solidFill>
                <a:latin typeface="Montserrat"/>
              </a:defRPr>
            </a:pPr>
            <a:r>
              <a:rPr dirty="0"/>
              <a:t>Same prompt →</a:t>
            </a:r>
            <a:br>
              <a:rPr dirty="0"/>
            </a:br>
            <a:r>
              <a:rPr dirty="0"/>
              <a:t>stunning upgrade</a:t>
            </a:r>
          </a:p>
        </p:txBody>
      </p:sp>
      <p:sp>
        <p:nvSpPr>
          <p:cNvPr id="16" name="Rounded Rectangle 12">
            <a:extLst>
              <a:ext uri="{FF2B5EF4-FFF2-40B4-BE49-F238E27FC236}">
                <a16:creationId xmlns:a16="http://schemas.microsoft.com/office/drawing/2014/main" id="{D1DF3A1C-991C-3196-99A2-0F77206325A1}"/>
              </a:ext>
            </a:extLst>
          </p:cNvPr>
          <p:cNvSpPr/>
          <p:nvPr/>
        </p:nvSpPr>
        <p:spPr>
          <a:xfrm>
            <a:off x="9730754" y="1371749"/>
            <a:ext cx="502920" cy="502920"/>
          </a:xfrm>
          <a:prstGeom prst="roundRect">
            <a:avLst>
              <a:gd name="adj" fmla="val 50000"/>
            </a:avLst>
          </a:prstGeom>
          <a:solidFill>
            <a:srgbClr val="1BBFD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Montserrat"/>
              </a:defRPr>
            </a:pPr>
            <a:r>
              <a:t>3</a:t>
            </a:r>
          </a:p>
        </p:txBody>
      </p:sp>
    </p:spTree>
    <p:extLst>
      <p:ext uri="{BB962C8B-B14F-4D97-AF65-F5344CB8AC3E}">
        <p14:creationId xmlns:p14="http://schemas.microsoft.com/office/powerpoint/2010/main" val="16967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F8AEF-279F-1E90-65C6-B0A8C5FE25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00D4E0-F2D4-6854-D01D-D9196DD90FDE}"/>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B6ADB7DA-9BBA-6554-23DE-DC8BC65905A1}"/>
              </a:ext>
            </a:extLst>
          </p:cNvPr>
          <p:cNvSpPr/>
          <p:nvPr/>
        </p:nvSpPr>
        <p:spPr>
          <a:xfrm>
            <a:off x="293915" y="489004"/>
            <a:ext cx="4743450"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SKILLS</a:t>
            </a:r>
          </a:p>
        </p:txBody>
      </p:sp>
      <p:pic>
        <p:nvPicPr>
          <p:cNvPr id="6" name="Picture 5">
            <a:extLst>
              <a:ext uri="{FF2B5EF4-FFF2-40B4-BE49-F238E27FC236}">
                <a16:creationId xmlns:a16="http://schemas.microsoft.com/office/drawing/2014/main" id="{A40F20A6-D246-E4D5-4A0A-E505BB7F4550}"/>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03198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CACDB-F354-6F6E-3AB6-CDFD65716F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09DD0-786D-13CC-9740-3419C8964BF0}"/>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F64199AF-6F1F-03AA-1FB4-B4F07F97F59D}"/>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D0FF0A9-9936-F399-F321-0BA3E1089B9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is a skill?</a:t>
            </a:r>
          </a:p>
        </p:txBody>
      </p:sp>
      <p:sp>
        <p:nvSpPr>
          <p:cNvPr id="9" name="TextBox 8">
            <a:extLst>
              <a:ext uri="{FF2B5EF4-FFF2-40B4-BE49-F238E27FC236}">
                <a16:creationId xmlns:a16="http://schemas.microsoft.com/office/drawing/2014/main" id="{9725FDCC-BA38-2D95-2BD9-0BB555DC7C0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A245CF5F-C19B-D711-92B6-E71700E828B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Text 3">
            <a:extLst>
              <a:ext uri="{FF2B5EF4-FFF2-40B4-BE49-F238E27FC236}">
                <a16:creationId xmlns:a16="http://schemas.microsoft.com/office/drawing/2014/main" id="{E4BCE457-C02F-C790-D055-B9ED9450A149}"/>
              </a:ext>
            </a:extLst>
          </p:cNvPr>
          <p:cNvSpPr/>
          <p:nvPr/>
        </p:nvSpPr>
        <p:spPr>
          <a:xfrm>
            <a:off x="670560" y="950976"/>
            <a:ext cx="10607040" cy="1085088"/>
          </a:xfrm>
          <a:prstGeom prst="rect">
            <a:avLst/>
          </a:prstGeom>
          <a:noFill/>
          <a:ln/>
        </p:spPr>
        <p:txBody>
          <a:bodyPr wrap="square" rtlCol="0" anchor="ctr"/>
          <a:lstStyle/>
          <a:p>
            <a:pPr algn="ctr"/>
            <a:endParaRPr lang="en-US" sz="2133" dirty="0"/>
          </a:p>
        </p:txBody>
      </p:sp>
      <p:sp>
        <p:nvSpPr>
          <p:cNvPr id="8" name="Shape 4">
            <a:extLst>
              <a:ext uri="{FF2B5EF4-FFF2-40B4-BE49-F238E27FC236}">
                <a16:creationId xmlns:a16="http://schemas.microsoft.com/office/drawing/2014/main" id="{6406DC5C-4547-B967-9C90-0237AAA3A64D}"/>
              </a:ext>
            </a:extLst>
          </p:cNvPr>
          <p:cNvSpPr/>
          <p:nvPr/>
        </p:nvSpPr>
        <p:spPr>
          <a:xfrm>
            <a:off x="487680" y="2541825"/>
            <a:ext cx="3474720" cy="3474720"/>
          </a:xfrm>
          <a:prstGeom prst="rect">
            <a:avLst/>
          </a:prstGeom>
          <a:solidFill>
            <a:srgbClr val="0C1752"/>
          </a:solidFill>
          <a:ln w="19050">
            <a:noFill/>
            <a:prstDash val="solid"/>
          </a:ln>
        </p:spPr>
        <p:txBody>
          <a:bodyPr/>
          <a:lstStyle/>
          <a:p>
            <a:endParaRPr lang="en-CA" sz="2800">
              <a:latin typeface="Montserrat" panose="00000500000000000000" pitchFamily="2" charset="0"/>
            </a:endParaRPr>
          </a:p>
        </p:txBody>
      </p:sp>
      <p:sp>
        <p:nvSpPr>
          <p:cNvPr id="11" name="Text 6">
            <a:extLst>
              <a:ext uri="{FF2B5EF4-FFF2-40B4-BE49-F238E27FC236}">
                <a16:creationId xmlns:a16="http://schemas.microsoft.com/office/drawing/2014/main" id="{95E67E9C-29CB-E03C-A923-A8F878DE93E4}"/>
              </a:ext>
            </a:extLst>
          </p:cNvPr>
          <p:cNvSpPr/>
          <p:nvPr/>
        </p:nvSpPr>
        <p:spPr>
          <a:xfrm>
            <a:off x="670560" y="2700321"/>
            <a:ext cx="3108960" cy="463296"/>
          </a:xfrm>
          <a:prstGeom prst="rect">
            <a:avLst/>
          </a:prstGeom>
          <a:noFill/>
          <a:ln/>
        </p:spPr>
        <p:txBody>
          <a:bodyPr wrap="square" rtlCol="0" anchor="ctr"/>
          <a:lstStyle/>
          <a:p>
            <a:r>
              <a:rPr lang="en-US" sz="2000" b="1" dirty="0">
                <a:solidFill>
                  <a:srgbClr val="FFFFFF"/>
                </a:solidFill>
                <a:latin typeface="Montserrat" panose="00000500000000000000" pitchFamily="2" charset="0"/>
                <a:ea typeface="Calibri" pitchFamily="34" charset="-122"/>
                <a:cs typeface="Calibri" pitchFamily="34" charset="-120"/>
              </a:rPr>
              <a:t>How it loads</a:t>
            </a:r>
            <a:endParaRPr lang="en-US" sz="2000" dirty="0">
              <a:latin typeface="Montserrat" panose="00000500000000000000" pitchFamily="2" charset="0"/>
            </a:endParaRPr>
          </a:p>
        </p:txBody>
      </p:sp>
      <p:sp>
        <p:nvSpPr>
          <p:cNvPr id="12" name="Text 7">
            <a:extLst>
              <a:ext uri="{FF2B5EF4-FFF2-40B4-BE49-F238E27FC236}">
                <a16:creationId xmlns:a16="http://schemas.microsoft.com/office/drawing/2014/main" id="{51B77F8C-764D-C5B2-B726-A55C05122262}"/>
              </a:ext>
            </a:extLst>
          </p:cNvPr>
          <p:cNvSpPr/>
          <p:nvPr/>
        </p:nvSpPr>
        <p:spPr>
          <a:xfrm>
            <a:off x="670560" y="3224577"/>
            <a:ext cx="3108960" cy="2621280"/>
          </a:xfrm>
          <a:prstGeom prst="rect">
            <a:avLst/>
          </a:prstGeom>
          <a:noFill/>
          <a:ln/>
        </p:spPr>
        <p:txBody>
          <a:bodyPr wrap="square" rtlCol="0" anchor="ctr"/>
          <a:lstStyle/>
          <a:p>
            <a:r>
              <a:rPr lang="en-US" dirty="0">
                <a:solidFill>
                  <a:schemeClr val="bg1"/>
                </a:solidFill>
                <a:latin typeface="Montserrat" panose="00000500000000000000" pitchFamily="2" charset="0"/>
                <a:ea typeface="Calibri" pitchFamily="34" charset="-122"/>
                <a:cs typeface="Calibri" pitchFamily="34" charset="-120"/>
              </a:rPr>
              <a:t>Claude reads the SKILL.md at the start of a task; automatically or when you call it with a slash command like /frontend-design</a:t>
            </a:r>
            <a:endParaRPr lang="en-US" dirty="0">
              <a:solidFill>
                <a:schemeClr val="bg1"/>
              </a:solidFill>
              <a:latin typeface="Montserrat" panose="00000500000000000000" pitchFamily="2" charset="0"/>
            </a:endParaRPr>
          </a:p>
        </p:txBody>
      </p:sp>
      <p:sp>
        <p:nvSpPr>
          <p:cNvPr id="13" name="Shape 8">
            <a:extLst>
              <a:ext uri="{FF2B5EF4-FFF2-40B4-BE49-F238E27FC236}">
                <a16:creationId xmlns:a16="http://schemas.microsoft.com/office/drawing/2014/main" id="{3A8F2215-EB1B-0A04-54DB-7E1EDC594227}"/>
              </a:ext>
            </a:extLst>
          </p:cNvPr>
          <p:cNvSpPr/>
          <p:nvPr/>
        </p:nvSpPr>
        <p:spPr>
          <a:xfrm>
            <a:off x="4267200" y="2541825"/>
            <a:ext cx="3474720" cy="3474720"/>
          </a:xfrm>
          <a:prstGeom prst="rect">
            <a:avLst/>
          </a:prstGeom>
          <a:solidFill>
            <a:srgbClr val="1BBFD1"/>
          </a:solidFill>
          <a:ln w="19050">
            <a:noFill/>
            <a:prstDash val="solid"/>
          </a:ln>
        </p:spPr>
        <p:txBody>
          <a:bodyPr/>
          <a:lstStyle/>
          <a:p>
            <a:endParaRPr lang="en-CA" sz="2800">
              <a:latin typeface="Montserrat" panose="00000500000000000000" pitchFamily="2" charset="0"/>
            </a:endParaRPr>
          </a:p>
        </p:txBody>
      </p:sp>
      <p:sp>
        <p:nvSpPr>
          <p:cNvPr id="15" name="Text 10">
            <a:extLst>
              <a:ext uri="{FF2B5EF4-FFF2-40B4-BE49-F238E27FC236}">
                <a16:creationId xmlns:a16="http://schemas.microsoft.com/office/drawing/2014/main" id="{AD180597-2DD2-E03F-AC4B-A2544582F164}"/>
              </a:ext>
            </a:extLst>
          </p:cNvPr>
          <p:cNvSpPr/>
          <p:nvPr/>
        </p:nvSpPr>
        <p:spPr>
          <a:xfrm>
            <a:off x="4450080" y="2700321"/>
            <a:ext cx="3108960" cy="463296"/>
          </a:xfrm>
          <a:prstGeom prst="rect">
            <a:avLst/>
          </a:prstGeom>
          <a:noFill/>
          <a:ln/>
        </p:spPr>
        <p:txBody>
          <a:bodyPr wrap="square" rtlCol="0" anchor="ctr"/>
          <a:lstStyle/>
          <a:p>
            <a:r>
              <a:rPr lang="en-US" sz="2000" b="1" dirty="0">
                <a:solidFill>
                  <a:srgbClr val="FFFFFF"/>
                </a:solidFill>
                <a:latin typeface="Montserrat" panose="00000500000000000000" pitchFamily="2" charset="0"/>
                <a:ea typeface="Calibri" pitchFamily="34" charset="-122"/>
                <a:cs typeface="Calibri" pitchFamily="34" charset="-120"/>
              </a:rPr>
              <a:t>What's inside</a:t>
            </a:r>
            <a:endParaRPr lang="en-US" sz="2000" dirty="0">
              <a:latin typeface="Montserrat" panose="00000500000000000000" pitchFamily="2" charset="0"/>
            </a:endParaRPr>
          </a:p>
        </p:txBody>
      </p:sp>
      <p:sp>
        <p:nvSpPr>
          <p:cNvPr id="16" name="Text 11">
            <a:extLst>
              <a:ext uri="{FF2B5EF4-FFF2-40B4-BE49-F238E27FC236}">
                <a16:creationId xmlns:a16="http://schemas.microsoft.com/office/drawing/2014/main" id="{F14A6688-4B63-AC8D-3903-C5D6411C7617}"/>
              </a:ext>
            </a:extLst>
          </p:cNvPr>
          <p:cNvSpPr/>
          <p:nvPr/>
        </p:nvSpPr>
        <p:spPr>
          <a:xfrm>
            <a:off x="4450080" y="3224577"/>
            <a:ext cx="3108960" cy="2621280"/>
          </a:xfrm>
          <a:prstGeom prst="rect">
            <a:avLst/>
          </a:prstGeom>
          <a:noFill/>
          <a:ln/>
        </p:spPr>
        <p:txBody>
          <a:bodyPr wrap="square" rtlCol="0" anchor="ctr"/>
          <a:lstStyle/>
          <a:p>
            <a:r>
              <a:rPr lang="en-US" dirty="0">
                <a:latin typeface="Montserrat" panose="00000500000000000000" pitchFamily="2" charset="0"/>
                <a:ea typeface="Calibri" pitchFamily="34" charset="-122"/>
                <a:cs typeface="Calibri" pitchFamily="34" charset="-120"/>
              </a:rPr>
              <a:t>Instructions, best practices, templates, and optional scripts that Claude follows to complete the task correctly every time</a:t>
            </a:r>
            <a:endParaRPr lang="en-US" dirty="0">
              <a:latin typeface="Montserrat" panose="00000500000000000000" pitchFamily="2" charset="0"/>
            </a:endParaRPr>
          </a:p>
        </p:txBody>
      </p:sp>
      <p:sp>
        <p:nvSpPr>
          <p:cNvPr id="17" name="Shape 12">
            <a:extLst>
              <a:ext uri="{FF2B5EF4-FFF2-40B4-BE49-F238E27FC236}">
                <a16:creationId xmlns:a16="http://schemas.microsoft.com/office/drawing/2014/main" id="{05F9CCC0-27F7-B00F-4B98-5F81D39C6998}"/>
              </a:ext>
            </a:extLst>
          </p:cNvPr>
          <p:cNvSpPr/>
          <p:nvPr/>
        </p:nvSpPr>
        <p:spPr>
          <a:xfrm>
            <a:off x="8046720" y="2541825"/>
            <a:ext cx="3474720" cy="3474720"/>
          </a:xfrm>
          <a:prstGeom prst="rect">
            <a:avLst/>
          </a:prstGeom>
          <a:solidFill>
            <a:srgbClr val="D56E48"/>
          </a:solidFill>
          <a:ln w="19050">
            <a:noFill/>
            <a:prstDash val="solid"/>
          </a:ln>
        </p:spPr>
        <p:txBody>
          <a:bodyPr/>
          <a:lstStyle/>
          <a:p>
            <a:endParaRPr lang="en-CA" sz="2800">
              <a:latin typeface="Montserrat" panose="00000500000000000000" pitchFamily="2" charset="0"/>
            </a:endParaRPr>
          </a:p>
        </p:txBody>
      </p:sp>
      <p:sp>
        <p:nvSpPr>
          <p:cNvPr id="19" name="Text 14">
            <a:extLst>
              <a:ext uri="{FF2B5EF4-FFF2-40B4-BE49-F238E27FC236}">
                <a16:creationId xmlns:a16="http://schemas.microsoft.com/office/drawing/2014/main" id="{29151B90-D02D-ED06-F1D1-2AF8A81D6822}"/>
              </a:ext>
            </a:extLst>
          </p:cNvPr>
          <p:cNvSpPr/>
          <p:nvPr/>
        </p:nvSpPr>
        <p:spPr>
          <a:xfrm>
            <a:off x="8229600" y="2700321"/>
            <a:ext cx="3108960" cy="463296"/>
          </a:xfrm>
          <a:prstGeom prst="rect">
            <a:avLst/>
          </a:prstGeom>
          <a:noFill/>
          <a:ln/>
        </p:spPr>
        <p:txBody>
          <a:bodyPr wrap="square" rtlCol="0" anchor="ctr"/>
          <a:lstStyle/>
          <a:p>
            <a:r>
              <a:rPr lang="en-US" sz="2000" b="1" dirty="0">
                <a:solidFill>
                  <a:srgbClr val="FFFFFF"/>
                </a:solidFill>
                <a:latin typeface="Montserrat" panose="00000500000000000000" pitchFamily="2" charset="0"/>
                <a:ea typeface="Calibri" pitchFamily="34" charset="-122"/>
                <a:cs typeface="Calibri" pitchFamily="34" charset="-120"/>
              </a:rPr>
              <a:t>Where it lives</a:t>
            </a:r>
            <a:endParaRPr lang="en-US" sz="2000" dirty="0">
              <a:latin typeface="Montserrat" panose="00000500000000000000" pitchFamily="2" charset="0"/>
            </a:endParaRPr>
          </a:p>
        </p:txBody>
      </p:sp>
      <p:sp>
        <p:nvSpPr>
          <p:cNvPr id="20" name="Text 15">
            <a:extLst>
              <a:ext uri="{FF2B5EF4-FFF2-40B4-BE49-F238E27FC236}">
                <a16:creationId xmlns:a16="http://schemas.microsoft.com/office/drawing/2014/main" id="{00641A94-3BF3-4284-F168-30D60DEC909E}"/>
              </a:ext>
            </a:extLst>
          </p:cNvPr>
          <p:cNvSpPr/>
          <p:nvPr/>
        </p:nvSpPr>
        <p:spPr>
          <a:xfrm>
            <a:off x="8229600" y="3224577"/>
            <a:ext cx="3108960" cy="2621280"/>
          </a:xfrm>
          <a:prstGeom prst="rect">
            <a:avLst/>
          </a:prstGeom>
          <a:noFill/>
          <a:ln/>
        </p:spPr>
        <p:txBody>
          <a:bodyPr wrap="square" rtlCol="0" anchor="ctr"/>
          <a:lstStyle/>
          <a:p>
            <a:r>
              <a:rPr lang="en-US" dirty="0">
                <a:latin typeface="Montserrat" panose="00000500000000000000" pitchFamily="2" charset="0"/>
                <a:ea typeface="Calibri" pitchFamily="34" charset="-122"/>
                <a:cs typeface="Calibri" pitchFamily="34" charset="-120"/>
              </a:rPr>
              <a:t>In .claude/skills/ for a project, or ~/.claude/skills/ for personal use across all projects. </a:t>
            </a:r>
            <a:endParaRPr lang="en-US" dirty="0">
              <a:latin typeface="Montserrat" panose="00000500000000000000" pitchFamily="2" charset="0"/>
            </a:endParaRPr>
          </a:p>
        </p:txBody>
      </p:sp>
      <p:sp>
        <p:nvSpPr>
          <p:cNvPr id="22" name="Text 17">
            <a:extLst>
              <a:ext uri="{FF2B5EF4-FFF2-40B4-BE49-F238E27FC236}">
                <a16:creationId xmlns:a16="http://schemas.microsoft.com/office/drawing/2014/main" id="{6C1F6B8C-E4C2-C94C-C452-C4BB5C9F8B95}"/>
              </a:ext>
            </a:extLst>
          </p:cNvPr>
          <p:cNvSpPr/>
          <p:nvPr/>
        </p:nvSpPr>
        <p:spPr>
          <a:xfrm>
            <a:off x="670560" y="5949696"/>
            <a:ext cx="10607040" cy="365760"/>
          </a:xfrm>
          <a:prstGeom prst="rect">
            <a:avLst/>
          </a:prstGeom>
          <a:noFill/>
          <a:ln/>
        </p:spPr>
        <p:txBody>
          <a:bodyPr wrap="square" rtlCol="0" anchor="ctr"/>
          <a:lstStyle/>
          <a:p>
            <a:pPr algn="ctr"/>
            <a:endParaRPr lang="en-US" sz="1600" dirty="0">
              <a:latin typeface="Montserrat" panose="00000500000000000000" pitchFamily="2" charset="0"/>
            </a:endParaRPr>
          </a:p>
        </p:txBody>
      </p:sp>
      <p:sp>
        <p:nvSpPr>
          <p:cNvPr id="24" name="TextBox 23">
            <a:extLst>
              <a:ext uri="{FF2B5EF4-FFF2-40B4-BE49-F238E27FC236}">
                <a16:creationId xmlns:a16="http://schemas.microsoft.com/office/drawing/2014/main" id="{1EB69FA9-6CBB-E542-A029-0EE3D2384CEF}"/>
              </a:ext>
            </a:extLst>
          </p:cNvPr>
          <p:cNvSpPr txBox="1"/>
          <p:nvPr/>
        </p:nvSpPr>
        <p:spPr>
          <a:xfrm>
            <a:off x="154722" y="914322"/>
            <a:ext cx="11841957" cy="923330"/>
          </a:xfrm>
          <a:prstGeom prst="rect">
            <a:avLst/>
          </a:prstGeom>
          <a:noFill/>
        </p:spPr>
        <p:txBody>
          <a:bodyPr wrap="square">
            <a:spAutoFit/>
          </a:bodyPr>
          <a:lstStyle>
            <a:defPPr>
              <a:defRPr lang="en-US"/>
            </a:defPPr>
            <a:lvl1pPr marL="285750" indent="-285750">
              <a:buFont typeface="Arial" panose="020B0604020202020204" pitchFamily="34" charset="0"/>
              <a:buChar char="•"/>
              <a:defRPr>
                <a:latin typeface="Montserrat" panose="00000500000000000000" pitchFamily="2" charset="0"/>
              </a:defRPr>
            </a:lvl1pPr>
          </a:lstStyle>
          <a:p>
            <a:r>
              <a:rPr lang="en-US" dirty="0"/>
              <a:t>A skill is a folder with a SKILL.md file; it gives Claude a detailed playbook and loads it automatically when the task is relevant.</a:t>
            </a:r>
          </a:p>
          <a:p>
            <a:endParaRPr lang="en-US" dirty="0"/>
          </a:p>
        </p:txBody>
      </p:sp>
    </p:spTree>
    <p:extLst>
      <p:ext uri="{BB962C8B-B14F-4D97-AF65-F5344CB8AC3E}">
        <p14:creationId xmlns:p14="http://schemas.microsoft.com/office/powerpoint/2010/main" val="171910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3212C-38BD-11FF-F76B-39087AC10C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892D725-B98A-FCB5-19CC-4CC6601F5CEC}"/>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9F679DAF-2432-2B80-3557-53977CFB3EAF}"/>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14F9EAA-0651-062E-1026-8BCA3F26A900}"/>
              </a:ext>
            </a:extLst>
          </p:cNvPr>
          <p:cNvSpPr/>
          <p:nvPr/>
        </p:nvSpPr>
        <p:spPr>
          <a:xfrm>
            <a:off x="154722" y="90489"/>
            <a:ext cx="9827492" cy="461665"/>
          </a:xfrm>
          <a:prstGeom prst="rect">
            <a:avLst/>
          </a:prstGeom>
        </p:spPr>
        <p:txBody>
          <a:bodyPr wrap="square">
            <a:spAutoFit/>
          </a:bodyPr>
          <a:lstStyle/>
          <a:p>
            <a:r>
              <a:rPr lang="en-US" sz="2400" dirty="0" err="1">
                <a:solidFill>
                  <a:schemeClr val="bg1"/>
                </a:solidFill>
                <a:latin typeface="Montserrat" charset="0"/>
                <a:ea typeface="Montserrat" charset="0"/>
                <a:cs typeface="Montserrat" charset="0"/>
              </a:rPr>
              <a:t>Anthropic’s</a:t>
            </a:r>
            <a:r>
              <a:rPr lang="en-US" sz="2400" dirty="0">
                <a:solidFill>
                  <a:schemeClr val="bg1"/>
                </a:solidFill>
                <a:latin typeface="Montserrat" charset="0"/>
                <a:ea typeface="Montserrat" charset="0"/>
                <a:cs typeface="Montserrat" charset="0"/>
              </a:rPr>
              <a:t> Official Skills</a:t>
            </a:r>
          </a:p>
        </p:txBody>
      </p:sp>
      <p:sp>
        <p:nvSpPr>
          <p:cNvPr id="9" name="TextBox 8">
            <a:extLst>
              <a:ext uri="{FF2B5EF4-FFF2-40B4-BE49-F238E27FC236}">
                <a16:creationId xmlns:a16="http://schemas.microsoft.com/office/drawing/2014/main" id="{32AA2024-C0E6-4DFB-5388-006AB9819A7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788D06A7-7D62-5D54-7409-4A31EB5F9C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Shape 4">
            <a:extLst>
              <a:ext uri="{FF2B5EF4-FFF2-40B4-BE49-F238E27FC236}">
                <a16:creationId xmlns:a16="http://schemas.microsoft.com/office/drawing/2014/main" id="{A328CAA5-9BD9-FDBB-3AA5-B8914024002B}"/>
              </a:ext>
            </a:extLst>
          </p:cNvPr>
          <p:cNvSpPr/>
          <p:nvPr/>
        </p:nvSpPr>
        <p:spPr>
          <a:xfrm>
            <a:off x="1001255" y="1438169"/>
            <a:ext cx="2621280" cy="201168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10" name="Shape 6">
            <a:extLst>
              <a:ext uri="{FF2B5EF4-FFF2-40B4-BE49-F238E27FC236}">
                <a16:creationId xmlns:a16="http://schemas.microsoft.com/office/drawing/2014/main" id="{6216FF97-4595-EF19-79B3-6ACBBD427B8D}"/>
              </a:ext>
            </a:extLst>
          </p:cNvPr>
          <p:cNvSpPr/>
          <p:nvPr/>
        </p:nvSpPr>
        <p:spPr>
          <a:xfrm>
            <a:off x="1184135" y="1657625"/>
            <a:ext cx="670560" cy="463296"/>
          </a:xfrm>
          <a:prstGeom prst="rect">
            <a:avLst/>
          </a:prstGeom>
          <a:solidFill>
            <a:srgbClr val="C0441C">
              <a:alpha val="25000"/>
            </a:srgbClr>
          </a:solidFill>
          <a:ln w="12700">
            <a:solidFill>
              <a:srgbClr val="C0441C"/>
            </a:solidFill>
            <a:prstDash val="solid"/>
          </a:ln>
        </p:spPr>
        <p:txBody>
          <a:bodyPr/>
          <a:lstStyle/>
          <a:p>
            <a:endParaRPr lang="en-CA" sz="2400">
              <a:latin typeface="Montserrat" panose="00000500000000000000" pitchFamily="2" charset="0"/>
            </a:endParaRPr>
          </a:p>
        </p:txBody>
      </p:sp>
      <p:sp>
        <p:nvSpPr>
          <p:cNvPr id="11" name="Text 7">
            <a:extLst>
              <a:ext uri="{FF2B5EF4-FFF2-40B4-BE49-F238E27FC236}">
                <a16:creationId xmlns:a16="http://schemas.microsoft.com/office/drawing/2014/main" id="{0622CFB8-007D-D000-CCED-D083A3FFD36C}"/>
              </a:ext>
            </a:extLst>
          </p:cNvPr>
          <p:cNvSpPr/>
          <p:nvPr/>
        </p:nvSpPr>
        <p:spPr>
          <a:xfrm>
            <a:off x="1184135" y="1657625"/>
            <a:ext cx="670560" cy="463296"/>
          </a:xfrm>
          <a:prstGeom prst="rect">
            <a:avLst/>
          </a:prstGeom>
          <a:noFill/>
          <a:ln/>
        </p:spPr>
        <p:txBody>
          <a:bodyPr wrap="square" rtlCol="0" anchor="ctr"/>
          <a:lstStyle/>
          <a:p>
            <a:pPr algn="ctr"/>
            <a:r>
              <a:rPr lang="en-US" sz="1333" b="1" dirty="0">
                <a:solidFill>
                  <a:srgbClr val="FFFFFF"/>
                </a:solidFill>
                <a:latin typeface="Montserrat" panose="00000500000000000000" pitchFamily="2" charset="0"/>
                <a:ea typeface="Consolas" pitchFamily="34" charset="-122"/>
                <a:cs typeface="Consolas" pitchFamily="34" charset="-120"/>
              </a:rPr>
              <a:t>pptx</a:t>
            </a:r>
            <a:endParaRPr lang="en-US" sz="1333" dirty="0">
              <a:latin typeface="Montserrat" panose="00000500000000000000" pitchFamily="2" charset="0"/>
            </a:endParaRPr>
          </a:p>
        </p:txBody>
      </p:sp>
      <p:sp>
        <p:nvSpPr>
          <p:cNvPr id="12" name="Text 8">
            <a:extLst>
              <a:ext uri="{FF2B5EF4-FFF2-40B4-BE49-F238E27FC236}">
                <a16:creationId xmlns:a16="http://schemas.microsoft.com/office/drawing/2014/main" id="{D1524638-C978-562C-767F-E8D809B7D9BA}"/>
              </a:ext>
            </a:extLst>
          </p:cNvPr>
          <p:cNvSpPr/>
          <p:nvPr/>
        </p:nvSpPr>
        <p:spPr>
          <a:xfrm>
            <a:off x="1952230" y="1657625"/>
            <a:ext cx="1668409" cy="463296"/>
          </a:xfrm>
          <a:prstGeom prst="rect">
            <a:avLst/>
          </a:prstGeom>
          <a:noFill/>
          <a:ln/>
        </p:spPr>
        <p:txBody>
          <a:bodyPr wrap="square" rtlCol="0" anchor="ctr"/>
          <a:lstStyle/>
          <a:p>
            <a:r>
              <a:rPr lang="en-US" sz="1733" b="1" dirty="0">
                <a:solidFill>
                  <a:srgbClr val="FFFFFF"/>
                </a:solidFill>
                <a:latin typeface="Montserrat" panose="00000500000000000000" pitchFamily="2" charset="0"/>
                <a:ea typeface="Calibri" pitchFamily="34" charset="-122"/>
                <a:cs typeface="Calibri" pitchFamily="34" charset="-120"/>
              </a:rPr>
              <a:t>PowerPoint</a:t>
            </a:r>
            <a:endParaRPr lang="en-US" sz="1733" dirty="0">
              <a:latin typeface="Montserrat" panose="00000500000000000000" pitchFamily="2" charset="0"/>
            </a:endParaRPr>
          </a:p>
        </p:txBody>
      </p:sp>
      <p:sp>
        <p:nvSpPr>
          <p:cNvPr id="13" name="Text 9">
            <a:extLst>
              <a:ext uri="{FF2B5EF4-FFF2-40B4-BE49-F238E27FC236}">
                <a16:creationId xmlns:a16="http://schemas.microsoft.com/office/drawing/2014/main" id="{A43D6E03-E213-9EE7-DB87-B835307E3BAA}"/>
              </a:ext>
            </a:extLst>
          </p:cNvPr>
          <p:cNvSpPr/>
          <p:nvPr/>
        </p:nvSpPr>
        <p:spPr>
          <a:xfrm>
            <a:off x="1184135" y="2218457"/>
            <a:ext cx="2255520" cy="1036320"/>
          </a:xfrm>
          <a:prstGeom prst="rect">
            <a:avLst/>
          </a:prstGeom>
          <a:noFill/>
          <a:ln/>
        </p:spPr>
        <p:txBody>
          <a:bodyPr wrap="square" rtlCol="0" anchor="ctr"/>
          <a:lstStyle/>
          <a:p>
            <a:r>
              <a:rPr lang="en-US" sz="1467" dirty="0">
                <a:solidFill>
                  <a:srgbClr val="9CA3AF"/>
                </a:solidFill>
                <a:latin typeface="Montserrat" panose="00000500000000000000" pitchFamily="2" charset="0"/>
                <a:ea typeface="Calibri" pitchFamily="34" charset="-122"/>
                <a:cs typeface="Calibri" pitchFamily="34" charset="-120"/>
              </a:rPr>
              <a:t>Create and edit .pptx presentations</a:t>
            </a:r>
            <a:endParaRPr lang="en-US" sz="1467" dirty="0">
              <a:latin typeface="Montserrat" panose="00000500000000000000" pitchFamily="2" charset="0"/>
            </a:endParaRPr>
          </a:p>
        </p:txBody>
      </p:sp>
      <p:sp>
        <p:nvSpPr>
          <p:cNvPr id="14" name="Shape 10">
            <a:extLst>
              <a:ext uri="{FF2B5EF4-FFF2-40B4-BE49-F238E27FC236}">
                <a16:creationId xmlns:a16="http://schemas.microsoft.com/office/drawing/2014/main" id="{9305C27E-E5E7-9EAB-3626-290757A305FA}"/>
              </a:ext>
            </a:extLst>
          </p:cNvPr>
          <p:cNvSpPr/>
          <p:nvPr/>
        </p:nvSpPr>
        <p:spPr>
          <a:xfrm>
            <a:off x="4857290" y="1438169"/>
            <a:ext cx="2621280" cy="201168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16" name="Shape 12">
            <a:extLst>
              <a:ext uri="{FF2B5EF4-FFF2-40B4-BE49-F238E27FC236}">
                <a16:creationId xmlns:a16="http://schemas.microsoft.com/office/drawing/2014/main" id="{63EAAF0B-C21A-A523-72DB-EB621BB781A2}"/>
              </a:ext>
            </a:extLst>
          </p:cNvPr>
          <p:cNvSpPr/>
          <p:nvPr/>
        </p:nvSpPr>
        <p:spPr>
          <a:xfrm>
            <a:off x="5040170" y="1657625"/>
            <a:ext cx="670560" cy="463296"/>
          </a:xfrm>
          <a:prstGeom prst="rect">
            <a:avLst/>
          </a:prstGeom>
          <a:solidFill>
            <a:srgbClr val="1D7044">
              <a:alpha val="25000"/>
            </a:srgbClr>
          </a:solidFill>
          <a:ln w="12700">
            <a:solidFill>
              <a:srgbClr val="1D7044"/>
            </a:solidFill>
            <a:prstDash val="solid"/>
          </a:ln>
        </p:spPr>
        <p:txBody>
          <a:bodyPr/>
          <a:lstStyle/>
          <a:p>
            <a:endParaRPr lang="en-CA" sz="2400">
              <a:latin typeface="Montserrat" panose="00000500000000000000" pitchFamily="2" charset="0"/>
            </a:endParaRPr>
          </a:p>
        </p:txBody>
      </p:sp>
      <p:sp>
        <p:nvSpPr>
          <p:cNvPr id="17" name="Text 13">
            <a:extLst>
              <a:ext uri="{FF2B5EF4-FFF2-40B4-BE49-F238E27FC236}">
                <a16:creationId xmlns:a16="http://schemas.microsoft.com/office/drawing/2014/main" id="{6D658D20-F66C-B82A-A8C7-782A194CF9CE}"/>
              </a:ext>
            </a:extLst>
          </p:cNvPr>
          <p:cNvSpPr/>
          <p:nvPr/>
        </p:nvSpPr>
        <p:spPr>
          <a:xfrm>
            <a:off x="5040170" y="1657625"/>
            <a:ext cx="670560" cy="463296"/>
          </a:xfrm>
          <a:prstGeom prst="rect">
            <a:avLst/>
          </a:prstGeom>
          <a:noFill/>
          <a:ln/>
        </p:spPr>
        <p:txBody>
          <a:bodyPr wrap="square" rtlCol="0" anchor="ctr"/>
          <a:lstStyle/>
          <a:p>
            <a:pPr algn="ctr"/>
            <a:r>
              <a:rPr lang="en-US" sz="1333" b="1" dirty="0">
                <a:solidFill>
                  <a:srgbClr val="FFFFFF"/>
                </a:solidFill>
                <a:latin typeface="Montserrat" panose="00000500000000000000" pitchFamily="2" charset="0"/>
                <a:ea typeface="Consolas" pitchFamily="34" charset="-122"/>
                <a:cs typeface="Consolas" pitchFamily="34" charset="-120"/>
              </a:rPr>
              <a:t>xlsx</a:t>
            </a:r>
            <a:endParaRPr lang="en-US" sz="1333" dirty="0">
              <a:latin typeface="Montserrat" panose="00000500000000000000" pitchFamily="2" charset="0"/>
            </a:endParaRPr>
          </a:p>
        </p:txBody>
      </p:sp>
      <p:sp>
        <p:nvSpPr>
          <p:cNvPr id="18" name="Text 14">
            <a:extLst>
              <a:ext uri="{FF2B5EF4-FFF2-40B4-BE49-F238E27FC236}">
                <a16:creationId xmlns:a16="http://schemas.microsoft.com/office/drawing/2014/main" id="{65FF1279-E931-FEEF-6E76-256FECC79162}"/>
              </a:ext>
            </a:extLst>
          </p:cNvPr>
          <p:cNvSpPr/>
          <p:nvPr/>
        </p:nvSpPr>
        <p:spPr>
          <a:xfrm>
            <a:off x="5808266" y="1657625"/>
            <a:ext cx="1463040" cy="463296"/>
          </a:xfrm>
          <a:prstGeom prst="rect">
            <a:avLst/>
          </a:prstGeom>
          <a:noFill/>
          <a:ln/>
        </p:spPr>
        <p:txBody>
          <a:bodyPr wrap="square" rtlCol="0" anchor="ctr"/>
          <a:lstStyle/>
          <a:p>
            <a:r>
              <a:rPr lang="en-US" sz="1733" b="1" dirty="0">
                <a:solidFill>
                  <a:srgbClr val="FFFFFF"/>
                </a:solidFill>
                <a:latin typeface="Montserrat" panose="00000500000000000000" pitchFamily="2" charset="0"/>
                <a:ea typeface="Calibri" pitchFamily="34" charset="-122"/>
                <a:cs typeface="Calibri" pitchFamily="34" charset="-120"/>
              </a:rPr>
              <a:t>Excel</a:t>
            </a:r>
            <a:endParaRPr lang="en-US" sz="1733" dirty="0">
              <a:latin typeface="Montserrat" panose="00000500000000000000" pitchFamily="2" charset="0"/>
            </a:endParaRPr>
          </a:p>
        </p:txBody>
      </p:sp>
      <p:sp>
        <p:nvSpPr>
          <p:cNvPr id="19" name="Text 15">
            <a:extLst>
              <a:ext uri="{FF2B5EF4-FFF2-40B4-BE49-F238E27FC236}">
                <a16:creationId xmlns:a16="http://schemas.microsoft.com/office/drawing/2014/main" id="{A04EAAEF-DBB3-C2E4-73FD-4370A5560F63}"/>
              </a:ext>
            </a:extLst>
          </p:cNvPr>
          <p:cNvSpPr/>
          <p:nvPr/>
        </p:nvSpPr>
        <p:spPr>
          <a:xfrm>
            <a:off x="5040170" y="2218457"/>
            <a:ext cx="2255520" cy="1036320"/>
          </a:xfrm>
          <a:prstGeom prst="rect">
            <a:avLst/>
          </a:prstGeom>
          <a:noFill/>
          <a:ln/>
        </p:spPr>
        <p:txBody>
          <a:bodyPr wrap="square" rtlCol="0" anchor="ctr"/>
          <a:lstStyle/>
          <a:p>
            <a:r>
              <a:rPr lang="en-US" sz="1467" dirty="0">
                <a:solidFill>
                  <a:srgbClr val="9CA3AF"/>
                </a:solidFill>
                <a:latin typeface="Montserrat" panose="00000500000000000000" pitchFamily="2" charset="0"/>
                <a:ea typeface="Calibri" pitchFamily="34" charset="-122"/>
                <a:cs typeface="Calibri" pitchFamily="34" charset="-120"/>
              </a:rPr>
              <a:t>Build spreadsheets, charts, and formulas</a:t>
            </a:r>
            <a:endParaRPr lang="en-US" sz="1467" dirty="0">
              <a:latin typeface="Montserrat" panose="00000500000000000000" pitchFamily="2" charset="0"/>
            </a:endParaRPr>
          </a:p>
        </p:txBody>
      </p:sp>
      <p:sp>
        <p:nvSpPr>
          <p:cNvPr id="20" name="Shape 16">
            <a:extLst>
              <a:ext uri="{FF2B5EF4-FFF2-40B4-BE49-F238E27FC236}">
                <a16:creationId xmlns:a16="http://schemas.microsoft.com/office/drawing/2014/main" id="{ACDCAF7D-EF70-CD1D-5871-923D83745991}"/>
              </a:ext>
            </a:extLst>
          </p:cNvPr>
          <p:cNvSpPr/>
          <p:nvPr/>
        </p:nvSpPr>
        <p:spPr>
          <a:xfrm>
            <a:off x="8471549" y="1438169"/>
            <a:ext cx="2621280" cy="201168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22" name="Shape 18">
            <a:extLst>
              <a:ext uri="{FF2B5EF4-FFF2-40B4-BE49-F238E27FC236}">
                <a16:creationId xmlns:a16="http://schemas.microsoft.com/office/drawing/2014/main" id="{ACBCCFF1-F048-C222-CCA6-7F5A40B76220}"/>
              </a:ext>
            </a:extLst>
          </p:cNvPr>
          <p:cNvSpPr/>
          <p:nvPr/>
        </p:nvSpPr>
        <p:spPr>
          <a:xfrm>
            <a:off x="8654429" y="1657625"/>
            <a:ext cx="670560" cy="463296"/>
          </a:xfrm>
          <a:prstGeom prst="rect">
            <a:avLst/>
          </a:prstGeom>
          <a:solidFill>
            <a:srgbClr val="2B579A">
              <a:alpha val="25000"/>
            </a:srgbClr>
          </a:solidFill>
          <a:ln w="12700">
            <a:solidFill>
              <a:srgbClr val="2B579A"/>
            </a:solidFill>
            <a:prstDash val="solid"/>
          </a:ln>
        </p:spPr>
        <p:txBody>
          <a:bodyPr/>
          <a:lstStyle/>
          <a:p>
            <a:endParaRPr lang="en-CA" sz="2400">
              <a:latin typeface="Montserrat" panose="00000500000000000000" pitchFamily="2" charset="0"/>
            </a:endParaRPr>
          </a:p>
        </p:txBody>
      </p:sp>
      <p:sp>
        <p:nvSpPr>
          <p:cNvPr id="23" name="Text 19">
            <a:extLst>
              <a:ext uri="{FF2B5EF4-FFF2-40B4-BE49-F238E27FC236}">
                <a16:creationId xmlns:a16="http://schemas.microsoft.com/office/drawing/2014/main" id="{C5DEE61F-A7A9-6A93-5BAE-69D4FBFCA350}"/>
              </a:ext>
            </a:extLst>
          </p:cNvPr>
          <p:cNvSpPr/>
          <p:nvPr/>
        </p:nvSpPr>
        <p:spPr>
          <a:xfrm>
            <a:off x="8654429" y="1657625"/>
            <a:ext cx="670560" cy="463296"/>
          </a:xfrm>
          <a:prstGeom prst="rect">
            <a:avLst/>
          </a:prstGeom>
          <a:noFill/>
          <a:ln/>
        </p:spPr>
        <p:txBody>
          <a:bodyPr wrap="square" rtlCol="0" anchor="ctr"/>
          <a:lstStyle/>
          <a:p>
            <a:pPr algn="ctr"/>
            <a:r>
              <a:rPr lang="en-US" sz="1333" b="1" dirty="0">
                <a:solidFill>
                  <a:srgbClr val="FFFFFF"/>
                </a:solidFill>
                <a:latin typeface="Montserrat" panose="00000500000000000000" pitchFamily="2" charset="0"/>
                <a:ea typeface="Consolas" pitchFamily="34" charset="-122"/>
                <a:cs typeface="Consolas" pitchFamily="34" charset="-120"/>
              </a:rPr>
              <a:t>docx</a:t>
            </a:r>
            <a:endParaRPr lang="en-US" sz="1333" dirty="0">
              <a:latin typeface="Montserrat" panose="00000500000000000000" pitchFamily="2" charset="0"/>
            </a:endParaRPr>
          </a:p>
        </p:txBody>
      </p:sp>
      <p:sp>
        <p:nvSpPr>
          <p:cNvPr id="24" name="Text 20">
            <a:extLst>
              <a:ext uri="{FF2B5EF4-FFF2-40B4-BE49-F238E27FC236}">
                <a16:creationId xmlns:a16="http://schemas.microsoft.com/office/drawing/2014/main" id="{B487A9B3-1849-72CE-501C-49E334AC6F4D}"/>
              </a:ext>
            </a:extLst>
          </p:cNvPr>
          <p:cNvSpPr/>
          <p:nvPr/>
        </p:nvSpPr>
        <p:spPr>
          <a:xfrm>
            <a:off x="9422525" y="1657625"/>
            <a:ext cx="1463040" cy="463296"/>
          </a:xfrm>
          <a:prstGeom prst="rect">
            <a:avLst/>
          </a:prstGeom>
          <a:noFill/>
          <a:ln/>
        </p:spPr>
        <p:txBody>
          <a:bodyPr wrap="square" rtlCol="0" anchor="ctr"/>
          <a:lstStyle/>
          <a:p>
            <a:r>
              <a:rPr lang="en-US" sz="1733" b="1" dirty="0">
                <a:solidFill>
                  <a:srgbClr val="FFFFFF"/>
                </a:solidFill>
                <a:latin typeface="Montserrat" panose="00000500000000000000" pitchFamily="2" charset="0"/>
                <a:ea typeface="Calibri" pitchFamily="34" charset="-122"/>
                <a:cs typeface="Calibri" pitchFamily="34" charset="-120"/>
              </a:rPr>
              <a:t>Word</a:t>
            </a:r>
            <a:endParaRPr lang="en-US" sz="1733" dirty="0">
              <a:latin typeface="Montserrat" panose="00000500000000000000" pitchFamily="2" charset="0"/>
            </a:endParaRPr>
          </a:p>
        </p:txBody>
      </p:sp>
      <p:sp>
        <p:nvSpPr>
          <p:cNvPr id="25" name="Text 21">
            <a:extLst>
              <a:ext uri="{FF2B5EF4-FFF2-40B4-BE49-F238E27FC236}">
                <a16:creationId xmlns:a16="http://schemas.microsoft.com/office/drawing/2014/main" id="{4947B80E-87FF-0083-A5FA-3D85DE3E1002}"/>
              </a:ext>
            </a:extLst>
          </p:cNvPr>
          <p:cNvSpPr/>
          <p:nvPr/>
        </p:nvSpPr>
        <p:spPr>
          <a:xfrm>
            <a:off x="8654429" y="2218457"/>
            <a:ext cx="2255520" cy="1036320"/>
          </a:xfrm>
          <a:prstGeom prst="rect">
            <a:avLst/>
          </a:prstGeom>
          <a:noFill/>
          <a:ln/>
        </p:spPr>
        <p:txBody>
          <a:bodyPr wrap="square" rtlCol="0" anchor="ctr"/>
          <a:lstStyle/>
          <a:p>
            <a:r>
              <a:rPr lang="en-US" sz="1467" dirty="0">
                <a:solidFill>
                  <a:srgbClr val="9CA3AF"/>
                </a:solidFill>
                <a:latin typeface="Montserrat" panose="00000500000000000000" pitchFamily="2" charset="0"/>
                <a:ea typeface="Calibri" pitchFamily="34" charset="-122"/>
                <a:cs typeface="Calibri" pitchFamily="34" charset="-120"/>
              </a:rPr>
              <a:t>Generate and edit formatted .docx documents</a:t>
            </a:r>
            <a:endParaRPr lang="en-US" sz="1467" dirty="0">
              <a:latin typeface="Montserrat" panose="00000500000000000000" pitchFamily="2" charset="0"/>
            </a:endParaRPr>
          </a:p>
        </p:txBody>
      </p:sp>
      <p:sp>
        <p:nvSpPr>
          <p:cNvPr id="26" name="Shape 22">
            <a:extLst>
              <a:ext uri="{FF2B5EF4-FFF2-40B4-BE49-F238E27FC236}">
                <a16:creationId xmlns:a16="http://schemas.microsoft.com/office/drawing/2014/main" id="{C8605C97-D0DC-DD9E-3254-FD5E3D243AC3}"/>
              </a:ext>
            </a:extLst>
          </p:cNvPr>
          <p:cNvSpPr/>
          <p:nvPr/>
        </p:nvSpPr>
        <p:spPr>
          <a:xfrm>
            <a:off x="2886165" y="3790950"/>
            <a:ext cx="2621280" cy="201168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28" name="Shape 24">
            <a:extLst>
              <a:ext uri="{FF2B5EF4-FFF2-40B4-BE49-F238E27FC236}">
                <a16:creationId xmlns:a16="http://schemas.microsoft.com/office/drawing/2014/main" id="{87F61F75-2C34-F84F-2813-F1B7DE103CD0}"/>
              </a:ext>
            </a:extLst>
          </p:cNvPr>
          <p:cNvSpPr/>
          <p:nvPr/>
        </p:nvSpPr>
        <p:spPr>
          <a:xfrm>
            <a:off x="3069045" y="4010406"/>
            <a:ext cx="670560" cy="463296"/>
          </a:xfrm>
          <a:prstGeom prst="rect">
            <a:avLst/>
          </a:prstGeom>
          <a:solidFill>
            <a:srgbClr val="CC3333">
              <a:alpha val="25000"/>
            </a:srgbClr>
          </a:solidFill>
          <a:ln w="12700">
            <a:solidFill>
              <a:srgbClr val="CC3333"/>
            </a:solidFill>
            <a:prstDash val="solid"/>
          </a:ln>
        </p:spPr>
        <p:txBody>
          <a:bodyPr/>
          <a:lstStyle/>
          <a:p>
            <a:endParaRPr lang="en-CA" sz="2400">
              <a:latin typeface="Montserrat" panose="00000500000000000000" pitchFamily="2" charset="0"/>
            </a:endParaRPr>
          </a:p>
        </p:txBody>
      </p:sp>
      <p:sp>
        <p:nvSpPr>
          <p:cNvPr id="29" name="Text 25">
            <a:extLst>
              <a:ext uri="{FF2B5EF4-FFF2-40B4-BE49-F238E27FC236}">
                <a16:creationId xmlns:a16="http://schemas.microsoft.com/office/drawing/2014/main" id="{A220F084-2A7B-31EF-B7FE-2EB0F11380C9}"/>
              </a:ext>
            </a:extLst>
          </p:cNvPr>
          <p:cNvSpPr/>
          <p:nvPr/>
        </p:nvSpPr>
        <p:spPr>
          <a:xfrm>
            <a:off x="3069045" y="4010406"/>
            <a:ext cx="670560" cy="463296"/>
          </a:xfrm>
          <a:prstGeom prst="rect">
            <a:avLst/>
          </a:prstGeom>
          <a:noFill/>
          <a:ln/>
        </p:spPr>
        <p:txBody>
          <a:bodyPr wrap="square" rtlCol="0" anchor="ctr"/>
          <a:lstStyle/>
          <a:p>
            <a:pPr algn="ctr"/>
            <a:r>
              <a:rPr lang="en-US" sz="1333" b="1" dirty="0">
                <a:solidFill>
                  <a:srgbClr val="FFFFFF"/>
                </a:solidFill>
                <a:latin typeface="Montserrat" panose="00000500000000000000" pitchFamily="2" charset="0"/>
                <a:ea typeface="Consolas" pitchFamily="34" charset="-122"/>
                <a:cs typeface="Consolas" pitchFamily="34" charset="-120"/>
              </a:rPr>
              <a:t>pdf</a:t>
            </a:r>
            <a:endParaRPr lang="en-US" sz="1333" dirty="0">
              <a:latin typeface="Montserrat" panose="00000500000000000000" pitchFamily="2" charset="0"/>
            </a:endParaRPr>
          </a:p>
        </p:txBody>
      </p:sp>
      <p:sp>
        <p:nvSpPr>
          <p:cNvPr id="30" name="Text 26">
            <a:extLst>
              <a:ext uri="{FF2B5EF4-FFF2-40B4-BE49-F238E27FC236}">
                <a16:creationId xmlns:a16="http://schemas.microsoft.com/office/drawing/2014/main" id="{1391EA55-85ED-56EE-1A8C-49DE8FC6F4B4}"/>
              </a:ext>
            </a:extLst>
          </p:cNvPr>
          <p:cNvSpPr/>
          <p:nvPr/>
        </p:nvSpPr>
        <p:spPr>
          <a:xfrm>
            <a:off x="3837141" y="4010406"/>
            <a:ext cx="1463040" cy="463296"/>
          </a:xfrm>
          <a:prstGeom prst="rect">
            <a:avLst/>
          </a:prstGeom>
          <a:noFill/>
          <a:ln/>
        </p:spPr>
        <p:txBody>
          <a:bodyPr wrap="square" rtlCol="0" anchor="ctr"/>
          <a:lstStyle/>
          <a:p>
            <a:r>
              <a:rPr lang="en-US" sz="1733" b="1" dirty="0">
                <a:solidFill>
                  <a:srgbClr val="FFFFFF"/>
                </a:solidFill>
                <a:latin typeface="Montserrat" panose="00000500000000000000" pitchFamily="2" charset="0"/>
                <a:ea typeface="Calibri" pitchFamily="34" charset="-122"/>
                <a:cs typeface="Calibri" pitchFamily="34" charset="-120"/>
              </a:rPr>
              <a:t>PDF</a:t>
            </a:r>
            <a:endParaRPr lang="en-US" sz="1733" dirty="0">
              <a:latin typeface="Montserrat" panose="00000500000000000000" pitchFamily="2" charset="0"/>
            </a:endParaRPr>
          </a:p>
        </p:txBody>
      </p:sp>
      <p:sp>
        <p:nvSpPr>
          <p:cNvPr id="31" name="Text 27">
            <a:extLst>
              <a:ext uri="{FF2B5EF4-FFF2-40B4-BE49-F238E27FC236}">
                <a16:creationId xmlns:a16="http://schemas.microsoft.com/office/drawing/2014/main" id="{AA2717CB-4B4B-5671-A9E3-454CE3485E7F}"/>
              </a:ext>
            </a:extLst>
          </p:cNvPr>
          <p:cNvSpPr/>
          <p:nvPr/>
        </p:nvSpPr>
        <p:spPr>
          <a:xfrm>
            <a:off x="3069045" y="4571238"/>
            <a:ext cx="2438400" cy="1036320"/>
          </a:xfrm>
          <a:prstGeom prst="rect">
            <a:avLst/>
          </a:prstGeom>
          <a:noFill/>
          <a:ln/>
        </p:spPr>
        <p:txBody>
          <a:bodyPr wrap="square" rtlCol="0" anchor="ctr"/>
          <a:lstStyle/>
          <a:p>
            <a:r>
              <a:rPr lang="en-US" sz="1467" dirty="0">
                <a:solidFill>
                  <a:srgbClr val="9CA3AF"/>
                </a:solidFill>
                <a:latin typeface="Montserrat" panose="00000500000000000000" pitchFamily="2" charset="0"/>
                <a:ea typeface="Calibri" pitchFamily="34" charset="-122"/>
                <a:cs typeface="Calibri" pitchFamily="34" charset="-120"/>
              </a:rPr>
              <a:t>Create, fill, merge, and extract from PDFs</a:t>
            </a:r>
            <a:endParaRPr lang="en-US" sz="1467" dirty="0">
              <a:latin typeface="Montserrat" panose="00000500000000000000" pitchFamily="2" charset="0"/>
            </a:endParaRPr>
          </a:p>
        </p:txBody>
      </p:sp>
      <p:sp>
        <p:nvSpPr>
          <p:cNvPr id="47" name="Shape 22">
            <a:extLst>
              <a:ext uri="{FF2B5EF4-FFF2-40B4-BE49-F238E27FC236}">
                <a16:creationId xmlns:a16="http://schemas.microsoft.com/office/drawing/2014/main" id="{4C50D6F8-DCE4-F108-82EC-315AF336C4AC}"/>
              </a:ext>
            </a:extLst>
          </p:cNvPr>
          <p:cNvSpPr/>
          <p:nvPr/>
        </p:nvSpPr>
        <p:spPr>
          <a:xfrm>
            <a:off x="6744095" y="3821705"/>
            <a:ext cx="2621280" cy="201168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50" name="Text 26">
            <a:extLst>
              <a:ext uri="{FF2B5EF4-FFF2-40B4-BE49-F238E27FC236}">
                <a16:creationId xmlns:a16="http://schemas.microsoft.com/office/drawing/2014/main" id="{8BCE13E0-B3E9-B60E-62C9-1EB3D5237ABD}"/>
              </a:ext>
            </a:extLst>
          </p:cNvPr>
          <p:cNvSpPr/>
          <p:nvPr/>
        </p:nvSpPr>
        <p:spPr>
          <a:xfrm>
            <a:off x="6963551" y="4041161"/>
            <a:ext cx="2255520" cy="463296"/>
          </a:xfrm>
          <a:prstGeom prst="rect">
            <a:avLst/>
          </a:prstGeom>
          <a:noFill/>
          <a:ln/>
        </p:spPr>
        <p:txBody>
          <a:bodyPr wrap="square" rtlCol="0" anchor="ctr"/>
          <a:lstStyle/>
          <a:p>
            <a:r>
              <a:rPr lang="en-US" sz="1733" b="1" dirty="0">
                <a:solidFill>
                  <a:srgbClr val="FFFFFF"/>
                </a:solidFill>
                <a:latin typeface="Montserrat" panose="00000500000000000000" pitchFamily="2" charset="0"/>
                <a:ea typeface="Calibri" pitchFamily="34" charset="-122"/>
                <a:cs typeface="Calibri" pitchFamily="34" charset="-120"/>
              </a:rPr>
              <a:t>frontend-design</a:t>
            </a:r>
          </a:p>
        </p:txBody>
      </p:sp>
      <p:sp>
        <p:nvSpPr>
          <p:cNvPr id="51" name="Text 27">
            <a:extLst>
              <a:ext uri="{FF2B5EF4-FFF2-40B4-BE49-F238E27FC236}">
                <a16:creationId xmlns:a16="http://schemas.microsoft.com/office/drawing/2014/main" id="{FD850338-105D-5140-8F4E-21278259C19A}"/>
              </a:ext>
            </a:extLst>
          </p:cNvPr>
          <p:cNvSpPr/>
          <p:nvPr/>
        </p:nvSpPr>
        <p:spPr>
          <a:xfrm>
            <a:off x="6926975" y="4601993"/>
            <a:ext cx="2438400" cy="1036320"/>
          </a:xfrm>
          <a:prstGeom prst="rect">
            <a:avLst/>
          </a:prstGeom>
          <a:noFill/>
          <a:ln/>
        </p:spPr>
        <p:txBody>
          <a:bodyPr wrap="square" rtlCol="0" anchor="ctr"/>
          <a:lstStyle/>
          <a:p>
            <a:r>
              <a:rPr lang="en-US" sz="1467" dirty="0">
                <a:solidFill>
                  <a:srgbClr val="9CA3AF"/>
                </a:solidFill>
                <a:latin typeface="Montserrat" panose="00000500000000000000" pitchFamily="2" charset="0"/>
                <a:ea typeface="Calibri" pitchFamily="34" charset="-122"/>
                <a:cs typeface="Calibri" pitchFamily="34" charset="-120"/>
              </a:rPr>
              <a:t>Production-grade UI with bold aesthetic choices</a:t>
            </a:r>
          </a:p>
        </p:txBody>
      </p:sp>
      <p:sp>
        <p:nvSpPr>
          <p:cNvPr id="58" name="TextBox 57">
            <a:extLst>
              <a:ext uri="{FF2B5EF4-FFF2-40B4-BE49-F238E27FC236}">
                <a16:creationId xmlns:a16="http://schemas.microsoft.com/office/drawing/2014/main" id="{E735FE79-E7E1-2075-5618-63D92561BDC0}"/>
              </a:ext>
            </a:extLst>
          </p:cNvPr>
          <p:cNvSpPr txBox="1"/>
          <p:nvPr/>
        </p:nvSpPr>
        <p:spPr>
          <a:xfrm>
            <a:off x="339657" y="829445"/>
            <a:ext cx="10570292" cy="646331"/>
          </a:xfrm>
          <a:prstGeom prst="rect">
            <a:avLst/>
          </a:prstGeom>
          <a:noFill/>
        </p:spPr>
        <p:txBody>
          <a:bodyPr wrap="square">
            <a:spAutoFit/>
          </a:bodyPr>
          <a:lstStyle/>
          <a:p>
            <a:pPr marL="285750" indent="-285750">
              <a:buFont typeface="Arial" panose="020B0604020202020204" pitchFamily="34" charset="0"/>
              <a:buChar char="•"/>
            </a:pPr>
            <a:r>
              <a:rPr lang="en-CA" dirty="0">
                <a:latin typeface="Montserrat" panose="00000500000000000000" pitchFamily="2" charset="0"/>
              </a:rPr>
              <a:t>Check the official skills list: </a:t>
            </a:r>
            <a:r>
              <a:rPr lang="en-CA" dirty="0">
                <a:latin typeface="Montserrat" panose="00000500000000000000" pitchFamily="2" charset="0"/>
                <a:hlinkClick r:id="rId5"/>
              </a:rPr>
              <a:t>https://github.com/anthropics/skills/tree/main/skills</a:t>
            </a:r>
            <a:endParaRPr lang="en-CA" dirty="0">
              <a:latin typeface="Montserrat" panose="00000500000000000000" pitchFamily="2" charset="0"/>
            </a:endParaRPr>
          </a:p>
          <a:p>
            <a:pPr marL="285750" indent="-285750">
              <a:buFont typeface="Arial" panose="020B0604020202020204" pitchFamily="34" charset="0"/>
              <a:buChar char="•"/>
            </a:pPr>
            <a:endParaRPr lang="en-CA" dirty="0"/>
          </a:p>
        </p:txBody>
      </p:sp>
    </p:spTree>
    <p:extLst>
      <p:ext uri="{BB962C8B-B14F-4D97-AF65-F5344CB8AC3E}">
        <p14:creationId xmlns:p14="http://schemas.microsoft.com/office/powerpoint/2010/main" val="30021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33D0-19EF-25AA-E712-3511F491BD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E39806-D29C-0A0B-7514-33DAA83F6C8C}"/>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B486B30F-794C-0B1A-C2E0-D7F55B5F8F97}"/>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E36731F-C11D-155B-1601-E1BB374DA9CF}"/>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Example: frontend-design skill</a:t>
            </a:r>
          </a:p>
        </p:txBody>
      </p:sp>
      <p:sp>
        <p:nvSpPr>
          <p:cNvPr id="9" name="TextBox 8">
            <a:extLst>
              <a:ext uri="{FF2B5EF4-FFF2-40B4-BE49-F238E27FC236}">
                <a16:creationId xmlns:a16="http://schemas.microsoft.com/office/drawing/2014/main" id="{D6CE3B2B-5BBC-AD36-985C-38DB1D092EF9}"/>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FFB8C502-91CD-329F-4ABD-1C826973336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Shape 2">
            <a:extLst>
              <a:ext uri="{FF2B5EF4-FFF2-40B4-BE49-F238E27FC236}">
                <a16:creationId xmlns:a16="http://schemas.microsoft.com/office/drawing/2014/main" id="{8B193FDB-BA2D-94A5-36FB-A8F3F1AF697A}"/>
              </a:ext>
            </a:extLst>
          </p:cNvPr>
          <p:cNvSpPr/>
          <p:nvPr/>
        </p:nvSpPr>
        <p:spPr>
          <a:xfrm>
            <a:off x="609600" y="907669"/>
            <a:ext cx="5242560" cy="5181600"/>
          </a:xfrm>
          <a:prstGeom prst="rect">
            <a:avLst/>
          </a:prstGeom>
          <a:solidFill>
            <a:schemeClr val="bg1">
              <a:lumMod val="85000"/>
            </a:schemeClr>
          </a:solidFill>
          <a:ln w="19050">
            <a:noFill/>
            <a:prstDash val="solid"/>
          </a:ln>
        </p:spPr>
        <p:txBody>
          <a:bodyPr/>
          <a:lstStyle/>
          <a:p>
            <a:endParaRPr lang="en-CA" sz="2400">
              <a:latin typeface="Montserrat" panose="00000500000000000000" pitchFamily="2" charset="0"/>
            </a:endParaRPr>
          </a:p>
        </p:txBody>
      </p:sp>
      <p:sp>
        <p:nvSpPr>
          <p:cNvPr id="8" name="Text 4">
            <a:extLst>
              <a:ext uri="{FF2B5EF4-FFF2-40B4-BE49-F238E27FC236}">
                <a16:creationId xmlns:a16="http://schemas.microsoft.com/office/drawing/2014/main" id="{229DD307-3DAA-B370-7772-E3CF0355CC22}"/>
              </a:ext>
            </a:extLst>
          </p:cNvPr>
          <p:cNvSpPr/>
          <p:nvPr/>
        </p:nvSpPr>
        <p:spPr>
          <a:xfrm>
            <a:off x="792480" y="1066165"/>
            <a:ext cx="4876800" cy="463296"/>
          </a:xfrm>
          <a:prstGeom prst="rect">
            <a:avLst/>
          </a:prstGeom>
          <a:noFill/>
          <a:ln/>
        </p:spPr>
        <p:txBody>
          <a:bodyPr wrap="square" rtlCol="0" anchor="ctr"/>
          <a:lstStyle/>
          <a:p>
            <a:r>
              <a:rPr lang="en-US" sz="1867" b="1" dirty="0">
                <a:latin typeface="Montserrat" panose="00000500000000000000" pitchFamily="2" charset="0"/>
                <a:ea typeface="Calibri" pitchFamily="34" charset="-122"/>
                <a:cs typeface="Calibri" pitchFamily="34" charset="-120"/>
              </a:rPr>
              <a:t>What it does</a:t>
            </a:r>
            <a:endParaRPr lang="en-US" sz="1867" dirty="0">
              <a:latin typeface="Montserrat" panose="00000500000000000000" pitchFamily="2" charset="0"/>
            </a:endParaRPr>
          </a:p>
        </p:txBody>
      </p:sp>
      <p:sp>
        <p:nvSpPr>
          <p:cNvPr id="10" name="Text 5">
            <a:extLst>
              <a:ext uri="{FF2B5EF4-FFF2-40B4-BE49-F238E27FC236}">
                <a16:creationId xmlns:a16="http://schemas.microsoft.com/office/drawing/2014/main" id="{3A5F792A-EA62-031A-9A6E-DD58386F2C17}"/>
              </a:ext>
            </a:extLst>
          </p:cNvPr>
          <p:cNvSpPr/>
          <p:nvPr/>
        </p:nvSpPr>
        <p:spPr>
          <a:xfrm>
            <a:off x="822960" y="1297813"/>
            <a:ext cx="4815840" cy="4267200"/>
          </a:xfrm>
          <a:prstGeom prst="rect">
            <a:avLst/>
          </a:prstGeom>
          <a:noFill/>
          <a:ln/>
        </p:spPr>
        <p:txBody>
          <a:bodyPr wrap="square" rtlCol="0" anchor="ctr"/>
          <a:lstStyle/>
          <a:p>
            <a:pPr marL="285750" indent="-285750">
              <a:spcAft>
                <a:spcPts val="1200"/>
              </a:spcAft>
              <a:buSzPct val="100000"/>
              <a:buFont typeface="Arial" panose="020B0604020202020204" pitchFamily="34" charset="0"/>
              <a:buChar char="•"/>
            </a:pPr>
            <a:r>
              <a:rPr lang="en-US" sz="1667" dirty="0">
                <a:latin typeface="Montserrat" panose="00000500000000000000" pitchFamily="2" charset="0"/>
                <a:ea typeface="Calibri" pitchFamily="34" charset="-122"/>
                <a:cs typeface="Calibri" pitchFamily="34" charset="-120"/>
              </a:rPr>
              <a:t>Loads before Claude writes any UI code</a:t>
            </a:r>
            <a:endParaRPr lang="en-US" sz="1667" dirty="0">
              <a:latin typeface="Montserrat" panose="00000500000000000000" pitchFamily="2" charset="0"/>
            </a:endParaRPr>
          </a:p>
          <a:p>
            <a:pPr marL="285750" indent="-285750">
              <a:spcAft>
                <a:spcPts val="1200"/>
              </a:spcAft>
              <a:buSzPct val="100000"/>
              <a:buFont typeface="Arial" panose="020B0604020202020204" pitchFamily="34" charset="0"/>
              <a:buChar char="•"/>
            </a:pPr>
            <a:r>
              <a:rPr lang="en-US" sz="1667" dirty="0">
                <a:latin typeface="Montserrat" panose="00000500000000000000" pitchFamily="2" charset="0"/>
                <a:ea typeface="Calibri" pitchFamily="34" charset="-122"/>
                <a:cs typeface="Calibri" pitchFamily="34" charset="-120"/>
              </a:rPr>
              <a:t>Gives Claude a design philosophy; bold aesthetic choices, distinctive fonts, purposeful color palettes</a:t>
            </a:r>
            <a:endParaRPr lang="en-US" sz="1667" dirty="0">
              <a:latin typeface="Montserrat" panose="00000500000000000000" pitchFamily="2" charset="0"/>
            </a:endParaRPr>
          </a:p>
          <a:p>
            <a:pPr marL="285750" indent="-285750">
              <a:spcAft>
                <a:spcPts val="1200"/>
              </a:spcAft>
              <a:buSzPct val="100000"/>
              <a:buFont typeface="Arial" panose="020B0604020202020204" pitchFamily="34" charset="0"/>
              <a:buChar char="•"/>
            </a:pPr>
            <a:r>
              <a:rPr lang="en-US" sz="1667" dirty="0">
                <a:latin typeface="Montserrat" panose="00000500000000000000" pitchFamily="2" charset="0"/>
                <a:ea typeface="Calibri" pitchFamily="34" charset="-122"/>
                <a:cs typeface="Calibri" pitchFamily="34" charset="-120"/>
              </a:rPr>
              <a:t>Prevents the generic 'AI-generated' look</a:t>
            </a:r>
            <a:endParaRPr lang="en-US" sz="1667" dirty="0">
              <a:latin typeface="Montserrat" panose="00000500000000000000" pitchFamily="2" charset="0"/>
            </a:endParaRPr>
          </a:p>
          <a:p>
            <a:pPr marL="285750" indent="-285750">
              <a:spcAft>
                <a:spcPts val="1200"/>
              </a:spcAft>
              <a:buSzPct val="100000"/>
              <a:buFont typeface="Arial" panose="020B0604020202020204" pitchFamily="34" charset="0"/>
              <a:buChar char="•"/>
            </a:pPr>
            <a:r>
              <a:rPr lang="en-US" sz="1667" dirty="0">
                <a:latin typeface="Montserrat" panose="00000500000000000000" pitchFamily="2" charset="0"/>
                <a:ea typeface="Calibri" pitchFamily="34" charset="-122"/>
                <a:cs typeface="Calibri" pitchFamily="34" charset="-120"/>
              </a:rPr>
              <a:t>Enforces production-grade output; not just functional, but visually refined</a:t>
            </a:r>
            <a:endParaRPr lang="en-US" sz="1667" dirty="0">
              <a:latin typeface="Montserrat" panose="00000500000000000000" pitchFamily="2" charset="0"/>
            </a:endParaRPr>
          </a:p>
          <a:p>
            <a:pPr marL="285750" indent="-285750">
              <a:spcAft>
                <a:spcPts val="1200"/>
              </a:spcAft>
              <a:buSzPct val="100000"/>
              <a:buFont typeface="Arial" panose="020B0604020202020204" pitchFamily="34" charset="0"/>
              <a:buChar char="•"/>
            </a:pPr>
            <a:r>
              <a:rPr lang="en-US" sz="1667" dirty="0">
                <a:latin typeface="Montserrat" panose="00000500000000000000" pitchFamily="2" charset="0"/>
                <a:ea typeface="Calibri" pitchFamily="34" charset="-122"/>
                <a:cs typeface="Calibri" pitchFamily="34" charset="-120"/>
              </a:rPr>
              <a:t>Auto-triggers when you ask to build any web UI, dashboard, or component</a:t>
            </a:r>
            <a:endParaRPr lang="en-US" sz="1667" dirty="0">
              <a:latin typeface="Montserrat" panose="00000500000000000000" pitchFamily="2" charset="0"/>
            </a:endParaRPr>
          </a:p>
        </p:txBody>
      </p:sp>
      <p:sp>
        <p:nvSpPr>
          <p:cNvPr id="11" name="Shape 6">
            <a:extLst>
              <a:ext uri="{FF2B5EF4-FFF2-40B4-BE49-F238E27FC236}">
                <a16:creationId xmlns:a16="http://schemas.microsoft.com/office/drawing/2014/main" id="{643239D6-A45A-78E7-C5F5-BDF8045EFE05}"/>
              </a:ext>
            </a:extLst>
          </p:cNvPr>
          <p:cNvSpPr/>
          <p:nvPr/>
        </p:nvSpPr>
        <p:spPr>
          <a:xfrm>
            <a:off x="6217920" y="907669"/>
            <a:ext cx="5364480" cy="5181600"/>
          </a:xfrm>
          <a:prstGeom prst="rect">
            <a:avLst/>
          </a:prstGeom>
          <a:solidFill>
            <a:srgbClr val="0C1752"/>
          </a:solidFill>
          <a:ln w="12700">
            <a:solidFill>
              <a:srgbClr val="3A3F52"/>
            </a:solidFill>
            <a:prstDash val="solid"/>
          </a:ln>
        </p:spPr>
        <p:txBody>
          <a:bodyPr/>
          <a:lstStyle/>
          <a:p>
            <a:endParaRPr lang="en-CA" sz="2400"/>
          </a:p>
        </p:txBody>
      </p:sp>
      <p:sp>
        <p:nvSpPr>
          <p:cNvPr id="12" name="Shape 7">
            <a:extLst>
              <a:ext uri="{FF2B5EF4-FFF2-40B4-BE49-F238E27FC236}">
                <a16:creationId xmlns:a16="http://schemas.microsoft.com/office/drawing/2014/main" id="{13141534-DE2D-AAF4-13C0-1AE028DC27A4}"/>
              </a:ext>
            </a:extLst>
          </p:cNvPr>
          <p:cNvSpPr/>
          <p:nvPr/>
        </p:nvSpPr>
        <p:spPr>
          <a:xfrm>
            <a:off x="6217920" y="907669"/>
            <a:ext cx="5364480" cy="463296"/>
          </a:xfrm>
          <a:prstGeom prst="rect">
            <a:avLst/>
          </a:prstGeom>
          <a:solidFill>
            <a:schemeClr val="bg1">
              <a:lumMod val="50000"/>
            </a:schemeClr>
          </a:solidFill>
          <a:ln/>
        </p:spPr>
        <p:txBody>
          <a:bodyPr/>
          <a:lstStyle/>
          <a:p>
            <a:endParaRPr lang="en-CA" sz="2400"/>
          </a:p>
        </p:txBody>
      </p:sp>
      <p:sp>
        <p:nvSpPr>
          <p:cNvPr id="13" name="Text 8">
            <a:extLst>
              <a:ext uri="{FF2B5EF4-FFF2-40B4-BE49-F238E27FC236}">
                <a16:creationId xmlns:a16="http://schemas.microsoft.com/office/drawing/2014/main" id="{1FD0E27E-3A58-FF9B-C5AE-6E5540A0A312}"/>
              </a:ext>
            </a:extLst>
          </p:cNvPr>
          <p:cNvSpPr/>
          <p:nvPr/>
        </p:nvSpPr>
        <p:spPr>
          <a:xfrm>
            <a:off x="6400800" y="944245"/>
            <a:ext cx="4998720" cy="390144"/>
          </a:xfrm>
          <a:prstGeom prst="rect">
            <a:avLst/>
          </a:prstGeom>
          <a:noFill/>
          <a:ln/>
        </p:spPr>
        <p:txBody>
          <a:bodyPr wrap="square" rtlCol="0" anchor="ctr"/>
          <a:lstStyle/>
          <a:p>
            <a:r>
              <a:rPr lang="en-US" sz="1467" i="1" dirty="0">
                <a:solidFill>
                  <a:schemeClr val="bg1"/>
                </a:solidFill>
                <a:latin typeface="Consolas" pitchFamily="34" charset="0"/>
                <a:ea typeface="Consolas" pitchFamily="34" charset="-122"/>
                <a:cs typeface="Consolas" pitchFamily="34" charset="-120"/>
              </a:rPr>
              <a:t>SKILL.md  (simplified)</a:t>
            </a:r>
            <a:endParaRPr lang="en-US" sz="1467" dirty="0">
              <a:solidFill>
                <a:schemeClr val="bg1"/>
              </a:solidFill>
            </a:endParaRPr>
          </a:p>
        </p:txBody>
      </p:sp>
      <p:sp>
        <p:nvSpPr>
          <p:cNvPr id="14" name="Text 9">
            <a:extLst>
              <a:ext uri="{FF2B5EF4-FFF2-40B4-BE49-F238E27FC236}">
                <a16:creationId xmlns:a16="http://schemas.microsoft.com/office/drawing/2014/main" id="{0BD3FB3E-F33F-026B-3375-A1972B9F3FF1}"/>
              </a:ext>
            </a:extLst>
          </p:cNvPr>
          <p:cNvSpPr/>
          <p:nvPr/>
        </p:nvSpPr>
        <p:spPr>
          <a:xfrm>
            <a:off x="6339840" y="1480693"/>
            <a:ext cx="5120640" cy="268224"/>
          </a:xfrm>
          <a:prstGeom prst="rect">
            <a:avLst/>
          </a:prstGeom>
          <a:noFill/>
          <a:ln/>
        </p:spPr>
        <p:txBody>
          <a:bodyPr wrap="square" lIns="0" tIns="0" rIns="0" bIns="0" rtlCol="0" anchor="ctr"/>
          <a:lstStyle/>
          <a:p>
            <a:r>
              <a:rPr lang="en-US" sz="1400" dirty="0">
                <a:solidFill>
                  <a:srgbClr val="9CA3AF"/>
                </a:solidFill>
                <a:latin typeface="Consolas" pitchFamily="34" charset="0"/>
                <a:ea typeface="Consolas" pitchFamily="34" charset="-122"/>
                <a:cs typeface="Consolas" pitchFamily="34" charset="-120"/>
              </a:rPr>
              <a:t>---</a:t>
            </a:r>
            <a:endParaRPr lang="en-US" sz="1400" dirty="0"/>
          </a:p>
        </p:txBody>
      </p:sp>
      <p:sp>
        <p:nvSpPr>
          <p:cNvPr id="15" name="Text 10">
            <a:extLst>
              <a:ext uri="{FF2B5EF4-FFF2-40B4-BE49-F238E27FC236}">
                <a16:creationId xmlns:a16="http://schemas.microsoft.com/office/drawing/2014/main" id="{27CB139B-1BBE-3D52-0C7E-1CB1532F7B5C}"/>
              </a:ext>
            </a:extLst>
          </p:cNvPr>
          <p:cNvSpPr/>
          <p:nvPr/>
        </p:nvSpPr>
        <p:spPr>
          <a:xfrm>
            <a:off x="6339840" y="1712341"/>
            <a:ext cx="5120640" cy="268224"/>
          </a:xfrm>
          <a:prstGeom prst="rect">
            <a:avLst/>
          </a:prstGeom>
          <a:noFill/>
          <a:ln/>
        </p:spPr>
        <p:txBody>
          <a:bodyPr wrap="square" lIns="0" tIns="0" rIns="0" bIns="0" rtlCol="0" anchor="ctr"/>
          <a:lstStyle/>
          <a:p>
            <a:r>
              <a:rPr lang="en-US" sz="1400" dirty="0">
                <a:solidFill>
                  <a:srgbClr val="2CB89A"/>
                </a:solidFill>
                <a:latin typeface="Consolas" pitchFamily="34" charset="0"/>
                <a:ea typeface="Consolas" pitchFamily="34" charset="-122"/>
                <a:cs typeface="Consolas" pitchFamily="34" charset="-120"/>
              </a:rPr>
              <a:t>name: frontend-design</a:t>
            </a:r>
            <a:endParaRPr lang="en-US" sz="1400" dirty="0"/>
          </a:p>
        </p:txBody>
      </p:sp>
      <p:sp>
        <p:nvSpPr>
          <p:cNvPr id="16" name="Text 11">
            <a:extLst>
              <a:ext uri="{FF2B5EF4-FFF2-40B4-BE49-F238E27FC236}">
                <a16:creationId xmlns:a16="http://schemas.microsoft.com/office/drawing/2014/main" id="{121814C3-ED4B-D6AE-91A8-F7CC464857E8}"/>
              </a:ext>
            </a:extLst>
          </p:cNvPr>
          <p:cNvSpPr/>
          <p:nvPr/>
        </p:nvSpPr>
        <p:spPr>
          <a:xfrm>
            <a:off x="6339840" y="1943989"/>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description: Create distinctive,</a:t>
            </a:r>
            <a:endParaRPr lang="en-US" sz="1400" dirty="0"/>
          </a:p>
        </p:txBody>
      </p:sp>
      <p:sp>
        <p:nvSpPr>
          <p:cNvPr id="17" name="Text 12">
            <a:extLst>
              <a:ext uri="{FF2B5EF4-FFF2-40B4-BE49-F238E27FC236}">
                <a16:creationId xmlns:a16="http://schemas.microsoft.com/office/drawing/2014/main" id="{3FB02841-C839-5898-9CBD-B094DFC2A01B}"/>
              </a:ext>
            </a:extLst>
          </p:cNvPr>
          <p:cNvSpPr/>
          <p:nvPr/>
        </p:nvSpPr>
        <p:spPr>
          <a:xfrm>
            <a:off x="6339840" y="2175637"/>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production-grade UI. Use when</a:t>
            </a:r>
            <a:endParaRPr lang="en-US" sz="1400" dirty="0"/>
          </a:p>
        </p:txBody>
      </p:sp>
      <p:sp>
        <p:nvSpPr>
          <p:cNvPr id="18" name="Text 13">
            <a:extLst>
              <a:ext uri="{FF2B5EF4-FFF2-40B4-BE49-F238E27FC236}">
                <a16:creationId xmlns:a16="http://schemas.microsoft.com/office/drawing/2014/main" id="{5E969F49-4280-DD47-2BCE-965F48DBCF24}"/>
              </a:ext>
            </a:extLst>
          </p:cNvPr>
          <p:cNvSpPr/>
          <p:nvPr/>
        </p:nvSpPr>
        <p:spPr>
          <a:xfrm>
            <a:off x="6339840" y="2407285"/>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building web components,</a:t>
            </a:r>
            <a:endParaRPr lang="en-US" sz="1400" dirty="0"/>
          </a:p>
        </p:txBody>
      </p:sp>
      <p:sp>
        <p:nvSpPr>
          <p:cNvPr id="19" name="Text 14">
            <a:extLst>
              <a:ext uri="{FF2B5EF4-FFF2-40B4-BE49-F238E27FC236}">
                <a16:creationId xmlns:a16="http://schemas.microsoft.com/office/drawing/2014/main" id="{00241990-49A1-B177-F1E3-0794A1947841}"/>
              </a:ext>
            </a:extLst>
          </p:cNvPr>
          <p:cNvSpPr/>
          <p:nvPr/>
        </p:nvSpPr>
        <p:spPr>
          <a:xfrm>
            <a:off x="6339840" y="2638933"/>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dashboards, or any web UI.</a:t>
            </a:r>
            <a:endParaRPr lang="en-US" sz="1400" dirty="0"/>
          </a:p>
        </p:txBody>
      </p:sp>
      <p:sp>
        <p:nvSpPr>
          <p:cNvPr id="20" name="Text 15">
            <a:extLst>
              <a:ext uri="{FF2B5EF4-FFF2-40B4-BE49-F238E27FC236}">
                <a16:creationId xmlns:a16="http://schemas.microsoft.com/office/drawing/2014/main" id="{63AB6CAE-F59C-41C1-54A5-8AC3BFBC8CE1}"/>
              </a:ext>
            </a:extLst>
          </p:cNvPr>
          <p:cNvSpPr/>
          <p:nvPr/>
        </p:nvSpPr>
        <p:spPr>
          <a:xfrm>
            <a:off x="6339840" y="2870581"/>
            <a:ext cx="5120640" cy="268224"/>
          </a:xfrm>
          <a:prstGeom prst="rect">
            <a:avLst/>
          </a:prstGeom>
          <a:noFill/>
          <a:ln/>
        </p:spPr>
        <p:txBody>
          <a:bodyPr wrap="square" lIns="0" tIns="0" rIns="0" bIns="0" rtlCol="0" anchor="ctr"/>
          <a:lstStyle/>
          <a:p>
            <a:r>
              <a:rPr lang="en-US" sz="1400" dirty="0">
                <a:solidFill>
                  <a:srgbClr val="9CA3AF"/>
                </a:solidFill>
                <a:latin typeface="Consolas" pitchFamily="34" charset="0"/>
                <a:ea typeface="Consolas" pitchFamily="34" charset="-122"/>
                <a:cs typeface="Consolas" pitchFamily="34" charset="-120"/>
              </a:rPr>
              <a:t>---</a:t>
            </a:r>
            <a:endParaRPr lang="en-US" sz="1400" dirty="0"/>
          </a:p>
        </p:txBody>
      </p:sp>
      <p:sp>
        <p:nvSpPr>
          <p:cNvPr id="21" name="Text 16">
            <a:extLst>
              <a:ext uri="{FF2B5EF4-FFF2-40B4-BE49-F238E27FC236}">
                <a16:creationId xmlns:a16="http://schemas.microsoft.com/office/drawing/2014/main" id="{608B9B3C-0347-CDD2-9FC1-C5A955FF47DA}"/>
              </a:ext>
            </a:extLst>
          </p:cNvPr>
          <p:cNvSpPr/>
          <p:nvPr/>
        </p:nvSpPr>
        <p:spPr>
          <a:xfrm>
            <a:off x="6339840" y="3333877"/>
            <a:ext cx="5120640" cy="268224"/>
          </a:xfrm>
          <a:prstGeom prst="rect">
            <a:avLst/>
          </a:prstGeom>
          <a:noFill/>
          <a:ln/>
        </p:spPr>
        <p:txBody>
          <a:bodyPr wrap="square" lIns="0" tIns="0" rIns="0" bIns="0" rtlCol="0" anchor="ctr"/>
          <a:lstStyle/>
          <a:p>
            <a:r>
              <a:rPr lang="en-US" sz="1400" dirty="0">
                <a:solidFill>
                  <a:srgbClr val="E8A030"/>
                </a:solidFill>
                <a:latin typeface="Consolas" pitchFamily="34" charset="0"/>
                <a:ea typeface="Consolas" pitchFamily="34" charset="-122"/>
                <a:cs typeface="Consolas" pitchFamily="34" charset="-120"/>
              </a:rPr>
              <a:t>Before writing code, commit to</a:t>
            </a:r>
            <a:endParaRPr lang="en-US" sz="1400" dirty="0"/>
          </a:p>
        </p:txBody>
      </p:sp>
      <p:sp>
        <p:nvSpPr>
          <p:cNvPr id="22" name="Text 17">
            <a:extLst>
              <a:ext uri="{FF2B5EF4-FFF2-40B4-BE49-F238E27FC236}">
                <a16:creationId xmlns:a16="http://schemas.microsoft.com/office/drawing/2014/main" id="{F207D42C-B371-9422-A9AD-42691086BD5B}"/>
              </a:ext>
            </a:extLst>
          </p:cNvPr>
          <p:cNvSpPr/>
          <p:nvPr/>
        </p:nvSpPr>
        <p:spPr>
          <a:xfrm>
            <a:off x="6339840" y="3565525"/>
            <a:ext cx="5120640" cy="268224"/>
          </a:xfrm>
          <a:prstGeom prst="rect">
            <a:avLst/>
          </a:prstGeom>
          <a:noFill/>
          <a:ln/>
        </p:spPr>
        <p:txBody>
          <a:bodyPr wrap="square" lIns="0" tIns="0" rIns="0" bIns="0" rtlCol="0" anchor="ctr"/>
          <a:lstStyle/>
          <a:p>
            <a:r>
              <a:rPr lang="en-US" sz="1400" dirty="0">
                <a:solidFill>
                  <a:srgbClr val="E8A030"/>
                </a:solidFill>
                <a:latin typeface="Consolas" pitchFamily="34" charset="0"/>
                <a:ea typeface="Consolas" pitchFamily="34" charset="-122"/>
                <a:cs typeface="Consolas" pitchFamily="34" charset="-120"/>
              </a:rPr>
              <a:t>a BOLD aesthetic direction:</a:t>
            </a:r>
            <a:endParaRPr lang="en-US" sz="1400" dirty="0"/>
          </a:p>
        </p:txBody>
      </p:sp>
      <p:sp>
        <p:nvSpPr>
          <p:cNvPr id="23" name="Text 18">
            <a:extLst>
              <a:ext uri="{FF2B5EF4-FFF2-40B4-BE49-F238E27FC236}">
                <a16:creationId xmlns:a16="http://schemas.microsoft.com/office/drawing/2014/main" id="{43F4260A-C2A0-803B-6D9A-68610D3EDA26}"/>
              </a:ext>
            </a:extLst>
          </p:cNvPr>
          <p:cNvSpPr/>
          <p:nvPr/>
        </p:nvSpPr>
        <p:spPr>
          <a:xfrm>
            <a:off x="6339840" y="4028821"/>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Pick a tone: minimal, luxury,</a:t>
            </a:r>
            <a:endParaRPr lang="en-US" sz="1400" dirty="0"/>
          </a:p>
        </p:txBody>
      </p:sp>
      <p:sp>
        <p:nvSpPr>
          <p:cNvPr id="24" name="Text 19">
            <a:extLst>
              <a:ext uri="{FF2B5EF4-FFF2-40B4-BE49-F238E27FC236}">
                <a16:creationId xmlns:a16="http://schemas.microsoft.com/office/drawing/2014/main" id="{7B5D6EA1-DE85-9419-B14E-377B01CE9C20}"/>
              </a:ext>
            </a:extLst>
          </p:cNvPr>
          <p:cNvSpPr/>
          <p:nvPr/>
        </p:nvSpPr>
        <p:spPr>
          <a:xfrm>
            <a:off x="6339840" y="4260469"/>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editorial, brutalist...</a:t>
            </a:r>
            <a:endParaRPr lang="en-US" sz="1400" dirty="0"/>
          </a:p>
        </p:txBody>
      </p:sp>
      <p:sp>
        <p:nvSpPr>
          <p:cNvPr id="25" name="Text 20">
            <a:extLst>
              <a:ext uri="{FF2B5EF4-FFF2-40B4-BE49-F238E27FC236}">
                <a16:creationId xmlns:a16="http://schemas.microsoft.com/office/drawing/2014/main" id="{177A7F8F-74E0-8FBB-DBCA-3FCD1067E05B}"/>
              </a:ext>
            </a:extLst>
          </p:cNvPr>
          <p:cNvSpPr/>
          <p:nvPr/>
        </p:nvSpPr>
        <p:spPr>
          <a:xfrm>
            <a:off x="6339840" y="4492117"/>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Choose distinctive fonts</a:t>
            </a:r>
            <a:endParaRPr lang="en-US" sz="1400" dirty="0"/>
          </a:p>
        </p:txBody>
      </p:sp>
      <p:sp>
        <p:nvSpPr>
          <p:cNvPr id="26" name="Text 21">
            <a:extLst>
              <a:ext uri="{FF2B5EF4-FFF2-40B4-BE49-F238E27FC236}">
                <a16:creationId xmlns:a16="http://schemas.microsoft.com/office/drawing/2014/main" id="{D198130A-5555-53F4-7D74-82C526BD5EF3}"/>
              </a:ext>
            </a:extLst>
          </p:cNvPr>
          <p:cNvSpPr/>
          <p:nvPr/>
        </p:nvSpPr>
        <p:spPr>
          <a:xfrm>
            <a:off x="6339840" y="4723765"/>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Use purposeful color palettes</a:t>
            </a:r>
            <a:endParaRPr lang="en-US" sz="1400" dirty="0"/>
          </a:p>
        </p:txBody>
      </p:sp>
      <p:sp>
        <p:nvSpPr>
          <p:cNvPr id="27" name="Text 22">
            <a:extLst>
              <a:ext uri="{FF2B5EF4-FFF2-40B4-BE49-F238E27FC236}">
                <a16:creationId xmlns:a16="http://schemas.microsoft.com/office/drawing/2014/main" id="{16FEEAAD-000F-04D8-52A4-922AF03529FC}"/>
              </a:ext>
            </a:extLst>
          </p:cNvPr>
          <p:cNvSpPr/>
          <p:nvPr/>
        </p:nvSpPr>
        <p:spPr>
          <a:xfrm>
            <a:off x="6339840" y="4955413"/>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Add meaningful animations</a:t>
            </a:r>
            <a:endParaRPr lang="en-US" sz="1400" dirty="0"/>
          </a:p>
        </p:txBody>
      </p:sp>
      <p:sp>
        <p:nvSpPr>
          <p:cNvPr id="28" name="Text 23">
            <a:extLst>
              <a:ext uri="{FF2B5EF4-FFF2-40B4-BE49-F238E27FC236}">
                <a16:creationId xmlns:a16="http://schemas.microsoft.com/office/drawing/2014/main" id="{00439DB0-4ADB-C915-D722-A048FC7AFA96}"/>
              </a:ext>
            </a:extLst>
          </p:cNvPr>
          <p:cNvSpPr/>
          <p:nvPr/>
        </p:nvSpPr>
        <p:spPr>
          <a:xfrm>
            <a:off x="6339840" y="5187061"/>
            <a:ext cx="5120640" cy="268224"/>
          </a:xfrm>
          <a:prstGeom prst="rect">
            <a:avLst/>
          </a:prstGeom>
          <a:noFill/>
          <a:ln/>
        </p:spPr>
        <p:txBody>
          <a:bodyPr wrap="square" lIns="0" tIns="0" rIns="0" bIns="0" rtlCol="0" anchor="ctr"/>
          <a:lstStyle/>
          <a:p>
            <a:r>
              <a:rPr lang="en-US" sz="1400" dirty="0">
                <a:solidFill>
                  <a:srgbClr val="E8EAF0"/>
                </a:solidFill>
                <a:latin typeface="Consolas" pitchFamily="34" charset="0"/>
                <a:ea typeface="Consolas" pitchFamily="34" charset="-122"/>
                <a:cs typeface="Consolas" pitchFamily="34" charset="-120"/>
              </a:rPr>
              <a:t>- Make it UNFORGETTABLE</a:t>
            </a:r>
            <a:endParaRPr lang="en-US" sz="1400" dirty="0"/>
          </a:p>
        </p:txBody>
      </p:sp>
      <p:sp>
        <p:nvSpPr>
          <p:cNvPr id="29" name="Shape 41">
            <a:extLst>
              <a:ext uri="{FF2B5EF4-FFF2-40B4-BE49-F238E27FC236}">
                <a16:creationId xmlns:a16="http://schemas.microsoft.com/office/drawing/2014/main" id="{C92DBB5C-1D93-47F7-895C-31877C55B90B}"/>
              </a:ext>
            </a:extLst>
          </p:cNvPr>
          <p:cNvSpPr/>
          <p:nvPr/>
        </p:nvSpPr>
        <p:spPr>
          <a:xfrm>
            <a:off x="609600" y="6180709"/>
            <a:ext cx="11033760" cy="426720"/>
          </a:xfrm>
          <a:prstGeom prst="rect">
            <a:avLst/>
          </a:prstGeom>
          <a:solidFill>
            <a:srgbClr val="D56E48"/>
          </a:solidFill>
          <a:ln w="6350">
            <a:noFill/>
            <a:prstDash val="solid"/>
          </a:ln>
        </p:spPr>
        <p:txBody>
          <a:bodyPr/>
          <a:lstStyle/>
          <a:p>
            <a:endParaRPr lang="en-CA" sz="2400"/>
          </a:p>
        </p:txBody>
      </p:sp>
      <p:sp>
        <p:nvSpPr>
          <p:cNvPr id="30" name="Text 42">
            <a:extLst>
              <a:ext uri="{FF2B5EF4-FFF2-40B4-BE49-F238E27FC236}">
                <a16:creationId xmlns:a16="http://schemas.microsoft.com/office/drawing/2014/main" id="{D533F49D-43FA-93FB-CA89-36D091864F11}"/>
              </a:ext>
            </a:extLst>
          </p:cNvPr>
          <p:cNvSpPr/>
          <p:nvPr/>
        </p:nvSpPr>
        <p:spPr>
          <a:xfrm>
            <a:off x="792480" y="6180709"/>
            <a:ext cx="10607040" cy="426720"/>
          </a:xfrm>
          <a:prstGeom prst="rect">
            <a:avLst/>
          </a:prstGeom>
          <a:noFill/>
          <a:ln/>
        </p:spPr>
        <p:txBody>
          <a:bodyPr wrap="square" rtlCol="0" anchor="ctr"/>
          <a:lstStyle/>
          <a:p>
            <a:r>
              <a:rPr lang="en-US" sz="1600" dirty="0">
                <a:solidFill>
                  <a:schemeClr val="bg1"/>
                </a:solidFill>
                <a:latin typeface="Consolas" pitchFamily="34" charset="0"/>
                <a:ea typeface="Consolas" pitchFamily="34" charset="-122"/>
                <a:cs typeface="Consolas" pitchFamily="34" charset="-120"/>
              </a:rPr>
              <a:t>Install:  npx skills add anthropics/claude-code --skill frontend-design</a:t>
            </a:r>
            <a:endParaRPr lang="en-US" sz="1600" dirty="0">
              <a:solidFill>
                <a:schemeClr val="bg1"/>
              </a:solidFill>
            </a:endParaRPr>
          </a:p>
        </p:txBody>
      </p:sp>
    </p:spTree>
    <p:extLst>
      <p:ext uri="{BB962C8B-B14F-4D97-AF65-F5344CB8AC3E}">
        <p14:creationId xmlns:p14="http://schemas.microsoft.com/office/powerpoint/2010/main" val="286622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16D51-89CB-84EF-35B5-B3AACB2A1E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F5F258-4312-5F7B-D9A7-35C9E901203F}"/>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DE305CB3-39D2-C189-C8A3-E1FD94720516}"/>
              </a:ext>
            </a:extLst>
          </p:cNvPr>
          <p:cNvSpPr/>
          <p:nvPr/>
        </p:nvSpPr>
        <p:spPr>
          <a:xfrm>
            <a:off x="293915" y="205965"/>
            <a:ext cx="5336864" cy="1754326"/>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PROJECT: INSTALL FRONT-END DESIGN SKILL (PART B)</a:t>
            </a:r>
          </a:p>
        </p:txBody>
      </p:sp>
      <p:pic>
        <p:nvPicPr>
          <p:cNvPr id="6" name="Picture 5">
            <a:extLst>
              <a:ext uri="{FF2B5EF4-FFF2-40B4-BE49-F238E27FC236}">
                <a16:creationId xmlns:a16="http://schemas.microsoft.com/office/drawing/2014/main" id="{2BF94DA2-908C-D677-3242-7F7E4323107F}"/>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220884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7FEFA-67E5-1229-F964-28194FD45D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AE37D7-2F07-32E8-420E-8098E6C1A1F9}"/>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35DFEA39-B1E2-F5ED-39B5-0BA775F29BE9}"/>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F34FABC-4474-DA58-F249-E4023942D77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overview</a:t>
            </a:r>
          </a:p>
        </p:txBody>
      </p:sp>
      <p:sp>
        <p:nvSpPr>
          <p:cNvPr id="9" name="TextBox 8">
            <a:extLst>
              <a:ext uri="{FF2B5EF4-FFF2-40B4-BE49-F238E27FC236}">
                <a16:creationId xmlns:a16="http://schemas.microsoft.com/office/drawing/2014/main" id="{8116C70D-51F5-D875-9252-6A067A13B68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65BE1D20-31BF-9965-1157-AB2D20B1C3D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1" name="TextBox 10">
            <a:extLst>
              <a:ext uri="{FF2B5EF4-FFF2-40B4-BE49-F238E27FC236}">
                <a16:creationId xmlns:a16="http://schemas.microsoft.com/office/drawing/2014/main" id="{CE8C8661-8C6F-9763-9D02-1378AD24FEDE}"/>
              </a:ext>
            </a:extLst>
          </p:cNvPr>
          <p:cNvSpPr txBox="1"/>
          <p:nvPr/>
        </p:nvSpPr>
        <p:spPr>
          <a:xfrm>
            <a:off x="117756" y="1009948"/>
            <a:ext cx="11376412" cy="36933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ontserrat" panose="00000500000000000000" pitchFamily="2" charset="0"/>
              </a:rPr>
              <a:t>Using Claude Code, we will build a single-page </a:t>
            </a:r>
            <a:r>
              <a:rPr lang="en-US" altLang="en-US" dirty="0">
                <a:latin typeface="Montserrat" panose="00000500000000000000" pitchFamily="2" charset="0"/>
              </a:rPr>
              <a:t>dashboard </a:t>
            </a:r>
            <a:r>
              <a:rPr kumimoji="0" lang="en-US" altLang="en-US" sz="1800" i="0" u="none" strike="noStrike" cap="none" normalizeH="0" baseline="0" dirty="0">
                <a:ln>
                  <a:noFill/>
                </a:ln>
                <a:solidFill>
                  <a:schemeClr val="tx1"/>
                </a:solidFill>
                <a:effectLst/>
                <a:latin typeface="Montserrat" panose="00000500000000000000" pitchFamily="2" charset="0"/>
              </a:rPr>
              <a:t>with the frontend design skill. </a:t>
            </a:r>
          </a:p>
        </p:txBody>
      </p:sp>
      <p:pic>
        <p:nvPicPr>
          <p:cNvPr id="4" name="Picture 3">
            <a:extLst>
              <a:ext uri="{FF2B5EF4-FFF2-40B4-BE49-F238E27FC236}">
                <a16:creationId xmlns:a16="http://schemas.microsoft.com/office/drawing/2014/main" id="{2384C4DC-BF70-3B00-4CD1-A9C75DEC60BF}"/>
              </a:ext>
            </a:extLst>
          </p:cNvPr>
          <p:cNvPicPr>
            <a:picLocks noChangeAspect="1"/>
          </p:cNvPicPr>
          <p:nvPr/>
        </p:nvPicPr>
        <p:blipFill>
          <a:blip r:embed="rId5"/>
          <a:stretch>
            <a:fillRect/>
          </a:stretch>
        </p:blipFill>
        <p:spPr>
          <a:xfrm>
            <a:off x="1317564" y="1759033"/>
            <a:ext cx="7884695" cy="4254778"/>
          </a:xfrm>
          <a:prstGeom prst="rect">
            <a:avLst/>
          </a:prstGeom>
        </p:spPr>
      </p:pic>
    </p:spTree>
    <p:extLst>
      <p:ext uri="{BB962C8B-B14F-4D97-AF65-F5344CB8AC3E}">
        <p14:creationId xmlns:p14="http://schemas.microsoft.com/office/powerpoint/2010/main" val="46074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52283-4E6D-6791-4146-54AC13A852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C19598-5EED-F80B-CB20-E34F2C17F675}"/>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F82BAD53-FD50-84B8-8141-8D9A12C90857}"/>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ED8F0E9-A38A-C1DF-04FB-3135100798D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Before and After Using Skills</a:t>
            </a:r>
          </a:p>
        </p:txBody>
      </p:sp>
      <p:sp>
        <p:nvSpPr>
          <p:cNvPr id="9" name="TextBox 8">
            <a:extLst>
              <a:ext uri="{FF2B5EF4-FFF2-40B4-BE49-F238E27FC236}">
                <a16:creationId xmlns:a16="http://schemas.microsoft.com/office/drawing/2014/main" id="{1C955915-6979-10FD-89D6-781F5DEB95B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F4E00327-8FA8-56D7-B8F8-38EA797DCD4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Rounded Rectangle 5">
            <a:extLst>
              <a:ext uri="{FF2B5EF4-FFF2-40B4-BE49-F238E27FC236}">
                <a16:creationId xmlns:a16="http://schemas.microsoft.com/office/drawing/2014/main" id="{990A9FE3-6FF7-6FC6-DF0D-1111ADA9219E}"/>
              </a:ext>
            </a:extLst>
          </p:cNvPr>
          <p:cNvSpPr/>
          <p:nvPr/>
        </p:nvSpPr>
        <p:spPr>
          <a:xfrm>
            <a:off x="274320" y="1371600"/>
            <a:ext cx="11155680" cy="640080"/>
          </a:xfrm>
          <a:prstGeom prst="roundRect">
            <a:avLst>
              <a:gd name="adj" fmla="val 5000"/>
            </a:avLst>
          </a:prstGeom>
          <a:solidFill>
            <a:srgbClr val="E8EAF2"/>
          </a:solidFill>
          <a:ln w="190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C1752"/>
                </a:solidFill>
                <a:latin typeface="Montserrat"/>
              </a:defRPr>
            </a:pPr>
            <a:r>
              <a:t>npx skills add anthropics/claude-code --skill frontend-design</a:t>
            </a:r>
          </a:p>
        </p:txBody>
      </p:sp>
      <p:sp>
        <p:nvSpPr>
          <p:cNvPr id="4" name="Rounded Rectangle 6">
            <a:extLst>
              <a:ext uri="{FF2B5EF4-FFF2-40B4-BE49-F238E27FC236}">
                <a16:creationId xmlns:a16="http://schemas.microsoft.com/office/drawing/2014/main" id="{3507675E-C32A-2F07-BAF8-CBA9933CF85A}"/>
              </a:ext>
            </a:extLst>
          </p:cNvPr>
          <p:cNvSpPr/>
          <p:nvPr/>
        </p:nvSpPr>
        <p:spPr>
          <a:xfrm>
            <a:off x="240137" y="2683559"/>
            <a:ext cx="5303520" cy="2926080"/>
          </a:xfrm>
          <a:prstGeom prst="roundRect">
            <a:avLst>
              <a:gd name="adj" fmla="val 5000"/>
            </a:avLst>
          </a:prstGeom>
          <a:solidFill>
            <a:srgbClr val="0C1752"/>
          </a:solidFill>
          <a:ln w="25400">
            <a:no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800" b="1">
                <a:solidFill>
                  <a:srgbClr val="D56E48"/>
                </a:solidFill>
                <a:latin typeface="Montserrat"/>
              </a:defRPr>
            </a:pPr>
            <a:r>
              <a:rPr dirty="0">
                <a:solidFill>
                  <a:schemeClr val="bg1"/>
                </a:solidFill>
              </a:rPr>
              <a:t>Without Skill</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Default fonts (Arial, system fonts)</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Muted, safe color palette</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Predictable card layouts</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Minimal animations</a:t>
            </a:r>
          </a:p>
          <a:p>
            <a:pPr algn="l">
              <a:spcBef>
                <a:spcPts val="600"/>
              </a:spcBef>
              <a:defRPr sz="1400" b="0">
                <a:solidFill>
                  <a:srgbClr val="333333"/>
                </a:solidFill>
                <a:latin typeface="Montserrat"/>
              </a:defRPr>
            </a:pPr>
            <a:endParaRPr dirty="0">
              <a:solidFill>
                <a:schemeClr val="bg1"/>
              </a:solidFill>
            </a:endParaRPr>
          </a:p>
          <a:p>
            <a:pPr algn="l">
              <a:spcBef>
                <a:spcPts val="600"/>
              </a:spcBef>
              <a:defRPr sz="1400" b="1">
                <a:solidFill>
                  <a:srgbClr val="D56E48"/>
                </a:solidFill>
                <a:latin typeface="Montserrat"/>
              </a:defRPr>
            </a:pPr>
            <a:r>
              <a:rPr dirty="0">
                <a:solidFill>
                  <a:schemeClr val="bg1"/>
                </a:solidFill>
              </a:rPr>
              <a:t>It works... but looks generic</a:t>
            </a:r>
          </a:p>
        </p:txBody>
      </p:sp>
      <p:sp>
        <p:nvSpPr>
          <p:cNvPr id="8" name="Right Arrow 7">
            <a:extLst>
              <a:ext uri="{FF2B5EF4-FFF2-40B4-BE49-F238E27FC236}">
                <a16:creationId xmlns:a16="http://schemas.microsoft.com/office/drawing/2014/main" id="{46CF25E5-1815-AAE0-4B0D-C4B40122CF1D}"/>
              </a:ext>
            </a:extLst>
          </p:cNvPr>
          <p:cNvSpPr/>
          <p:nvPr/>
        </p:nvSpPr>
        <p:spPr>
          <a:xfrm>
            <a:off x="5635097" y="3963719"/>
            <a:ext cx="457200"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8">
            <a:extLst>
              <a:ext uri="{FF2B5EF4-FFF2-40B4-BE49-F238E27FC236}">
                <a16:creationId xmlns:a16="http://schemas.microsoft.com/office/drawing/2014/main" id="{9F3AE2F6-3531-4B9E-AE50-92261F697CC5}"/>
              </a:ext>
            </a:extLst>
          </p:cNvPr>
          <p:cNvSpPr/>
          <p:nvPr/>
        </p:nvSpPr>
        <p:spPr>
          <a:xfrm>
            <a:off x="6183737" y="2683559"/>
            <a:ext cx="5120640" cy="2926080"/>
          </a:xfrm>
          <a:prstGeom prst="roundRect">
            <a:avLst>
              <a:gd name="adj" fmla="val 5000"/>
            </a:avLst>
          </a:prstGeom>
          <a:solidFill>
            <a:srgbClr val="D56E48"/>
          </a:solidFill>
          <a:ln w="25400">
            <a:no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800" b="1">
                <a:solidFill>
                  <a:srgbClr val="6CCAD8"/>
                </a:solidFill>
                <a:latin typeface="Montserrat"/>
              </a:defRPr>
            </a:pPr>
            <a:r>
              <a:rPr dirty="0">
                <a:solidFill>
                  <a:schemeClr val="bg1"/>
                </a:solidFill>
              </a:rPr>
              <a:t>With frontend-design Skill</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Bold, intentional typography pairings</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Distinctive color palette with accents</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Professional layout with visual hierarchy</a:t>
            </a:r>
          </a:p>
          <a:p>
            <a:pPr marL="285750" indent="-285750" algn="l">
              <a:spcBef>
                <a:spcPts val="600"/>
              </a:spcBef>
              <a:buFont typeface="Arial" panose="020B0604020202020204" pitchFamily="34" charset="0"/>
              <a:buChar char="•"/>
              <a:defRPr sz="1400" b="0">
                <a:solidFill>
                  <a:srgbClr val="333333"/>
                </a:solidFill>
                <a:latin typeface="Montserrat"/>
              </a:defRPr>
            </a:pPr>
            <a:r>
              <a:rPr dirty="0">
                <a:solidFill>
                  <a:schemeClr val="bg1"/>
                </a:solidFill>
              </a:rPr>
              <a:t>Purposeful animations and micro-interactions</a:t>
            </a:r>
          </a:p>
          <a:p>
            <a:pPr marL="285750" indent="-285750" algn="l">
              <a:spcBef>
                <a:spcPts val="600"/>
              </a:spcBef>
              <a:buFont typeface="Arial" panose="020B0604020202020204" pitchFamily="34" charset="0"/>
              <a:buChar char="•"/>
              <a:defRPr sz="1400" b="0">
                <a:solidFill>
                  <a:srgbClr val="333333"/>
                </a:solidFill>
                <a:latin typeface="Montserrat"/>
              </a:defRPr>
            </a:pPr>
            <a:endParaRPr dirty="0">
              <a:solidFill>
                <a:schemeClr val="bg1"/>
              </a:solidFill>
            </a:endParaRPr>
          </a:p>
          <a:p>
            <a:pPr algn="l">
              <a:spcBef>
                <a:spcPts val="600"/>
              </a:spcBef>
              <a:defRPr sz="1400" b="1">
                <a:solidFill>
                  <a:srgbClr val="6CCAD8"/>
                </a:solidFill>
                <a:latin typeface="Montserrat"/>
              </a:defRPr>
            </a:pPr>
            <a:r>
              <a:rPr dirty="0">
                <a:solidFill>
                  <a:schemeClr val="bg1"/>
                </a:solidFill>
              </a:rPr>
              <a:t>Looks like a designer built it</a:t>
            </a:r>
          </a:p>
        </p:txBody>
      </p:sp>
      <p:sp>
        <p:nvSpPr>
          <p:cNvPr id="15" name="TextBox 14">
            <a:extLst>
              <a:ext uri="{FF2B5EF4-FFF2-40B4-BE49-F238E27FC236}">
                <a16:creationId xmlns:a16="http://schemas.microsoft.com/office/drawing/2014/main" id="{C20C130A-8DF8-5521-4237-E04B246882D0}"/>
              </a:ext>
            </a:extLst>
          </p:cNvPr>
          <p:cNvSpPr txBox="1"/>
          <p:nvPr/>
        </p:nvSpPr>
        <p:spPr>
          <a:xfrm>
            <a:off x="240137" y="788868"/>
            <a:ext cx="11570863" cy="646331"/>
          </a:xfrm>
          <a:prstGeom prst="rect">
            <a:avLst/>
          </a:prstGeom>
          <a:noFill/>
        </p:spPr>
        <p:txBody>
          <a:bodyPr wrap="square">
            <a:spAutoFit/>
          </a:bodyPr>
          <a:lstStyle>
            <a:defPPr>
              <a:defRPr lang="en-US"/>
            </a:defPPr>
            <a:lvl1pPr marL="285750" marR="0" lvl="0" indent="-285750" eaLnBrk="0" fontAlgn="base" hangingPunct="0">
              <a:lnSpc>
                <a:spcPct val="100000"/>
              </a:lnSpc>
              <a:spcBef>
                <a:spcPct val="0"/>
              </a:spcBef>
              <a:spcAft>
                <a:spcPct val="0"/>
              </a:spcAft>
              <a:buClrTx/>
              <a:buSzTx/>
              <a:buFont typeface="Arial" panose="020B0604020202020204" pitchFamily="34" charset="0"/>
              <a:buChar char="•"/>
              <a:tabLst/>
              <a:defRPr kumimoji="0" i="0" u="none" strike="noStrike" cap="none" normalizeH="0" baseline="0">
                <a:ln>
                  <a:noFill/>
                </a:ln>
                <a:effectLst/>
                <a:latin typeface="Montserrat" panose="00000500000000000000" pitchFamily="2" charset="0"/>
              </a:defRPr>
            </a:lvl1pPr>
          </a:lstStyle>
          <a:p>
            <a:r>
              <a:rPr lang="en-US" dirty="0"/>
              <a:t>Using the same prompt but with the frontend-design skill leads to a radically different result.</a:t>
            </a:r>
          </a:p>
          <a:p>
            <a:endParaRPr lang="en-US" dirty="0"/>
          </a:p>
        </p:txBody>
      </p:sp>
    </p:spTree>
    <p:extLst>
      <p:ext uri="{BB962C8B-B14F-4D97-AF65-F5344CB8AC3E}">
        <p14:creationId xmlns:p14="http://schemas.microsoft.com/office/powerpoint/2010/main" val="95255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9F5BD-5BEB-F3B3-06E5-C88E4A92CB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0AA535-90CB-496B-8B1F-31D59B2C7568}"/>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6C4E12B1-CCD3-6443-C597-7A2A9781B8DC}"/>
              </a:ext>
            </a:extLst>
          </p:cNvPr>
          <p:cNvSpPr/>
          <p:nvPr/>
        </p:nvSpPr>
        <p:spPr>
          <a:xfrm>
            <a:off x="293915" y="205965"/>
            <a:ext cx="5336864" cy="1200329"/>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PRACTICE OPPORTUNITY</a:t>
            </a:r>
          </a:p>
        </p:txBody>
      </p:sp>
      <p:pic>
        <p:nvPicPr>
          <p:cNvPr id="6" name="Picture 5">
            <a:extLst>
              <a:ext uri="{FF2B5EF4-FFF2-40B4-BE49-F238E27FC236}">
                <a16:creationId xmlns:a16="http://schemas.microsoft.com/office/drawing/2014/main" id="{0ECD85B9-7502-7E9B-DCD0-4B8F5A0ADA0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077176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AE2FF-4D12-4AB1-15B0-8A29A91DED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25B21C-D142-6C03-A874-B625D81DE3E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6AFCD39-ED58-E3C5-7A44-D7E72D79F9A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35A18A5-C4F6-75C9-5311-82839B79873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F3E02713-A81E-E51E-4CB0-5F44106D663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F4D57A0B-6730-2D3A-4A99-C7668329DA13}"/>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6849106E-94D0-A5D7-DCD2-89478663F49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077EFFCC-8FDE-188B-11B7-E6FF17D59EAF}"/>
              </a:ext>
            </a:extLst>
          </p:cNvPr>
          <p:cNvSpPr txBox="1"/>
          <p:nvPr/>
        </p:nvSpPr>
        <p:spPr>
          <a:xfrm>
            <a:off x="153409" y="907669"/>
            <a:ext cx="9275445" cy="452431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Build a landing page for a boutique pet grooming salon that includes:</a:t>
            </a:r>
          </a:p>
          <a:p>
            <a:pPr marL="285750" indent="-285750">
              <a:buFont typeface="Arial" panose="020B0604020202020204" pitchFamily="34" charset="0"/>
              <a:buChar char="•"/>
            </a:pPr>
            <a:r>
              <a:rPr lang="en-US" sz="1600" dirty="0">
                <a:latin typeface="Montserrat" panose="00000500000000000000" pitchFamily="2" charset="0"/>
              </a:rPr>
              <a:t>A hero section with the name "Mindful Paws" and tagline "Where grooming meets calm“</a:t>
            </a:r>
          </a:p>
          <a:p>
            <a:pPr marL="285750" indent="-285750">
              <a:buFont typeface="Arial" panose="020B0604020202020204" pitchFamily="34" charset="0"/>
              <a:buChar char="•"/>
            </a:pPr>
            <a:r>
              <a:rPr lang="en-US" sz="1600" dirty="0">
                <a:latin typeface="Montserrat" panose="00000500000000000000" pitchFamily="2" charset="0"/>
              </a:rPr>
              <a:t>An interactive booking quiz: Pet type (Dog/Cat/Other) → Size (Small/Medium/Large) → Service (Bath &amp; Brush, Full Groom, Spa Day) → shows a price estimate</a:t>
            </a:r>
          </a:p>
          <a:p>
            <a:pPr marL="285750" indent="-285750">
              <a:buFont typeface="Arial" panose="020B0604020202020204" pitchFamily="34" charset="0"/>
              <a:buChar char="•"/>
            </a:pPr>
            <a:r>
              <a:rPr lang="en-US" sz="1600" dirty="0">
                <a:latin typeface="Montserrat" panose="00000500000000000000" pitchFamily="2" charset="0"/>
              </a:rPr>
              <a:t>A services section with 4 services, each with a description and price</a:t>
            </a:r>
          </a:p>
          <a:p>
            <a:pPr marL="285750" indent="-285750">
              <a:buFont typeface="Arial" panose="020B0604020202020204" pitchFamily="34" charset="0"/>
              <a:buChar char="•"/>
            </a:pPr>
            <a:r>
              <a:rPr lang="en-US" sz="1600" dirty="0">
                <a:latin typeface="Montserrat" panose="00000500000000000000" pitchFamily="2" charset="0"/>
              </a:rPr>
              <a:t>A gallery section with image placeholders of happy pets</a:t>
            </a:r>
          </a:p>
          <a:p>
            <a:pPr marL="285750" indent="-285750">
              <a:buFont typeface="Arial" panose="020B0604020202020204" pitchFamily="34" charset="0"/>
              <a:buChar char="•"/>
            </a:pPr>
            <a:r>
              <a:rPr lang="en-US" sz="1600" dirty="0">
                <a:latin typeface="Montserrat" panose="00000500000000000000" pitchFamily="2" charset="0"/>
              </a:rPr>
              <a:t>A booking form with pet name, owner name, phone, and preferred date</a:t>
            </a:r>
          </a:p>
          <a:p>
            <a:endParaRPr lang="en-US" sz="1600" dirty="0">
              <a:latin typeface="Montserrat" panose="00000500000000000000" pitchFamily="2" charset="0"/>
            </a:endParaRPr>
          </a:p>
          <a:p>
            <a:r>
              <a:rPr lang="en-US" sz="1600" b="1" dirty="0">
                <a:latin typeface="Montserrat" panose="00000500000000000000" pitchFamily="2" charset="0"/>
              </a:rPr>
              <a:t>The Challenge:</a:t>
            </a:r>
          </a:p>
          <a:p>
            <a:endParaRPr lang="en-US" sz="1600" b="1" dirty="0">
              <a:latin typeface="Montserrat" panose="00000500000000000000" pitchFamily="2" charset="0"/>
            </a:endParaRPr>
          </a:p>
          <a:p>
            <a:pPr marL="342900" indent="-342900">
              <a:buFont typeface="+mj-lt"/>
              <a:buAutoNum type="arabicPeriod"/>
            </a:pPr>
            <a:r>
              <a:rPr lang="en-US" sz="1600" dirty="0">
                <a:latin typeface="Montserrat" panose="00000500000000000000" pitchFamily="2" charset="0"/>
              </a:rPr>
              <a:t>Build it raw: no skill, just one prompt. Save as `[business_name].html</a:t>
            </a:r>
          </a:p>
          <a:p>
            <a:pPr marL="342900" indent="-342900">
              <a:buFont typeface="+mj-lt"/>
              <a:buAutoNum type="arabicPeriod"/>
            </a:pPr>
            <a:endParaRPr lang="en-US" sz="1600" dirty="0">
              <a:latin typeface="Montserrat" panose="00000500000000000000" pitchFamily="2" charset="0"/>
            </a:endParaRPr>
          </a:p>
          <a:p>
            <a:pPr marL="342900" indent="-342900">
              <a:buFont typeface="+mj-lt"/>
              <a:buAutoNum type="arabicPeriod"/>
            </a:pPr>
            <a:r>
              <a:rPr lang="en-US" sz="1600" dirty="0">
                <a:latin typeface="Montserrat" panose="00000500000000000000" pitchFamily="2" charset="0"/>
              </a:rPr>
              <a:t>Rebuild with skill: same prompt, frontend-design skill active. Save as `[</a:t>
            </a:r>
            <a:r>
              <a:rPr lang="en-US" sz="1600" dirty="0" err="1">
                <a:latin typeface="Montserrat" panose="00000500000000000000" pitchFamily="2" charset="0"/>
              </a:rPr>
              <a:t>business_name</a:t>
            </a:r>
            <a:r>
              <a:rPr lang="en-US" sz="1600" dirty="0">
                <a:latin typeface="Montserrat" panose="00000500000000000000" pitchFamily="2" charset="0"/>
              </a:rPr>
              <a:t>]_v2.html`</a:t>
            </a:r>
          </a:p>
          <a:p>
            <a:pPr marL="342900" indent="-342900">
              <a:buFont typeface="+mj-lt"/>
              <a:buAutoNum type="arabicPeriod"/>
            </a:pPr>
            <a:endParaRPr lang="en-US" sz="1600" dirty="0">
              <a:latin typeface="Montserrat" panose="00000500000000000000" pitchFamily="2" charset="0"/>
            </a:endParaRPr>
          </a:p>
          <a:p>
            <a:pPr marL="342900" indent="-342900">
              <a:buFont typeface="+mj-lt"/>
              <a:buAutoNum type="arabicPeriod"/>
            </a:pPr>
            <a:r>
              <a:rPr lang="en-US" sz="1600" dirty="0">
                <a:latin typeface="Montserrat" panose="00000500000000000000" pitchFamily="2" charset="0"/>
              </a:rPr>
              <a:t>Compare: open both side by side. What changed? Write your own Claude Code prompt following the CIIO format (Context, Instruction, Input, Output).</a:t>
            </a:r>
          </a:p>
        </p:txBody>
      </p:sp>
      <p:pic>
        <p:nvPicPr>
          <p:cNvPr id="2" name="Picture 1">
            <a:extLst>
              <a:ext uri="{FF2B5EF4-FFF2-40B4-BE49-F238E27FC236}">
                <a16:creationId xmlns:a16="http://schemas.microsoft.com/office/drawing/2014/main" id="{ADC4654B-1C83-9908-9DE5-0BFEBA41709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3819231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DD6C-F107-1AA6-A1E4-390CE796C7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D75EDE-37B5-DDFE-B713-7EB5450528AA}"/>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9359DFC4-6424-B4A2-E529-564EACC6EF18}"/>
              </a:ext>
            </a:extLst>
          </p:cNvPr>
          <p:cNvSpPr/>
          <p:nvPr/>
        </p:nvSpPr>
        <p:spPr>
          <a:xfrm>
            <a:off x="293915" y="489004"/>
            <a:ext cx="4743450"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CONTEXT MANAGEMENT</a:t>
            </a:r>
          </a:p>
        </p:txBody>
      </p:sp>
      <p:pic>
        <p:nvPicPr>
          <p:cNvPr id="6" name="Picture 5">
            <a:extLst>
              <a:ext uri="{FF2B5EF4-FFF2-40B4-BE49-F238E27FC236}">
                <a16:creationId xmlns:a16="http://schemas.microsoft.com/office/drawing/2014/main" id="{652059D1-C4F9-39F6-4C92-05BC3744D32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174237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57A15-3CB5-5BF2-F8A6-4E19A4A058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EFED6C-411A-B263-1E14-07561B1C46D4}"/>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C9AEB35-6022-8805-5364-DD18DEAD9E7B}"/>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3DA7631-3E99-B179-681D-1551145C7C8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a:t>
            </a:r>
          </a:p>
        </p:txBody>
      </p:sp>
      <p:sp>
        <p:nvSpPr>
          <p:cNvPr id="9" name="TextBox 8">
            <a:extLst>
              <a:ext uri="{FF2B5EF4-FFF2-40B4-BE49-F238E27FC236}">
                <a16:creationId xmlns:a16="http://schemas.microsoft.com/office/drawing/2014/main" id="{1385A200-CC0F-54C9-CCFE-331D4D6CC0B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9926858E-195C-9D03-0719-AC994E365B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1" name="Shape 2">
            <a:extLst>
              <a:ext uri="{FF2B5EF4-FFF2-40B4-BE49-F238E27FC236}">
                <a16:creationId xmlns:a16="http://schemas.microsoft.com/office/drawing/2014/main" id="{BB74D8FD-19E8-05B4-5B34-B68F36D81B94}"/>
              </a:ext>
            </a:extLst>
          </p:cNvPr>
          <p:cNvSpPr/>
          <p:nvPr/>
        </p:nvSpPr>
        <p:spPr>
          <a:xfrm>
            <a:off x="650614" y="2351858"/>
            <a:ext cx="8778240" cy="670560"/>
          </a:xfrm>
          <a:prstGeom prst="rect">
            <a:avLst/>
          </a:prstGeom>
          <a:solidFill>
            <a:srgbClr val="0C1752"/>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42" name="Text 3">
            <a:extLst>
              <a:ext uri="{FF2B5EF4-FFF2-40B4-BE49-F238E27FC236}">
                <a16:creationId xmlns:a16="http://schemas.microsoft.com/office/drawing/2014/main" id="{5CAD0724-2BBE-1322-9F16-7E44E20D82CF}"/>
              </a:ext>
            </a:extLst>
          </p:cNvPr>
          <p:cNvSpPr/>
          <p:nvPr/>
        </p:nvSpPr>
        <p:spPr>
          <a:xfrm>
            <a:off x="894454" y="2300695"/>
            <a:ext cx="4267200" cy="426720"/>
          </a:xfrm>
          <a:prstGeom prst="rect">
            <a:avLst/>
          </a:prstGeom>
          <a:noFill/>
          <a:ln/>
        </p:spPr>
        <p:txBody>
          <a:bodyPr wrap="square" lIns="0" tIns="0" rIns="0" bIns="0" rtlCol="0" anchor="ctr"/>
          <a:lstStyle/>
          <a:p>
            <a:pPr defTabSz="1219170"/>
            <a:r>
              <a:rPr lang="en-US" sz="1867" dirty="0">
                <a:solidFill>
                  <a:srgbClr val="FFFFFF"/>
                </a:solidFill>
                <a:latin typeface="Calibri" pitchFamily="34" charset="0"/>
                <a:ea typeface="Calibri" pitchFamily="34" charset="-122"/>
                <a:cs typeface="Calibri" pitchFamily="34" charset="-120"/>
              </a:rPr>
              <a:t>System prompt</a:t>
            </a:r>
            <a:endParaRPr lang="en-US" sz="1867" dirty="0">
              <a:solidFill>
                <a:prstClr val="black"/>
              </a:solidFill>
              <a:latin typeface="Calibri" panose="020F0502020204030204"/>
            </a:endParaRPr>
          </a:p>
        </p:txBody>
      </p:sp>
      <p:sp>
        <p:nvSpPr>
          <p:cNvPr id="43" name="Text 4">
            <a:extLst>
              <a:ext uri="{FF2B5EF4-FFF2-40B4-BE49-F238E27FC236}">
                <a16:creationId xmlns:a16="http://schemas.microsoft.com/office/drawing/2014/main" id="{E46A2A80-A932-416B-1BBE-2B657876CDD5}"/>
              </a:ext>
            </a:extLst>
          </p:cNvPr>
          <p:cNvSpPr/>
          <p:nvPr/>
        </p:nvSpPr>
        <p:spPr>
          <a:xfrm>
            <a:off x="894454" y="2666455"/>
            <a:ext cx="6705600" cy="341376"/>
          </a:xfrm>
          <a:prstGeom prst="rect">
            <a:avLst/>
          </a:prstGeom>
          <a:noFill/>
          <a:ln/>
        </p:spPr>
        <p:txBody>
          <a:bodyPr wrap="square" lIns="0" tIns="0" rIns="0" bIns="0" rtlCol="0" anchor="ctr"/>
          <a:lstStyle/>
          <a:p>
            <a:pPr defTabSz="1219170"/>
            <a:r>
              <a:rPr lang="en-US" sz="1467" dirty="0">
                <a:solidFill>
                  <a:srgbClr val="9CA3AF"/>
                </a:solidFill>
                <a:latin typeface="Calibri" pitchFamily="34" charset="0"/>
                <a:ea typeface="Calibri" pitchFamily="34" charset="-122"/>
                <a:cs typeface="Calibri" pitchFamily="34" charset="-120"/>
              </a:rPr>
              <a:t>Anthropic's built-in rules</a:t>
            </a:r>
            <a:endParaRPr lang="en-US" sz="1467" dirty="0">
              <a:solidFill>
                <a:prstClr val="black"/>
              </a:solidFill>
              <a:latin typeface="Calibri" panose="020F0502020204030204"/>
            </a:endParaRPr>
          </a:p>
        </p:txBody>
      </p:sp>
      <p:sp>
        <p:nvSpPr>
          <p:cNvPr id="44" name="Shape 5">
            <a:extLst>
              <a:ext uri="{FF2B5EF4-FFF2-40B4-BE49-F238E27FC236}">
                <a16:creationId xmlns:a16="http://schemas.microsoft.com/office/drawing/2014/main" id="{92CDBC7C-414F-E0AB-D77D-D6706C289E8D}"/>
              </a:ext>
            </a:extLst>
          </p:cNvPr>
          <p:cNvSpPr/>
          <p:nvPr/>
        </p:nvSpPr>
        <p:spPr>
          <a:xfrm>
            <a:off x="9611734" y="2446999"/>
            <a:ext cx="1828800" cy="438912"/>
          </a:xfrm>
          <a:prstGeom prst="rect">
            <a:avLst/>
          </a:prstGeom>
          <a:solidFill>
            <a:srgbClr val="0C1752">
              <a:alpha val="20000"/>
            </a:srgbClr>
          </a:solidFill>
          <a:ln w="12700">
            <a:solidFill>
              <a:srgbClr val="7C5CBF"/>
            </a:solidFill>
            <a:prstDash val="solid"/>
          </a:ln>
        </p:spPr>
        <p:txBody>
          <a:bodyPr/>
          <a:lstStyle/>
          <a:p>
            <a:pPr defTabSz="1219170"/>
            <a:endParaRPr lang="en-CA" sz="2400">
              <a:latin typeface="Calibri" panose="020F0502020204030204"/>
            </a:endParaRPr>
          </a:p>
        </p:txBody>
      </p:sp>
      <p:sp>
        <p:nvSpPr>
          <p:cNvPr id="45" name="Text 6">
            <a:extLst>
              <a:ext uri="{FF2B5EF4-FFF2-40B4-BE49-F238E27FC236}">
                <a16:creationId xmlns:a16="http://schemas.microsoft.com/office/drawing/2014/main" id="{CD3DF321-3D2E-481F-37E8-0CCEDEDBA64D}"/>
              </a:ext>
            </a:extLst>
          </p:cNvPr>
          <p:cNvSpPr/>
          <p:nvPr/>
        </p:nvSpPr>
        <p:spPr>
          <a:xfrm>
            <a:off x="9611734" y="2446999"/>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Anthropic</a:t>
            </a:r>
            <a:endParaRPr lang="en-US" sz="1467" dirty="0">
              <a:latin typeface="Calibri" panose="020F0502020204030204"/>
            </a:endParaRPr>
          </a:p>
        </p:txBody>
      </p:sp>
      <p:sp>
        <p:nvSpPr>
          <p:cNvPr id="46" name="Shape 7">
            <a:extLst>
              <a:ext uri="{FF2B5EF4-FFF2-40B4-BE49-F238E27FC236}">
                <a16:creationId xmlns:a16="http://schemas.microsoft.com/office/drawing/2014/main" id="{F06EFFE6-324E-AB47-D825-1176A16CE732}"/>
              </a:ext>
            </a:extLst>
          </p:cNvPr>
          <p:cNvSpPr/>
          <p:nvPr/>
        </p:nvSpPr>
        <p:spPr>
          <a:xfrm>
            <a:off x="650614" y="3156530"/>
            <a:ext cx="8778240" cy="670560"/>
          </a:xfrm>
          <a:prstGeom prst="rect">
            <a:avLst/>
          </a:prstGeom>
          <a:solidFill>
            <a:srgbClr val="D56E48"/>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47" name="Text 8">
            <a:extLst>
              <a:ext uri="{FF2B5EF4-FFF2-40B4-BE49-F238E27FC236}">
                <a16:creationId xmlns:a16="http://schemas.microsoft.com/office/drawing/2014/main" id="{83B98BBD-993F-7ADE-889E-5D520FA479B4}"/>
              </a:ext>
            </a:extLst>
          </p:cNvPr>
          <p:cNvSpPr/>
          <p:nvPr/>
        </p:nvSpPr>
        <p:spPr>
          <a:xfrm>
            <a:off x="894454" y="3156530"/>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Tools</a:t>
            </a:r>
            <a:endParaRPr lang="en-US" sz="1867" dirty="0">
              <a:latin typeface="Calibri" panose="020F0502020204030204"/>
            </a:endParaRPr>
          </a:p>
        </p:txBody>
      </p:sp>
      <p:sp>
        <p:nvSpPr>
          <p:cNvPr id="48" name="Text 9">
            <a:extLst>
              <a:ext uri="{FF2B5EF4-FFF2-40B4-BE49-F238E27FC236}">
                <a16:creationId xmlns:a16="http://schemas.microsoft.com/office/drawing/2014/main" id="{9CC6830D-F5E1-6C01-B997-7E784BECA360}"/>
              </a:ext>
            </a:extLst>
          </p:cNvPr>
          <p:cNvSpPr/>
          <p:nvPr/>
        </p:nvSpPr>
        <p:spPr>
          <a:xfrm>
            <a:off x="894454" y="3522290"/>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Built-in + extendable with MCP</a:t>
            </a:r>
            <a:endParaRPr lang="en-US" sz="1467" dirty="0">
              <a:latin typeface="Calibri" panose="020F0502020204030204"/>
            </a:endParaRPr>
          </a:p>
        </p:txBody>
      </p:sp>
      <p:sp>
        <p:nvSpPr>
          <p:cNvPr id="49" name="Shape 10">
            <a:extLst>
              <a:ext uri="{FF2B5EF4-FFF2-40B4-BE49-F238E27FC236}">
                <a16:creationId xmlns:a16="http://schemas.microsoft.com/office/drawing/2014/main" id="{A2A8EE99-D337-C366-223F-DFE3B9A72733}"/>
              </a:ext>
            </a:extLst>
          </p:cNvPr>
          <p:cNvSpPr/>
          <p:nvPr/>
        </p:nvSpPr>
        <p:spPr>
          <a:xfrm>
            <a:off x="9611734" y="3302834"/>
            <a:ext cx="1828800" cy="438912"/>
          </a:xfrm>
          <a:prstGeom prst="rect">
            <a:avLst/>
          </a:prstGeom>
          <a:solidFill>
            <a:srgbClr val="6B82CC">
              <a:alpha val="20000"/>
            </a:srgbClr>
          </a:solidFill>
          <a:ln w="12700">
            <a:solidFill>
              <a:srgbClr val="6B82CC"/>
            </a:solidFill>
            <a:prstDash val="solid"/>
          </a:ln>
        </p:spPr>
        <p:txBody>
          <a:bodyPr/>
          <a:lstStyle/>
          <a:p>
            <a:pPr defTabSz="1219170"/>
            <a:endParaRPr lang="en-CA" sz="2400">
              <a:latin typeface="Calibri" panose="020F0502020204030204"/>
            </a:endParaRPr>
          </a:p>
        </p:txBody>
      </p:sp>
      <p:sp>
        <p:nvSpPr>
          <p:cNvPr id="50" name="Text 11">
            <a:extLst>
              <a:ext uri="{FF2B5EF4-FFF2-40B4-BE49-F238E27FC236}">
                <a16:creationId xmlns:a16="http://schemas.microsoft.com/office/drawing/2014/main" id="{D624C4EB-4CF2-EA36-78C0-D47333EE19F1}"/>
              </a:ext>
            </a:extLst>
          </p:cNvPr>
          <p:cNvSpPr/>
          <p:nvPr/>
        </p:nvSpPr>
        <p:spPr>
          <a:xfrm>
            <a:off x="9611734" y="3302834"/>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Pre-installed</a:t>
            </a:r>
            <a:endParaRPr lang="en-US" sz="1467" dirty="0">
              <a:latin typeface="Calibri" panose="020F0502020204030204"/>
            </a:endParaRPr>
          </a:p>
        </p:txBody>
      </p:sp>
      <p:sp>
        <p:nvSpPr>
          <p:cNvPr id="51" name="Shape 12">
            <a:extLst>
              <a:ext uri="{FF2B5EF4-FFF2-40B4-BE49-F238E27FC236}">
                <a16:creationId xmlns:a16="http://schemas.microsoft.com/office/drawing/2014/main" id="{0FD34DAE-D304-9081-6060-754EE1F4AF79}"/>
              </a:ext>
            </a:extLst>
          </p:cNvPr>
          <p:cNvSpPr/>
          <p:nvPr/>
        </p:nvSpPr>
        <p:spPr>
          <a:xfrm>
            <a:off x="650614" y="3967806"/>
            <a:ext cx="8778240" cy="707136"/>
          </a:xfrm>
          <a:prstGeom prst="rect">
            <a:avLst/>
          </a:prstGeom>
          <a:solidFill>
            <a:srgbClr val="1BBFD1"/>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52" name="Text 13">
            <a:extLst>
              <a:ext uri="{FF2B5EF4-FFF2-40B4-BE49-F238E27FC236}">
                <a16:creationId xmlns:a16="http://schemas.microsoft.com/office/drawing/2014/main" id="{1986E906-4F15-DCAA-4F12-C6C0FC63A415}"/>
              </a:ext>
            </a:extLst>
          </p:cNvPr>
          <p:cNvSpPr/>
          <p:nvPr/>
        </p:nvSpPr>
        <p:spPr>
          <a:xfrm>
            <a:off x="894454" y="3943422"/>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Memory</a:t>
            </a:r>
            <a:endParaRPr lang="en-US" sz="1867" dirty="0">
              <a:latin typeface="Calibri" panose="020F0502020204030204"/>
            </a:endParaRPr>
          </a:p>
        </p:txBody>
      </p:sp>
      <p:sp>
        <p:nvSpPr>
          <p:cNvPr id="53" name="Text 14">
            <a:extLst>
              <a:ext uri="{FF2B5EF4-FFF2-40B4-BE49-F238E27FC236}">
                <a16:creationId xmlns:a16="http://schemas.microsoft.com/office/drawing/2014/main" id="{CAD778E1-B6B3-6CC2-4869-2BF471B9886E}"/>
              </a:ext>
            </a:extLst>
          </p:cNvPr>
          <p:cNvSpPr/>
          <p:nvPr/>
        </p:nvSpPr>
        <p:spPr>
          <a:xfrm>
            <a:off x="894454" y="4309182"/>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Resources persisted across sessions, auto-grows as Claude learns your project</a:t>
            </a:r>
            <a:endParaRPr lang="en-US" sz="1467" dirty="0">
              <a:latin typeface="Calibri" panose="020F0502020204030204"/>
            </a:endParaRPr>
          </a:p>
        </p:txBody>
      </p:sp>
      <p:sp>
        <p:nvSpPr>
          <p:cNvPr id="54" name="Shape 15">
            <a:extLst>
              <a:ext uri="{FF2B5EF4-FFF2-40B4-BE49-F238E27FC236}">
                <a16:creationId xmlns:a16="http://schemas.microsoft.com/office/drawing/2014/main" id="{4C916512-83EE-ECBB-2189-FDA31C5D23BF}"/>
              </a:ext>
            </a:extLst>
          </p:cNvPr>
          <p:cNvSpPr/>
          <p:nvPr/>
        </p:nvSpPr>
        <p:spPr>
          <a:xfrm>
            <a:off x="9611734" y="4089726"/>
            <a:ext cx="1828800" cy="438912"/>
          </a:xfrm>
          <a:prstGeom prst="rect">
            <a:avLst/>
          </a:prstGeom>
          <a:solidFill>
            <a:srgbClr val="2CB89A">
              <a:alpha val="20000"/>
            </a:srgbClr>
          </a:solidFill>
          <a:ln w="12700">
            <a:solidFill>
              <a:srgbClr val="2CB89A"/>
            </a:solidFill>
            <a:prstDash val="solid"/>
          </a:ln>
        </p:spPr>
        <p:txBody>
          <a:bodyPr/>
          <a:lstStyle/>
          <a:p>
            <a:pPr defTabSz="1219170"/>
            <a:endParaRPr lang="en-CA" sz="2400">
              <a:latin typeface="Calibri" panose="020F0502020204030204"/>
            </a:endParaRPr>
          </a:p>
        </p:txBody>
      </p:sp>
      <p:sp>
        <p:nvSpPr>
          <p:cNvPr id="55" name="Text 16">
            <a:extLst>
              <a:ext uri="{FF2B5EF4-FFF2-40B4-BE49-F238E27FC236}">
                <a16:creationId xmlns:a16="http://schemas.microsoft.com/office/drawing/2014/main" id="{5F6A2E56-DF74-1EE7-5A08-8154B88C7336}"/>
              </a:ext>
            </a:extLst>
          </p:cNvPr>
          <p:cNvSpPr/>
          <p:nvPr/>
        </p:nvSpPr>
        <p:spPr>
          <a:xfrm>
            <a:off x="9611734" y="4089726"/>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Grows</a:t>
            </a:r>
            <a:endParaRPr lang="en-US" sz="1467" dirty="0">
              <a:latin typeface="Calibri" panose="020F0502020204030204"/>
            </a:endParaRPr>
          </a:p>
        </p:txBody>
      </p:sp>
      <p:sp>
        <p:nvSpPr>
          <p:cNvPr id="56" name="Shape 17">
            <a:extLst>
              <a:ext uri="{FF2B5EF4-FFF2-40B4-BE49-F238E27FC236}">
                <a16:creationId xmlns:a16="http://schemas.microsoft.com/office/drawing/2014/main" id="{68F9B85B-E0E8-ACC1-040F-A535317AEF36}"/>
              </a:ext>
            </a:extLst>
          </p:cNvPr>
          <p:cNvSpPr/>
          <p:nvPr/>
        </p:nvSpPr>
        <p:spPr>
          <a:xfrm>
            <a:off x="650614" y="4831733"/>
            <a:ext cx="8778240" cy="695960"/>
          </a:xfrm>
          <a:prstGeom prst="rect">
            <a:avLst/>
          </a:prstGeom>
          <a:solidFill>
            <a:schemeClr val="bg1">
              <a:lumMod val="65000"/>
            </a:schemeClr>
          </a:solidFill>
          <a:ln w="25400">
            <a:noFill/>
            <a:prstDash val="solid"/>
          </a:ln>
        </p:spPr>
        <p:txBody>
          <a:bodyPr/>
          <a:lstStyle/>
          <a:p>
            <a:pPr defTabSz="1219170"/>
            <a:endParaRPr lang="en-CA" sz="2400">
              <a:solidFill>
                <a:prstClr val="black"/>
              </a:solidFill>
              <a:latin typeface="Calibri" panose="020F0502020204030204"/>
            </a:endParaRPr>
          </a:p>
        </p:txBody>
      </p:sp>
      <p:sp>
        <p:nvSpPr>
          <p:cNvPr id="57" name="Text 18">
            <a:extLst>
              <a:ext uri="{FF2B5EF4-FFF2-40B4-BE49-F238E27FC236}">
                <a16:creationId xmlns:a16="http://schemas.microsoft.com/office/drawing/2014/main" id="{EA7EA039-4C5F-8351-D12B-4BD53421928B}"/>
              </a:ext>
            </a:extLst>
          </p:cNvPr>
          <p:cNvSpPr/>
          <p:nvPr/>
        </p:nvSpPr>
        <p:spPr>
          <a:xfrm>
            <a:off x="894454" y="4831733"/>
            <a:ext cx="4267200" cy="426720"/>
          </a:xfrm>
          <a:prstGeom prst="rect">
            <a:avLst/>
          </a:prstGeom>
          <a:noFill/>
          <a:ln/>
        </p:spPr>
        <p:txBody>
          <a:bodyPr wrap="square" lIns="0" tIns="0" rIns="0" bIns="0" rtlCol="0" anchor="ctr"/>
          <a:lstStyle/>
          <a:p>
            <a:pPr defTabSz="1219170"/>
            <a:r>
              <a:rPr lang="en-US" sz="2133" b="1" dirty="0">
                <a:latin typeface="Calibri" pitchFamily="34" charset="0"/>
                <a:ea typeface="Calibri" pitchFamily="34" charset="-122"/>
                <a:cs typeface="Calibri" pitchFamily="34" charset="-120"/>
              </a:rPr>
              <a:t>CLAUDE.md</a:t>
            </a:r>
            <a:endParaRPr lang="en-US" sz="2133" dirty="0">
              <a:latin typeface="Calibri" panose="020F0502020204030204"/>
            </a:endParaRPr>
          </a:p>
        </p:txBody>
      </p:sp>
      <p:sp>
        <p:nvSpPr>
          <p:cNvPr id="58" name="Text 19">
            <a:extLst>
              <a:ext uri="{FF2B5EF4-FFF2-40B4-BE49-F238E27FC236}">
                <a16:creationId xmlns:a16="http://schemas.microsoft.com/office/drawing/2014/main" id="{796DD80C-023B-E042-41AB-9F4225CA699C}"/>
              </a:ext>
            </a:extLst>
          </p:cNvPr>
          <p:cNvSpPr/>
          <p:nvPr/>
        </p:nvSpPr>
        <p:spPr>
          <a:xfrm>
            <a:off x="894454" y="5197493"/>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YOUR project instructions</a:t>
            </a:r>
            <a:endParaRPr lang="en-US" sz="1467" dirty="0">
              <a:latin typeface="Calibri" panose="020F0502020204030204"/>
            </a:endParaRPr>
          </a:p>
        </p:txBody>
      </p:sp>
      <p:sp>
        <p:nvSpPr>
          <p:cNvPr id="59" name="Shape 20">
            <a:extLst>
              <a:ext uri="{FF2B5EF4-FFF2-40B4-BE49-F238E27FC236}">
                <a16:creationId xmlns:a16="http://schemas.microsoft.com/office/drawing/2014/main" id="{08CD2927-BE91-4FDB-3761-57B6087CECA3}"/>
              </a:ext>
            </a:extLst>
          </p:cNvPr>
          <p:cNvSpPr/>
          <p:nvPr/>
        </p:nvSpPr>
        <p:spPr>
          <a:xfrm>
            <a:off x="9611734" y="4978037"/>
            <a:ext cx="1828800" cy="438912"/>
          </a:xfrm>
          <a:prstGeom prst="rect">
            <a:avLst/>
          </a:prstGeom>
          <a:solidFill>
            <a:srgbClr val="E8A030">
              <a:alpha val="20000"/>
            </a:srgbClr>
          </a:solidFill>
          <a:ln w="12700">
            <a:solidFill>
              <a:srgbClr val="E8A030"/>
            </a:solidFill>
            <a:prstDash val="solid"/>
          </a:ln>
        </p:spPr>
        <p:txBody>
          <a:bodyPr/>
          <a:lstStyle/>
          <a:p>
            <a:pPr defTabSz="1219170"/>
            <a:endParaRPr lang="en-CA" sz="2400">
              <a:latin typeface="Calibri" panose="020F0502020204030204"/>
            </a:endParaRPr>
          </a:p>
        </p:txBody>
      </p:sp>
      <p:sp>
        <p:nvSpPr>
          <p:cNvPr id="60" name="Text 21">
            <a:extLst>
              <a:ext uri="{FF2B5EF4-FFF2-40B4-BE49-F238E27FC236}">
                <a16:creationId xmlns:a16="http://schemas.microsoft.com/office/drawing/2014/main" id="{5F7E1A2D-3A2D-0E84-7309-59D5A69573EB}"/>
              </a:ext>
            </a:extLst>
          </p:cNvPr>
          <p:cNvSpPr/>
          <p:nvPr/>
        </p:nvSpPr>
        <p:spPr>
          <a:xfrm>
            <a:off x="9611734" y="4978037"/>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You write</a:t>
            </a:r>
            <a:endParaRPr lang="en-US" sz="1467" dirty="0">
              <a:latin typeface="Calibri" panose="020F0502020204030204"/>
            </a:endParaRPr>
          </a:p>
        </p:txBody>
      </p:sp>
      <p:sp>
        <p:nvSpPr>
          <p:cNvPr id="61" name="Shape 22">
            <a:extLst>
              <a:ext uri="{FF2B5EF4-FFF2-40B4-BE49-F238E27FC236}">
                <a16:creationId xmlns:a16="http://schemas.microsoft.com/office/drawing/2014/main" id="{4396158B-E77C-8712-0DC8-9136DB81A833}"/>
              </a:ext>
            </a:extLst>
          </p:cNvPr>
          <p:cNvSpPr/>
          <p:nvPr/>
        </p:nvSpPr>
        <p:spPr>
          <a:xfrm>
            <a:off x="650614" y="5624213"/>
            <a:ext cx="8778240" cy="598424"/>
          </a:xfrm>
          <a:prstGeom prst="rect">
            <a:avLst/>
          </a:prstGeom>
          <a:solidFill>
            <a:schemeClr val="accent1">
              <a:lumMod val="40000"/>
              <a:lumOff val="60000"/>
            </a:schemeClr>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62" name="Text 23">
            <a:extLst>
              <a:ext uri="{FF2B5EF4-FFF2-40B4-BE49-F238E27FC236}">
                <a16:creationId xmlns:a16="http://schemas.microsoft.com/office/drawing/2014/main" id="{6B432427-D860-0A76-0056-1E82D531CCFF}"/>
              </a:ext>
            </a:extLst>
          </p:cNvPr>
          <p:cNvSpPr/>
          <p:nvPr/>
        </p:nvSpPr>
        <p:spPr>
          <a:xfrm>
            <a:off x="894454" y="5571381"/>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Conversation history</a:t>
            </a:r>
            <a:endParaRPr lang="en-US" sz="1867" dirty="0">
              <a:latin typeface="Calibri" panose="020F0502020204030204"/>
            </a:endParaRPr>
          </a:p>
        </p:txBody>
      </p:sp>
      <p:sp>
        <p:nvSpPr>
          <p:cNvPr id="63" name="Text 24">
            <a:extLst>
              <a:ext uri="{FF2B5EF4-FFF2-40B4-BE49-F238E27FC236}">
                <a16:creationId xmlns:a16="http://schemas.microsoft.com/office/drawing/2014/main" id="{E733DAE6-40F6-0AB0-FD82-0A565C2D817B}"/>
              </a:ext>
            </a:extLst>
          </p:cNvPr>
          <p:cNvSpPr/>
          <p:nvPr/>
        </p:nvSpPr>
        <p:spPr>
          <a:xfrm>
            <a:off x="894454" y="5881261"/>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Messages, code, tool output</a:t>
            </a:r>
            <a:endParaRPr lang="en-US" sz="1467" dirty="0">
              <a:latin typeface="Calibri" panose="020F0502020204030204"/>
            </a:endParaRPr>
          </a:p>
        </p:txBody>
      </p:sp>
      <p:sp>
        <p:nvSpPr>
          <p:cNvPr id="64" name="Shape 25">
            <a:extLst>
              <a:ext uri="{FF2B5EF4-FFF2-40B4-BE49-F238E27FC236}">
                <a16:creationId xmlns:a16="http://schemas.microsoft.com/office/drawing/2014/main" id="{07BBCEF2-ABCC-0AA9-F382-F69B7099E261}"/>
              </a:ext>
            </a:extLst>
          </p:cNvPr>
          <p:cNvSpPr/>
          <p:nvPr/>
        </p:nvSpPr>
        <p:spPr>
          <a:xfrm>
            <a:off x="9611734" y="5661805"/>
            <a:ext cx="1828800" cy="438912"/>
          </a:xfrm>
          <a:prstGeom prst="rect">
            <a:avLst/>
          </a:prstGeom>
          <a:solidFill>
            <a:srgbClr val="6B7280">
              <a:alpha val="20000"/>
            </a:srgbClr>
          </a:solidFill>
          <a:ln w="12700">
            <a:solidFill>
              <a:srgbClr val="6B7280"/>
            </a:solidFill>
            <a:prstDash val="solid"/>
          </a:ln>
        </p:spPr>
        <p:txBody>
          <a:bodyPr/>
          <a:lstStyle/>
          <a:p>
            <a:pPr defTabSz="1219170"/>
            <a:endParaRPr lang="en-CA" sz="2400">
              <a:latin typeface="Calibri" panose="020F0502020204030204"/>
            </a:endParaRPr>
          </a:p>
        </p:txBody>
      </p:sp>
      <p:sp>
        <p:nvSpPr>
          <p:cNvPr id="65" name="Text 26">
            <a:extLst>
              <a:ext uri="{FF2B5EF4-FFF2-40B4-BE49-F238E27FC236}">
                <a16:creationId xmlns:a16="http://schemas.microsoft.com/office/drawing/2014/main" id="{6C7EA435-A0DC-76A3-EB58-2C059DAFBB1C}"/>
              </a:ext>
            </a:extLst>
          </p:cNvPr>
          <p:cNvSpPr/>
          <p:nvPr/>
        </p:nvSpPr>
        <p:spPr>
          <a:xfrm>
            <a:off x="9611734" y="5661805"/>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Grows</a:t>
            </a:r>
            <a:endParaRPr lang="en-US" sz="1467" dirty="0">
              <a:latin typeface="Calibri" panose="020F0502020204030204"/>
            </a:endParaRPr>
          </a:p>
        </p:txBody>
      </p:sp>
      <p:sp>
        <p:nvSpPr>
          <p:cNvPr id="66" name="Text 27">
            <a:extLst>
              <a:ext uri="{FF2B5EF4-FFF2-40B4-BE49-F238E27FC236}">
                <a16:creationId xmlns:a16="http://schemas.microsoft.com/office/drawing/2014/main" id="{C49FC5FB-28F1-6B2A-14F9-5B301CA48DC3}"/>
              </a:ext>
            </a:extLst>
          </p:cNvPr>
          <p:cNvSpPr/>
          <p:nvPr/>
        </p:nvSpPr>
        <p:spPr>
          <a:xfrm>
            <a:off x="5405494" y="4978037"/>
            <a:ext cx="3901440" cy="438912"/>
          </a:xfrm>
          <a:prstGeom prst="rect">
            <a:avLst/>
          </a:prstGeom>
          <a:noFill/>
          <a:ln/>
        </p:spPr>
        <p:txBody>
          <a:bodyPr wrap="square" lIns="0" tIns="0" rIns="0" bIns="0" rtlCol="0" anchor="ctr"/>
          <a:lstStyle/>
          <a:p>
            <a:pPr defTabSz="1219170"/>
            <a:r>
              <a:rPr lang="en-US" sz="1467" i="1" dirty="0">
                <a:latin typeface="Calibri" pitchFamily="34" charset="0"/>
                <a:ea typeface="Calibri" pitchFamily="34" charset="-122"/>
                <a:cs typeface="Calibri" pitchFamily="34" charset="-120"/>
              </a:rPr>
              <a:t>← The one layer you control</a:t>
            </a:r>
            <a:endParaRPr lang="en-US" sz="1467" dirty="0">
              <a:latin typeface="Calibri" panose="020F0502020204030204"/>
            </a:endParaRPr>
          </a:p>
        </p:txBody>
      </p:sp>
      <p:sp>
        <p:nvSpPr>
          <p:cNvPr id="68" name="TextBox 67">
            <a:extLst>
              <a:ext uri="{FF2B5EF4-FFF2-40B4-BE49-F238E27FC236}">
                <a16:creationId xmlns:a16="http://schemas.microsoft.com/office/drawing/2014/main" id="{E7F85CA9-A056-AF1E-3469-F42CE5F887F2}"/>
              </a:ext>
            </a:extLst>
          </p:cNvPr>
          <p:cNvSpPr txBox="1"/>
          <p:nvPr/>
        </p:nvSpPr>
        <p:spPr>
          <a:xfrm>
            <a:off x="202465" y="508785"/>
            <a:ext cx="11834813" cy="1754326"/>
          </a:xfrm>
          <a:prstGeom prst="rect">
            <a:avLst/>
          </a:prstGeom>
          <a:noFill/>
        </p:spPr>
        <p:txBody>
          <a:bodyPr wrap="square">
            <a:spAutoFit/>
          </a:bodyPr>
          <a:lstStyle/>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A context window is the total amount of text Claude can process in a single session, measured in tokens. Everything counts: your messages, Claude's replies, files it opened, and tool results. </a:t>
            </a:r>
          </a:p>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When the session exceeds that limit, older content gets dropped, and Claude can no longer reference it. </a:t>
            </a:r>
          </a:p>
        </p:txBody>
      </p:sp>
    </p:spTree>
    <p:extLst>
      <p:ext uri="{BB962C8B-B14F-4D97-AF65-F5344CB8AC3E}">
        <p14:creationId xmlns:p14="http://schemas.microsoft.com/office/powerpoint/2010/main" val="252772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500"/>
                                        <p:tgtEl>
                                          <p:spTgt spid="5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animEffect transition="in" filter="fade">
                                      <p:cBhvr>
                                        <p:cTn id="53" dur="500"/>
                                        <p:tgtEl>
                                          <p:spTgt spid="5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animEffect transition="in" filter="fade">
                                      <p:cBhvr>
                                        <p:cTn id="73" dur="500"/>
                                        <p:tgtEl>
                                          <p:spTgt spid="6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1"/>
                                        </p:tgtEl>
                                        <p:attrNameLst>
                                          <p:attrName>style.visibility</p:attrName>
                                        </p:attrNameLst>
                                      </p:cBhvr>
                                      <p:to>
                                        <p:strVal val="visible"/>
                                      </p:to>
                                    </p:set>
                                    <p:animEffect transition="in" filter="fade">
                                      <p:cBhvr>
                                        <p:cTn id="78" dur="500"/>
                                        <p:tgtEl>
                                          <p:spTgt spid="6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fade">
                                      <p:cBhvr>
                                        <p:cTn id="84" dur="500"/>
                                        <p:tgtEl>
                                          <p:spTgt spid="6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4"/>
                                        </p:tgtEl>
                                        <p:attrNameLst>
                                          <p:attrName>style.visibility</p:attrName>
                                        </p:attrNameLst>
                                      </p:cBhvr>
                                      <p:to>
                                        <p:strVal val="visible"/>
                                      </p:to>
                                    </p:set>
                                    <p:animEffect transition="in" filter="fade">
                                      <p:cBhvr>
                                        <p:cTn id="87" dur="500"/>
                                        <p:tgtEl>
                                          <p:spTgt spid="6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fade">
                                      <p:cBhvr>
                                        <p:cTn id="9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F376-16E2-A894-FBC4-BE05AB64CA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D1C2E0-743C-3F48-2E25-7AA0E4E58DCF}"/>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6A32E7AD-4225-3441-39EB-F3F63BE85E1C}"/>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22B9C78-376D-6CB4-4EE7-AA3A31025D2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 Analogy </a:t>
            </a:r>
          </a:p>
        </p:txBody>
      </p:sp>
      <p:sp>
        <p:nvSpPr>
          <p:cNvPr id="9" name="TextBox 8">
            <a:extLst>
              <a:ext uri="{FF2B5EF4-FFF2-40B4-BE49-F238E27FC236}">
                <a16:creationId xmlns:a16="http://schemas.microsoft.com/office/drawing/2014/main" id="{607ACA6C-F069-0D1C-DA76-F15FFBF41F0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2879A62D-04A5-650B-D250-5B9293F9E24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68" name="TextBox 67">
            <a:extLst>
              <a:ext uri="{FF2B5EF4-FFF2-40B4-BE49-F238E27FC236}">
                <a16:creationId xmlns:a16="http://schemas.microsoft.com/office/drawing/2014/main" id="{ABA56345-7DC4-075D-3CFC-241B8390A68A}"/>
              </a:ext>
            </a:extLst>
          </p:cNvPr>
          <p:cNvSpPr txBox="1"/>
          <p:nvPr/>
        </p:nvSpPr>
        <p:spPr>
          <a:xfrm>
            <a:off x="0" y="818443"/>
            <a:ext cx="12025509" cy="2585323"/>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The context window is like a whiteboard; Claude can only see what’s in it and nothing more. Every session, that whiteboard gets filled in layers. At the top are things Anthropic already wrote; Claude's built-in instructions &amp; tools.</a:t>
            </a:r>
          </a:p>
          <a:p>
            <a:pPr marL="285750" indent="-285750">
              <a:buFont typeface="Arial" panose="020B0604020202020204" pitchFamily="34" charset="0"/>
              <a:buChar char="•"/>
            </a:pPr>
            <a:r>
              <a:rPr lang="en-US" dirty="0">
                <a:latin typeface="Montserrat" panose="00000500000000000000" pitchFamily="2" charset="0"/>
              </a:rPr>
              <a:t>CLAUDE.md is the layer in your control. Every time Claude starts, it reads your file and knows your project. Below that is the conversation itself such as your messages, Claude's replies, any code it wrote, any files it opened. That part keeps growing the longer you work.</a:t>
            </a:r>
          </a:p>
          <a:p>
            <a:pPr marL="285750" indent="-285750">
              <a:buFont typeface="Arial" panose="020B0604020202020204" pitchFamily="34" charset="0"/>
              <a:buChar char="•"/>
            </a:pPr>
            <a:r>
              <a:rPr lang="en-US" dirty="0">
                <a:latin typeface="Montserrat" panose="00000500000000000000" pitchFamily="2" charset="0"/>
              </a:rPr>
              <a:t>The context has a size limit. When it's full, Claude starts forgetting the top of the conversation. That's when you use /compact; it summarizes the history and frees up space, like erasing the old content while saving a summary.</a:t>
            </a:r>
          </a:p>
        </p:txBody>
      </p:sp>
      <p:pic>
        <p:nvPicPr>
          <p:cNvPr id="8" name="Picture 7">
            <a:extLst>
              <a:ext uri="{FF2B5EF4-FFF2-40B4-BE49-F238E27FC236}">
                <a16:creationId xmlns:a16="http://schemas.microsoft.com/office/drawing/2014/main" id="{DC7D3C18-124F-AC03-EBA0-E975454849C2}"/>
              </a:ext>
            </a:extLst>
          </p:cNvPr>
          <p:cNvPicPr>
            <a:picLocks noChangeAspect="1"/>
          </p:cNvPicPr>
          <p:nvPr/>
        </p:nvPicPr>
        <p:blipFill>
          <a:blip r:embed="rId5"/>
          <a:stretch>
            <a:fillRect/>
          </a:stretch>
        </p:blipFill>
        <p:spPr>
          <a:xfrm>
            <a:off x="3605797" y="3316300"/>
            <a:ext cx="4980406" cy="3320270"/>
          </a:xfrm>
          <a:prstGeom prst="rect">
            <a:avLst/>
          </a:prstGeom>
        </p:spPr>
      </p:pic>
    </p:spTree>
    <p:extLst>
      <p:ext uri="{BB962C8B-B14F-4D97-AF65-F5344CB8AC3E}">
        <p14:creationId xmlns:p14="http://schemas.microsoft.com/office/powerpoint/2010/main" val="935023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1AA63-A527-A06B-EEC2-1BA55AD13C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037249-47B3-1394-4229-D958D02D9E0D}"/>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07230453-C7F4-4E09-B89C-67679CEF5C12}"/>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3F8CDE-2E40-444D-D420-11C7C7D66A8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When the context Window fills up</a:t>
            </a:r>
          </a:p>
        </p:txBody>
      </p:sp>
      <p:sp>
        <p:nvSpPr>
          <p:cNvPr id="9" name="TextBox 8">
            <a:extLst>
              <a:ext uri="{FF2B5EF4-FFF2-40B4-BE49-F238E27FC236}">
                <a16:creationId xmlns:a16="http://schemas.microsoft.com/office/drawing/2014/main" id="{F3B86B0C-5435-773B-FE2D-3917D440E45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69C8C7C6-B2A3-0F02-F6BE-B1923B7ED0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Shape 2">
            <a:extLst>
              <a:ext uri="{FF2B5EF4-FFF2-40B4-BE49-F238E27FC236}">
                <a16:creationId xmlns:a16="http://schemas.microsoft.com/office/drawing/2014/main" id="{49515F98-3C5F-6FA6-7BF6-37D44E81A14E}"/>
              </a:ext>
            </a:extLst>
          </p:cNvPr>
          <p:cNvSpPr/>
          <p:nvPr/>
        </p:nvSpPr>
        <p:spPr>
          <a:xfrm>
            <a:off x="365760" y="1144757"/>
            <a:ext cx="5120640" cy="426720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8" name="Text 4">
            <a:extLst>
              <a:ext uri="{FF2B5EF4-FFF2-40B4-BE49-F238E27FC236}">
                <a16:creationId xmlns:a16="http://schemas.microsoft.com/office/drawing/2014/main" id="{34B76D53-928E-9F03-CD02-FCCA54ADDCA3}"/>
              </a:ext>
            </a:extLst>
          </p:cNvPr>
          <p:cNvSpPr/>
          <p:nvPr/>
        </p:nvSpPr>
        <p:spPr>
          <a:xfrm>
            <a:off x="548640" y="1327637"/>
            <a:ext cx="4754880" cy="487680"/>
          </a:xfrm>
          <a:prstGeom prst="rect">
            <a:avLst/>
          </a:prstGeom>
          <a:noFill/>
          <a:ln/>
        </p:spPr>
        <p:txBody>
          <a:bodyPr wrap="square" rtlCol="0" anchor="ctr"/>
          <a:lstStyle/>
          <a:p>
            <a:r>
              <a:rPr lang="en-US" sz="2133" b="1" dirty="0">
                <a:solidFill>
                  <a:schemeClr val="bg1"/>
                </a:solidFill>
                <a:latin typeface="Montserrat" panose="00000500000000000000" pitchFamily="2" charset="0"/>
                <a:ea typeface="Calibri" pitchFamily="34" charset="-122"/>
                <a:cs typeface="Calibri" pitchFamily="34" charset="-120"/>
              </a:rPr>
              <a:t>The problem</a:t>
            </a:r>
            <a:endParaRPr lang="en-US" sz="2133" dirty="0">
              <a:solidFill>
                <a:schemeClr val="bg1"/>
              </a:solidFill>
              <a:latin typeface="Montserrat" panose="00000500000000000000" pitchFamily="2" charset="0"/>
            </a:endParaRPr>
          </a:p>
        </p:txBody>
      </p:sp>
      <p:sp>
        <p:nvSpPr>
          <p:cNvPr id="10" name="Text 5">
            <a:extLst>
              <a:ext uri="{FF2B5EF4-FFF2-40B4-BE49-F238E27FC236}">
                <a16:creationId xmlns:a16="http://schemas.microsoft.com/office/drawing/2014/main" id="{F575D617-22FA-F218-5866-F854E99E5DA2}"/>
              </a:ext>
            </a:extLst>
          </p:cNvPr>
          <p:cNvSpPr/>
          <p:nvPr/>
        </p:nvSpPr>
        <p:spPr>
          <a:xfrm>
            <a:off x="539115" y="1693397"/>
            <a:ext cx="4693920" cy="3169920"/>
          </a:xfrm>
          <a:prstGeom prst="rect">
            <a:avLst/>
          </a:prstGeom>
          <a:noFill/>
          <a:ln/>
        </p:spPr>
        <p:txBody>
          <a:bodyPr wrap="square" rtlCol="0" anchor="ctr"/>
          <a:lstStyle/>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Claude has a token limit</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The longer you work, the more history fills up</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When full, older messages get dropped</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Claude loses early context; it may forget things you said</a:t>
            </a:r>
            <a:endParaRPr lang="en-US" sz="1733" dirty="0">
              <a:solidFill>
                <a:schemeClr val="bg1"/>
              </a:solidFill>
              <a:latin typeface="Montserrat" panose="00000500000000000000" pitchFamily="2" charset="0"/>
            </a:endParaRPr>
          </a:p>
        </p:txBody>
      </p:sp>
      <p:sp>
        <p:nvSpPr>
          <p:cNvPr id="11" name="Shape 6">
            <a:extLst>
              <a:ext uri="{FF2B5EF4-FFF2-40B4-BE49-F238E27FC236}">
                <a16:creationId xmlns:a16="http://schemas.microsoft.com/office/drawing/2014/main" id="{1C74A6B7-C973-ABC6-4511-E293DB7CC879}"/>
              </a:ext>
            </a:extLst>
          </p:cNvPr>
          <p:cNvSpPr/>
          <p:nvPr/>
        </p:nvSpPr>
        <p:spPr>
          <a:xfrm>
            <a:off x="6217920" y="1144757"/>
            <a:ext cx="5120640" cy="4267200"/>
          </a:xfrm>
          <a:prstGeom prst="rect">
            <a:avLst/>
          </a:prstGeom>
          <a:solidFill>
            <a:srgbClr val="D56E48"/>
          </a:solidFill>
          <a:ln w="19050">
            <a:noFill/>
            <a:prstDash val="solid"/>
          </a:ln>
        </p:spPr>
        <p:txBody>
          <a:bodyPr/>
          <a:lstStyle/>
          <a:p>
            <a:endParaRPr lang="en-CA" sz="2400">
              <a:latin typeface="Montserrat" panose="00000500000000000000" pitchFamily="2" charset="0"/>
            </a:endParaRPr>
          </a:p>
        </p:txBody>
      </p:sp>
      <p:sp>
        <p:nvSpPr>
          <p:cNvPr id="13" name="Text 8">
            <a:extLst>
              <a:ext uri="{FF2B5EF4-FFF2-40B4-BE49-F238E27FC236}">
                <a16:creationId xmlns:a16="http://schemas.microsoft.com/office/drawing/2014/main" id="{7DB95920-352C-0A4E-052B-FFF72719E4CB}"/>
              </a:ext>
            </a:extLst>
          </p:cNvPr>
          <p:cNvSpPr/>
          <p:nvPr/>
        </p:nvSpPr>
        <p:spPr>
          <a:xfrm>
            <a:off x="6400800" y="1327637"/>
            <a:ext cx="4754880" cy="487680"/>
          </a:xfrm>
          <a:prstGeom prst="rect">
            <a:avLst/>
          </a:prstGeom>
          <a:noFill/>
          <a:ln/>
        </p:spPr>
        <p:txBody>
          <a:bodyPr wrap="square" rtlCol="0" anchor="ctr"/>
          <a:lstStyle/>
          <a:p>
            <a:r>
              <a:rPr lang="en-US" sz="2133" b="1" dirty="0">
                <a:latin typeface="Montserrat" panose="00000500000000000000" pitchFamily="2" charset="0"/>
                <a:ea typeface="Calibri" pitchFamily="34" charset="-122"/>
                <a:cs typeface="Calibri" pitchFamily="34" charset="-120"/>
              </a:rPr>
              <a:t>The fix: /compact</a:t>
            </a:r>
            <a:endParaRPr lang="en-US" sz="2133" dirty="0">
              <a:latin typeface="Montserrat" panose="00000500000000000000" pitchFamily="2" charset="0"/>
            </a:endParaRPr>
          </a:p>
        </p:txBody>
      </p:sp>
      <p:sp>
        <p:nvSpPr>
          <p:cNvPr id="14" name="Text 9">
            <a:extLst>
              <a:ext uri="{FF2B5EF4-FFF2-40B4-BE49-F238E27FC236}">
                <a16:creationId xmlns:a16="http://schemas.microsoft.com/office/drawing/2014/main" id="{54025834-5C26-F0A5-8EDA-D63897AC368D}"/>
              </a:ext>
            </a:extLst>
          </p:cNvPr>
          <p:cNvSpPr/>
          <p:nvPr/>
        </p:nvSpPr>
        <p:spPr>
          <a:xfrm>
            <a:off x="6391275" y="1806819"/>
            <a:ext cx="4693920" cy="3169920"/>
          </a:xfrm>
          <a:prstGeom prst="rect">
            <a:avLst/>
          </a:prstGeom>
          <a:noFill/>
          <a:ln/>
        </p:spPr>
        <p:txBody>
          <a:bodyPr wrap="square" rtlCol="0" anchor="ctr"/>
          <a:lstStyle/>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Run /compact in your session</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Claude summarizes the conversation history</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Summary replaces the full history which frees up space</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CLAUDE.md always survives; it reloads fresh every time</a:t>
            </a:r>
            <a:endParaRPr lang="en-US" sz="1733" dirty="0">
              <a:latin typeface="Montserrat" panose="00000500000000000000" pitchFamily="2" charset="0"/>
            </a:endParaRPr>
          </a:p>
        </p:txBody>
      </p:sp>
      <p:sp>
        <p:nvSpPr>
          <p:cNvPr id="16" name="Text 11">
            <a:extLst>
              <a:ext uri="{FF2B5EF4-FFF2-40B4-BE49-F238E27FC236}">
                <a16:creationId xmlns:a16="http://schemas.microsoft.com/office/drawing/2014/main" id="{920F568E-9BE4-732C-AD5F-59E4E6A06E70}"/>
              </a:ext>
            </a:extLst>
          </p:cNvPr>
          <p:cNvSpPr/>
          <p:nvPr/>
        </p:nvSpPr>
        <p:spPr>
          <a:xfrm>
            <a:off x="426720" y="5655797"/>
            <a:ext cx="10850880" cy="609600"/>
          </a:xfrm>
          <a:prstGeom prst="rect">
            <a:avLst/>
          </a:prstGeom>
          <a:noFill/>
          <a:ln/>
        </p:spPr>
        <p:txBody>
          <a:bodyPr wrap="square" rtlCol="0" anchor="ctr"/>
          <a:lstStyle/>
          <a:p>
            <a:pPr algn="ctr"/>
            <a:r>
              <a:rPr lang="en-US" sz="1867" i="1" dirty="0">
                <a:latin typeface="Montserrat" panose="00000500000000000000" pitchFamily="2" charset="0"/>
                <a:ea typeface="Calibri" pitchFamily="34" charset="-122"/>
                <a:cs typeface="Calibri" pitchFamily="34" charset="-120"/>
              </a:rPr>
              <a:t>Key takeaway: CLAUDE.md is permanent. Conversation history is not.</a:t>
            </a:r>
            <a:endParaRPr lang="en-US" sz="1867" dirty="0">
              <a:latin typeface="Montserrat" panose="00000500000000000000" pitchFamily="2" charset="0"/>
            </a:endParaRPr>
          </a:p>
        </p:txBody>
      </p:sp>
    </p:spTree>
    <p:extLst>
      <p:ext uri="{BB962C8B-B14F-4D97-AF65-F5344CB8AC3E}">
        <p14:creationId xmlns:p14="http://schemas.microsoft.com/office/powerpoint/2010/main" val="290459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P spid="11" grpId="0" animBg="1"/>
      <p:bldP spid="13" grpId="0" animBg="1"/>
      <p:bldP spid="14"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FE1D-1167-EFE7-BD8A-10A3C43FC4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9ABAF3-244A-A616-295D-7EFF66F650B1}"/>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C537D20-724E-A5A7-FCA0-4433C532C02A}"/>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52884D2-FEE1-5C53-D7B4-81C3538E070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a:t>
            </a:r>
          </a:p>
        </p:txBody>
      </p:sp>
      <p:sp>
        <p:nvSpPr>
          <p:cNvPr id="9" name="TextBox 8">
            <a:extLst>
              <a:ext uri="{FF2B5EF4-FFF2-40B4-BE49-F238E27FC236}">
                <a16:creationId xmlns:a16="http://schemas.microsoft.com/office/drawing/2014/main" id="{4C5405F6-6215-4A82-9C55-5CB5B132AFA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DED017CF-CCD1-EF71-7ECD-3E686F092E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5FB61CB1-EAE5-EBDE-B93C-CB7C493101FD}"/>
              </a:ext>
            </a:extLst>
          </p:cNvPr>
          <p:cNvSpPr txBox="1"/>
          <p:nvPr/>
        </p:nvSpPr>
        <p:spPr>
          <a:xfrm>
            <a:off x="154722" y="605711"/>
            <a:ext cx="11734698" cy="1754326"/>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endParaRPr lang="en-US" altLang="en-US" sz="1800" dirty="0"/>
          </a:p>
          <a:p>
            <a:r>
              <a:rPr lang="en-US" altLang="en-US" sz="1800" dirty="0"/>
              <a:t>Running </a:t>
            </a:r>
            <a:r>
              <a:rPr lang="en-US" altLang="en-US" sz="1800" b="1" dirty="0"/>
              <a:t>/context </a:t>
            </a:r>
            <a:r>
              <a:rPr lang="en-US" altLang="en-US" sz="1800" dirty="0"/>
              <a:t>in Claude Code shows a live breakdown of how your 1M token limit is being used, including the system prompt, tools, memory, and your conversation messages. At the start of a session, most of the window is still free (99% here). </a:t>
            </a:r>
          </a:p>
          <a:p>
            <a:r>
              <a:rPr lang="en-US" altLang="en-US" sz="1800" dirty="0"/>
              <a:t>The </a:t>
            </a:r>
            <a:r>
              <a:rPr lang="en-US" altLang="en-US" sz="1800" dirty="0" err="1"/>
              <a:t>autocompact</a:t>
            </a:r>
            <a:r>
              <a:rPr lang="en-US" altLang="en-US" sz="1800" dirty="0"/>
              <a:t> buffer (33k tokens, 3%) is space Claude reserves to summarize the conversation before the window fills up completely, so it can compact automatically without losing your work. </a:t>
            </a:r>
          </a:p>
        </p:txBody>
      </p:sp>
      <p:pic>
        <p:nvPicPr>
          <p:cNvPr id="8" name="Picture 7">
            <a:extLst>
              <a:ext uri="{FF2B5EF4-FFF2-40B4-BE49-F238E27FC236}">
                <a16:creationId xmlns:a16="http://schemas.microsoft.com/office/drawing/2014/main" id="{8AAB6AED-21FD-5D35-F3AF-CE8C810B7DB5}"/>
              </a:ext>
            </a:extLst>
          </p:cNvPr>
          <p:cNvPicPr>
            <a:picLocks noChangeAspect="1"/>
          </p:cNvPicPr>
          <p:nvPr/>
        </p:nvPicPr>
        <p:blipFill>
          <a:blip r:embed="rId5"/>
          <a:srcRect t="1295"/>
          <a:stretch>
            <a:fillRect/>
          </a:stretch>
        </p:blipFill>
        <p:spPr>
          <a:xfrm>
            <a:off x="1647125" y="2738438"/>
            <a:ext cx="7433376" cy="3647686"/>
          </a:xfrm>
          <a:prstGeom prst="rect">
            <a:avLst/>
          </a:prstGeom>
        </p:spPr>
      </p:pic>
    </p:spTree>
    <p:extLst>
      <p:ext uri="{BB962C8B-B14F-4D97-AF65-F5344CB8AC3E}">
        <p14:creationId xmlns:p14="http://schemas.microsoft.com/office/powerpoint/2010/main" val="4018038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4D0F-B221-D98C-94C8-F0A5E4DCFA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B57CA3-DBD4-256F-83CC-138B5A2DAEE4}"/>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FAA7DC53-F10D-0764-91F5-B4A9C267E865}"/>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8BA0C6D-2E6D-1F94-47FC-8C5EF7AAFD7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 in Claude</a:t>
            </a:r>
          </a:p>
        </p:txBody>
      </p:sp>
      <p:sp>
        <p:nvSpPr>
          <p:cNvPr id="9" name="TextBox 8">
            <a:extLst>
              <a:ext uri="{FF2B5EF4-FFF2-40B4-BE49-F238E27FC236}">
                <a16:creationId xmlns:a16="http://schemas.microsoft.com/office/drawing/2014/main" id="{06D3CB08-F2E8-5F0D-B552-0F6181AC565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6CB32F88-5FDB-BA16-2A0E-743E37B2133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4" name="Picture 2" descr="AI Tools 101: Claude Code Guide to Build Real Apps Faster">
            <a:extLst>
              <a:ext uri="{FF2B5EF4-FFF2-40B4-BE49-F238E27FC236}">
                <a16:creationId xmlns:a16="http://schemas.microsoft.com/office/drawing/2014/main" id="{ADB57E04-4014-BE0C-0CCD-63BAC556D2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5477" y="1620628"/>
            <a:ext cx="5720348" cy="368022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16;p5">
            <a:extLst>
              <a:ext uri="{FF2B5EF4-FFF2-40B4-BE49-F238E27FC236}">
                <a16:creationId xmlns:a16="http://schemas.microsoft.com/office/drawing/2014/main" id="{60697029-87F8-80BA-C1EA-80414B324613}"/>
              </a:ext>
            </a:extLst>
          </p:cNvPr>
          <p:cNvSpPr txBox="1"/>
          <p:nvPr/>
        </p:nvSpPr>
        <p:spPr>
          <a:xfrm>
            <a:off x="166990" y="915981"/>
            <a:ext cx="11899671" cy="921900"/>
          </a:xfrm>
          <a:prstGeom prst="rect">
            <a:avLst/>
          </a:prstGeom>
          <a:noFill/>
          <a:ln>
            <a:noFill/>
          </a:ln>
        </p:spPr>
        <p:txBody>
          <a:bodyPr spcFirstLastPara="1" wrap="square" lIns="91425" tIns="45700" rIns="91425" bIns="45700" anchor="t" anchorCtr="0">
            <a:normAutofit/>
          </a:bodyPr>
          <a:lstStyle/>
          <a:p>
            <a:pPr marL="228600" lvl="0" indent="-228600" defTabSz="457200">
              <a:lnSpc>
                <a:spcPct val="90000"/>
              </a:lnSpc>
              <a:buClr>
                <a:srgbClr val="1BBFD1"/>
              </a:buClr>
              <a:buSzPts val="1800"/>
              <a:buFont typeface="Arial"/>
              <a:buChar char="•"/>
            </a:pPr>
            <a:r>
              <a:rPr lang="en-US" dirty="0">
                <a:solidFill>
                  <a:prstClr val="black"/>
                </a:solidFill>
                <a:latin typeface="Montserrat"/>
                <a:ea typeface="Montserrat"/>
                <a:cs typeface="Montserrat"/>
                <a:sym typeface="Montserrat"/>
              </a:rPr>
              <a:t>Show /context command</a:t>
            </a:r>
          </a:p>
        </p:txBody>
      </p:sp>
    </p:spTree>
    <p:extLst>
      <p:ext uri="{BB962C8B-B14F-4D97-AF65-F5344CB8AC3E}">
        <p14:creationId xmlns:p14="http://schemas.microsoft.com/office/powerpoint/2010/main" val="2710880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6F5A-78F9-84C9-EC74-2A1DF5602F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0FA6FF-DE84-C44D-264A-68C1F3AD860E}"/>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31F1B477-3513-5B6B-BFBE-EEACAF31E595}"/>
              </a:ext>
            </a:extLst>
          </p:cNvPr>
          <p:cNvSpPr/>
          <p:nvPr/>
        </p:nvSpPr>
        <p:spPr>
          <a:xfrm>
            <a:off x="293915" y="489004"/>
            <a:ext cx="4743450"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CLAUDE.MD</a:t>
            </a:r>
          </a:p>
        </p:txBody>
      </p:sp>
      <p:pic>
        <p:nvPicPr>
          <p:cNvPr id="6" name="Picture 5">
            <a:extLst>
              <a:ext uri="{FF2B5EF4-FFF2-40B4-BE49-F238E27FC236}">
                <a16:creationId xmlns:a16="http://schemas.microsoft.com/office/drawing/2014/main" id="{D8AD2879-0772-1C12-1BC6-4CD217E6FE5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10616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1BB3-F629-6EC2-1146-CACA781400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22644E-0136-2E1F-C155-596322C8DE61}"/>
              </a:ext>
            </a:extLst>
          </p:cNvPr>
          <p:cNvPicPr>
            <a:picLocks noChangeAspect="1"/>
          </p:cNvPicPr>
          <p:nvPr/>
        </p:nvPicPr>
        <p:blipFill>
          <a:blip r:embed="rId3"/>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F7BD65C9-F77A-8A40-7492-EADA0E4AAC70}"/>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A80B5B6-4506-14EF-8E07-742D8B7E13E4}"/>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CLAUDE.md </a:t>
            </a:r>
          </a:p>
        </p:txBody>
      </p:sp>
      <p:sp>
        <p:nvSpPr>
          <p:cNvPr id="9" name="TextBox 8">
            <a:extLst>
              <a:ext uri="{FF2B5EF4-FFF2-40B4-BE49-F238E27FC236}">
                <a16:creationId xmlns:a16="http://schemas.microsoft.com/office/drawing/2014/main" id="{5B094F88-7342-7701-AC2A-E6BC883895B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1403B866-14FF-0CD5-3522-727A8705F29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TextBox 3">
            <a:extLst>
              <a:ext uri="{FF2B5EF4-FFF2-40B4-BE49-F238E27FC236}">
                <a16:creationId xmlns:a16="http://schemas.microsoft.com/office/drawing/2014/main" id="{903A50E0-5F80-8DF4-09FC-51A328E9F5B4}"/>
              </a:ext>
            </a:extLst>
          </p:cNvPr>
          <p:cNvSpPr txBox="1"/>
          <p:nvPr/>
        </p:nvSpPr>
        <p:spPr>
          <a:xfrm>
            <a:off x="302894" y="915765"/>
            <a:ext cx="5450206" cy="4075335"/>
          </a:xfrm>
          <a:prstGeom prst="rect">
            <a:avLst/>
          </a:prstGeom>
          <a:noFill/>
          <a:ln>
            <a:noFill/>
          </a:ln>
        </p:spPr>
        <p:txBody>
          <a:bodyPr spcFirstLastPara="1" wrap="square" lIns="91425" tIns="45700" rIns="91425" bIns="45700" anchor="t" anchorCtr="0">
            <a:normAutofit/>
          </a:bodyPr>
          <a:lstStyle>
            <a:defPPr>
              <a:defRPr lang="en-US"/>
            </a:defPPr>
            <a:lvl1pPr marL="228600" lvl="0" indent="-228600" defTabSz="457200">
              <a:lnSpc>
                <a:spcPct val="90000"/>
              </a:lnSpc>
              <a:buClr>
                <a:srgbClr val="1BBFD1"/>
              </a:buClr>
              <a:buSzPts val="1800"/>
              <a:buFont typeface="Arial"/>
              <a:buChar char="•"/>
              <a:defRPr>
                <a:solidFill>
                  <a:prstClr val="black"/>
                </a:solidFill>
                <a:latin typeface="Montserrat"/>
                <a:ea typeface="Montserrat"/>
                <a:cs typeface="Montserrat"/>
              </a:defRPr>
            </a:lvl1pPr>
          </a:lstStyle>
          <a:p>
            <a:r>
              <a:rPr lang="en-US" dirty="0"/>
              <a:t>CLAUDE.md is a markdown file you add to your project root that Claude Code reads at the start of every session. </a:t>
            </a:r>
          </a:p>
          <a:p>
            <a:endParaRPr lang="en-US" dirty="0"/>
          </a:p>
          <a:p>
            <a:r>
              <a:rPr lang="en-US" dirty="0"/>
              <a:t>Claude thinks of it as a permanent briefing note; Claude shows up knowing your project without you repeating yourself every time.</a:t>
            </a:r>
            <a:endParaRPr lang="en-CA" dirty="0"/>
          </a:p>
        </p:txBody>
      </p:sp>
      <p:sp>
        <p:nvSpPr>
          <p:cNvPr id="15" name="Shape 20">
            <a:extLst>
              <a:ext uri="{FF2B5EF4-FFF2-40B4-BE49-F238E27FC236}">
                <a16:creationId xmlns:a16="http://schemas.microsoft.com/office/drawing/2014/main" id="{2ED52F17-FDB8-0A59-5BC5-0174F0DD46FD}"/>
              </a:ext>
            </a:extLst>
          </p:cNvPr>
          <p:cNvSpPr/>
          <p:nvPr/>
        </p:nvSpPr>
        <p:spPr>
          <a:xfrm>
            <a:off x="6705600" y="888207"/>
            <a:ext cx="5120640" cy="5684043"/>
          </a:xfrm>
          <a:prstGeom prst="rect">
            <a:avLst/>
          </a:prstGeom>
          <a:solidFill>
            <a:srgbClr val="002060"/>
          </a:solidFill>
          <a:ln/>
          <a:effectLst>
            <a:outerShdw blurRad="101600" dist="25400" dir="8100000" algn="bl" rotWithShape="0">
              <a:srgbClr val="000000">
                <a:alpha val="12000"/>
              </a:srgbClr>
            </a:outerShdw>
          </a:effectLst>
        </p:spPr>
        <p:txBody>
          <a:bodyPr/>
          <a:lstStyle/>
          <a:p>
            <a:endParaRPr lang="en-CA" sz="1867"/>
          </a:p>
        </p:txBody>
      </p:sp>
      <p:sp>
        <p:nvSpPr>
          <p:cNvPr id="16" name="Text 21">
            <a:extLst>
              <a:ext uri="{FF2B5EF4-FFF2-40B4-BE49-F238E27FC236}">
                <a16:creationId xmlns:a16="http://schemas.microsoft.com/office/drawing/2014/main" id="{23A10BFE-234B-AA02-98A3-78CC53F39655}"/>
              </a:ext>
            </a:extLst>
          </p:cNvPr>
          <p:cNvSpPr/>
          <p:nvPr/>
        </p:nvSpPr>
        <p:spPr>
          <a:xfrm>
            <a:off x="6770370" y="834444"/>
            <a:ext cx="1463040" cy="426720"/>
          </a:xfrm>
          <a:prstGeom prst="rect">
            <a:avLst/>
          </a:prstGeom>
          <a:noFill/>
          <a:ln/>
        </p:spPr>
        <p:txBody>
          <a:bodyPr wrap="square" lIns="0" tIns="0" rIns="0" bIns="0" rtlCol="0" anchor="ctr"/>
          <a:lstStyle/>
          <a:p>
            <a:r>
              <a:rPr lang="en-US" sz="1600" dirty="0">
                <a:solidFill>
                  <a:srgbClr val="10B981"/>
                </a:solidFill>
                <a:latin typeface="Consolas" pitchFamily="34" charset="0"/>
                <a:ea typeface="Consolas" pitchFamily="34" charset="-122"/>
                <a:cs typeface="Consolas" pitchFamily="34" charset="-120"/>
              </a:rPr>
              <a:t>CLAUDE.md</a:t>
            </a:r>
            <a:endParaRPr lang="en-US" sz="1600" dirty="0"/>
          </a:p>
        </p:txBody>
      </p:sp>
      <p:sp>
        <p:nvSpPr>
          <p:cNvPr id="17" name="Text 22">
            <a:extLst>
              <a:ext uri="{FF2B5EF4-FFF2-40B4-BE49-F238E27FC236}">
                <a16:creationId xmlns:a16="http://schemas.microsoft.com/office/drawing/2014/main" id="{B41BA4D4-77E1-96CF-ED07-67EEF0E3E939}"/>
              </a:ext>
            </a:extLst>
          </p:cNvPr>
          <p:cNvSpPr/>
          <p:nvPr/>
        </p:nvSpPr>
        <p:spPr>
          <a:xfrm>
            <a:off x="6786086" y="1190680"/>
            <a:ext cx="4959668" cy="5524445"/>
          </a:xfrm>
          <a:prstGeom prst="rect">
            <a:avLst/>
          </a:prstGeom>
          <a:noFill/>
          <a:ln/>
        </p:spPr>
        <p:txBody>
          <a:bodyPr wrap="square" lIns="0" tIns="0" rIns="0" bIns="0" rtlCol="0" anchor="t"/>
          <a:lstStyle/>
          <a:p>
            <a:r>
              <a:rPr lang="en-US" sz="700" dirty="0">
                <a:solidFill>
                  <a:srgbClr val="E2E8F0"/>
                </a:solidFill>
                <a:latin typeface="Consolas" pitchFamily="34" charset="0"/>
                <a:ea typeface="Consolas" pitchFamily="34" charset="-122"/>
                <a:cs typeface="Consolas" pitchFamily="34" charset="-120"/>
              </a:rPr>
              <a:t># AI Finance Agent — Project Context</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What This Is</a:t>
            </a:r>
          </a:p>
          <a:p>
            <a:r>
              <a:rPr lang="en-US" sz="700" dirty="0">
                <a:solidFill>
                  <a:srgbClr val="E2E8F0"/>
                </a:solidFill>
                <a:latin typeface="Consolas" pitchFamily="34" charset="0"/>
                <a:ea typeface="Consolas" pitchFamily="34" charset="-122"/>
                <a:cs typeface="Consolas" pitchFamily="34" charset="-120"/>
              </a:rPr>
              <a:t>A Python-based AI agent that analyzes financial statements and generate reports.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Tech Stack</a:t>
            </a:r>
          </a:p>
          <a:p>
            <a:r>
              <a:rPr lang="en-US" sz="700" dirty="0">
                <a:solidFill>
                  <a:srgbClr val="E2E8F0"/>
                </a:solidFill>
                <a:latin typeface="Consolas" pitchFamily="34" charset="0"/>
                <a:ea typeface="Consolas" pitchFamily="34" charset="-122"/>
                <a:cs typeface="Consolas" pitchFamily="34" charset="-120"/>
              </a:rPr>
              <a:t>- Python 3.11, pandas, </a:t>
            </a:r>
            <a:r>
              <a:rPr lang="en-US" sz="700" dirty="0" err="1">
                <a:solidFill>
                  <a:srgbClr val="E2E8F0"/>
                </a:solidFill>
                <a:latin typeface="Consolas" pitchFamily="34" charset="0"/>
                <a:ea typeface="Consolas" pitchFamily="34" charset="-122"/>
                <a:cs typeface="Consolas" pitchFamily="34" charset="-120"/>
              </a:rPr>
              <a:t>yfinance</a:t>
            </a:r>
            <a:r>
              <a:rPr lang="en-US" sz="700" dirty="0">
                <a:solidFill>
                  <a:srgbClr val="E2E8F0"/>
                </a:solidFill>
                <a:latin typeface="Consolas" pitchFamily="34" charset="0"/>
                <a:ea typeface="Consolas" pitchFamily="34" charset="-122"/>
                <a:cs typeface="Consolas" pitchFamily="34" charset="-120"/>
              </a:rPr>
              <a:t>, matplotlib</a:t>
            </a:r>
          </a:p>
          <a:p>
            <a:r>
              <a:rPr lang="en-US" sz="700" dirty="0">
                <a:solidFill>
                  <a:srgbClr val="E2E8F0"/>
                </a:solidFill>
                <a:latin typeface="Consolas" pitchFamily="34" charset="0"/>
                <a:ea typeface="Consolas" pitchFamily="34" charset="-122"/>
                <a:cs typeface="Consolas" pitchFamily="34" charset="-120"/>
              </a:rPr>
              <a:t>- Anthropic Claude API (claude-sonnet-4-6) &amp; </a:t>
            </a:r>
            <a:r>
              <a:rPr lang="en-US" sz="700" dirty="0" err="1">
                <a:solidFill>
                  <a:srgbClr val="E2E8F0"/>
                </a:solidFill>
                <a:latin typeface="Consolas" pitchFamily="34" charset="0"/>
                <a:ea typeface="Consolas" pitchFamily="34" charset="-122"/>
                <a:cs typeface="Consolas" pitchFamily="34" charset="-120"/>
              </a:rPr>
              <a:t>Jupyter</a:t>
            </a:r>
            <a:r>
              <a:rPr lang="en-US" sz="700" dirty="0">
                <a:solidFill>
                  <a:srgbClr val="E2E8F0"/>
                </a:solidFill>
                <a:latin typeface="Consolas" pitchFamily="34" charset="0"/>
                <a:ea typeface="Consolas" pitchFamily="34" charset="-122"/>
                <a:cs typeface="Consolas" pitchFamily="34" charset="-120"/>
              </a:rPr>
              <a:t> Notebooks for prototyping</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Key Commands</a:t>
            </a:r>
          </a:p>
          <a:p>
            <a:r>
              <a:rPr lang="en-US" sz="700" dirty="0">
                <a:solidFill>
                  <a:srgbClr val="E2E8F0"/>
                </a:solidFill>
                <a:latin typeface="Consolas" pitchFamily="34" charset="0"/>
                <a:ea typeface="Consolas" pitchFamily="34" charset="-122"/>
                <a:cs typeface="Consolas" pitchFamily="34" charset="-120"/>
              </a:rPr>
              <a:t>```bash</a:t>
            </a:r>
          </a:p>
          <a:p>
            <a:r>
              <a:rPr lang="en-US" sz="700" dirty="0">
                <a:solidFill>
                  <a:srgbClr val="E2E8F0"/>
                </a:solidFill>
                <a:latin typeface="Consolas" pitchFamily="34" charset="0"/>
                <a:ea typeface="Consolas" pitchFamily="34" charset="-122"/>
                <a:cs typeface="Consolas" pitchFamily="34" charset="-120"/>
              </a:rPr>
              <a:t># Run the agent</a:t>
            </a:r>
          </a:p>
          <a:p>
            <a:r>
              <a:rPr lang="en-US" sz="700" dirty="0">
                <a:solidFill>
                  <a:srgbClr val="E2E8F0"/>
                </a:solidFill>
                <a:latin typeface="Consolas" pitchFamily="34" charset="0"/>
                <a:ea typeface="Consolas" pitchFamily="34" charset="-122"/>
                <a:cs typeface="Consolas" pitchFamily="34" charset="-120"/>
              </a:rPr>
              <a:t>python agent.py</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Run tests</a:t>
            </a:r>
          </a:p>
          <a:p>
            <a:r>
              <a:rPr lang="en-US" sz="700" dirty="0" err="1">
                <a:solidFill>
                  <a:srgbClr val="E2E8F0"/>
                </a:solidFill>
                <a:latin typeface="Consolas" pitchFamily="34" charset="0"/>
                <a:ea typeface="Consolas" pitchFamily="34" charset="-122"/>
                <a:cs typeface="Consolas" pitchFamily="34" charset="-120"/>
              </a:rPr>
              <a:t>pytest</a:t>
            </a:r>
            <a:r>
              <a:rPr lang="en-US" sz="700" dirty="0">
                <a:solidFill>
                  <a:srgbClr val="E2E8F0"/>
                </a:solidFill>
                <a:latin typeface="Consolas" pitchFamily="34" charset="0"/>
                <a:ea typeface="Consolas" pitchFamily="34" charset="-122"/>
                <a:cs typeface="Consolas" pitchFamily="34" charset="-120"/>
              </a:rPr>
              <a:t> tests/ -v</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Install dependencies</a:t>
            </a:r>
          </a:p>
          <a:p>
            <a:r>
              <a:rPr lang="en-US" sz="700" dirty="0">
                <a:solidFill>
                  <a:srgbClr val="E2E8F0"/>
                </a:solidFill>
                <a:latin typeface="Consolas" pitchFamily="34" charset="0"/>
                <a:ea typeface="Consolas" pitchFamily="34" charset="-122"/>
                <a:cs typeface="Consolas" pitchFamily="34" charset="-120"/>
              </a:rPr>
              <a:t>pip install -r requirements.txt --break-system-packages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Launch notebook</a:t>
            </a:r>
          </a:p>
          <a:p>
            <a:r>
              <a:rPr lang="en-US" sz="700" dirty="0" err="1">
                <a:solidFill>
                  <a:srgbClr val="E2E8F0"/>
                </a:solidFill>
                <a:latin typeface="Consolas" pitchFamily="34" charset="0"/>
                <a:ea typeface="Consolas" pitchFamily="34" charset="-122"/>
                <a:cs typeface="Consolas" pitchFamily="34" charset="-120"/>
              </a:rPr>
              <a:t>jupyter</a:t>
            </a:r>
            <a:r>
              <a:rPr lang="en-US" sz="700" dirty="0">
                <a:solidFill>
                  <a:srgbClr val="E2E8F0"/>
                </a:solidFill>
                <a:latin typeface="Consolas" pitchFamily="34" charset="0"/>
                <a:ea typeface="Consolas" pitchFamily="34" charset="-122"/>
                <a:cs typeface="Consolas" pitchFamily="34" charset="-120"/>
              </a:rPr>
              <a:t> notebook notebooks/</a:t>
            </a:r>
          </a:p>
          <a:p>
            <a:r>
              <a:rPr lang="en-US" sz="700" dirty="0">
                <a:solidFill>
                  <a:srgbClr val="E2E8F0"/>
                </a:solidFill>
                <a:latin typeface="Consolas" pitchFamily="34" charset="0"/>
                <a:ea typeface="Consolas" pitchFamily="34" charset="-122"/>
                <a:cs typeface="Consolas" pitchFamily="34" charset="-120"/>
              </a:rPr>
              <a:t>```</a:t>
            </a:r>
          </a:p>
          <a:p>
            <a:r>
              <a:rPr lang="en-US" sz="700" dirty="0">
                <a:solidFill>
                  <a:srgbClr val="E2E8F0"/>
                </a:solidFill>
                <a:latin typeface="Consolas" pitchFamily="34" charset="0"/>
                <a:ea typeface="Consolas" pitchFamily="34" charset="-122"/>
                <a:cs typeface="Consolas" pitchFamily="34" charset="-120"/>
              </a:rPr>
              <a:t>## Project Structure</a:t>
            </a:r>
          </a:p>
          <a:p>
            <a:r>
              <a:rPr lang="en-US" sz="700" dirty="0">
                <a:solidFill>
                  <a:srgbClr val="E2E8F0"/>
                </a:solidFill>
                <a:latin typeface="Consolas" pitchFamily="34" charset="0"/>
                <a:ea typeface="Consolas" pitchFamily="34" charset="-122"/>
                <a:cs typeface="Consolas" pitchFamily="34" charset="-120"/>
              </a:rPr>
              <a:t>- /agent.py         — Main agent entry point</a:t>
            </a:r>
          </a:p>
          <a:p>
            <a:r>
              <a:rPr lang="en-US" sz="700" dirty="0">
                <a:solidFill>
                  <a:srgbClr val="E2E8F0"/>
                </a:solidFill>
                <a:latin typeface="Consolas" pitchFamily="34" charset="0"/>
                <a:ea typeface="Consolas" pitchFamily="34" charset="-122"/>
                <a:cs typeface="Consolas" pitchFamily="34" charset="-120"/>
              </a:rPr>
              <a:t>- /tools/           — Financial analysis tools (ratio calc, etc.)</a:t>
            </a:r>
          </a:p>
          <a:p>
            <a:r>
              <a:rPr lang="en-US" sz="700" dirty="0">
                <a:solidFill>
                  <a:srgbClr val="E2E8F0"/>
                </a:solidFill>
                <a:latin typeface="Consolas" pitchFamily="34" charset="0"/>
                <a:ea typeface="Consolas" pitchFamily="34" charset="-122"/>
                <a:cs typeface="Consolas" pitchFamily="34" charset="-120"/>
              </a:rPr>
              <a:t>- /data/            — Sample 10-K filings (do not modify)</a:t>
            </a:r>
          </a:p>
          <a:p>
            <a:r>
              <a:rPr lang="en-US" sz="700" dirty="0">
                <a:solidFill>
                  <a:srgbClr val="E2E8F0"/>
                </a:solidFill>
                <a:latin typeface="Consolas" pitchFamily="34" charset="0"/>
                <a:ea typeface="Consolas" pitchFamily="34" charset="-122"/>
                <a:cs typeface="Consolas" pitchFamily="34" charset="-120"/>
              </a:rPr>
              <a:t>- /notebooks/       — Exploratory analysis (not production code)</a:t>
            </a:r>
          </a:p>
          <a:p>
            <a:r>
              <a:rPr lang="en-US" sz="700" dirty="0">
                <a:solidFill>
                  <a:srgbClr val="E2E8F0"/>
                </a:solidFill>
                <a:latin typeface="Consolas" pitchFamily="34" charset="0"/>
                <a:ea typeface="Consolas" pitchFamily="34" charset="-122"/>
                <a:cs typeface="Consolas" pitchFamily="34" charset="-120"/>
              </a:rPr>
              <a:t>- /tests/           — Unit tests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Code Style</a:t>
            </a:r>
          </a:p>
          <a:p>
            <a:r>
              <a:rPr lang="en-US" sz="700" dirty="0">
                <a:solidFill>
                  <a:srgbClr val="E2E8F0"/>
                </a:solidFill>
                <a:latin typeface="Consolas" pitchFamily="34" charset="0"/>
                <a:ea typeface="Consolas" pitchFamily="34" charset="-122"/>
                <a:cs typeface="Consolas" pitchFamily="34" charset="-120"/>
              </a:rPr>
              <a:t>- Use type hints on all functions</a:t>
            </a:r>
          </a:p>
          <a:p>
            <a:r>
              <a:rPr lang="en-US" sz="700" dirty="0">
                <a:solidFill>
                  <a:srgbClr val="E2E8F0"/>
                </a:solidFill>
                <a:latin typeface="Consolas" pitchFamily="34" charset="0"/>
                <a:ea typeface="Consolas" pitchFamily="34" charset="-122"/>
                <a:cs typeface="Consolas" pitchFamily="34" charset="-120"/>
              </a:rPr>
              <a:t>- Docstrings required for every function</a:t>
            </a:r>
          </a:p>
          <a:p>
            <a:r>
              <a:rPr lang="en-US" sz="700" dirty="0">
                <a:solidFill>
                  <a:srgbClr val="E2E8F0"/>
                </a:solidFill>
                <a:latin typeface="Consolas" pitchFamily="34" charset="0"/>
                <a:ea typeface="Consolas" pitchFamily="34" charset="-122"/>
                <a:cs typeface="Consolas" pitchFamily="34" charset="-120"/>
              </a:rPr>
              <a:t>- Variable names should match finance terminology (e.g., `</a:t>
            </a:r>
            <a:r>
              <a:rPr lang="en-US" sz="700" dirty="0" err="1">
                <a:solidFill>
                  <a:srgbClr val="E2E8F0"/>
                </a:solidFill>
                <a:latin typeface="Consolas" pitchFamily="34" charset="0"/>
                <a:ea typeface="Consolas" pitchFamily="34" charset="-122"/>
                <a:cs typeface="Consolas" pitchFamily="34" charset="-120"/>
              </a:rPr>
              <a:t>current_ratio</a:t>
            </a:r>
            <a:r>
              <a:rPr lang="en-US" sz="700" dirty="0">
                <a:solidFill>
                  <a:srgbClr val="E2E8F0"/>
                </a:solidFill>
                <a:latin typeface="Consolas" pitchFamily="34" charset="0"/>
                <a:ea typeface="Consolas" pitchFamily="34" charset="-122"/>
                <a:cs typeface="Consolas" pitchFamily="34" charset="-120"/>
              </a:rPr>
              <a:t>`, not `</a:t>
            </a:r>
            <a:r>
              <a:rPr lang="en-US" sz="700" dirty="0" err="1">
                <a:solidFill>
                  <a:srgbClr val="E2E8F0"/>
                </a:solidFill>
                <a:latin typeface="Consolas" pitchFamily="34" charset="0"/>
                <a:ea typeface="Consolas" pitchFamily="34" charset="-122"/>
                <a:cs typeface="Consolas" pitchFamily="34" charset="-120"/>
              </a:rPr>
              <a:t>cr</a:t>
            </a:r>
            <a:r>
              <a:rPr lang="en-US" sz="700" dirty="0">
                <a:solidFill>
                  <a:srgbClr val="E2E8F0"/>
                </a:solidFill>
                <a:latin typeface="Consolas" pitchFamily="34" charset="0"/>
                <a:ea typeface="Consolas" pitchFamily="34" charset="-122"/>
                <a:cs typeface="Consolas" pitchFamily="34" charset="-120"/>
              </a:rPr>
              <a:t>`)</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Domain Terms</a:t>
            </a:r>
          </a:p>
          <a:p>
            <a:r>
              <a:rPr lang="en-US" sz="700" dirty="0">
                <a:solidFill>
                  <a:srgbClr val="E2E8F0"/>
                </a:solidFill>
                <a:latin typeface="Consolas" pitchFamily="34" charset="0"/>
                <a:ea typeface="Consolas" pitchFamily="34" charset="-122"/>
                <a:cs typeface="Consolas" pitchFamily="34" charset="-120"/>
              </a:rPr>
              <a:t>- **Liquidity Risk**: Risk that a firm can't meet short-term obligations</a:t>
            </a:r>
          </a:p>
          <a:p>
            <a:r>
              <a:rPr lang="en-US" sz="700" dirty="0">
                <a:solidFill>
                  <a:srgbClr val="E2E8F0"/>
                </a:solidFill>
                <a:latin typeface="Consolas" pitchFamily="34" charset="0"/>
                <a:ea typeface="Consolas" pitchFamily="34" charset="-122"/>
                <a:cs typeface="Consolas" pitchFamily="34" charset="-120"/>
              </a:rPr>
              <a:t>- **Current Ratio**: </a:t>
            </a:r>
            <a:r>
              <a:rPr lang="en-US" sz="700" dirty="0" err="1">
                <a:solidFill>
                  <a:srgbClr val="E2E8F0"/>
                </a:solidFill>
                <a:latin typeface="Consolas" pitchFamily="34" charset="0"/>
                <a:ea typeface="Consolas" pitchFamily="34" charset="-122"/>
                <a:cs typeface="Consolas" pitchFamily="34" charset="-120"/>
              </a:rPr>
              <a:t>current_assets</a:t>
            </a:r>
            <a:r>
              <a:rPr lang="en-US" sz="700" dirty="0">
                <a:solidFill>
                  <a:srgbClr val="E2E8F0"/>
                </a:solidFill>
                <a:latin typeface="Consolas" pitchFamily="34" charset="0"/>
                <a:ea typeface="Consolas" pitchFamily="34" charset="-122"/>
                <a:cs typeface="Consolas" pitchFamily="34" charset="-120"/>
              </a:rPr>
              <a:t> / </a:t>
            </a:r>
            <a:r>
              <a:rPr lang="en-US" sz="700" dirty="0" err="1">
                <a:solidFill>
                  <a:srgbClr val="E2E8F0"/>
                </a:solidFill>
                <a:latin typeface="Consolas" pitchFamily="34" charset="0"/>
                <a:ea typeface="Consolas" pitchFamily="34" charset="-122"/>
                <a:cs typeface="Consolas" pitchFamily="34" charset="-120"/>
              </a:rPr>
              <a:t>current_liabilities</a:t>
            </a:r>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**10-K**: Annual SEC filing — source of truth for financial data</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Workflow for New Features</a:t>
            </a:r>
          </a:p>
          <a:p>
            <a:r>
              <a:rPr lang="en-US" sz="700" dirty="0">
                <a:solidFill>
                  <a:srgbClr val="E2E8F0"/>
                </a:solidFill>
                <a:latin typeface="Consolas" pitchFamily="34" charset="0"/>
                <a:ea typeface="Consolas" pitchFamily="34" charset="-122"/>
                <a:cs typeface="Consolas" pitchFamily="34" charset="-120"/>
              </a:rPr>
              <a:t>1. Write a plan and confirm with user before coding</a:t>
            </a:r>
          </a:p>
          <a:p>
            <a:r>
              <a:rPr lang="en-US" sz="700" dirty="0">
                <a:solidFill>
                  <a:srgbClr val="E2E8F0"/>
                </a:solidFill>
                <a:latin typeface="Consolas" pitchFamily="34" charset="0"/>
                <a:ea typeface="Consolas" pitchFamily="34" charset="-122"/>
                <a:cs typeface="Consolas" pitchFamily="34" charset="-120"/>
              </a:rPr>
              <a:t>2. Write tests first (Test Driven Development (TDD))</a:t>
            </a:r>
          </a:p>
          <a:p>
            <a:r>
              <a:rPr lang="en-US" sz="700" dirty="0">
                <a:solidFill>
                  <a:srgbClr val="E2E8F0"/>
                </a:solidFill>
                <a:latin typeface="Consolas" pitchFamily="34" charset="0"/>
                <a:ea typeface="Consolas" pitchFamily="34" charset="-122"/>
                <a:cs typeface="Consolas" pitchFamily="34" charset="-120"/>
              </a:rPr>
              <a:t>3. Implement the feature</a:t>
            </a:r>
          </a:p>
          <a:p>
            <a:r>
              <a:rPr lang="en-US" sz="700" dirty="0">
                <a:solidFill>
                  <a:srgbClr val="E2E8F0"/>
                </a:solidFill>
                <a:latin typeface="Consolas" pitchFamily="34" charset="0"/>
                <a:ea typeface="Consolas" pitchFamily="34" charset="-122"/>
                <a:cs typeface="Consolas" pitchFamily="34" charset="-120"/>
              </a:rPr>
              <a:t>4. Run </a:t>
            </a:r>
            <a:r>
              <a:rPr lang="en-US" sz="700" dirty="0" err="1">
                <a:solidFill>
                  <a:srgbClr val="E2E8F0"/>
                </a:solidFill>
                <a:latin typeface="Consolas" pitchFamily="34" charset="0"/>
                <a:ea typeface="Consolas" pitchFamily="34" charset="-122"/>
                <a:cs typeface="Consolas" pitchFamily="34" charset="-120"/>
              </a:rPr>
              <a:t>pytest</a:t>
            </a:r>
            <a:r>
              <a:rPr lang="en-US" sz="700" dirty="0">
                <a:solidFill>
                  <a:srgbClr val="E2E8F0"/>
                </a:solidFill>
                <a:latin typeface="Consolas" pitchFamily="34" charset="0"/>
                <a:ea typeface="Consolas" pitchFamily="34" charset="-122"/>
                <a:cs typeface="Consolas" pitchFamily="34" charset="-120"/>
              </a:rPr>
              <a:t> and confirm passing</a:t>
            </a:r>
          </a:p>
          <a:p>
            <a:r>
              <a:rPr lang="en-US" sz="700" dirty="0">
                <a:solidFill>
                  <a:srgbClr val="E2E8F0"/>
                </a:solidFill>
                <a:latin typeface="Consolas" pitchFamily="34" charset="0"/>
                <a:ea typeface="Consolas" pitchFamily="34" charset="-122"/>
                <a:cs typeface="Consolas" pitchFamily="34" charset="-120"/>
              </a:rPr>
              <a:t>5. Update this CLAUDE.md if new patterns emerge</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Do Not Touch</a:t>
            </a:r>
          </a:p>
          <a:p>
            <a:r>
              <a:rPr lang="en-US" sz="700" dirty="0">
                <a:solidFill>
                  <a:srgbClr val="E2E8F0"/>
                </a:solidFill>
                <a:latin typeface="Consolas" pitchFamily="34" charset="0"/>
                <a:ea typeface="Consolas" pitchFamily="34" charset="-122"/>
                <a:cs typeface="Consolas" pitchFamily="34" charset="-120"/>
              </a:rPr>
              <a:t>- /data/raw/ — original source files, never modify</a:t>
            </a:r>
          </a:p>
          <a:p>
            <a:r>
              <a:rPr lang="en-US" sz="700" dirty="0">
                <a:solidFill>
                  <a:srgbClr val="E2E8F0"/>
                </a:solidFill>
                <a:latin typeface="Consolas" pitchFamily="34" charset="0"/>
                <a:ea typeface="Consolas" pitchFamily="34" charset="-122"/>
                <a:cs typeface="Consolas" pitchFamily="34" charset="-120"/>
              </a:rPr>
              <a:t>- .env — API keys, never log or print these</a:t>
            </a:r>
            <a:endParaRPr lang="en-US" sz="700" dirty="0"/>
          </a:p>
        </p:txBody>
      </p:sp>
    </p:spTree>
    <p:extLst>
      <p:ext uri="{BB962C8B-B14F-4D97-AF65-F5344CB8AC3E}">
        <p14:creationId xmlns:p14="http://schemas.microsoft.com/office/powerpoint/2010/main" val="408205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AB08-6E4C-3E80-1FA3-5BABD2A8B1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32D9D2-FD62-FB96-63B0-F9F8162317F1}"/>
              </a:ext>
            </a:extLst>
          </p:cNvPr>
          <p:cNvPicPr>
            <a:picLocks noChangeAspect="1"/>
          </p:cNvPicPr>
          <p:nvPr/>
        </p:nvPicPr>
        <p:blipFill>
          <a:blip r:embed="rId3"/>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D6C4F234-CA6C-9555-E5AA-019269B825B8}"/>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0B34EC5-0E7F-9FF1-9467-8968E87BB8EF}"/>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CLAUDE.md Best Practices </a:t>
            </a:r>
          </a:p>
        </p:txBody>
      </p:sp>
      <p:sp>
        <p:nvSpPr>
          <p:cNvPr id="9" name="TextBox 8">
            <a:extLst>
              <a:ext uri="{FF2B5EF4-FFF2-40B4-BE49-F238E27FC236}">
                <a16:creationId xmlns:a16="http://schemas.microsoft.com/office/drawing/2014/main" id="{C8396E95-9094-5A5D-A8BB-12A92DDB3D6D}"/>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ED93EBB4-AF61-AED2-A733-24998FD7522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Shape 2">
            <a:extLst>
              <a:ext uri="{FF2B5EF4-FFF2-40B4-BE49-F238E27FC236}">
                <a16:creationId xmlns:a16="http://schemas.microsoft.com/office/drawing/2014/main" id="{9B101175-B7F6-A996-F536-3405E4EAEC2A}"/>
              </a:ext>
            </a:extLst>
          </p:cNvPr>
          <p:cNvSpPr/>
          <p:nvPr/>
        </p:nvSpPr>
        <p:spPr>
          <a:xfrm>
            <a:off x="548640" y="1248389"/>
            <a:ext cx="5120640" cy="4876800"/>
          </a:xfrm>
          <a:prstGeom prst="rect">
            <a:avLst/>
          </a:prstGeom>
          <a:solidFill>
            <a:srgbClr val="0C1752"/>
          </a:solidFill>
          <a:ln w="19050">
            <a:noFill/>
            <a:prstDash val="solid"/>
          </a:ln>
        </p:spPr>
        <p:txBody>
          <a:bodyPr/>
          <a:lstStyle/>
          <a:p>
            <a:pPr defTabSz="1219170"/>
            <a:endParaRPr lang="en-CA" sz="2400">
              <a:solidFill>
                <a:prstClr val="black"/>
              </a:solidFill>
              <a:latin typeface="Montserrat" panose="00000500000000000000" pitchFamily="2" charset="0"/>
            </a:endParaRPr>
          </a:p>
        </p:txBody>
      </p:sp>
      <p:sp>
        <p:nvSpPr>
          <p:cNvPr id="10" name="Text 4">
            <a:extLst>
              <a:ext uri="{FF2B5EF4-FFF2-40B4-BE49-F238E27FC236}">
                <a16:creationId xmlns:a16="http://schemas.microsoft.com/office/drawing/2014/main" id="{7AA14CA2-CCA5-4A29-F807-FC1C07916B51}"/>
              </a:ext>
            </a:extLst>
          </p:cNvPr>
          <p:cNvSpPr/>
          <p:nvPr/>
        </p:nvSpPr>
        <p:spPr>
          <a:xfrm>
            <a:off x="731520" y="1406885"/>
            <a:ext cx="4754880" cy="487680"/>
          </a:xfrm>
          <a:prstGeom prst="rect">
            <a:avLst/>
          </a:prstGeom>
          <a:noFill/>
          <a:ln/>
        </p:spPr>
        <p:txBody>
          <a:bodyPr wrap="square" rtlCol="0" anchor="ctr"/>
          <a:lstStyle/>
          <a:p>
            <a:pPr defTabSz="1219170"/>
            <a:r>
              <a:rPr lang="en-US" sz="2133" b="1" dirty="0">
                <a:solidFill>
                  <a:schemeClr val="bg1"/>
                </a:solidFill>
                <a:latin typeface="Montserrat" panose="00000500000000000000" pitchFamily="2" charset="0"/>
                <a:ea typeface="Calibri" pitchFamily="34" charset="-122"/>
                <a:cs typeface="Calibri" pitchFamily="34" charset="-120"/>
              </a:rPr>
              <a:t>DO</a:t>
            </a:r>
            <a:endParaRPr lang="en-US" sz="2133" dirty="0">
              <a:solidFill>
                <a:schemeClr val="bg1"/>
              </a:solidFill>
              <a:latin typeface="Montserrat" panose="00000500000000000000" pitchFamily="2" charset="0"/>
            </a:endParaRPr>
          </a:p>
        </p:txBody>
      </p:sp>
      <p:sp>
        <p:nvSpPr>
          <p:cNvPr id="11" name="Text 5">
            <a:extLst>
              <a:ext uri="{FF2B5EF4-FFF2-40B4-BE49-F238E27FC236}">
                <a16:creationId xmlns:a16="http://schemas.microsoft.com/office/drawing/2014/main" id="{BFB6EE7A-DF19-D04B-B2C1-032D25399518}"/>
              </a:ext>
            </a:extLst>
          </p:cNvPr>
          <p:cNvSpPr/>
          <p:nvPr/>
        </p:nvSpPr>
        <p:spPr>
          <a:xfrm>
            <a:off x="640080" y="1894565"/>
            <a:ext cx="4937760" cy="3901440"/>
          </a:xfrm>
          <a:prstGeom prst="rect">
            <a:avLst/>
          </a:prstGeom>
          <a:noFill/>
          <a:ln/>
        </p:spPr>
        <p:txBody>
          <a:bodyPr wrap="square" rtlCol="0" anchor="ctr"/>
          <a:lstStyle/>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Keep it under 200 lines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Include your key commands (run, test)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Add domain-specific terms your project uses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Define your preferred workflow steps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Update CLAUDE.md when new patterns emerge </a:t>
            </a:r>
            <a:endParaRPr lang="en-US" sz="1733" dirty="0">
              <a:solidFill>
                <a:schemeClr val="bg1"/>
              </a:solidFill>
              <a:latin typeface="Montserrat" panose="00000500000000000000" pitchFamily="2" charset="0"/>
            </a:endParaRPr>
          </a:p>
        </p:txBody>
      </p:sp>
      <p:sp>
        <p:nvSpPr>
          <p:cNvPr id="12" name="Shape 6">
            <a:extLst>
              <a:ext uri="{FF2B5EF4-FFF2-40B4-BE49-F238E27FC236}">
                <a16:creationId xmlns:a16="http://schemas.microsoft.com/office/drawing/2014/main" id="{CD9F7553-5327-7BE9-C00A-56928D42728C}"/>
              </a:ext>
            </a:extLst>
          </p:cNvPr>
          <p:cNvSpPr/>
          <p:nvPr/>
        </p:nvSpPr>
        <p:spPr>
          <a:xfrm>
            <a:off x="6400800" y="1248389"/>
            <a:ext cx="5120640" cy="4876800"/>
          </a:xfrm>
          <a:prstGeom prst="rect">
            <a:avLst/>
          </a:prstGeom>
          <a:solidFill>
            <a:srgbClr val="D56E48"/>
          </a:solidFill>
          <a:ln w="19050">
            <a:noFill/>
            <a:prstDash val="solid"/>
          </a:ln>
        </p:spPr>
        <p:txBody>
          <a:bodyPr/>
          <a:lstStyle/>
          <a:p>
            <a:pPr defTabSz="1219170"/>
            <a:endParaRPr lang="en-CA" sz="2400" dirty="0">
              <a:solidFill>
                <a:prstClr val="black"/>
              </a:solidFill>
              <a:latin typeface="Montserrat" panose="00000500000000000000" pitchFamily="2" charset="0"/>
            </a:endParaRPr>
          </a:p>
        </p:txBody>
      </p:sp>
      <p:sp>
        <p:nvSpPr>
          <p:cNvPr id="14" name="Text 8">
            <a:extLst>
              <a:ext uri="{FF2B5EF4-FFF2-40B4-BE49-F238E27FC236}">
                <a16:creationId xmlns:a16="http://schemas.microsoft.com/office/drawing/2014/main" id="{F7F558B1-9A72-0FE8-8981-6EA5BC1C56A9}"/>
              </a:ext>
            </a:extLst>
          </p:cNvPr>
          <p:cNvSpPr/>
          <p:nvPr/>
        </p:nvSpPr>
        <p:spPr>
          <a:xfrm>
            <a:off x="6583680" y="1406885"/>
            <a:ext cx="4754880" cy="487680"/>
          </a:xfrm>
          <a:prstGeom prst="rect">
            <a:avLst/>
          </a:prstGeom>
          <a:noFill/>
          <a:ln/>
        </p:spPr>
        <p:txBody>
          <a:bodyPr wrap="square" rtlCol="0" anchor="ctr"/>
          <a:lstStyle/>
          <a:p>
            <a:pPr defTabSz="1219170"/>
            <a:r>
              <a:rPr lang="en-US" sz="2133" b="1" dirty="0">
                <a:solidFill>
                  <a:schemeClr val="bg1"/>
                </a:solidFill>
                <a:latin typeface="Montserrat" panose="00000500000000000000" pitchFamily="2" charset="0"/>
                <a:ea typeface="Calibri" pitchFamily="34" charset="-122"/>
                <a:cs typeface="Calibri" pitchFamily="34" charset="-120"/>
              </a:rPr>
              <a:t>DON'T</a:t>
            </a:r>
            <a:endParaRPr lang="en-US" sz="2133" dirty="0">
              <a:solidFill>
                <a:schemeClr val="bg1"/>
              </a:solidFill>
              <a:latin typeface="Montserrat" panose="00000500000000000000" pitchFamily="2" charset="0"/>
            </a:endParaRPr>
          </a:p>
        </p:txBody>
      </p:sp>
      <p:sp>
        <p:nvSpPr>
          <p:cNvPr id="18" name="Text 9">
            <a:extLst>
              <a:ext uri="{FF2B5EF4-FFF2-40B4-BE49-F238E27FC236}">
                <a16:creationId xmlns:a16="http://schemas.microsoft.com/office/drawing/2014/main" id="{8135A3F2-72E6-F6F3-ED01-A1EBB278DA3E}"/>
              </a:ext>
            </a:extLst>
          </p:cNvPr>
          <p:cNvSpPr/>
          <p:nvPr/>
        </p:nvSpPr>
        <p:spPr>
          <a:xfrm>
            <a:off x="6583680" y="1979909"/>
            <a:ext cx="4693920" cy="3901440"/>
          </a:xfrm>
          <a:prstGeom prst="rect">
            <a:avLst/>
          </a:prstGeom>
          <a:noFill/>
          <a:ln/>
        </p:spPr>
        <p:txBody>
          <a:bodyPr wrap="square" rtlCol="0" anchor="ctr"/>
          <a:lstStyle/>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Dump everything you know about the project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Write instructions that only apply sometimes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Let it grow into a long document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Repeat what Claude can already infer from the code</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Use it as a running checklist or task tracker</a:t>
            </a:r>
            <a:endParaRPr lang="en-US" sz="1733" dirty="0">
              <a:solidFill>
                <a:schemeClr val="bg1"/>
              </a:solidFill>
              <a:latin typeface="Montserrat" panose="00000500000000000000" pitchFamily="2" charset="0"/>
            </a:endParaRPr>
          </a:p>
        </p:txBody>
      </p:sp>
      <p:sp>
        <p:nvSpPr>
          <p:cNvPr id="20" name="Text 11">
            <a:extLst>
              <a:ext uri="{FF2B5EF4-FFF2-40B4-BE49-F238E27FC236}">
                <a16:creationId xmlns:a16="http://schemas.microsoft.com/office/drawing/2014/main" id="{7DAC61BA-A675-AD54-12D2-34BEF665D3DF}"/>
              </a:ext>
            </a:extLst>
          </p:cNvPr>
          <p:cNvSpPr/>
          <p:nvPr/>
        </p:nvSpPr>
        <p:spPr>
          <a:xfrm>
            <a:off x="-203200" y="805963"/>
            <a:ext cx="10850880" cy="341376"/>
          </a:xfrm>
          <a:prstGeom prst="rect">
            <a:avLst/>
          </a:prstGeom>
          <a:noFill/>
          <a:ln/>
        </p:spPr>
        <p:txBody>
          <a:bodyPr wrap="square" rtlCol="0" anchor="ctr"/>
          <a:lstStyle/>
          <a:p>
            <a:pPr marL="342900" indent="-342900" algn="ctr" defTabSz="121917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Think of CLAUDE.md as AI onboarding, not a wiki. High signal, short, and stable.</a:t>
            </a:r>
            <a:endParaRPr lang="en-US" dirty="0">
              <a:latin typeface="Montserrat" panose="00000500000000000000" pitchFamily="2" charset="0"/>
            </a:endParaRPr>
          </a:p>
        </p:txBody>
      </p:sp>
    </p:spTree>
    <p:extLst>
      <p:ext uri="{BB962C8B-B14F-4D97-AF65-F5344CB8AC3E}">
        <p14:creationId xmlns:p14="http://schemas.microsoft.com/office/powerpoint/2010/main" val="337050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14"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5BCB-B27E-E726-16D8-87C44E2A592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FC7311-5471-0FA3-459B-4C12F6C17403}"/>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B1EE989-3B8F-AA13-8FB2-11C1C3AEED2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16B5608-5811-8257-B323-2FA47CA4FCC6}"/>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MCP</a:t>
            </a:r>
          </a:p>
        </p:txBody>
      </p:sp>
      <p:pic>
        <p:nvPicPr>
          <p:cNvPr id="5" name="Picture 4">
            <a:extLst>
              <a:ext uri="{FF2B5EF4-FFF2-40B4-BE49-F238E27FC236}">
                <a16:creationId xmlns:a16="http://schemas.microsoft.com/office/drawing/2014/main" id="{9B79800D-65E9-F348-ABC2-6164457D1AA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735764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7BA8993-2A0C-AFCA-B009-C797112A6A3C}"/>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333194A4-4DBD-D0C3-E289-CF129E191A67}"/>
              </a:ext>
            </a:extLst>
          </p:cNvPr>
          <p:cNvPicPr preferRelativeResize="0"/>
          <p:nvPr/>
        </p:nvPicPr>
        <p:blipFill rotWithShape="1">
          <a:blip r:embed="rId3">
            <a:alphaModFix/>
          </a:blip>
          <a:srcRect/>
          <a:stretch/>
        </p:blipFill>
        <p:spPr>
          <a:xfrm>
            <a:off x="-3571" y="0"/>
            <a:ext cx="12224773" cy="6858000"/>
          </a:xfrm>
          <a:prstGeom prst="rect">
            <a:avLst/>
          </a:prstGeom>
          <a:noFill/>
          <a:ln>
            <a:noFill/>
          </a:ln>
        </p:spPr>
      </p:pic>
      <p:pic>
        <p:nvPicPr>
          <p:cNvPr id="113" name="Google Shape;113;p5">
            <a:extLst>
              <a:ext uri="{FF2B5EF4-FFF2-40B4-BE49-F238E27FC236}">
                <a16:creationId xmlns:a16="http://schemas.microsoft.com/office/drawing/2014/main" id="{DF7F6AA4-FE68-1F00-90FB-4823341853CE}"/>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4576D596-DF7C-1F7C-B128-453102586124}"/>
              </a:ext>
            </a:extLst>
          </p:cNvPr>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Model Context Protocol (MCP)?</a:t>
            </a:r>
            <a:endParaRPr dirty="0"/>
          </a:p>
        </p:txBody>
      </p:sp>
      <p:sp>
        <p:nvSpPr>
          <p:cNvPr id="115" name="Google Shape;115;p5">
            <a:extLst>
              <a:ext uri="{FF2B5EF4-FFF2-40B4-BE49-F238E27FC236}">
                <a16:creationId xmlns:a16="http://schemas.microsoft.com/office/drawing/2014/main" id="{14797906-552F-78EA-60A2-221A7BEC6696}"/>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116" name="Google Shape;116;p5">
            <a:extLst>
              <a:ext uri="{FF2B5EF4-FFF2-40B4-BE49-F238E27FC236}">
                <a16:creationId xmlns:a16="http://schemas.microsoft.com/office/drawing/2014/main" id="{BFC53742-D364-B80E-524A-549CA8058135}"/>
              </a:ext>
            </a:extLst>
          </p:cNvPr>
          <p:cNvSpPr txBox="1"/>
          <p:nvPr/>
        </p:nvSpPr>
        <p:spPr>
          <a:xfrm>
            <a:off x="166991" y="915981"/>
            <a:ext cx="11637228" cy="92190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MCP is an open standard and open-source framework introduced by Anthropic to standardize how AI models interact with external tools, systems, and data sources. </a:t>
            </a:r>
            <a:endParaRPr sz="1800" dirty="0">
              <a:solidFill>
                <a:schemeClr val="dk1"/>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2AE6E7A3-3C7E-140C-F3B9-9209703FA37B}"/>
              </a:ext>
            </a:extLst>
          </p:cNvPr>
          <p:cNvSpPr/>
          <p:nvPr/>
        </p:nvSpPr>
        <p:spPr>
          <a:xfrm>
            <a:off x="6362236" y="4388148"/>
            <a:ext cx="1602296"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pic>
        <p:nvPicPr>
          <p:cNvPr id="2050" name="Picture 2" descr="Gmail has a new logo that's a lot more Google | The Verge">
            <a:extLst>
              <a:ext uri="{FF2B5EF4-FFF2-40B4-BE49-F238E27FC236}">
                <a16:creationId xmlns:a16="http://schemas.microsoft.com/office/drawing/2014/main" id="{F67526D3-B748-C961-77D4-E2BA3E66308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10250487" y="2972287"/>
            <a:ext cx="1452177" cy="3681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lack Logo, symbol, meaning, history, PNG, brand">
            <a:extLst>
              <a:ext uri="{FF2B5EF4-FFF2-40B4-BE49-F238E27FC236}">
                <a16:creationId xmlns:a16="http://schemas.microsoft.com/office/drawing/2014/main" id="{36A54658-8B5A-339E-06A8-B50082A5D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2812" y="4504293"/>
            <a:ext cx="1225972" cy="68960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FDCA60FC-410E-F65D-C192-9E34E7EA43AE}"/>
              </a:ext>
            </a:extLst>
          </p:cNvPr>
          <p:cNvPicPr>
            <a:picLocks noChangeAspect="1"/>
          </p:cNvPicPr>
          <p:nvPr/>
        </p:nvPicPr>
        <p:blipFill>
          <a:blip r:embed="rId7"/>
          <a:stretch>
            <a:fillRect/>
          </a:stretch>
        </p:blipFill>
        <p:spPr>
          <a:xfrm>
            <a:off x="10192712" y="5585610"/>
            <a:ext cx="1225972" cy="817315"/>
          </a:xfrm>
          <a:prstGeom prst="rect">
            <a:avLst/>
          </a:prstGeom>
        </p:spPr>
      </p:pic>
      <p:cxnSp>
        <p:nvCxnSpPr>
          <p:cNvPr id="5" name="Straight Arrow Connector 4">
            <a:extLst>
              <a:ext uri="{FF2B5EF4-FFF2-40B4-BE49-F238E27FC236}">
                <a16:creationId xmlns:a16="http://schemas.microsoft.com/office/drawing/2014/main" id="{2F6BC43B-7BC8-FE9A-31C5-857C46FBDD62}"/>
              </a:ext>
            </a:extLst>
          </p:cNvPr>
          <p:cNvCxnSpPr>
            <a:cxnSpLocks/>
          </p:cNvCxnSpPr>
          <p:nvPr/>
        </p:nvCxnSpPr>
        <p:spPr>
          <a:xfrm flipV="1">
            <a:off x="8000851" y="3407973"/>
            <a:ext cx="2273917" cy="1156396"/>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B213223-D64E-3C18-4552-EABBDE68AA99}"/>
              </a:ext>
            </a:extLst>
          </p:cNvPr>
          <p:cNvSpPr/>
          <p:nvPr/>
        </p:nvSpPr>
        <p:spPr>
          <a:xfrm rot="19992498">
            <a:off x="8663175" y="3707975"/>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pic>
        <p:nvPicPr>
          <p:cNvPr id="19" name="Picture 4">
            <a:extLst>
              <a:ext uri="{FF2B5EF4-FFF2-40B4-BE49-F238E27FC236}">
                <a16:creationId xmlns:a16="http://schemas.microsoft.com/office/drawing/2014/main" id="{0B48F839-56C1-F97C-8EFB-E120279CCAB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708" t="4469"/>
          <a:stretch/>
        </p:blipFill>
        <p:spPr bwMode="auto">
          <a:xfrm>
            <a:off x="8709770" y="3101232"/>
            <a:ext cx="610392" cy="5116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mail has a new logo that's a lot more Google | The Verge">
            <a:extLst>
              <a:ext uri="{FF2B5EF4-FFF2-40B4-BE49-F238E27FC236}">
                <a16:creationId xmlns:a16="http://schemas.microsoft.com/office/drawing/2014/main" id="{5DE79189-FDD6-CFC3-3E20-C171955616B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3537389" y="3093257"/>
            <a:ext cx="1509952" cy="3828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lack Logo, symbol, meaning, history, PNG, brand">
            <a:extLst>
              <a:ext uri="{FF2B5EF4-FFF2-40B4-BE49-F238E27FC236}">
                <a16:creationId xmlns:a16="http://schemas.microsoft.com/office/drawing/2014/main" id="{4F94A50F-BB1E-4564-4789-91062A422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7861" y="4379140"/>
            <a:ext cx="1274062" cy="7166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9027ACF-57D2-3677-9E09-E80B6A60A131}"/>
              </a:ext>
            </a:extLst>
          </p:cNvPr>
          <p:cNvPicPr>
            <a:picLocks noChangeAspect="1"/>
          </p:cNvPicPr>
          <p:nvPr/>
        </p:nvPicPr>
        <p:blipFill>
          <a:blip r:embed="rId7"/>
          <a:stretch>
            <a:fillRect/>
          </a:stretch>
        </p:blipFill>
        <p:spPr>
          <a:xfrm>
            <a:off x="3759201" y="5665366"/>
            <a:ext cx="1157258" cy="771506"/>
          </a:xfrm>
          <a:prstGeom prst="rect">
            <a:avLst/>
          </a:prstGeom>
        </p:spPr>
      </p:pic>
      <p:cxnSp>
        <p:nvCxnSpPr>
          <p:cNvPr id="11" name="Straight Arrow Connector 10">
            <a:extLst>
              <a:ext uri="{FF2B5EF4-FFF2-40B4-BE49-F238E27FC236}">
                <a16:creationId xmlns:a16="http://schemas.microsoft.com/office/drawing/2014/main" id="{170C03C9-3C31-A7A3-9A6F-A0535BB36ACF}"/>
              </a:ext>
            </a:extLst>
          </p:cNvPr>
          <p:cNvCxnSpPr>
            <a:cxnSpLocks/>
          </p:cNvCxnSpPr>
          <p:nvPr/>
        </p:nvCxnSpPr>
        <p:spPr>
          <a:xfrm flipV="1">
            <a:off x="2464155" y="3525357"/>
            <a:ext cx="1233113" cy="888214"/>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DB8F840-DA8A-629A-8884-BED26C129437}"/>
              </a:ext>
            </a:extLst>
          </p:cNvPr>
          <p:cNvSpPr/>
          <p:nvPr/>
        </p:nvSpPr>
        <p:spPr>
          <a:xfrm>
            <a:off x="838702" y="4467862"/>
            <a:ext cx="1636421"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cxnSp>
        <p:nvCxnSpPr>
          <p:cNvPr id="26" name="Straight Arrow Connector 25">
            <a:extLst>
              <a:ext uri="{FF2B5EF4-FFF2-40B4-BE49-F238E27FC236}">
                <a16:creationId xmlns:a16="http://schemas.microsoft.com/office/drawing/2014/main" id="{5594CF8C-979C-6C7D-7FE7-C15CC7BB31A6}"/>
              </a:ext>
            </a:extLst>
          </p:cNvPr>
          <p:cNvCxnSpPr>
            <a:cxnSpLocks/>
          </p:cNvCxnSpPr>
          <p:nvPr/>
        </p:nvCxnSpPr>
        <p:spPr>
          <a:xfrm>
            <a:off x="2475124" y="4770459"/>
            <a:ext cx="1062265" cy="0"/>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61083A-539C-0051-F4F3-83B7C7538B78}"/>
              </a:ext>
            </a:extLst>
          </p:cNvPr>
          <p:cNvCxnSpPr>
            <a:cxnSpLocks/>
          </p:cNvCxnSpPr>
          <p:nvPr/>
        </p:nvCxnSpPr>
        <p:spPr>
          <a:xfrm>
            <a:off x="2475124" y="5297148"/>
            <a:ext cx="1404851" cy="683433"/>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 name="Picture 2" descr="Here's OpenAI's new logo | The Verge">
            <a:extLst>
              <a:ext uri="{FF2B5EF4-FFF2-40B4-BE49-F238E27FC236}">
                <a16:creationId xmlns:a16="http://schemas.microsoft.com/office/drawing/2014/main" id="{C4AA1415-AAD4-97F0-7DC1-FCF30D6797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744" y="3686755"/>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lama 2 Model Details">
            <a:extLst>
              <a:ext uri="{FF2B5EF4-FFF2-40B4-BE49-F238E27FC236}">
                <a16:creationId xmlns:a16="http://schemas.microsoft.com/office/drawing/2014/main" id="{9C246D39-71E2-2EDA-76E4-8EBC959EFB6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1465181" y="3710970"/>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0442BFE-B917-6714-3846-6488B8AD768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2089029" y="3713994"/>
            <a:ext cx="588367" cy="53429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ere's OpenAI's new logo | The Verge">
            <a:extLst>
              <a:ext uri="{FF2B5EF4-FFF2-40B4-BE49-F238E27FC236}">
                <a16:creationId xmlns:a16="http://schemas.microsoft.com/office/drawing/2014/main" id="{41A7CFC9-B886-FDF7-3E76-2EB6365066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1975" y="3702456"/>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Llama 2 Model Details">
            <a:extLst>
              <a:ext uri="{FF2B5EF4-FFF2-40B4-BE49-F238E27FC236}">
                <a16:creationId xmlns:a16="http://schemas.microsoft.com/office/drawing/2014/main" id="{B69531C4-3E54-B56D-D488-593550DBA9D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6811412" y="3726671"/>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a:extLst>
              <a:ext uri="{FF2B5EF4-FFF2-40B4-BE49-F238E27FC236}">
                <a16:creationId xmlns:a16="http://schemas.microsoft.com/office/drawing/2014/main" id="{EA1CC70D-3CC4-572B-3DF9-1BDFFF32D27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7435260" y="3729695"/>
            <a:ext cx="588367" cy="534299"/>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F576F50E-B3B3-2CE3-1367-BE0483091A4A}"/>
              </a:ext>
            </a:extLst>
          </p:cNvPr>
          <p:cNvSpPr/>
          <p:nvPr/>
        </p:nvSpPr>
        <p:spPr>
          <a:xfrm>
            <a:off x="2843655" y="3525357"/>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BA5B436E-3EAC-CE20-31F3-C8622DC2016A}"/>
              </a:ext>
            </a:extLst>
          </p:cNvPr>
          <p:cNvSpPr txBox="1"/>
          <p:nvPr/>
        </p:nvSpPr>
        <p:spPr>
          <a:xfrm>
            <a:off x="2358440" y="6104483"/>
            <a:ext cx="1443024"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Custom APIs</a:t>
            </a:r>
          </a:p>
        </p:txBody>
      </p:sp>
      <p:cxnSp>
        <p:nvCxnSpPr>
          <p:cNvPr id="43" name="Straight Arrow Connector 42">
            <a:extLst>
              <a:ext uri="{FF2B5EF4-FFF2-40B4-BE49-F238E27FC236}">
                <a16:creationId xmlns:a16="http://schemas.microsoft.com/office/drawing/2014/main" id="{BC23DBA8-EB6A-D907-D84B-C25306D8EC73}"/>
              </a:ext>
            </a:extLst>
          </p:cNvPr>
          <p:cNvCxnSpPr>
            <a:cxnSpLocks/>
          </p:cNvCxnSpPr>
          <p:nvPr/>
        </p:nvCxnSpPr>
        <p:spPr>
          <a:xfrm flipV="1">
            <a:off x="8000851" y="4793028"/>
            <a:ext cx="2285883" cy="18197"/>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73BA3DA8-287F-5FEC-D3F8-EFD2B2BA82E1}"/>
              </a:ext>
            </a:extLst>
          </p:cNvPr>
          <p:cNvSpPr/>
          <p:nvPr/>
        </p:nvSpPr>
        <p:spPr>
          <a:xfrm>
            <a:off x="8691390" y="460672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cxnSp>
        <p:nvCxnSpPr>
          <p:cNvPr id="47" name="Straight Arrow Connector 46">
            <a:extLst>
              <a:ext uri="{FF2B5EF4-FFF2-40B4-BE49-F238E27FC236}">
                <a16:creationId xmlns:a16="http://schemas.microsoft.com/office/drawing/2014/main" id="{C9330793-E153-9DC9-CA0F-F22E803FA8D6}"/>
              </a:ext>
            </a:extLst>
          </p:cNvPr>
          <p:cNvCxnSpPr>
            <a:cxnSpLocks/>
            <a:endCxn id="33" idx="1"/>
          </p:cNvCxnSpPr>
          <p:nvPr/>
        </p:nvCxnSpPr>
        <p:spPr>
          <a:xfrm>
            <a:off x="8000851" y="5090373"/>
            <a:ext cx="2191861" cy="903895"/>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F3DDCB56-5AEF-3BD3-4898-D12AEEA8016D}"/>
              </a:ext>
            </a:extLst>
          </p:cNvPr>
          <p:cNvSpPr/>
          <p:nvPr/>
        </p:nvSpPr>
        <p:spPr>
          <a:xfrm rot="1449052">
            <a:off x="8622823" y="546827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sp>
        <p:nvSpPr>
          <p:cNvPr id="52" name="Rectangle: Rounded Corners 51">
            <a:extLst>
              <a:ext uri="{FF2B5EF4-FFF2-40B4-BE49-F238E27FC236}">
                <a16:creationId xmlns:a16="http://schemas.microsoft.com/office/drawing/2014/main" id="{37247F75-2180-D734-2B7E-E392669A336F}"/>
              </a:ext>
            </a:extLst>
          </p:cNvPr>
          <p:cNvSpPr/>
          <p:nvPr/>
        </p:nvSpPr>
        <p:spPr>
          <a:xfrm>
            <a:off x="8228876" y="3668730"/>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TextBox 52">
            <a:extLst>
              <a:ext uri="{FF2B5EF4-FFF2-40B4-BE49-F238E27FC236}">
                <a16:creationId xmlns:a16="http://schemas.microsoft.com/office/drawing/2014/main" id="{45238F95-1A6C-6F20-C87A-F0A41A149F5E}"/>
              </a:ext>
            </a:extLst>
          </p:cNvPr>
          <p:cNvSpPr txBox="1"/>
          <p:nvPr/>
        </p:nvSpPr>
        <p:spPr>
          <a:xfrm>
            <a:off x="7616287" y="6198745"/>
            <a:ext cx="1914307"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Standardized APIs</a:t>
            </a:r>
          </a:p>
        </p:txBody>
      </p:sp>
      <p:sp>
        <p:nvSpPr>
          <p:cNvPr id="58" name="TextBox 57">
            <a:extLst>
              <a:ext uri="{FF2B5EF4-FFF2-40B4-BE49-F238E27FC236}">
                <a16:creationId xmlns:a16="http://schemas.microsoft.com/office/drawing/2014/main" id="{D26A9905-B2A4-1EBF-6EA3-FC70AFE9CE5C}"/>
              </a:ext>
            </a:extLst>
          </p:cNvPr>
          <p:cNvSpPr txBox="1"/>
          <p:nvPr/>
        </p:nvSpPr>
        <p:spPr>
          <a:xfrm>
            <a:off x="1105123" y="2721642"/>
            <a:ext cx="3082895" cy="369332"/>
          </a:xfrm>
          <a:prstGeom prst="rect">
            <a:avLst/>
          </a:prstGeom>
          <a:noFill/>
        </p:spPr>
        <p:txBody>
          <a:bodyPr wrap="none" rtlCol="0">
            <a:spAutoFit/>
          </a:bodyPr>
          <a:lstStyle/>
          <a:p>
            <a:r>
              <a:rPr lang="en-CA" sz="1800" b="1" u="sng" dirty="0">
                <a:latin typeface="Montserrat" panose="00000500000000000000" pitchFamily="2" charset="0"/>
              </a:rPr>
              <a:t>Problem (Without MCP)</a:t>
            </a:r>
          </a:p>
        </p:txBody>
      </p:sp>
      <p:sp>
        <p:nvSpPr>
          <p:cNvPr id="59" name="TextBox 58">
            <a:extLst>
              <a:ext uri="{FF2B5EF4-FFF2-40B4-BE49-F238E27FC236}">
                <a16:creationId xmlns:a16="http://schemas.microsoft.com/office/drawing/2014/main" id="{0D65C32B-297E-94E3-6973-1D7DBC269C69}"/>
              </a:ext>
            </a:extLst>
          </p:cNvPr>
          <p:cNvSpPr txBox="1"/>
          <p:nvPr/>
        </p:nvSpPr>
        <p:spPr>
          <a:xfrm>
            <a:off x="7208364" y="2663701"/>
            <a:ext cx="2645276" cy="369332"/>
          </a:xfrm>
          <a:prstGeom prst="rect">
            <a:avLst/>
          </a:prstGeom>
          <a:noFill/>
        </p:spPr>
        <p:txBody>
          <a:bodyPr wrap="none" rtlCol="0">
            <a:spAutoFit/>
          </a:bodyPr>
          <a:lstStyle/>
          <a:p>
            <a:r>
              <a:rPr lang="en-CA" sz="1800" b="1" u="sng" dirty="0">
                <a:latin typeface="Montserrat" panose="00000500000000000000" pitchFamily="2" charset="0"/>
              </a:rPr>
              <a:t>Solution (With MCP)</a:t>
            </a:r>
          </a:p>
        </p:txBody>
      </p:sp>
      <p:pic>
        <p:nvPicPr>
          <p:cNvPr id="1035" name="Picture 11">
            <a:extLst>
              <a:ext uri="{FF2B5EF4-FFF2-40B4-BE49-F238E27FC236}">
                <a16:creationId xmlns:a16="http://schemas.microsoft.com/office/drawing/2014/main" id="{D40D4B7B-D208-E8FD-BE4B-B48AB4CF31D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1963" r="-1170" b="25352"/>
          <a:stretch>
            <a:fillRect/>
          </a:stretch>
        </p:blipFill>
        <p:spPr bwMode="auto">
          <a:xfrm>
            <a:off x="5459511" y="1609603"/>
            <a:ext cx="1710313" cy="8906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Model Context Protocol · GitHub">
            <a:extLst>
              <a:ext uri="{FF2B5EF4-FFF2-40B4-BE49-F238E27FC236}">
                <a16:creationId xmlns:a16="http://schemas.microsoft.com/office/drawing/2014/main" id="{660406CC-E6F7-0A46-5986-C26F4DE284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8230" y="1474033"/>
            <a:ext cx="1167689" cy="116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8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fade">
                                      <p:cBhvr>
                                        <p:cTn id="7" dur="500"/>
                                        <p:tgtEl>
                                          <p:spTgt spid="1035"/>
                                        </p:tgtEl>
                                      </p:cBhvr>
                                    </p:animEffect>
                                  </p:childTnLst>
                                </p:cTn>
                              </p:par>
                              <p:par>
                                <p:cTn id="8" presetID="10" presetClass="entr" presetSubtype="0" fill="hold" nodeType="withEffect">
                                  <p:stCondLst>
                                    <p:cond delay="0"/>
                                  </p:stCondLst>
                                  <p:childTnLst>
                                    <p:set>
                                      <p:cBhvr>
                                        <p:cTn id="9" dur="1" fill="hold">
                                          <p:stCondLst>
                                            <p:cond delay="0"/>
                                          </p:stCondLst>
                                        </p:cTn>
                                        <p:tgtEl>
                                          <p:spTgt spid="1037"/>
                                        </p:tgtEl>
                                        <p:attrNameLst>
                                          <p:attrName>style.visibility</p:attrName>
                                        </p:attrNameLst>
                                      </p:cBhvr>
                                      <p:to>
                                        <p:strVal val="visible"/>
                                      </p:to>
                                    </p:set>
                                    <p:animEffect transition="in" filter="fade">
                                      <p:cBhvr>
                                        <p:cTn id="10" dur="500"/>
                                        <p:tgtEl>
                                          <p:spTgt spid="103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500"/>
                                        <p:tgtEl>
                                          <p:spTgt spid="5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500"/>
                                        <p:tgtEl>
                                          <p:spTgt spid="1026"/>
                                        </p:tgtEl>
                                      </p:cBhvr>
                                    </p:animEffect>
                                  </p:childTnLst>
                                </p:cTn>
                              </p:par>
                              <p:par>
                                <p:cTn id="25" presetID="10" presetClass="entr" presetSubtype="0" fill="hold" nodeType="with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fade">
                                      <p:cBhvr>
                                        <p:cTn id="27" dur="500"/>
                                        <p:tgtEl>
                                          <p:spTgt spid="1028"/>
                                        </p:tgtEl>
                                      </p:cBhvr>
                                    </p:animEffect>
                                  </p:childTnLst>
                                </p:cTn>
                              </p:par>
                              <p:par>
                                <p:cTn id="28" presetID="10" presetClass="entr" presetSubtype="0" fill="hold" nodeType="withEffect">
                                  <p:stCondLst>
                                    <p:cond delay="0"/>
                                  </p:stCondLst>
                                  <p:childTnLst>
                                    <p:set>
                                      <p:cBhvr>
                                        <p:cTn id="29" dur="1" fill="hold">
                                          <p:stCondLst>
                                            <p:cond delay="0"/>
                                          </p:stCondLst>
                                        </p:cTn>
                                        <p:tgtEl>
                                          <p:spTgt spid="1030"/>
                                        </p:tgtEl>
                                        <p:attrNameLst>
                                          <p:attrName>style.visibility</p:attrName>
                                        </p:attrNameLst>
                                      </p:cBhvr>
                                      <p:to>
                                        <p:strVal val="visible"/>
                                      </p:to>
                                    </p:set>
                                    <p:animEffect transition="in" filter="fade">
                                      <p:cBhvr>
                                        <p:cTn id="30" dur="500"/>
                                        <p:tgtEl>
                                          <p:spTgt spid="10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500"/>
                                        <p:tgtEl>
                                          <p:spTgt spid="2"/>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50"/>
                                        </p:tgtEl>
                                        <p:attrNameLst>
                                          <p:attrName>style.visibility</p:attrName>
                                        </p:attrNameLst>
                                      </p:cBhvr>
                                      <p:to>
                                        <p:strVal val="visible"/>
                                      </p:to>
                                    </p:set>
                                    <p:animEffect transition="in" filter="fade">
                                      <p:cBhvr>
                                        <p:cTn id="77" dur="500"/>
                                        <p:tgtEl>
                                          <p:spTgt spid="2050"/>
                                        </p:tgtEl>
                                      </p:cBhvr>
                                    </p:animEffect>
                                  </p:childTnLst>
                                </p:cTn>
                              </p:par>
                              <p:par>
                                <p:cTn id="78" presetID="10" presetClass="entr" presetSubtype="0" fill="hold" nodeType="withEffect">
                                  <p:stCondLst>
                                    <p:cond delay="0"/>
                                  </p:stCondLst>
                                  <p:childTnLst>
                                    <p:set>
                                      <p:cBhvr>
                                        <p:cTn id="79" dur="1" fill="hold">
                                          <p:stCondLst>
                                            <p:cond delay="0"/>
                                          </p:stCondLst>
                                        </p:cTn>
                                        <p:tgtEl>
                                          <p:spTgt spid="2052"/>
                                        </p:tgtEl>
                                        <p:attrNameLst>
                                          <p:attrName>style.visibility</p:attrName>
                                        </p:attrNameLst>
                                      </p:cBhvr>
                                      <p:to>
                                        <p:strVal val="visible"/>
                                      </p:to>
                                    </p:set>
                                    <p:animEffect transition="in" filter="fade">
                                      <p:cBhvr>
                                        <p:cTn id="80" dur="500"/>
                                        <p:tgtEl>
                                          <p:spTgt spid="2052"/>
                                        </p:tgtEl>
                                      </p:cBhvr>
                                    </p:animEffect>
                                  </p:childTnLst>
                                </p:cTn>
                              </p:par>
                              <p:par>
                                <p:cTn id="81" presetID="10"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fade">
                                      <p:cBhvr>
                                        <p:cTn id="88" dur="500"/>
                                        <p:tgtEl>
                                          <p:spTgt spid="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10"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500"/>
                                        <p:tgtEl>
                                          <p:spTgt spid="5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3"/>
                                        </p:tgtEl>
                                        <p:attrNameLst>
                                          <p:attrName>style.visibility</p:attrName>
                                        </p:attrNameLst>
                                      </p:cBhvr>
                                      <p:to>
                                        <p:strVal val="visible"/>
                                      </p:to>
                                    </p:set>
                                    <p:animEffect transition="in" filter="fade">
                                      <p:cBhvr>
                                        <p:cTn id="1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21" grpId="0" animBg="1"/>
      <p:bldP spid="41" grpId="0" animBg="1"/>
      <p:bldP spid="42" grpId="0"/>
      <p:bldP spid="44" grpId="0" animBg="1"/>
      <p:bldP spid="48" grpId="0" animBg="1"/>
      <p:bldP spid="52" grpId="0" animBg="1"/>
      <p:bldP spid="53" grpId="0"/>
      <p:bldP spid="58" grpId="0"/>
      <p:bldP spid="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a:stretch/>
        </p:blipFill>
        <p:spPr>
          <a:xfrm>
            <a:off x="-16387" y="0"/>
            <a:ext cx="12224773" cy="6858000"/>
          </a:xfrm>
          <a:prstGeom prst="rect">
            <a:avLst/>
          </a:prstGeom>
          <a:noFill/>
          <a:ln>
            <a:noFill/>
          </a:ln>
        </p:spPr>
      </p:pic>
      <p:pic>
        <p:nvPicPr>
          <p:cNvPr id="113" name="Google Shape;113;p5"/>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MCP Connectors</a:t>
            </a:r>
            <a:endParaRPr dirty="0"/>
          </a:p>
        </p:txBody>
      </p:sp>
      <p:sp>
        <p:nvSpPr>
          <p:cNvPr id="115" name="Google Shape;115;p5"/>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dirty="0">
                <a:solidFill>
                  <a:schemeClr val="accent3"/>
                </a:solidFill>
                <a:latin typeface="Calibri"/>
                <a:ea typeface="Calibri"/>
                <a:cs typeface="Calibri"/>
                <a:sym typeface="Calibri"/>
              </a:rPr>
              <a:t>© All rights reserved for Dr. Ryan Ahmed @Stemplicity Inc. </a:t>
            </a:r>
            <a:endParaRPr dirty="0"/>
          </a:p>
        </p:txBody>
      </p:sp>
      <p:pic>
        <p:nvPicPr>
          <p:cNvPr id="5" name="Picture 4">
            <a:extLst>
              <a:ext uri="{FF2B5EF4-FFF2-40B4-BE49-F238E27FC236}">
                <a16:creationId xmlns:a16="http://schemas.microsoft.com/office/drawing/2014/main" id="{F7FA0F64-4433-F242-8916-6513E383748D}"/>
              </a:ext>
            </a:extLst>
          </p:cNvPr>
          <p:cNvPicPr>
            <a:picLocks noChangeAspect="1"/>
          </p:cNvPicPr>
          <p:nvPr/>
        </p:nvPicPr>
        <p:blipFill>
          <a:blip r:embed="rId5"/>
          <a:stretch>
            <a:fillRect/>
          </a:stretch>
        </p:blipFill>
        <p:spPr>
          <a:xfrm>
            <a:off x="3202534" y="4385760"/>
            <a:ext cx="4265066" cy="2336395"/>
          </a:xfrm>
          <a:prstGeom prst="rect">
            <a:avLst/>
          </a:prstGeom>
        </p:spPr>
      </p:pic>
      <p:sp>
        <p:nvSpPr>
          <p:cNvPr id="9" name="TextBox 8">
            <a:extLst>
              <a:ext uri="{FF2B5EF4-FFF2-40B4-BE49-F238E27FC236}">
                <a16:creationId xmlns:a16="http://schemas.microsoft.com/office/drawing/2014/main" id="{582B0EED-FC08-96D2-94C8-32B1387987D0}"/>
              </a:ext>
            </a:extLst>
          </p:cNvPr>
          <p:cNvSpPr txBox="1"/>
          <p:nvPr/>
        </p:nvSpPr>
        <p:spPr>
          <a:xfrm>
            <a:off x="8107766" y="5182545"/>
            <a:ext cx="2961815" cy="923330"/>
          </a:xfrm>
          <a:prstGeom prst="rect">
            <a:avLst/>
          </a:prstGeom>
          <a:noFill/>
        </p:spPr>
        <p:txBody>
          <a:bodyPr wrap="square">
            <a:spAutoFit/>
          </a:bodyPr>
          <a:lstStyle/>
          <a:p>
            <a:r>
              <a:rPr lang="en-CA" dirty="0">
                <a:hlinkClick r:id="rId6"/>
              </a:rPr>
              <a:t>https://www.anthropic.com/news/model-context-protocol</a:t>
            </a:r>
            <a:endParaRPr lang="en-CA" dirty="0"/>
          </a:p>
          <a:p>
            <a:endParaRPr lang="en-CA" dirty="0"/>
          </a:p>
        </p:txBody>
      </p:sp>
      <p:sp>
        <p:nvSpPr>
          <p:cNvPr id="44" name="Text 4">
            <a:extLst>
              <a:ext uri="{FF2B5EF4-FFF2-40B4-BE49-F238E27FC236}">
                <a16:creationId xmlns:a16="http://schemas.microsoft.com/office/drawing/2014/main" id="{167C5714-7960-77DB-9B17-90891179D5EF}"/>
              </a:ext>
            </a:extLst>
          </p:cNvPr>
          <p:cNvSpPr/>
          <p:nvPr/>
        </p:nvSpPr>
        <p:spPr>
          <a:xfrm>
            <a:off x="609600" y="1462591"/>
            <a:ext cx="10485120" cy="487680"/>
          </a:xfrm>
          <a:prstGeom prst="rect">
            <a:avLst/>
          </a:prstGeom>
          <a:noFill/>
          <a:ln/>
        </p:spPr>
        <p:txBody>
          <a:bodyPr wrap="square" lIns="0" tIns="0" rIns="0" bIns="0" rtlCol="0" anchor="ctr"/>
          <a:lstStyle/>
          <a:p>
            <a:r>
              <a:rPr lang="en-US" sz="2000" b="1" dirty="0">
                <a:solidFill>
                  <a:srgbClr val="0C1752"/>
                </a:solidFill>
                <a:latin typeface="Trebuchet MS" pitchFamily="34" charset="0"/>
                <a:ea typeface="Trebuchet MS" pitchFamily="34" charset="-122"/>
                <a:cs typeface="Trebuchet MS" pitchFamily="34" charset="-120"/>
              </a:rPr>
              <a:t>Available Connectors</a:t>
            </a:r>
            <a:endParaRPr lang="en-US" sz="2000" dirty="0">
              <a:solidFill>
                <a:srgbClr val="0C1752"/>
              </a:solidFill>
            </a:endParaRPr>
          </a:p>
        </p:txBody>
      </p:sp>
      <p:sp>
        <p:nvSpPr>
          <p:cNvPr id="45" name="Shape 5">
            <a:extLst>
              <a:ext uri="{FF2B5EF4-FFF2-40B4-BE49-F238E27FC236}">
                <a16:creationId xmlns:a16="http://schemas.microsoft.com/office/drawing/2014/main" id="{102786C2-5F5B-5AAF-A1FF-FF64D6030D85}"/>
              </a:ext>
            </a:extLst>
          </p:cNvPr>
          <p:cNvSpPr/>
          <p:nvPr/>
        </p:nvSpPr>
        <p:spPr>
          <a:xfrm>
            <a:off x="60960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47" name="Text 7">
            <a:extLst>
              <a:ext uri="{FF2B5EF4-FFF2-40B4-BE49-F238E27FC236}">
                <a16:creationId xmlns:a16="http://schemas.microsoft.com/office/drawing/2014/main" id="{E7934320-2322-E298-6019-309CBDC93513}"/>
              </a:ext>
            </a:extLst>
          </p:cNvPr>
          <p:cNvSpPr/>
          <p:nvPr/>
        </p:nvSpPr>
        <p:spPr>
          <a:xfrm>
            <a:off x="79248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Drive</a:t>
            </a:r>
            <a:endParaRPr lang="en-US" sz="1600" dirty="0">
              <a:solidFill>
                <a:srgbClr val="0C1752"/>
              </a:solidFill>
              <a:latin typeface="Montserrat" panose="00000500000000000000" pitchFamily="2" charset="0"/>
            </a:endParaRPr>
          </a:p>
        </p:txBody>
      </p:sp>
      <p:sp>
        <p:nvSpPr>
          <p:cNvPr id="48" name="Shape 8">
            <a:extLst>
              <a:ext uri="{FF2B5EF4-FFF2-40B4-BE49-F238E27FC236}">
                <a16:creationId xmlns:a16="http://schemas.microsoft.com/office/drawing/2014/main" id="{A3B4CA99-B637-956D-ED0D-2289EF5D4DC9}"/>
              </a:ext>
            </a:extLst>
          </p:cNvPr>
          <p:cNvSpPr/>
          <p:nvPr/>
        </p:nvSpPr>
        <p:spPr>
          <a:xfrm>
            <a:off x="341376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0" name="Text 10">
            <a:extLst>
              <a:ext uri="{FF2B5EF4-FFF2-40B4-BE49-F238E27FC236}">
                <a16:creationId xmlns:a16="http://schemas.microsoft.com/office/drawing/2014/main" id="{1C23FD97-08CC-9EEC-86D5-83C0234BE811}"/>
              </a:ext>
            </a:extLst>
          </p:cNvPr>
          <p:cNvSpPr/>
          <p:nvPr/>
        </p:nvSpPr>
        <p:spPr>
          <a:xfrm>
            <a:off x="359664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Calendar</a:t>
            </a:r>
            <a:endParaRPr lang="en-US" sz="1600" dirty="0">
              <a:solidFill>
                <a:srgbClr val="0C1752"/>
              </a:solidFill>
              <a:latin typeface="Montserrat" panose="00000500000000000000" pitchFamily="2" charset="0"/>
            </a:endParaRPr>
          </a:p>
        </p:txBody>
      </p:sp>
      <p:sp>
        <p:nvSpPr>
          <p:cNvPr id="51" name="Shape 11">
            <a:extLst>
              <a:ext uri="{FF2B5EF4-FFF2-40B4-BE49-F238E27FC236}">
                <a16:creationId xmlns:a16="http://schemas.microsoft.com/office/drawing/2014/main" id="{CD6A8729-7AC4-DA72-40EB-29894FEACA0F}"/>
              </a:ext>
            </a:extLst>
          </p:cNvPr>
          <p:cNvSpPr/>
          <p:nvPr/>
        </p:nvSpPr>
        <p:spPr>
          <a:xfrm>
            <a:off x="621792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3" name="Text 13">
            <a:extLst>
              <a:ext uri="{FF2B5EF4-FFF2-40B4-BE49-F238E27FC236}">
                <a16:creationId xmlns:a16="http://schemas.microsoft.com/office/drawing/2014/main" id="{2957D29F-9D04-2B38-2038-A60F63A6B6C7}"/>
              </a:ext>
            </a:extLst>
          </p:cNvPr>
          <p:cNvSpPr/>
          <p:nvPr/>
        </p:nvSpPr>
        <p:spPr>
          <a:xfrm>
            <a:off x="640080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Gmail</a:t>
            </a:r>
            <a:endParaRPr lang="en-US" sz="1600" dirty="0">
              <a:solidFill>
                <a:srgbClr val="0C1752"/>
              </a:solidFill>
              <a:latin typeface="Montserrat" panose="00000500000000000000" pitchFamily="2" charset="0"/>
            </a:endParaRPr>
          </a:p>
        </p:txBody>
      </p:sp>
      <p:sp>
        <p:nvSpPr>
          <p:cNvPr id="54" name="Shape 14">
            <a:extLst>
              <a:ext uri="{FF2B5EF4-FFF2-40B4-BE49-F238E27FC236}">
                <a16:creationId xmlns:a16="http://schemas.microsoft.com/office/drawing/2014/main" id="{DD8B2AB6-126C-B7E6-9A0A-006AD3F20EBB}"/>
              </a:ext>
            </a:extLst>
          </p:cNvPr>
          <p:cNvSpPr/>
          <p:nvPr/>
        </p:nvSpPr>
        <p:spPr>
          <a:xfrm>
            <a:off x="902208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6" name="Text 16">
            <a:extLst>
              <a:ext uri="{FF2B5EF4-FFF2-40B4-BE49-F238E27FC236}">
                <a16:creationId xmlns:a16="http://schemas.microsoft.com/office/drawing/2014/main" id="{3BA4A6A2-2BE0-2C45-354C-0040F1442E9B}"/>
              </a:ext>
            </a:extLst>
          </p:cNvPr>
          <p:cNvSpPr/>
          <p:nvPr/>
        </p:nvSpPr>
        <p:spPr>
          <a:xfrm>
            <a:off x="920496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Slack</a:t>
            </a:r>
            <a:endParaRPr lang="en-US" sz="1600" dirty="0">
              <a:solidFill>
                <a:srgbClr val="0C1752"/>
              </a:solidFill>
              <a:latin typeface="Montserrat" panose="00000500000000000000" pitchFamily="2" charset="0"/>
            </a:endParaRPr>
          </a:p>
        </p:txBody>
      </p:sp>
      <p:sp>
        <p:nvSpPr>
          <p:cNvPr id="57" name="Shape 17">
            <a:extLst>
              <a:ext uri="{FF2B5EF4-FFF2-40B4-BE49-F238E27FC236}">
                <a16:creationId xmlns:a16="http://schemas.microsoft.com/office/drawing/2014/main" id="{186065FE-2C27-B11E-95FA-E8ED55E1F259}"/>
              </a:ext>
            </a:extLst>
          </p:cNvPr>
          <p:cNvSpPr/>
          <p:nvPr/>
        </p:nvSpPr>
        <p:spPr>
          <a:xfrm>
            <a:off x="60960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9" name="Text 19">
            <a:extLst>
              <a:ext uri="{FF2B5EF4-FFF2-40B4-BE49-F238E27FC236}">
                <a16:creationId xmlns:a16="http://schemas.microsoft.com/office/drawing/2014/main" id="{C1B53E22-4ECE-6DB4-9D3B-32B0D8C44051}"/>
              </a:ext>
            </a:extLst>
          </p:cNvPr>
          <p:cNvSpPr/>
          <p:nvPr/>
        </p:nvSpPr>
        <p:spPr>
          <a:xfrm>
            <a:off x="79248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DocuSign</a:t>
            </a:r>
            <a:endParaRPr lang="en-US" sz="1600" dirty="0">
              <a:solidFill>
                <a:srgbClr val="0C1752"/>
              </a:solidFill>
              <a:latin typeface="Montserrat" panose="00000500000000000000" pitchFamily="2" charset="0"/>
            </a:endParaRPr>
          </a:p>
        </p:txBody>
      </p:sp>
      <p:sp>
        <p:nvSpPr>
          <p:cNvPr id="60" name="Shape 20">
            <a:extLst>
              <a:ext uri="{FF2B5EF4-FFF2-40B4-BE49-F238E27FC236}">
                <a16:creationId xmlns:a16="http://schemas.microsoft.com/office/drawing/2014/main" id="{BECB73F4-6C2C-6147-F42D-EA13A52B1D38}"/>
              </a:ext>
            </a:extLst>
          </p:cNvPr>
          <p:cNvSpPr/>
          <p:nvPr/>
        </p:nvSpPr>
        <p:spPr>
          <a:xfrm>
            <a:off x="341376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2" name="Text 22">
            <a:extLst>
              <a:ext uri="{FF2B5EF4-FFF2-40B4-BE49-F238E27FC236}">
                <a16:creationId xmlns:a16="http://schemas.microsoft.com/office/drawing/2014/main" id="{2511567D-A2DB-2362-D6D9-352D04425C65}"/>
              </a:ext>
            </a:extLst>
          </p:cNvPr>
          <p:cNvSpPr/>
          <p:nvPr/>
        </p:nvSpPr>
        <p:spPr>
          <a:xfrm>
            <a:off x="359664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Salesforce</a:t>
            </a:r>
            <a:endParaRPr lang="en-US" sz="1600" dirty="0">
              <a:solidFill>
                <a:srgbClr val="0C1752"/>
              </a:solidFill>
              <a:latin typeface="Montserrat" panose="00000500000000000000" pitchFamily="2" charset="0"/>
            </a:endParaRPr>
          </a:p>
        </p:txBody>
      </p:sp>
      <p:sp>
        <p:nvSpPr>
          <p:cNvPr id="63" name="Shape 23">
            <a:extLst>
              <a:ext uri="{FF2B5EF4-FFF2-40B4-BE49-F238E27FC236}">
                <a16:creationId xmlns:a16="http://schemas.microsoft.com/office/drawing/2014/main" id="{8DD4055F-5DF5-0E10-3B44-B1E1613169C4}"/>
              </a:ext>
            </a:extLst>
          </p:cNvPr>
          <p:cNvSpPr/>
          <p:nvPr/>
        </p:nvSpPr>
        <p:spPr>
          <a:xfrm>
            <a:off x="621792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5" name="Text 25">
            <a:extLst>
              <a:ext uri="{FF2B5EF4-FFF2-40B4-BE49-F238E27FC236}">
                <a16:creationId xmlns:a16="http://schemas.microsoft.com/office/drawing/2014/main" id="{68D1C8E3-EFB4-79AA-88B2-6C80FB5B7F12}"/>
              </a:ext>
            </a:extLst>
          </p:cNvPr>
          <p:cNvSpPr/>
          <p:nvPr/>
        </p:nvSpPr>
        <p:spPr>
          <a:xfrm>
            <a:off x="640080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FactSet</a:t>
            </a:r>
            <a:endParaRPr lang="en-US" sz="1600" dirty="0">
              <a:solidFill>
                <a:srgbClr val="0C1752"/>
              </a:solidFill>
              <a:latin typeface="Montserrat" panose="00000500000000000000" pitchFamily="2" charset="0"/>
            </a:endParaRPr>
          </a:p>
        </p:txBody>
      </p:sp>
      <p:sp>
        <p:nvSpPr>
          <p:cNvPr id="66" name="Shape 26">
            <a:extLst>
              <a:ext uri="{FF2B5EF4-FFF2-40B4-BE49-F238E27FC236}">
                <a16:creationId xmlns:a16="http://schemas.microsoft.com/office/drawing/2014/main" id="{A6E7C4E5-FA80-24C4-07B7-A088586A710D}"/>
              </a:ext>
            </a:extLst>
          </p:cNvPr>
          <p:cNvSpPr/>
          <p:nvPr/>
        </p:nvSpPr>
        <p:spPr>
          <a:xfrm>
            <a:off x="902208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8" name="Text 28">
            <a:extLst>
              <a:ext uri="{FF2B5EF4-FFF2-40B4-BE49-F238E27FC236}">
                <a16:creationId xmlns:a16="http://schemas.microsoft.com/office/drawing/2014/main" id="{A91104C0-9F45-D31E-225E-DCF0F8266C7D}"/>
              </a:ext>
            </a:extLst>
          </p:cNvPr>
          <p:cNvSpPr/>
          <p:nvPr/>
        </p:nvSpPr>
        <p:spPr>
          <a:xfrm>
            <a:off x="920496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WordPress</a:t>
            </a:r>
            <a:endParaRPr lang="en-US" sz="1600" dirty="0">
              <a:solidFill>
                <a:srgbClr val="0C1752"/>
              </a:solidFill>
              <a:latin typeface="Montserrat" panose="00000500000000000000" pitchFamily="2" charset="0"/>
            </a:endParaRPr>
          </a:p>
        </p:txBody>
      </p:sp>
      <p:sp>
        <p:nvSpPr>
          <p:cNvPr id="69" name="Shape 29">
            <a:extLst>
              <a:ext uri="{FF2B5EF4-FFF2-40B4-BE49-F238E27FC236}">
                <a16:creationId xmlns:a16="http://schemas.microsoft.com/office/drawing/2014/main" id="{318084F5-1E9B-EA0C-AFAD-18E4DA180EAE}"/>
              </a:ext>
            </a:extLst>
          </p:cNvPr>
          <p:cNvSpPr/>
          <p:nvPr/>
        </p:nvSpPr>
        <p:spPr>
          <a:xfrm>
            <a:off x="60960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1" name="Text 31">
            <a:extLst>
              <a:ext uri="{FF2B5EF4-FFF2-40B4-BE49-F238E27FC236}">
                <a16:creationId xmlns:a16="http://schemas.microsoft.com/office/drawing/2014/main" id="{851BB654-77AE-DC52-FAF4-E398C02274AB}"/>
              </a:ext>
            </a:extLst>
          </p:cNvPr>
          <p:cNvSpPr/>
          <p:nvPr/>
        </p:nvSpPr>
        <p:spPr>
          <a:xfrm>
            <a:off x="79248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Apollo</a:t>
            </a:r>
            <a:endParaRPr lang="en-US" sz="1600" dirty="0">
              <a:solidFill>
                <a:srgbClr val="0C1752"/>
              </a:solidFill>
              <a:latin typeface="Montserrat" panose="00000500000000000000" pitchFamily="2" charset="0"/>
            </a:endParaRPr>
          </a:p>
        </p:txBody>
      </p:sp>
      <p:sp>
        <p:nvSpPr>
          <p:cNvPr id="72" name="Shape 32">
            <a:extLst>
              <a:ext uri="{FF2B5EF4-FFF2-40B4-BE49-F238E27FC236}">
                <a16:creationId xmlns:a16="http://schemas.microsoft.com/office/drawing/2014/main" id="{FFDF7D6E-0627-D2CF-DB18-207308A60055}"/>
              </a:ext>
            </a:extLst>
          </p:cNvPr>
          <p:cNvSpPr/>
          <p:nvPr/>
        </p:nvSpPr>
        <p:spPr>
          <a:xfrm>
            <a:off x="341376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4" name="Text 34">
            <a:extLst>
              <a:ext uri="{FF2B5EF4-FFF2-40B4-BE49-F238E27FC236}">
                <a16:creationId xmlns:a16="http://schemas.microsoft.com/office/drawing/2014/main" id="{A54207F2-84DD-A4F8-5EF6-9473B17CFCBB}"/>
              </a:ext>
            </a:extLst>
          </p:cNvPr>
          <p:cNvSpPr/>
          <p:nvPr/>
        </p:nvSpPr>
        <p:spPr>
          <a:xfrm>
            <a:off x="359664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Clay</a:t>
            </a:r>
            <a:endParaRPr lang="en-US" sz="1600" dirty="0">
              <a:solidFill>
                <a:srgbClr val="0C1752"/>
              </a:solidFill>
              <a:latin typeface="Montserrat" panose="00000500000000000000" pitchFamily="2" charset="0"/>
            </a:endParaRPr>
          </a:p>
        </p:txBody>
      </p:sp>
      <p:sp>
        <p:nvSpPr>
          <p:cNvPr id="75" name="Shape 35">
            <a:extLst>
              <a:ext uri="{FF2B5EF4-FFF2-40B4-BE49-F238E27FC236}">
                <a16:creationId xmlns:a16="http://schemas.microsoft.com/office/drawing/2014/main" id="{17BA5460-B372-0967-36A5-F5F8D0F3B19A}"/>
              </a:ext>
            </a:extLst>
          </p:cNvPr>
          <p:cNvSpPr/>
          <p:nvPr/>
        </p:nvSpPr>
        <p:spPr>
          <a:xfrm>
            <a:off x="621792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7" name="Text 37">
            <a:extLst>
              <a:ext uri="{FF2B5EF4-FFF2-40B4-BE49-F238E27FC236}">
                <a16:creationId xmlns:a16="http://schemas.microsoft.com/office/drawing/2014/main" id="{21E4FA50-6BE2-7EE6-3726-706AE7464A6A}"/>
              </a:ext>
            </a:extLst>
          </p:cNvPr>
          <p:cNvSpPr/>
          <p:nvPr/>
        </p:nvSpPr>
        <p:spPr>
          <a:xfrm>
            <a:off x="640080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Outreach</a:t>
            </a:r>
            <a:endParaRPr lang="en-US" sz="1600" dirty="0">
              <a:solidFill>
                <a:srgbClr val="0C1752"/>
              </a:solidFill>
              <a:latin typeface="Montserrat" panose="00000500000000000000" pitchFamily="2" charset="0"/>
            </a:endParaRPr>
          </a:p>
        </p:txBody>
      </p:sp>
      <p:sp>
        <p:nvSpPr>
          <p:cNvPr id="78" name="Shape 38">
            <a:extLst>
              <a:ext uri="{FF2B5EF4-FFF2-40B4-BE49-F238E27FC236}">
                <a16:creationId xmlns:a16="http://schemas.microsoft.com/office/drawing/2014/main" id="{748F7040-B389-081D-EB47-B07B6ED96A82}"/>
              </a:ext>
            </a:extLst>
          </p:cNvPr>
          <p:cNvSpPr/>
          <p:nvPr/>
        </p:nvSpPr>
        <p:spPr>
          <a:xfrm>
            <a:off x="902208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80" name="Text 40">
            <a:extLst>
              <a:ext uri="{FF2B5EF4-FFF2-40B4-BE49-F238E27FC236}">
                <a16:creationId xmlns:a16="http://schemas.microsoft.com/office/drawing/2014/main" id="{4CA28F90-3C92-C6B0-68F5-C132D6099344}"/>
              </a:ext>
            </a:extLst>
          </p:cNvPr>
          <p:cNvSpPr/>
          <p:nvPr/>
        </p:nvSpPr>
        <p:spPr>
          <a:xfrm>
            <a:off x="920496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SimilarWeb</a:t>
            </a:r>
            <a:endParaRPr lang="en-US" sz="1600" dirty="0">
              <a:solidFill>
                <a:srgbClr val="0C1752"/>
              </a:solidFill>
              <a:latin typeface="Montserrat" panose="00000500000000000000" pitchFamily="2" charset="0"/>
            </a:endParaRPr>
          </a:p>
        </p:txBody>
      </p:sp>
      <p:sp>
        <p:nvSpPr>
          <p:cNvPr id="85" name="TextBox 84">
            <a:extLst>
              <a:ext uri="{FF2B5EF4-FFF2-40B4-BE49-F238E27FC236}">
                <a16:creationId xmlns:a16="http://schemas.microsoft.com/office/drawing/2014/main" id="{4DA7E8EB-AFD2-24E9-9307-151CDD65DD25}"/>
              </a:ext>
            </a:extLst>
          </p:cNvPr>
          <p:cNvSpPr txBox="1"/>
          <p:nvPr/>
        </p:nvSpPr>
        <p:spPr>
          <a:xfrm>
            <a:off x="205739" y="763236"/>
            <a:ext cx="11538585"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Connectors let Claude pull from external systems; e.g., analyze a Google Sheet, then move a chart directly into a PowerPoint deck.</a:t>
            </a:r>
            <a:endParaRPr lang="en-US" sz="1800" dirty="0">
              <a:latin typeface="Montserrat"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500"/>
                                        <p:tgtEl>
                                          <p:spTgt spid="4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fade">
                                      <p:cBhvr>
                                        <p:cTn id="42" dur="500"/>
                                        <p:tgtEl>
                                          <p:spTgt spid="5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fade">
                                      <p:cBhvr>
                                        <p:cTn id="54" dur="500"/>
                                        <p:tgtEl>
                                          <p:spTgt spid="6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fade">
                                      <p:cBhvr>
                                        <p:cTn id="57" dur="500"/>
                                        <p:tgtEl>
                                          <p:spTgt spid="6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50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1"/>
                                        </p:tgtEl>
                                        <p:attrNameLst>
                                          <p:attrName>style.visibility</p:attrName>
                                        </p:attrNameLst>
                                      </p:cBhvr>
                                      <p:to>
                                        <p:strVal val="visible"/>
                                      </p:to>
                                    </p:set>
                                    <p:animEffect transition="in" filter="fade">
                                      <p:cBhvr>
                                        <p:cTn id="66" dur="500"/>
                                        <p:tgtEl>
                                          <p:spTgt spid="7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fade">
                                      <p:cBhvr>
                                        <p:cTn id="69" dur="500"/>
                                        <p:tgtEl>
                                          <p:spTgt spid="7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fade">
                                      <p:cBhvr>
                                        <p:cTn id="72" dur="500"/>
                                        <p:tgtEl>
                                          <p:spTgt spid="7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500"/>
                                        <p:tgtEl>
                                          <p:spTgt spid="7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500"/>
                                        <p:tgtEl>
                                          <p:spTgt spid="8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fade">
                                      <p:cBhvr>
                                        <p:cTn id="89" dur="500"/>
                                        <p:tgtEl>
                                          <p:spTgt spid="9"/>
                                        </p:tgtEl>
                                      </p:cBhvr>
                                    </p:animEffect>
                                  </p:childTnLst>
                                </p:cTn>
                              </p:par>
                              <p:par>
                                <p:cTn id="90" presetID="10" presetClass="entr" presetSubtype="0" fill="hold" nodeType="with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fade">
                                      <p:cBhvr>
                                        <p:cTn id="9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4" grpId="0" animBg="1"/>
      <p:bldP spid="45" grpId="0" animBg="1"/>
      <p:bldP spid="47" grpId="0" animBg="1"/>
      <p:bldP spid="48" grpId="0" animBg="1"/>
      <p:bldP spid="50" grpId="0" animBg="1"/>
      <p:bldP spid="51" grpId="0" animBg="1"/>
      <p:bldP spid="53" grpId="0" animBg="1"/>
      <p:bldP spid="54" grpId="0" animBg="1"/>
      <p:bldP spid="56" grpId="0" animBg="1"/>
      <p:bldP spid="57"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4" grpId="0" animBg="1"/>
      <p:bldP spid="75" grpId="0" animBg="1"/>
      <p:bldP spid="77" grpId="0" animBg="1"/>
      <p:bldP spid="78" grpId="0" animBg="1"/>
      <p:bldP spid="80" grpId="0" animBg="1"/>
      <p:bldP spid="8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7979</TotalTime>
  <Words>2247</Words>
  <Application>Microsoft Office PowerPoint</Application>
  <PresentationFormat>Widescreen</PresentationFormat>
  <Paragraphs>297</Paragraphs>
  <Slides>30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Consolas</vt:lpstr>
      <vt:lpstr>Montserrat</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838</cp:revision>
  <dcterms:created xsi:type="dcterms:W3CDTF">2019-11-18T17:58:36Z</dcterms:created>
  <dcterms:modified xsi:type="dcterms:W3CDTF">2026-05-08T03:36:00Z</dcterms:modified>
</cp:coreProperties>
</file>