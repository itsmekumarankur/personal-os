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565" r:id="rId2"/>
    <p:sldId id="4356" r:id="rId3"/>
    <p:sldId id="4320" r:id="rId4"/>
    <p:sldId id="4241" r:id="rId5"/>
    <p:sldId id="4323" r:id="rId6"/>
    <p:sldId id="4321" r:id="rId7"/>
    <p:sldId id="4313" r:id="rId8"/>
    <p:sldId id="4319" r:id="rId9"/>
    <p:sldId id="4314" r:id="rId10"/>
    <p:sldId id="4318" r:id="rId11"/>
    <p:sldId id="4346" r:id="rId12"/>
    <p:sldId id="4350" r:id="rId13"/>
    <p:sldId id="257" r:id="rId14"/>
    <p:sldId id="258" r:id="rId15"/>
    <p:sldId id="4370" r:id="rId16"/>
    <p:sldId id="259" r:id="rId17"/>
    <p:sldId id="260" r:id="rId18"/>
    <p:sldId id="4362" r:id="rId19"/>
    <p:sldId id="4357" r:id="rId20"/>
    <p:sldId id="4358" r:id="rId21"/>
    <p:sldId id="4359" r:id="rId22"/>
    <p:sldId id="4360" r:id="rId23"/>
    <p:sldId id="4369" r:id="rId24"/>
    <p:sldId id="4363" r:id="rId25"/>
    <p:sldId id="4364" r:id="rId26"/>
    <p:sldId id="4365" r:id="rId27"/>
    <p:sldId id="4366" r:id="rId28"/>
    <p:sldId id="4367" r:id="rId29"/>
    <p:sldId id="277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1BBFD1"/>
    <a:srgbClr val="D56E48"/>
    <a:srgbClr val="11CCDD"/>
    <a:srgbClr val="F9F9F9"/>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04" autoAdjust="0"/>
    <p:restoredTop sz="94721"/>
  </p:normalViewPr>
  <p:slideViewPr>
    <p:cSldViewPr snapToGrid="0" snapToObjects="1">
      <p:cViewPr>
        <p:scale>
          <a:sx n="100" d="100"/>
          <a:sy n="100" d="100"/>
        </p:scale>
        <p:origin x="372" y="6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4</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99004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FD7CD-6ADA-AB62-70AB-50FF48ADF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E7B2A-B258-5977-2869-56AEF48DE5C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DF60AA3F-1874-5EE7-C377-10BB75D4CC5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B352DE9-B908-979B-7573-2B85A69B651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5</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02336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6E01-D16C-7A27-C032-1369AAE8D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5A4A8-F268-41DD-7317-70295B7CA1A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50C4BED-FA81-55E7-B3C4-20546D40940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3DC9D8F-BA49-36A1-10EF-DEB5251A80B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7</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2431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9C334-5B29-3605-E54D-C34B84F8F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B2E89-D568-57FA-2BC5-0382125F9BF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2562E12-E2E7-0A86-CD88-56FBA218AD0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9B3443D-71C3-BCD7-6213-7936DC830470}"/>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8</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7073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069B4-CDC3-17B3-32F2-66A9F8C7C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C5CAC-4EBB-2765-D32E-C90A8ED87EC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75C6EC1-ED7F-CD07-CD87-A223CF5818D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90546FB-F322-B930-43FF-723202CE5884}"/>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9</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5865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ED548-B5D0-961C-6F89-91CBAB2D1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E7C4A-250B-F7FB-829F-9C91AF5233D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1895744-1799-0BF3-572C-C4B674D161B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F20688A-56DE-1FE5-368D-DE8161D59CA1}"/>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10</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2166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D9F5F-5804-6A16-D858-852903DF2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AF778-7C56-5979-A482-8B00C5BE77B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2E2D4C0-5383-F755-A2AA-062ED9FA75B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E213A6E-EF92-3659-6D3F-4DF86B7E87E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11</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1592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64011-7A03-95D1-CDDB-7CDC53EA7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AD9DF-33CF-621C-1A9E-E55A8E9015E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99E5186-685D-A7FF-19D0-B61EC8C1107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F25F1EE-26B0-592C-D72D-3065747513BB}"/>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15</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3020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3/15/2026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3/15/2026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3/15/2026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3/15/2026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3/15/2026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3/15/2026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3/15/2026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3/15/2026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3/15/2026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3/15/2026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3/15/2026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3/15/2026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5" y="489004"/>
            <a:ext cx="4743450"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CODE MASTERCLASS</a:t>
            </a: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84114-9D59-DCF9-DEA4-2811FFDE1B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3DA4288-6C20-F367-4724-68483D6EA80D}"/>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774B2424-D626-D29A-DFAF-93B16006CBB6}"/>
              </a:ext>
            </a:extLst>
          </p:cNvPr>
          <p:cNvSpPr/>
          <p:nvPr/>
        </p:nvSpPr>
        <p:spPr>
          <a:xfrm>
            <a:off x="293915" y="489004"/>
            <a:ext cx="4743450"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BUILDING APPS WITH CLAUDE CODE</a:t>
            </a:r>
          </a:p>
        </p:txBody>
      </p:sp>
      <p:pic>
        <p:nvPicPr>
          <p:cNvPr id="6" name="Picture 5">
            <a:extLst>
              <a:ext uri="{FF2B5EF4-FFF2-40B4-BE49-F238E27FC236}">
                <a16:creationId xmlns:a16="http://schemas.microsoft.com/office/drawing/2014/main" id="{9E041F28-1852-10C1-1370-B568AFA1B21A}"/>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2478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6F5A-78F9-84C9-EC74-2A1DF5602F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0FA6FF-DE84-C44D-264A-68C1F3AD860E}"/>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31F1B477-3513-5B6B-BFBE-EEACAF31E595}"/>
              </a:ext>
            </a:extLst>
          </p:cNvPr>
          <p:cNvSpPr/>
          <p:nvPr/>
        </p:nvSpPr>
        <p:spPr>
          <a:xfrm>
            <a:off x="293915" y="489004"/>
            <a:ext cx="4743450"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CLAUDE.MD</a:t>
            </a:r>
          </a:p>
        </p:txBody>
      </p:sp>
      <p:pic>
        <p:nvPicPr>
          <p:cNvPr id="6" name="Picture 5">
            <a:extLst>
              <a:ext uri="{FF2B5EF4-FFF2-40B4-BE49-F238E27FC236}">
                <a16:creationId xmlns:a16="http://schemas.microsoft.com/office/drawing/2014/main" id="{D8AD2879-0772-1C12-1BC6-4CD217E6FE5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10616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1BB3-F629-6EC2-1146-CACA781400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22644E-0136-2E1F-C155-596322C8DE61}"/>
              </a:ext>
            </a:extLst>
          </p:cNvPr>
          <p:cNvPicPr>
            <a:picLocks noChangeAspect="1"/>
          </p:cNvPicPr>
          <p:nvPr/>
        </p:nvPicPr>
        <p:blipFill>
          <a:blip r:embed="rId3"/>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F7BD65C9-F77A-8A40-7492-EADA0E4AAC70}"/>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A80B5B6-4506-14EF-8E07-742D8B7E13E4}"/>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CLAUDE.md </a:t>
            </a:r>
          </a:p>
        </p:txBody>
      </p:sp>
      <p:sp>
        <p:nvSpPr>
          <p:cNvPr id="9" name="TextBox 8">
            <a:extLst>
              <a:ext uri="{FF2B5EF4-FFF2-40B4-BE49-F238E27FC236}">
                <a16:creationId xmlns:a16="http://schemas.microsoft.com/office/drawing/2014/main" id="{5B094F88-7342-7701-AC2A-E6BC883895B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1403B866-14FF-0CD5-3522-727A8705F29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TextBox 3">
            <a:extLst>
              <a:ext uri="{FF2B5EF4-FFF2-40B4-BE49-F238E27FC236}">
                <a16:creationId xmlns:a16="http://schemas.microsoft.com/office/drawing/2014/main" id="{903A50E0-5F80-8DF4-09FC-51A328E9F5B4}"/>
              </a:ext>
            </a:extLst>
          </p:cNvPr>
          <p:cNvSpPr txBox="1"/>
          <p:nvPr/>
        </p:nvSpPr>
        <p:spPr>
          <a:xfrm>
            <a:off x="302894" y="915765"/>
            <a:ext cx="5450206" cy="4075335"/>
          </a:xfrm>
          <a:prstGeom prst="rect">
            <a:avLst/>
          </a:prstGeom>
          <a:noFill/>
          <a:ln>
            <a:noFill/>
          </a:ln>
        </p:spPr>
        <p:txBody>
          <a:bodyPr spcFirstLastPara="1" wrap="square" lIns="91425" tIns="45700" rIns="91425" bIns="45700" anchor="t" anchorCtr="0">
            <a:normAutofit/>
          </a:bodyPr>
          <a:lstStyle>
            <a:defPPr>
              <a:defRPr lang="en-US"/>
            </a:defPPr>
            <a:lvl1pPr marL="228600" lvl="0" indent="-228600" defTabSz="457200">
              <a:lnSpc>
                <a:spcPct val="90000"/>
              </a:lnSpc>
              <a:buClr>
                <a:srgbClr val="1BBFD1"/>
              </a:buClr>
              <a:buSzPts val="1800"/>
              <a:buFont typeface="Arial"/>
              <a:buChar char="•"/>
              <a:defRPr>
                <a:solidFill>
                  <a:prstClr val="black"/>
                </a:solidFill>
                <a:latin typeface="Montserrat"/>
                <a:ea typeface="Montserrat"/>
                <a:cs typeface="Montserrat"/>
              </a:defRPr>
            </a:lvl1pPr>
          </a:lstStyle>
          <a:p>
            <a:r>
              <a:rPr lang="en-US" dirty="0"/>
              <a:t>CLAUDE.md is a markdown file you add to your project root that Claude Code reads at the start of every session. </a:t>
            </a:r>
          </a:p>
          <a:p>
            <a:endParaRPr lang="en-US" dirty="0"/>
          </a:p>
          <a:p>
            <a:r>
              <a:rPr lang="en-US" dirty="0"/>
              <a:t>Claude thinks of it as a permanent briefing note; Claude shows up knowing your project without you repeating yourself every time.</a:t>
            </a:r>
            <a:endParaRPr lang="en-CA" dirty="0"/>
          </a:p>
        </p:txBody>
      </p:sp>
      <p:sp>
        <p:nvSpPr>
          <p:cNvPr id="15" name="Shape 20">
            <a:extLst>
              <a:ext uri="{FF2B5EF4-FFF2-40B4-BE49-F238E27FC236}">
                <a16:creationId xmlns:a16="http://schemas.microsoft.com/office/drawing/2014/main" id="{2ED52F17-FDB8-0A59-5BC5-0174F0DD46FD}"/>
              </a:ext>
            </a:extLst>
          </p:cNvPr>
          <p:cNvSpPr/>
          <p:nvPr/>
        </p:nvSpPr>
        <p:spPr>
          <a:xfrm>
            <a:off x="6705600" y="888207"/>
            <a:ext cx="5120640" cy="5684043"/>
          </a:xfrm>
          <a:prstGeom prst="rect">
            <a:avLst/>
          </a:prstGeom>
          <a:solidFill>
            <a:srgbClr val="002060"/>
          </a:solidFill>
          <a:ln/>
          <a:effectLst>
            <a:outerShdw blurRad="101600" dist="25400" dir="8100000" algn="bl" rotWithShape="0">
              <a:srgbClr val="000000">
                <a:alpha val="12000"/>
              </a:srgbClr>
            </a:outerShdw>
          </a:effectLst>
        </p:spPr>
        <p:txBody>
          <a:bodyPr/>
          <a:lstStyle/>
          <a:p>
            <a:endParaRPr lang="en-CA" sz="1867"/>
          </a:p>
        </p:txBody>
      </p:sp>
      <p:sp>
        <p:nvSpPr>
          <p:cNvPr id="16" name="Text 21">
            <a:extLst>
              <a:ext uri="{FF2B5EF4-FFF2-40B4-BE49-F238E27FC236}">
                <a16:creationId xmlns:a16="http://schemas.microsoft.com/office/drawing/2014/main" id="{23A10BFE-234B-AA02-98A3-78CC53F39655}"/>
              </a:ext>
            </a:extLst>
          </p:cNvPr>
          <p:cNvSpPr/>
          <p:nvPr/>
        </p:nvSpPr>
        <p:spPr>
          <a:xfrm>
            <a:off x="6770370" y="834444"/>
            <a:ext cx="1463040" cy="426720"/>
          </a:xfrm>
          <a:prstGeom prst="rect">
            <a:avLst/>
          </a:prstGeom>
          <a:noFill/>
          <a:ln/>
        </p:spPr>
        <p:txBody>
          <a:bodyPr wrap="square" lIns="0" tIns="0" rIns="0" bIns="0" rtlCol="0" anchor="ctr"/>
          <a:lstStyle/>
          <a:p>
            <a:r>
              <a:rPr lang="en-US" sz="1600" dirty="0">
                <a:solidFill>
                  <a:srgbClr val="10B981"/>
                </a:solidFill>
                <a:latin typeface="Consolas" pitchFamily="34" charset="0"/>
                <a:ea typeface="Consolas" pitchFamily="34" charset="-122"/>
                <a:cs typeface="Consolas" pitchFamily="34" charset="-120"/>
              </a:rPr>
              <a:t>CLAUDE.md</a:t>
            </a:r>
            <a:endParaRPr lang="en-US" sz="1600" dirty="0"/>
          </a:p>
        </p:txBody>
      </p:sp>
      <p:sp>
        <p:nvSpPr>
          <p:cNvPr id="17" name="Text 22">
            <a:extLst>
              <a:ext uri="{FF2B5EF4-FFF2-40B4-BE49-F238E27FC236}">
                <a16:creationId xmlns:a16="http://schemas.microsoft.com/office/drawing/2014/main" id="{B41BA4D4-77E1-96CF-ED07-67EEF0E3E939}"/>
              </a:ext>
            </a:extLst>
          </p:cNvPr>
          <p:cNvSpPr/>
          <p:nvPr/>
        </p:nvSpPr>
        <p:spPr>
          <a:xfrm>
            <a:off x="6786086" y="1190680"/>
            <a:ext cx="4959668" cy="5524445"/>
          </a:xfrm>
          <a:prstGeom prst="rect">
            <a:avLst/>
          </a:prstGeom>
          <a:noFill/>
          <a:ln/>
        </p:spPr>
        <p:txBody>
          <a:bodyPr wrap="square" lIns="0" tIns="0" rIns="0" bIns="0" rtlCol="0" anchor="t"/>
          <a:lstStyle/>
          <a:p>
            <a:r>
              <a:rPr lang="en-US" sz="700" dirty="0">
                <a:solidFill>
                  <a:srgbClr val="E2E8F0"/>
                </a:solidFill>
                <a:latin typeface="Consolas" pitchFamily="34" charset="0"/>
                <a:ea typeface="Consolas" pitchFamily="34" charset="-122"/>
                <a:cs typeface="Consolas" pitchFamily="34" charset="-120"/>
              </a:rPr>
              <a:t># AI Finance Agent — Project Context</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What This Is</a:t>
            </a:r>
          </a:p>
          <a:p>
            <a:r>
              <a:rPr lang="en-US" sz="700" dirty="0">
                <a:solidFill>
                  <a:srgbClr val="E2E8F0"/>
                </a:solidFill>
                <a:latin typeface="Consolas" pitchFamily="34" charset="0"/>
                <a:ea typeface="Consolas" pitchFamily="34" charset="-122"/>
                <a:cs typeface="Consolas" pitchFamily="34" charset="-120"/>
              </a:rPr>
              <a:t>A Python-based AI agent that analyzes financial statements and generate reports.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Tech Stack</a:t>
            </a:r>
          </a:p>
          <a:p>
            <a:r>
              <a:rPr lang="en-US" sz="700" dirty="0">
                <a:solidFill>
                  <a:srgbClr val="E2E8F0"/>
                </a:solidFill>
                <a:latin typeface="Consolas" pitchFamily="34" charset="0"/>
                <a:ea typeface="Consolas" pitchFamily="34" charset="-122"/>
                <a:cs typeface="Consolas" pitchFamily="34" charset="-120"/>
              </a:rPr>
              <a:t>- Python 3.11, pandas, </a:t>
            </a:r>
            <a:r>
              <a:rPr lang="en-US" sz="700" dirty="0" err="1">
                <a:solidFill>
                  <a:srgbClr val="E2E8F0"/>
                </a:solidFill>
                <a:latin typeface="Consolas" pitchFamily="34" charset="0"/>
                <a:ea typeface="Consolas" pitchFamily="34" charset="-122"/>
                <a:cs typeface="Consolas" pitchFamily="34" charset="-120"/>
              </a:rPr>
              <a:t>yfinance</a:t>
            </a:r>
            <a:r>
              <a:rPr lang="en-US" sz="700" dirty="0">
                <a:solidFill>
                  <a:srgbClr val="E2E8F0"/>
                </a:solidFill>
                <a:latin typeface="Consolas" pitchFamily="34" charset="0"/>
                <a:ea typeface="Consolas" pitchFamily="34" charset="-122"/>
                <a:cs typeface="Consolas" pitchFamily="34" charset="-120"/>
              </a:rPr>
              <a:t>, matplotlib</a:t>
            </a:r>
          </a:p>
          <a:p>
            <a:r>
              <a:rPr lang="en-US" sz="700" dirty="0">
                <a:solidFill>
                  <a:srgbClr val="E2E8F0"/>
                </a:solidFill>
                <a:latin typeface="Consolas" pitchFamily="34" charset="0"/>
                <a:ea typeface="Consolas" pitchFamily="34" charset="-122"/>
                <a:cs typeface="Consolas" pitchFamily="34" charset="-120"/>
              </a:rPr>
              <a:t>- Anthropic Claude API (claude-sonnet-4-6) &amp; </a:t>
            </a:r>
            <a:r>
              <a:rPr lang="en-US" sz="700" dirty="0" err="1">
                <a:solidFill>
                  <a:srgbClr val="E2E8F0"/>
                </a:solidFill>
                <a:latin typeface="Consolas" pitchFamily="34" charset="0"/>
                <a:ea typeface="Consolas" pitchFamily="34" charset="-122"/>
                <a:cs typeface="Consolas" pitchFamily="34" charset="-120"/>
              </a:rPr>
              <a:t>Jupyter</a:t>
            </a:r>
            <a:r>
              <a:rPr lang="en-US" sz="700" dirty="0">
                <a:solidFill>
                  <a:srgbClr val="E2E8F0"/>
                </a:solidFill>
                <a:latin typeface="Consolas" pitchFamily="34" charset="0"/>
                <a:ea typeface="Consolas" pitchFamily="34" charset="-122"/>
                <a:cs typeface="Consolas" pitchFamily="34" charset="-120"/>
              </a:rPr>
              <a:t> Notebooks for prototyping</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Key Commands</a:t>
            </a:r>
          </a:p>
          <a:p>
            <a:r>
              <a:rPr lang="en-US" sz="700" dirty="0">
                <a:solidFill>
                  <a:srgbClr val="E2E8F0"/>
                </a:solidFill>
                <a:latin typeface="Consolas" pitchFamily="34" charset="0"/>
                <a:ea typeface="Consolas" pitchFamily="34" charset="-122"/>
                <a:cs typeface="Consolas" pitchFamily="34" charset="-120"/>
              </a:rPr>
              <a:t>```bash</a:t>
            </a:r>
          </a:p>
          <a:p>
            <a:r>
              <a:rPr lang="en-US" sz="700" dirty="0">
                <a:solidFill>
                  <a:srgbClr val="E2E8F0"/>
                </a:solidFill>
                <a:latin typeface="Consolas" pitchFamily="34" charset="0"/>
                <a:ea typeface="Consolas" pitchFamily="34" charset="-122"/>
                <a:cs typeface="Consolas" pitchFamily="34" charset="-120"/>
              </a:rPr>
              <a:t># Run the agent</a:t>
            </a:r>
          </a:p>
          <a:p>
            <a:r>
              <a:rPr lang="en-US" sz="700" dirty="0">
                <a:solidFill>
                  <a:srgbClr val="E2E8F0"/>
                </a:solidFill>
                <a:latin typeface="Consolas" pitchFamily="34" charset="0"/>
                <a:ea typeface="Consolas" pitchFamily="34" charset="-122"/>
                <a:cs typeface="Consolas" pitchFamily="34" charset="-120"/>
              </a:rPr>
              <a:t>python agent.py</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Run tests</a:t>
            </a:r>
          </a:p>
          <a:p>
            <a:r>
              <a:rPr lang="en-US" sz="700" dirty="0" err="1">
                <a:solidFill>
                  <a:srgbClr val="E2E8F0"/>
                </a:solidFill>
                <a:latin typeface="Consolas" pitchFamily="34" charset="0"/>
                <a:ea typeface="Consolas" pitchFamily="34" charset="-122"/>
                <a:cs typeface="Consolas" pitchFamily="34" charset="-120"/>
              </a:rPr>
              <a:t>pytest</a:t>
            </a:r>
            <a:r>
              <a:rPr lang="en-US" sz="700" dirty="0">
                <a:solidFill>
                  <a:srgbClr val="E2E8F0"/>
                </a:solidFill>
                <a:latin typeface="Consolas" pitchFamily="34" charset="0"/>
                <a:ea typeface="Consolas" pitchFamily="34" charset="-122"/>
                <a:cs typeface="Consolas" pitchFamily="34" charset="-120"/>
              </a:rPr>
              <a:t> tests/ -v</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Install dependencies</a:t>
            </a:r>
          </a:p>
          <a:p>
            <a:r>
              <a:rPr lang="en-US" sz="700" dirty="0">
                <a:solidFill>
                  <a:srgbClr val="E2E8F0"/>
                </a:solidFill>
                <a:latin typeface="Consolas" pitchFamily="34" charset="0"/>
                <a:ea typeface="Consolas" pitchFamily="34" charset="-122"/>
                <a:cs typeface="Consolas" pitchFamily="34" charset="-120"/>
              </a:rPr>
              <a:t>pip install -r requirements.txt --break-system-packages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Launch notebook</a:t>
            </a:r>
          </a:p>
          <a:p>
            <a:r>
              <a:rPr lang="en-US" sz="700" dirty="0" err="1">
                <a:solidFill>
                  <a:srgbClr val="E2E8F0"/>
                </a:solidFill>
                <a:latin typeface="Consolas" pitchFamily="34" charset="0"/>
                <a:ea typeface="Consolas" pitchFamily="34" charset="-122"/>
                <a:cs typeface="Consolas" pitchFamily="34" charset="-120"/>
              </a:rPr>
              <a:t>jupyter</a:t>
            </a:r>
            <a:r>
              <a:rPr lang="en-US" sz="700" dirty="0">
                <a:solidFill>
                  <a:srgbClr val="E2E8F0"/>
                </a:solidFill>
                <a:latin typeface="Consolas" pitchFamily="34" charset="0"/>
                <a:ea typeface="Consolas" pitchFamily="34" charset="-122"/>
                <a:cs typeface="Consolas" pitchFamily="34" charset="-120"/>
              </a:rPr>
              <a:t> notebook notebooks/</a:t>
            </a:r>
          </a:p>
          <a:p>
            <a:r>
              <a:rPr lang="en-US" sz="700" dirty="0">
                <a:solidFill>
                  <a:srgbClr val="E2E8F0"/>
                </a:solidFill>
                <a:latin typeface="Consolas" pitchFamily="34" charset="0"/>
                <a:ea typeface="Consolas" pitchFamily="34" charset="-122"/>
                <a:cs typeface="Consolas" pitchFamily="34" charset="-120"/>
              </a:rPr>
              <a:t>```</a:t>
            </a:r>
          </a:p>
          <a:p>
            <a:r>
              <a:rPr lang="en-US" sz="700" dirty="0">
                <a:solidFill>
                  <a:srgbClr val="E2E8F0"/>
                </a:solidFill>
                <a:latin typeface="Consolas" pitchFamily="34" charset="0"/>
                <a:ea typeface="Consolas" pitchFamily="34" charset="-122"/>
                <a:cs typeface="Consolas" pitchFamily="34" charset="-120"/>
              </a:rPr>
              <a:t>## Project Structure</a:t>
            </a:r>
          </a:p>
          <a:p>
            <a:r>
              <a:rPr lang="en-US" sz="700" dirty="0">
                <a:solidFill>
                  <a:srgbClr val="E2E8F0"/>
                </a:solidFill>
                <a:latin typeface="Consolas" pitchFamily="34" charset="0"/>
                <a:ea typeface="Consolas" pitchFamily="34" charset="-122"/>
                <a:cs typeface="Consolas" pitchFamily="34" charset="-120"/>
              </a:rPr>
              <a:t>- /agent.py         — Main agent entry point</a:t>
            </a:r>
          </a:p>
          <a:p>
            <a:r>
              <a:rPr lang="en-US" sz="700" dirty="0">
                <a:solidFill>
                  <a:srgbClr val="E2E8F0"/>
                </a:solidFill>
                <a:latin typeface="Consolas" pitchFamily="34" charset="0"/>
                <a:ea typeface="Consolas" pitchFamily="34" charset="-122"/>
                <a:cs typeface="Consolas" pitchFamily="34" charset="-120"/>
              </a:rPr>
              <a:t>- /tools/           — Financial analysis tools (ratio calc, etc.)</a:t>
            </a:r>
          </a:p>
          <a:p>
            <a:r>
              <a:rPr lang="en-US" sz="700" dirty="0">
                <a:solidFill>
                  <a:srgbClr val="E2E8F0"/>
                </a:solidFill>
                <a:latin typeface="Consolas" pitchFamily="34" charset="0"/>
                <a:ea typeface="Consolas" pitchFamily="34" charset="-122"/>
                <a:cs typeface="Consolas" pitchFamily="34" charset="-120"/>
              </a:rPr>
              <a:t>- /data/            — Sample 10-K filings (do not modify)</a:t>
            </a:r>
          </a:p>
          <a:p>
            <a:r>
              <a:rPr lang="en-US" sz="700" dirty="0">
                <a:solidFill>
                  <a:srgbClr val="E2E8F0"/>
                </a:solidFill>
                <a:latin typeface="Consolas" pitchFamily="34" charset="0"/>
                <a:ea typeface="Consolas" pitchFamily="34" charset="-122"/>
                <a:cs typeface="Consolas" pitchFamily="34" charset="-120"/>
              </a:rPr>
              <a:t>- /notebooks/       — Exploratory analysis (not production code)</a:t>
            </a:r>
          </a:p>
          <a:p>
            <a:r>
              <a:rPr lang="en-US" sz="700" dirty="0">
                <a:solidFill>
                  <a:srgbClr val="E2E8F0"/>
                </a:solidFill>
                <a:latin typeface="Consolas" pitchFamily="34" charset="0"/>
                <a:ea typeface="Consolas" pitchFamily="34" charset="-122"/>
                <a:cs typeface="Consolas" pitchFamily="34" charset="-120"/>
              </a:rPr>
              <a:t>- /tests/           — Unit tests</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Code Style</a:t>
            </a:r>
          </a:p>
          <a:p>
            <a:r>
              <a:rPr lang="en-US" sz="700" dirty="0">
                <a:solidFill>
                  <a:srgbClr val="E2E8F0"/>
                </a:solidFill>
                <a:latin typeface="Consolas" pitchFamily="34" charset="0"/>
                <a:ea typeface="Consolas" pitchFamily="34" charset="-122"/>
                <a:cs typeface="Consolas" pitchFamily="34" charset="-120"/>
              </a:rPr>
              <a:t>- Use type hints on all functions</a:t>
            </a:r>
          </a:p>
          <a:p>
            <a:r>
              <a:rPr lang="en-US" sz="700" dirty="0">
                <a:solidFill>
                  <a:srgbClr val="E2E8F0"/>
                </a:solidFill>
                <a:latin typeface="Consolas" pitchFamily="34" charset="0"/>
                <a:ea typeface="Consolas" pitchFamily="34" charset="-122"/>
                <a:cs typeface="Consolas" pitchFamily="34" charset="-120"/>
              </a:rPr>
              <a:t>- Docstrings required for every function</a:t>
            </a:r>
          </a:p>
          <a:p>
            <a:r>
              <a:rPr lang="en-US" sz="700" dirty="0">
                <a:solidFill>
                  <a:srgbClr val="E2E8F0"/>
                </a:solidFill>
                <a:latin typeface="Consolas" pitchFamily="34" charset="0"/>
                <a:ea typeface="Consolas" pitchFamily="34" charset="-122"/>
                <a:cs typeface="Consolas" pitchFamily="34" charset="-120"/>
              </a:rPr>
              <a:t>- Variable names should match finance terminology (e.g., `</a:t>
            </a:r>
            <a:r>
              <a:rPr lang="en-US" sz="700" dirty="0" err="1">
                <a:solidFill>
                  <a:srgbClr val="E2E8F0"/>
                </a:solidFill>
                <a:latin typeface="Consolas" pitchFamily="34" charset="0"/>
                <a:ea typeface="Consolas" pitchFamily="34" charset="-122"/>
                <a:cs typeface="Consolas" pitchFamily="34" charset="-120"/>
              </a:rPr>
              <a:t>current_ratio</a:t>
            </a:r>
            <a:r>
              <a:rPr lang="en-US" sz="700" dirty="0">
                <a:solidFill>
                  <a:srgbClr val="E2E8F0"/>
                </a:solidFill>
                <a:latin typeface="Consolas" pitchFamily="34" charset="0"/>
                <a:ea typeface="Consolas" pitchFamily="34" charset="-122"/>
                <a:cs typeface="Consolas" pitchFamily="34" charset="-120"/>
              </a:rPr>
              <a:t>`, not `</a:t>
            </a:r>
            <a:r>
              <a:rPr lang="en-US" sz="700" dirty="0" err="1">
                <a:solidFill>
                  <a:srgbClr val="E2E8F0"/>
                </a:solidFill>
                <a:latin typeface="Consolas" pitchFamily="34" charset="0"/>
                <a:ea typeface="Consolas" pitchFamily="34" charset="-122"/>
                <a:cs typeface="Consolas" pitchFamily="34" charset="-120"/>
              </a:rPr>
              <a:t>cr</a:t>
            </a:r>
            <a:r>
              <a:rPr lang="en-US" sz="700" dirty="0">
                <a:solidFill>
                  <a:srgbClr val="E2E8F0"/>
                </a:solidFill>
                <a:latin typeface="Consolas" pitchFamily="34" charset="0"/>
                <a:ea typeface="Consolas" pitchFamily="34" charset="-122"/>
                <a:cs typeface="Consolas" pitchFamily="34" charset="-120"/>
              </a:rPr>
              <a:t>`)</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Domain Terms</a:t>
            </a:r>
          </a:p>
          <a:p>
            <a:r>
              <a:rPr lang="en-US" sz="700" dirty="0">
                <a:solidFill>
                  <a:srgbClr val="E2E8F0"/>
                </a:solidFill>
                <a:latin typeface="Consolas" pitchFamily="34" charset="0"/>
                <a:ea typeface="Consolas" pitchFamily="34" charset="-122"/>
                <a:cs typeface="Consolas" pitchFamily="34" charset="-120"/>
              </a:rPr>
              <a:t>- **Liquidity Risk**: Risk that a firm can't meet short-term obligations</a:t>
            </a:r>
          </a:p>
          <a:p>
            <a:r>
              <a:rPr lang="en-US" sz="700" dirty="0">
                <a:solidFill>
                  <a:srgbClr val="E2E8F0"/>
                </a:solidFill>
                <a:latin typeface="Consolas" pitchFamily="34" charset="0"/>
                <a:ea typeface="Consolas" pitchFamily="34" charset="-122"/>
                <a:cs typeface="Consolas" pitchFamily="34" charset="-120"/>
              </a:rPr>
              <a:t>- **Current Ratio**: </a:t>
            </a:r>
            <a:r>
              <a:rPr lang="en-US" sz="700" dirty="0" err="1">
                <a:solidFill>
                  <a:srgbClr val="E2E8F0"/>
                </a:solidFill>
                <a:latin typeface="Consolas" pitchFamily="34" charset="0"/>
                <a:ea typeface="Consolas" pitchFamily="34" charset="-122"/>
                <a:cs typeface="Consolas" pitchFamily="34" charset="-120"/>
              </a:rPr>
              <a:t>current_assets</a:t>
            </a:r>
            <a:r>
              <a:rPr lang="en-US" sz="700" dirty="0">
                <a:solidFill>
                  <a:srgbClr val="E2E8F0"/>
                </a:solidFill>
                <a:latin typeface="Consolas" pitchFamily="34" charset="0"/>
                <a:ea typeface="Consolas" pitchFamily="34" charset="-122"/>
                <a:cs typeface="Consolas" pitchFamily="34" charset="-120"/>
              </a:rPr>
              <a:t> / </a:t>
            </a:r>
            <a:r>
              <a:rPr lang="en-US" sz="700" dirty="0" err="1">
                <a:solidFill>
                  <a:srgbClr val="E2E8F0"/>
                </a:solidFill>
                <a:latin typeface="Consolas" pitchFamily="34" charset="0"/>
                <a:ea typeface="Consolas" pitchFamily="34" charset="-122"/>
                <a:cs typeface="Consolas" pitchFamily="34" charset="-120"/>
              </a:rPr>
              <a:t>current_liabilities</a:t>
            </a:r>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**10-K**: Annual SEC filing — source of truth for financial data</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Workflow for New Features</a:t>
            </a:r>
          </a:p>
          <a:p>
            <a:r>
              <a:rPr lang="en-US" sz="700" dirty="0">
                <a:solidFill>
                  <a:srgbClr val="E2E8F0"/>
                </a:solidFill>
                <a:latin typeface="Consolas" pitchFamily="34" charset="0"/>
                <a:ea typeface="Consolas" pitchFamily="34" charset="-122"/>
                <a:cs typeface="Consolas" pitchFamily="34" charset="-120"/>
              </a:rPr>
              <a:t>1. Write a plan and confirm with user before coding</a:t>
            </a:r>
          </a:p>
          <a:p>
            <a:r>
              <a:rPr lang="en-US" sz="700" dirty="0">
                <a:solidFill>
                  <a:srgbClr val="E2E8F0"/>
                </a:solidFill>
                <a:latin typeface="Consolas" pitchFamily="34" charset="0"/>
                <a:ea typeface="Consolas" pitchFamily="34" charset="-122"/>
                <a:cs typeface="Consolas" pitchFamily="34" charset="-120"/>
              </a:rPr>
              <a:t>2. Write tests first (Test Driven Development (TDD))</a:t>
            </a:r>
          </a:p>
          <a:p>
            <a:r>
              <a:rPr lang="en-US" sz="700" dirty="0">
                <a:solidFill>
                  <a:srgbClr val="E2E8F0"/>
                </a:solidFill>
                <a:latin typeface="Consolas" pitchFamily="34" charset="0"/>
                <a:ea typeface="Consolas" pitchFamily="34" charset="-122"/>
                <a:cs typeface="Consolas" pitchFamily="34" charset="-120"/>
              </a:rPr>
              <a:t>3. Implement the feature</a:t>
            </a:r>
          </a:p>
          <a:p>
            <a:r>
              <a:rPr lang="en-US" sz="700" dirty="0">
                <a:solidFill>
                  <a:srgbClr val="E2E8F0"/>
                </a:solidFill>
                <a:latin typeface="Consolas" pitchFamily="34" charset="0"/>
                <a:ea typeface="Consolas" pitchFamily="34" charset="-122"/>
                <a:cs typeface="Consolas" pitchFamily="34" charset="-120"/>
              </a:rPr>
              <a:t>4. Run </a:t>
            </a:r>
            <a:r>
              <a:rPr lang="en-US" sz="700" dirty="0" err="1">
                <a:solidFill>
                  <a:srgbClr val="E2E8F0"/>
                </a:solidFill>
                <a:latin typeface="Consolas" pitchFamily="34" charset="0"/>
                <a:ea typeface="Consolas" pitchFamily="34" charset="-122"/>
                <a:cs typeface="Consolas" pitchFamily="34" charset="-120"/>
              </a:rPr>
              <a:t>pytest</a:t>
            </a:r>
            <a:r>
              <a:rPr lang="en-US" sz="700" dirty="0">
                <a:solidFill>
                  <a:srgbClr val="E2E8F0"/>
                </a:solidFill>
                <a:latin typeface="Consolas" pitchFamily="34" charset="0"/>
                <a:ea typeface="Consolas" pitchFamily="34" charset="-122"/>
                <a:cs typeface="Consolas" pitchFamily="34" charset="-120"/>
              </a:rPr>
              <a:t> and confirm passing</a:t>
            </a:r>
          </a:p>
          <a:p>
            <a:r>
              <a:rPr lang="en-US" sz="700" dirty="0">
                <a:solidFill>
                  <a:srgbClr val="E2E8F0"/>
                </a:solidFill>
                <a:latin typeface="Consolas" pitchFamily="34" charset="0"/>
                <a:ea typeface="Consolas" pitchFamily="34" charset="-122"/>
                <a:cs typeface="Consolas" pitchFamily="34" charset="-120"/>
              </a:rPr>
              <a:t>5. Update this CLAUDE.md if new patterns emerge</a:t>
            </a:r>
          </a:p>
          <a:p>
            <a:endParaRPr lang="en-US" sz="700" dirty="0">
              <a:solidFill>
                <a:srgbClr val="E2E8F0"/>
              </a:solidFill>
              <a:latin typeface="Consolas" pitchFamily="34" charset="0"/>
              <a:ea typeface="Consolas" pitchFamily="34" charset="-122"/>
              <a:cs typeface="Consolas" pitchFamily="34" charset="-120"/>
            </a:endParaRPr>
          </a:p>
          <a:p>
            <a:r>
              <a:rPr lang="en-US" sz="700" dirty="0">
                <a:solidFill>
                  <a:srgbClr val="E2E8F0"/>
                </a:solidFill>
                <a:latin typeface="Consolas" pitchFamily="34" charset="0"/>
                <a:ea typeface="Consolas" pitchFamily="34" charset="-122"/>
                <a:cs typeface="Consolas" pitchFamily="34" charset="-120"/>
              </a:rPr>
              <a:t>## Do Not Touch</a:t>
            </a:r>
          </a:p>
          <a:p>
            <a:r>
              <a:rPr lang="en-US" sz="700" dirty="0">
                <a:solidFill>
                  <a:srgbClr val="E2E8F0"/>
                </a:solidFill>
                <a:latin typeface="Consolas" pitchFamily="34" charset="0"/>
                <a:ea typeface="Consolas" pitchFamily="34" charset="-122"/>
                <a:cs typeface="Consolas" pitchFamily="34" charset="-120"/>
              </a:rPr>
              <a:t>- /data/raw/ — original source files, never modify</a:t>
            </a:r>
          </a:p>
          <a:p>
            <a:r>
              <a:rPr lang="en-US" sz="700" dirty="0">
                <a:solidFill>
                  <a:srgbClr val="E2E8F0"/>
                </a:solidFill>
                <a:latin typeface="Consolas" pitchFamily="34" charset="0"/>
                <a:ea typeface="Consolas" pitchFamily="34" charset="-122"/>
                <a:cs typeface="Consolas" pitchFamily="34" charset="-120"/>
              </a:rPr>
              <a:t>- .env — API keys, never log or print these</a:t>
            </a:r>
            <a:endParaRPr lang="en-US" sz="700" dirty="0"/>
          </a:p>
        </p:txBody>
      </p:sp>
    </p:spTree>
    <p:extLst>
      <p:ext uri="{BB962C8B-B14F-4D97-AF65-F5344CB8AC3E}">
        <p14:creationId xmlns:p14="http://schemas.microsoft.com/office/powerpoint/2010/main" val="408205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AB08-6E4C-3E80-1FA3-5BABD2A8B1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32D9D2-FD62-FB96-63B0-F9F8162317F1}"/>
              </a:ext>
            </a:extLst>
          </p:cNvPr>
          <p:cNvPicPr>
            <a:picLocks noChangeAspect="1"/>
          </p:cNvPicPr>
          <p:nvPr/>
        </p:nvPicPr>
        <p:blipFill>
          <a:blip r:embed="rId3"/>
          <a:stretch>
            <a:fillRect/>
          </a:stretch>
        </p:blipFill>
        <p:spPr>
          <a:xfrm>
            <a:off x="3202" y="0"/>
            <a:ext cx="12224773" cy="6858000"/>
          </a:xfrm>
          <a:prstGeom prst="rect">
            <a:avLst/>
          </a:prstGeom>
        </p:spPr>
      </p:pic>
      <p:pic>
        <p:nvPicPr>
          <p:cNvPr id="6" name="Picture 5">
            <a:extLst>
              <a:ext uri="{FF2B5EF4-FFF2-40B4-BE49-F238E27FC236}">
                <a16:creationId xmlns:a16="http://schemas.microsoft.com/office/drawing/2014/main" id="{D6C4F234-CA6C-9555-E5AA-019269B825B8}"/>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0B34EC5-0E7F-9FF1-9467-8968E87BB8EF}"/>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CLAUDE.md Best Practices </a:t>
            </a:r>
          </a:p>
        </p:txBody>
      </p:sp>
      <p:sp>
        <p:nvSpPr>
          <p:cNvPr id="9" name="TextBox 8">
            <a:extLst>
              <a:ext uri="{FF2B5EF4-FFF2-40B4-BE49-F238E27FC236}">
                <a16:creationId xmlns:a16="http://schemas.microsoft.com/office/drawing/2014/main" id="{C8396E95-9094-5A5D-A8BB-12A92DDB3D6D}"/>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ED93EBB4-AF61-AED2-A733-24998FD7522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Shape 2">
            <a:extLst>
              <a:ext uri="{FF2B5EF4-FFF2-40B4-BE49-F238E27FC236}">
                <a16:creationId xmlns:a16="http://schemas.microsoft.com/office/drawing/2014/main" id="{9B101175-B7F6-A996-F536-3405E4EAEC2A}"/>
              </a:ext>
            </a:extLst>
          </p:cNvPr>
          <p:cNvSpPr/>
          <p:nvPr/>
        </p:nvSpPr>
        <p:spPr>
          <a:xfrm>
            <a:off x="548640" y="1248389"/>
            <a:ext cx="5120640" cy="4876800"/>
          </a:xfrm>
          <a:prstGeom prst="rect">
            <a:avLst/>
          </a:prstGeom>
          <a:solidFill>
            <a:srgbClr val="0C1752"/>
          </a:solidFill>
          <a:ln w="19050">
            <a:noFill/>
            <a:prstDash val="solid"/>
          </a:ln>
        </p:spPr>
        <p:txBody>
          <a:bodyPr/>
          <a:lstStyle/>
          <a:p>
            <a:pPr defTabSz="1219170"/>
            <a:endParaRPr lang="en-CA" sz="2400">
              <a:solidFill>
                <a:prstClr val="black"/>
              </a:solidFill>
              <a:latin typeface="Montserrat" panose="00000500000000000000" pitchFamily="2" charset="0"/>
            </a:endParaRPr>
          </a:p>
        </p:txBody>
      </p:sp>
      <p:sp>
        <p:nvSpPr>
          <p:cNvPr id="10" name="Text 4">
            <a:extLst>
              <a:ext uri="{FF2B5EF4-FFF2-40B4-BE49-F238E27FC236}">
                <a16:creationId xmlns:a16="http://schemas.microsoft.com/office/drawing/2014/main" id="{7AA14CA2-CCA5-4A29-F807-FC1C07916B51}"/>
              </a:ext>
            </a:extLst>
          </p:cNvPr>
          <p:cNvSpPr/>
          <p:nvPr/>
        </p:nvSpPr>
        <p:spPr>
          <a:xfrm>
            <a:off x="731520" y="1406885"/>
            <a:ext cx="4754880" cy="487680"/>
          </a:xfrm>
          <a:prstGeom prst="rect">
            <a:avLst/>
          </a:prstGeom>
          <a:noFill/>
          <a:ln/>
        </p:spPr>
        <p:txBody>
          <a:bodyPr wrap="square" rtlCol="0" anchor="ctr"/>
          <a:lstStyle/>
          <a:p>
            <a:pPr defTabSz="1219170"/>
            <a:r>
              <a:rPr lang="en-US" sz="2133" b="1" dirty="0">
                <a:solidFill>
                  <a:schemeClr val="bg1"/>
                </a:solidFill>
                <a:latin typeface="Montserrat" panose="00000500000000000000" pitchFamily="2" charset="0"/>
                <a:ea typeface="Calibri" pitchFamily="34" charset="-122"/>
                <a:cs typeface="Calibri" pitchFamily="34" charset="-120"/>
              </a:rPr>
              <a:t>DO</a:t>
            </a:r>
            <a:endParaRPr lang="en-US" sz="2133" dirty="0">
              <a:solidFill>
                <a:schemeClr val="bg1"/>
              </a:solidFill>
              <a:latin typeface="Montserrat" panose="00000500000000000000" pitchFamily="2" charset="0"/>
            </a:endParaRPr>
          </a:p>
        </p:txBody>
      </p:sp>
      <p:sp>
        <p:nvSpPr>
          <p:cNvPr id="11" name="Text 5">
            <a:extLst>
              <a:ext uri="{FF2B5EF4-FFF2-40B4-BE49-F238E27FC236}">
                <a16:creationId xmlns:a16="http://schemas.microsoft.com/office/drawing/2014/main" id="{BFB6EE7A-DF19-D04B-B2C1-032D25399518}"/>
              </a:ext>
            </a:extLst>
          </p:cNvPr>
          <p:cNvSpPr/>
          <p:nvPr/>
        </p:nvSpPr>
        <p:spPr>
          <a:xfrm>
            <a:off x="640080" y="1894565"/>
            <a:ext cx="4937760" cy="3901440"/>
          </a:xfrm>
          <a:prstGeom prst="rect">
            <a:avLst/>
          </a:prstGeom>
          <a:noFill/>
          <a:ln/>
        </p:spPr>
        <p:txBody>
          <a:bodyPr wrap="square" rtlCol="0" anchor="ctr"/>
          <a:lstStyle/>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Keep it under 200 lines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Include your key commands (run, test)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Add domain-specific terms your project uses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Define your preferred workflow steps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Update CLAUDE.md when new patterns emerge </a:t>
            </a:r>
            <a:endParaRPr lang="en-US" sz="1733" dirty="0">
              <a:solidFill>
                <a:schemeClr val="bg1"/>
              </a:solidFill>
              <a:latin typeface="Montserrat" panose="00000500000000000000" pitchFamily="2" charset="0"/>
            </a:endParaRPr>
          </a:p>
        </p:txBody>
      </p:sp>
      <p:sp>
        <p:nvSpPr>
          <p:cNvPr id="12" name="Shape 6">
            <a:extLst>
              <a:ext uri="{FF2B5EF4-FFF2-40B4-BE49-F238E27FC236}">
                <a16:creationId xmlns:a16="http://schemas.microsoft.com/office/drawing/2014/main" id="{CD9F7553-5327-7BE9-C00A-56928D42728C}"/>
              </a:ext>
            </a:extLst>
          </p:cNvPr>
          <p:cNvSpPr/>
          <p:nvPr/>
        </p:nvSpPr>
        <p:spPr>
          <a:xfrm>
            <a:off x="6400800" y="1248389"/>
            <a:ext cx="5120640" cy="4876800"/>
          </a:xfrm>
          <a:prstGeom prst="rect">
            <a:avLst/>
          </a:prstGeom>
          <a:solidFill>
            <a:srgbClr val="D56E48"/>
          </a:solidFill>
          <a:ln w="19050">
            <a:noFill/>
            <a:prstDash val="solid"/>
          </a:ln>
        </p:spPr>
        <p:txBody>
          <a:bodyPr/>
          <a:lstStyle/>
          <a:p>
            <a:pPr defTabSz="1219170"/>
            <a:endParaRPr lang="en-CA" sz="2400" dirty="0">
              <a:solidFill>
                <a:prstClr val="black"/>
              </a:solidFill>
              <a:latin typeface="Montserrat" panose="00000500000000000000" pitchFamily="2" charset="0"/>
            </a:endParaRPr>
          </a:p>
        </p:txBody>
      </p:sp>
      <p:sp>
        <p:nvSpPr>
          <p:cNvPr id="14" name="Text 8">
            <a:extLst>
              <a:ext uri="{FF2B5EF4-FFF2-40B4-BE49-F238E27FC236}">
                <a16:creationId xmlns:a16="http://schemas.microsoft.com/office/drawing/2014/main" id="{F7F558B1-9A72-0FE8-8981-6EA5BC1C56A9}"/>
              </a:ext>
            </a:extLst>
          </p:cNvPr>
          <p:cNvSpPr/>
          <p:nvPr/>
        </p:nvSpPr>
        <p:spPr>
          <a:xfrm>
            <a:off x="6583680" y="1406885"/>
            <a:ext cx="4754880" cy="487680"/>
          </a:xfrm>
          <a:prstGeom prst="rect">
            <a:avLst/>
          </a:prstGeom>
          <a:noFill/>
          <a:ln/>
        </p:spPr>
        <p:txBody>
          <a:bodyPr wrap="square" rtlCol="0" anchor="ctr"/>
          <a:lstStyle/>
          <a:p>
            <a:pPr defTabSz="1219170"/>
            <a:r>
              <a:rPr lang="en-US" sz="2133" b="1" dirty="0">
                <a:solidFill>
                  <a:schemeClr val="bg1"/>
                </a:solidFill>
                <a:latin typeface="Montserrat" panose="00000500000000000000" pitchFamily="2" charset="0"/>
                <a:ea typeface="Calibri" pitchFamily="34" charset="-122"/>
                <a:cs typeface="Calibri" pitchFamily="34" charset="-120"/>
              </a:rPr>
              <a:t>DON'T</a:t>
            </a:r>
            <a:endParaRPr lang="en-US" sz="2133" dirty="0">
              <a:solidFill>
                <a:schemeClr val="bg1"/>
              </a:solidFill>
              <a:latin typeface="Montserrat" panose="00000500000000000000" pitchFamily="2" charset="0"/>
            </a:endParaRPr>
          </a:p>
        </p:txBody>
      </p:sp>
      <p:sp>
        <p:nvSpPr>
          <p:cNvPr id="18" name="Text 9">
            <a:extLst>
              <a:ext uri="{FF2B5EF4-FFF2-40B4-BE49-F238E27FC236}">
                <a16:creationId xmlns:a16="http://schemas.microsoft.com/office/drawing/2014/main" id="{8135A3F2-72E6-F6F3-ED01-A1EBB278DA3E}"/>
              </a:ext>
            </a:extLst>
          </p:cNvPr>
          <p:cNvSpPr/>
          <p:nvPr/>
        </p:nvSpPr>
        <p:spPr>
          <a:xfrm>
            <a:off x="6583680" y="1979909"/>
            <a:ext cx="4693920" cy="3901440"/>
          </a:xfrm>
          <a:prstGeom prst="rect">
            <a:avLst/>
          </a:prstGeom>
          <a:noFill/>
          <a:ln/>
        </p:spPr>
        <p:txBody>
          <a:bodyPr wrap="square" rtlCol="0" anchor="ctr"/>
          <a:lstStyle/>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Dump everything you know about the project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Write instructions that only apply sometimes</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Let it grow into a long document</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Repeat what Claude can already infer from the code</a:t>
            </a:r>
            <a:endParaRPr lang="en-US" sz="1733" dirty="0">
              <a:solidFill>
                <a:schemeClr val="bg1"/>
              </a:solidFill>
              <a:latin typeface="Montserrat" panose="00000500000000000000" pitchFamily="2" charset="0"/>
            </a:endParaRPr>
          </a:p>
          <a:p>
            <a:pPr marL="285750" indent="-285750" defTabSz="1219170">
              <a:spcAft>
                <a:spcPts val="1333"/>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Use it as a running checklist or task tracker</a:t>
            </a:r>
            <a:endParaRPr lang="en-US" sz="1733" dirty="0">
              <a:solidFill>
                <a:schemeClr val="bg1"/>
              </a:solidFill>
              <a:latin typeface="Montserrat" panose="00000500000000000000" pitchFamily="2" charset="0"/>
            </a:endParaRPr>
          </a:p>
        </p:txBody>
      </p:sp>
      <p:sp>
        <p:nvSpPr>
          <p:cNvPr id="20" name="Text 11">
            <a:extLst>
              <a:ext uri="{FF2B5EF4-FFF2-40B4-BE49-F238E27FC236}">
                <a16:creationId xmlns:a16="http://schemas.microsoft.com/office/drawing/2014/main" id="{7DAC61BA-A675-AD54-12D2-34BEF665D3DF}"/>
              </a:ext>
            </a:extLst>
          </p:cNvPr>
          <p:cNvSpPr/>
          <p:nvPr/>
        </p:nvSpPr>
        <p:spPr>
          <a:xfrm>
            <a:off x="-203200" y="805963"/>
            <a:ext cx="10850880" cy="341376"/>
          </a:xfrm>
          <a:prstGeom prst="rect">
            <a:avLst/>
          </a:prstGeom>
          <a:noFill/>
          <a:ln/>
        </p:spPr>
        <p:txBody>
          <a:bodyPr wrap="square" rtlCol="0" anchor="ctr"/>
          <a:lstStyle/>
          <a:p>
            <a:pPr marL="342900" indent="-342900" algn="ctr" defTabSz="121917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Think of CLAUDE.md as AI onboarding, not a wiki. High signal, short, and stable.</a:t>
            </a:r>
            <a:endParaRPr lang="en-US" dirty="0">
              <a:latin typeface="Montserrat" panose="00000500000000000000" pitchFamily="2" charset="0"/>
            </a:endParaRPr>
          </a:p>
        </p:txBody>
      </p:sp>
    </p:spTree>
    <p:extLst>
      <p:ext uri="{BB962C8B-B14F-4D97-AF65-F5344CB8AC3E}">
        <p14:creationId xmlns:p14="http://schemas.microsoft.com/office/powerpoint/2010/main" val="337050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14"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DD6C-F107-1AA6-A1E4-390CE796C7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D75EDE-37B5-DDFE-B713-7EB5450528AA}"/>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9359DFC4-6424-B4A2-E529-564EACC6EF18}"/>
              </a:ext>
            </a:extLst>
          </p:cNvPr>
          <p:cNvSpPr/>
          <p:nvPr/>
        </p:nvSpPr>
        <p:spPr>
          <a:xfrm>
            <a:off x="293915" y="489004"/>
            <a:ext cx="4743450"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CONTEXT MANAGEMENT</a:t>
            </a:r>
          </a:p>
        </p:txBody>
      </p:sp>
      <p:pic>
        <p:nvPicPr>
          <p:cNvPr id="6" name="Picture 5">
            <a:extLst>
              <a:ext uri="{FF2B5EF4-FFF2-40B4-BE49-F238E27FC236}">
                <a16:creationId xmlns:a16="http://schemas.microsoft.com/office/drawing/2014/main" id="{652059D1-C4F9-39F6-4C92-05BC3744D32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174237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57A15-3CB5-5BF2-F8A6-4E19A4A058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EFED6C-411A-B263-1E14-07561B1C46D4}"/>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C9AEB35-6022-8805-5364-DD18DEAD9E7B}"/>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3DA7631-3E99-B179-681D-1551145C7C8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a:t>
            </a:r>
          </a:p>
        </p:txBody>
      </p:sp>
      <p:sp>
        <p:nvSpPr>
          <p:cNvPr id="9" name="TextBox 8">
            <a:extLst>
              <a:ext uri="{FF2B5EF4-FFF2-40B4-BE49-F238E27FC236}">
                <a16:creationId xmlns:a16="http://schemas.microsoft.com/office/drawing/2014/main" id="{1385A200-CC0F-54C9-CCFE-331D4D6CC0B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9926858E-195C-9D03-0719-AC994E365B8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1" name="Shape 2">
            <a:extLst>
              <a:ext uri="{FF2B5EF4-FFF2-40B4-BE49-F238E27FC236}">
                <a16:creationId xmlns:a16="http://schemas.microsoft.com/office/drawing/2014/main" id="{BB74D8FD-19E8-05B4-5B34-B68F36D81B94}"/>
              </a:ext>
            </a:extLst>
          </p:cNvPr>
          <p:cNvSpPr/>
          <p:nvPr/>
        </p:nvSpPr>
        <p:spPr>
          <a:xfrm>
            <a:off x="650614" y="2351858"/>
            <a:ext cx="8778240" cy="670560"/>
          </a:xfrm>
          <a:prstGeom prst="rect">
            <a:avLst/>
          </a:prstGeom>
          <a:solidFill>
            <a:srgbClr val="0C1752"/>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42" name="Text 3">
            <a:extLst>
              <a:ext uri="{FF2B5EF4-FFF2-40B4-BE49-F238E27FC236}">
                <a16:creationId xmlns:a16="http://schemas.microsoft.com/office/drawing/2014/main" id="{5CAD0724-2BBE-1322-9F16-7E44E20D82CF}"/>
              </a:ext>
            </a:extLst>
          </p:cNvPr>
          <p:cNvSpPr/>
          <p:nvPr/>
        </p:nvSpPr>
        <p:spPr>
          <a:xfrm>
            <a:off x="894454" y="2300695"/>
            <a:ext cx="4267200" cy="426720"/>
          </a:xfrm>
          <a:prstGeom prst="rect">
            <a:avLst/>
          </a:prstGeom>
          <a:noFill/>
          <a:ln/>
        </p:spPr>
        <p:txBody>
          <a:bodyPr wrap="square" lIns="0" tIns="0" rIns="0" bIns="0" rtlCol="0" anchor="ctr"/>
          <a:lstStyle/>
          <a:p>
            <a:pPr defTabSz="1219170"/>
            <a:r>
              <a:rPr lang="en-US" sz="1867" dirty="0">
                <a:solidFill>
                  <a:srgbClr val="FFFFFF"/>
                </a:solidFill>
                <a:latin typeface="Calibri" pitchFamily="34" charset="0"/>
                <a:ea typeface="Calibri" pitchFamily="34" charset="-122"/>
                <a:cs typeface="Calibri" pitchFamily="34" charset="-120"/>
              </a:rPr>
              <a:t>System prompt</a:t>
            </a:r>
            <a:endParaRPr lang="en-US" sz="1867" dirty="0">
              <a:solidFill>
                <a:prstClr val="black"/>
              </a:solidFill>
              <a:latin typeface="Calibri" panose="020F0502020204030204"/>
            </a:endParaRPr>
          </a:p>
        </p:txBody>
      </p:sp>
      <p:sp>
        <p:nvSpPr>
          <p:cNvPr id="43" name="Text 4">
            <a:extLst>
              <a:ext uri="{FF2B5EF4-FFF2-40B4-BE49-F238E27FC236}">
                <a16:creationId xmlns:a16="http://schemas.microsoft.com/office/drawing/2014/main" id="{E46A2A80-A932-416B-1BBE-2B657876CDD5}"/>
              </a:ext>
            </a:extLst>
          </p:cNvPr>
          <p:cNvSpPr/>
          <p:nvPr/>
        </p:nvSpPr>
        <p:spPr>
          <a:xfrm>
            <a:off x="894454" y="2666455"/>
            <a:ext cx="6705600" cy="341376"/>
          </a:xfrm>
          <a:prstGeom prst="rect">
            <a:avLst/>
          </a:prstGeom>
          <a:noFill/>
          <a:ln/>
        </p:spPr>
        <p:txBody>
          <a:bodyPr wrap="square" lIns="0" tIns="0" rIns="0" bIns="0" rtlCol="0" anchor="ctr"/>
          <a:lstStyle/>
          <a:p>
            <a:pPr defTabSz="1219170"/>
            <a:r>
              <a:rPr lang="en-US" sz="1467" dirty="0">
                <a:solidFill>
                  <a:srgbClr val="9CA3AF"/>
                </a:solidFill>
                <a:latin typeface="Calibri" pitchFamily="34" charset="0"/>
                <a:ea typeface="Calibri" pitchFamily="34" charset="-122"/>
                <a:cs typeface="Calibri" pitchFamily="34" charset="-120"/>
              </a:rPr>
              <a:t>Anthropic's built-in rules</a:t>
            </a:r>
            <a:endParaRPr lang="en-US" sz="1467" dirty="0">
              <a:solidFill>
                <a:prstClr val="black"/>
              </a:solidFill>
              <a:latin typeface="Calibri" panose="020F0502020204030204"/>
            </a:endParaRPr>
          </a:p>
        </p:txBody>
      </p:sp>
      <p:sp>
        <p:nvSpPr>
          <p:cNvPr id="44" name="Shape 5">
            <a:extLst>
              <a:ext uri="{FF2B5EF4-FFF2-40B4-BE49-F238E27FC236}">
                <a16:creationId xmlns:a16="http://schemas.microsoft.com/office/drawing/2014/main" id="{92CDBC7C-414F-E0AB-D77D-D6706C289E8D}"/>
              </a:ext>
            </a:extLst>
          </p:cNvPr>
          <p:cNvSpPr/>
          <p:nvPr/>
        </p:nvSpPr>
        <p:spPr>
          <a:xfrm>
            <a:off x="9611734" y="2446999"/>
            <a:ext cx="1828800" cy="438912"/>
          </a:xfrm>
          <a:prstGeom prst="rect">
            <a:avLst/>
          </a:prstGeom>
          <a:solidFill>
            <a:srgbClr val="0C1752">
              <a:alpha val="20000"/>
            </a:srgbClr>
          </a:solidFill>
          <a:ln w="12700">
            <a:solidFill>
              <a:srgbClr val="7C5CBF"/>
            </a:solidFill>
            <a:prstDash val="solid"/>
          </a:ln>
        </p:spPr>
        <p:txBody>
          <a:bodyPr/>
          <a:lstStyle/>
          <a:p>
            <a:pPr defTabSz="1219170"/>
            <a:endParaRPr lang="en-CA" sz="2400">
              <a:latin typeface="Calibri" panose="020F0502020204030204"/>
            </a:endParaRPr>
          </a:p>
        </p:txBody>
      </p:sp>
      <p:sp>
        <p:nvSpPr>
          <p:cNvPr id="45" name="Text 6">
            <a:extLst>
              <a:ext uri="{FF2B5EF4-FFF2-40B4-BE49-F238E27FC236}">
                <a16:creationId xmlns:a16="http://schemas.microsoft.com/office/drawing/2014/main" id="{CD3DF321-3D2E-481F-37E8-0CCEDEDBA64D}"/>
              </a:ext>
            </a:extLst>
          </p:cNvPr>
          <p:cNvSpPr/>
          <p:nvPr/>
        </p:nvSpPr>
        <p:spPr>
          <a:xfrm>
            <a:off x="9611734" y="2446999"/>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Anthropic</a:t>
            </a:r>
            <a:endParaRPr lang="en-US" sz="1467" dirty="0">
              <a:latin typeface="Calibri" panose="020F0502020204030204"/>
            </a:endParaRPr>
          </a:p>
        </p:txBody>
      </p:sp>
      <p:sp>
        <p:nvSpPr>
          <p:cNvPr id="46" name="Shape 7">
            <a:extLst>
              <a:ext uri="{FF2B5EF4-FFF2-40B4-BE49-F238E27FC236}">
                <a16:creationId xmlns:a16="http://schemas.microsoft.com/office/drawing/2014/main" id="{F06EFFE6-324E-AB47-D825-1176A16CE732}"/>
              </a:ext>
            </a:extLst>
          </p:cNvPr>
          <p:cNvSpPr/>
          <p:nvPr/>
        </p:nvSpPr>
        <p:spPr>
          <a:xfrm>
            <a:off x="650614" y="3156530"/>
            <a:ext cx="8778240" cy="670560"/>
          </a:xfrm>
          <a:prstGeom prst="rect">
            <a:avLst/>
          </a:prstGeom>
          <a:solidFill>
            <a:srgbClr val="D56E48"/>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47" name="Text 8">
            <a:extLst>
              <a:ext uri="{FF2B5EF4-FFF2-40B4-BE49-F238E27FC236}">
                <a16:creationId xmlns:a16="http://schemas.microsoft.com/office/drawing/2014/main" id="{83B98BBD-993F-7ADE-889E-5D520FA479B4}"/>
              </a:ext>
            </a:extLst>
          </p:cNvPr>
          <p:cNvSpPr/>
          <p:nvPr/>
        </p:nvSpPr>
        <p:spPr>
          <a:xfrm>
            <a:off x="894454" y="3156530"/>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Tools</a:t>
            </a:r>
            <a:endParaRPr lang="en-US" sz="1867" dirty="0">
              <a:latin typeface="Calibri" panose="020F0502020204030204"/>
            </a:endParaRPr>
          </a:p>
        </p:txBody>
      </p:sp>
      <p:sp>
        <p:nvSpPr>
          <p:cNvPr id="48" name="Text 9">
            <a:extLst>
              <a:ext uri="{FF2B5EF4-FFF2-40B4-BE49-F238E27FC236}">
                <a16:creationId xmlns:a16="http://schemas.microsoft.com/office/drawing/2014/main" id="{9CC6830D-F5E1-6C01-B997-7E784BECA360}"/>
              </a:ext>
            </a:extLst>
          </p:cNvPr>
          <p:cNvSpPr/>
          <p:nvPr/>
        </p:nvSpPr>
        <p:spPr>
          <a:xfrm>
            <a:off x="894454" y="3522290"/>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Built-in + extendable with MCP</a:t>
            </a:r>
            <a:endParaRPr lang="en-US" sz="1467" dirty="0">
              <a:latin typeface="Calibri" panose="020F0502020204030204"/>
            </a:endParaRPr>
          </a:p>
        </p:txBody>
      </p:sp>
      <p:sp>
        <p:nvSpPr>
          <p:cNvPr id="49" name="Shape 10">
            <a:extLst>
              <a:ext uri="{FF2B5EF4-FFF2-40B4-BE49-F238E27FC236}">
                <a16:creationId xmlns:a16="http://schemas.microsoft.com/office/drawing/2014/main" id="{A2A8EE99-D337-C366-223F-DFE3B9A72733}"/>
              </a:ext>
            </a:extLst>
          </p:cNvPr>
          <p:cNvSpPr/>
          <p:nvPr/>
        </p:nvSpPr>
        <p:spPr>
          <a:xfrm>
            <a:off x="9611734" y="3302834"/>
            <a:ext cx="1828800" cy="438912"/>
          </a:xfrm>
          <a:prstGeom prst="rect">
            <a:avLst/>
          </a:prstGeom>
          <a:solidFill>
            <a:srgbClr val="6B82CC">
              <a:alpha val="20000"/>
            </a:srgbClr>
          </a:solidFill>
          <a:ln w="12700">
            <a:solidFill>
              <a:srgbClr val="6B82CC"/>
            </a:solidFill>
            <a:prstDash val="solid"/>
          </a:ln>
        </p:spPr>
        <p:txBody>
          <a:bodyPr/>
          <a:lstStyle/>
          <a:p>
            <a:pPr defTabSz="1219170"/>
            <a:endParaRPr lang="en-CA" sz="2400">
              <a:latin typeface="Calibri" panose="020F0502020204030204"/>
            </a:endParaRPr>
          </a:p>
        </p:txBody>
      </p:sp>
      <p:sp>
        <p:nvSpPr>
          <p:cNvPr id="50" name="Text 11">
            <a:extLst>
              <a:ext uri="{FF2B5EF4-FFF2-40B4-BE49-F238E27FC236}">
                <a16:creationId xmlns:a16="http://schemas.microsoft.com/office/drawing/2014/main" id="{D624C4EB-4CF2-EA36-78C0-D47333EE19F1}"/>
              </a:ext>
            </a:extLst>
          </p:cNvPr>
          <p:cNvSpPr/>
          <p:nvPr/>
        </p:nvSpPr>
        <p:spPr>
          <a:xfrm>
            <a:off x="9611734" y="3302834"/>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Pre-installed</a:t>
            </a:r>
            <a:endParaRPr lang="en-US" sz="1467" dirty="0">
              <a:latin typeface="Calibri" panose="020F0502020204030204"/>
            </a:endParaRPr>
          </a:p>
        </p:txBody>
      </p:sp>
      <p:sp>
        <p:nvSpPr>
          <p:cNvPr id="51" name="Shape 12">
            <a:extLst>
              <a:ext uri="{FF2B5EF4-FFF2-40B4-BE49-F238E27FC236}">
                <a16:creationId xmlns:a16="http://schemas.microsoft.com/office/drawing/2014/main" id="{0FD34DAE-D304-9081-6060-754EE1F4AF79}"/>
              </a:ext>
            </a:extLst>
          </p:cNvPr>
          <p:cNvSpPr/>
          <p:nvPr/>
        </p:nvSpPr>
        <p:spPr>
          <a:xfrm>
            <a:off x="650614" y="3967806"/>
            <a:ext cx="8778240" cy="707136"/>
          </a:xfrm>
          <a:prstGeom prst="rect">
            <a:avLst/>
          </a:prstGeom>
          <a:solidFill>
            <a:srgbClr val="1BBFD1"/>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52" name="Text 13">
            <a:extLst>
              <a:ext uri="{FF2B5EF4-FFF2-40B4-BE49-F238E27FC236}">
                <a16:creationId xmlns:a16="http://schemas.microsoft.com/office/drawing/2014/main" id="{1986E906-4F15-DCAA-4F12-C6C0FC63A415}"/>
              </a:ext>
            </a:extLst>
          </p:cNvPr>
          <p:cNvSpPr/>
          <p:nvPr/>
        </p:nvSpPr>
        <p:spPr>
          <a:xfrm>
            <a:off x="894454" y="3943422"/>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Memory</a:t>
            </a:r>
            <a:endParaRPr lang="en-US" sz="1867" dirty="0">
              <a:latin typeface="Calibri" panose="020F0502020204030204"/>
            </a:endParaRPr>
          </a:p>
        </p:txBody>
      </p:sp>
      <p:sp>
        <p:nvSpPr>
          <p:cNvPr id="53" name="Text 14">
            <a:extLst>
              <a:ext uri="{FF2B5EF4-FFF2-40B4-BE49-F238E27FC236}">
                <a16:creationId xmlns:a16="http://schemas.microsoft.com/office/drawing/2014/main" id="{CAD778E1-B6B3-6CC2-4869-2BF471B9886E}"/>
              </a:ext>
            </a:extLst>
          </p:cNvPr>
          <p:cNvSpPr/>
          <p:nvPr/>
        </p:nvSpPr>
        <p:spPr>
          <a:xfrm>
            <a:off x="894454" y="4309182"/>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Resources persisted across sessions, auto-grows as Claude learns your project</a:t>
            </a:r>
            <a:endParaRPr lang="en-US" sz="1467" dirty="0">
              <a:latin typeface="Calibri" panose="020F0502020204030204"/>
            </a:endParaRPr>
          </a:p>
        </p:txBody>
      </p:sp>
      <p:sp>
        <p:nvSpPr>
          <p:cNvPr id="54" name="Shape 15">
            <a:extLst>
              <a:ext uri="{FF2B5EF4-FFF2-40B4-BE49-F238E27FC236}">
                <a16:creationId xmlns:a16="http://schemas.microsoft.com/office/drawing/2014/main" id="{4C916512-83EE-ECBB-2189-FDA31C5D23BF}"/>
              </a:ext>
            </a:extLst>
          </p:cNvPr>
          <p:cNvSpPr/>
          <p:nvPr/>
        </p:nvSpPr>
        <p:spPr>
          <a:xfrm>
            <a:off x="9611734" y="4089726"/>
            <a:ext cx="1828800" cy="438912"/>
          </a:xfrm>
          <a:prstGeom prst="rect">
            <a:avLst/>
          </a:prstGeom>
          <a:solidFill>
            <a:srgbClr val="2CB89A">
              <a:alpha val="20000"/>
            </a:srgbClr>
          </a:solidFill>
          <a:ln w="12700">
            <a:solidFill>
              <a:srgbClr val="2CB89A"/>
            </a:solidFill>
            <a:prstDash val="solid"/>
          </a:ln>
        </p:spPr>
        <p:txBody>
          <a:bodyPr/>
          <a:lstStyle/>
          <a:p>
            <a:pPr defTabSz="1219170"/>
            <a:endParaRPr lang="en-CA" sz="2400">
              <a:latin typeface="Calibri" panose="020F0502020204030204"/>
            </a:endParaRPr>
          </a:p>
        </p:txBody>
      </p:sp>
      <p:sp>
        <p:nvSpPr>
          <p:cNvPr id="55" name="Text 16">
            <a:extLst>
              <a:ext uri="{FF2B5EF4-FFF2-40B4-BE49-F238E27FC236}">
                <a16:creationId xmlns:a16="http://schemas.microsoft.com/office/drawing/2014/main" id="{5F6A2E56-DF74-1EE7-5A08-8154B88C7336}"/>
              </a:ext>
            </a:extLst>
          </p:cNvPr>
          <p:cNvSpPr/>
          <p:nvPr/>
        </p:nvSpPr>
        <p:spPr>
          <a:xfrm>
            <a:off x="9611734" y="4089726"/>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Grows</a:t>
            </a:r>
            <a:endParaRPr lang="en-US" sz="1467" dirty="0">
              <a:latin typeface="Calibri" panose="020F0502020204030204"/>
            </a:endParaRPr>
          </a:p>
        </p:txBody>
      </p:sp>
      <p:sp>
        <p:nvSpPr>
          <p:cNvPr id="56" name="Shape 17">
            <a:extLst>
              <a:ext uri="{FF2B5EF4-FFF2-40B4-BE49-F238E27FC236}">
                <a16:creationId xmlns:a16="http://schemas.microsoft.com/office/drawing/2014/main" id="{68F9B85B-E0E8-ACC1-040F-A535317AEF36}"/>
              </a:ext>
            </a:extLst>
          </p:cNvPr>
          <p:cNvSpPr/>
          <p:nvPr/>
        </p:nvSpPr>
        <p:spPr>
          <a:xfrm>
            <a:off x="650614" y="4831733"/>
            <a:ext cx="8778240" cy="695960"/>
          </a:xfrm>
          <a:prstGeom prst="rect">
            <a:avLst/>
          </a:prstGeom>
          <a:solidFill>
            <a:schemeClr val="bg1">
              <a:lumMod val="65000"/>
            </a:schemeClr>
          </a:solidFill>
          <a:ln w="25400">
            <a:noFill/>
            <a:prstDash val="solid"/>
          </a:ln>
        </p:spPr>
        <p:txBody>
          <a:bodyPr/>
          <a:lstStyle/>
          <a:p>
            <a:pPr defTabSz="1219170"/>
            <a:endParaRPr lang="en-CA" sz="2400">
              <a:solidFill>
                <a:prstClr val="black"/>
              </a:solidFill>
              <a:latin typeface="Calibri" panose="020F0502020204030204"/>
            </a:endParaRPr>
          </a:p>
        </p:txBody>
      </p:sp>
      <p:sp>
        <p:nvSpPr>
          <p:cNvPr id="57" name="Text 18">
            <a:extLst>
              <a:ext uri="{FF2B5EF4-FFF2-40B4-BE49-F238E27FC236}">
                <a16:creationId xmlns:a16="http://schemas.microsoft.com/office/drawing/2014/main" id="{EA7EA039-4C5F-8351-D12B-4BD53421928B}"/>
              </a:ext>
            </a:extLst>
          </p:cNvPr>
          <p:cNvSpPr/>
          <p:nvPr/>
        </p:nvSpPr>
        <p:spPr>
          <a:xfrm>
            <a:off x="894454" y="4831733"/>
            <a:ext cx="4267200" cy="426720"/>
          </a:xfrm>
          <a:prstGeom prst="rect">
            <a:avLst/>
          </a:prstGeom>
          <a:noFill/>
          <a:ln/>
        </p:spPr>
        <p:txBody>
          <a:bodyPr wrap="square" lIns="0" tIns="0" rIns="0" bIns="0" rtlCol="0" anchor="ctr"/>
          <a:lstStyle/>
          <a:p>
            <a:pPr defTabSz="1219170"/>
            <a:r>
              <a:rPr lang="en-US" sz="2133" b="1" dirty="0">
                <a:latin typeface="Calibri" pitchFamily="34" charset="0"/>
                <a:ea typeface="Calibri" pitchFamily="34" charset="-122"/>
                <a:cs typeface="Calibri" pitchFamily="34" charset="-120"/>
              </a:rPr>
              <a:t>CLAUDE.md</a:t>
            </a:r>
            <a:endParaRPr lang="en-US" sz="2133" dirty="0">
              <a:latin typeface="Calibri" panose="020F0502020204030204"/>
            </a:endParaRPr>
          </a:p>
        </p:txBody>
      </p:sp>
      <p:sp>
        <p:nvSpPr>
          <p:cNvPr id="58" name="Text 19">
            <a:extLst>
              <a:ext uri="{FF2B5EF4-FFF2-40B4-BE49-F238E27FC236}">
                <a16:creationId xmlns:a16="http://schemas.microsoft.com/office/drawing/2014/main" id="{796DD80C-023B-E042-41AB-9F4225CA699C}"/>
              </a:ext>
            </a:extLst>
          </p:cNvPr>
          <p:cNvSpPr/>
          <p:nvPr/>
        </p:nvSpPr>
        <p:spPr>
          <a:xfrm>
            <a:off x="894454" y="5197493"/>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YOUR project instructions</a:t>
            </a:r>
            <a:endParaRPr lang="en-US" sz="1467" dirty="0">
              <a:latin typeface="Calibri" panose="020F0502020204030204"/>
            </a:endParaRPr>
          </a:p>
        </p:txBody>
      </p:sp>
      <p:sp>
        <p:nvSpPr>
          <p:cNvPr id="59" name="Shape 20">
            <a:extLst>
              <a:ext uri="{FF2B5EF4-FFF2-40B4-BE49-F238E27FC236}">
                <a16:creationId xmlns:a16="http://schemas.microsoft.com/office/drawing/2014/main" id="{08CD2927-BE91-4FDB-3761-57B6087CECA3}"/>
              </a:ext>
            </a:extLst>
          </p:cNvPr>
          <p:cNvSpPr/>
          <p:nvPr/>
        </p:nvSpPr>
        <p:spPr>
          <a:xfrm>
            <a:off x="9611734" y="4978037"/>
            <a:ext cx="1828800" cy="438912"/>
          </a:xfrm>
          <a:prstGeom prst="rect">
            <a:avLst/>
          </a:prstGeom>
          <a:solidFill>
            <a:srgbClr val="E8A030">
              <a:alpha val="20000"/>
            </a:srgbClr>
          </a:solidFill>
          <a:ln w="12700">
            <a:solidFill>
              <a:srgbClr val="E8A030"/>
            </a:solidFill>
            <a:prstDash val="solid"/>
          </a:ln>
        </p:spPr>
        <p:txBody>
          <a:bodyPr/>
          <a:lstStyle/>
          <a:p>
            <a:pPr defTabSz="1219170"/>
            <a:endParaRPr lang="en-CA" sz="2400">
              <a:latin typeface="Calibri" panose="020F0502020204030204"/>
            </a:endParaRPr>
          </a:p>
        </p:txBody>
      </p:sp>
      <p:sp>
        <p:nvSpPr>
          <p:cNvPr id="60" name="Text 21">
            <a:extLst>
              <a:ext uri="{FF2B5EF4-FFF2-40B4-BE49-F238E27FC236}">
                <a16:creationId xmlns:a16="http://schemas.microsoft.com/office/drawing/2014/main" id="{5F7E1A2D-3A2D-0E84-7309-59D5A69573EB}"/>
              </a:ext>
            </a:extLst>
          </p:cNvPr>
          <p:cNvSpPr/>
          <p:nvPr/>
        </p:nvSpPr>
        <p:spPr>
          <a:xfrm>
            <a:off x="9611734" y="4978037"/>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You write</a:t>
            </a:r>
            <a:endParaRPr lang="en-US" sz="1467" dirty="0">
              <a:latin typeface="Calibri" panose="020F0502020204030204"/>
            </a:endParaRPr>
          </a:p>
        </p:txBody>
      </p:sp>
      <p:sp>
        <p:nvSpPr>
          <p:cNvPr id="61" name="Shape 22">
            <a:extLst>
              <a:ext uri="{FF2B5EF4-FFF2-40B4-BE49-F238E27FC236}">
                <a16:creationId xmlns:a16="http://schemas.microsoft.com/office/drawing/2014/main" id="{4396158B-E77C-8712-0DC8-9136DB81A833}"/>
              </a:ext>
            </a:extLst>
          </p:cNvPr>
          <p:cNvSpPr/>
          <p:nvPr/>
        </p:nvSpPr>
        <p:spPr>
          <a:xfrm>
            <a:off x="650614" y="5624213"/>
            <a:ext cx="8778240" cy="598424"/>
          </a:xfrm>
          <a:prstGeom prst="rect">
            <a:avLst/>
          </a:prstGeom>
          <a:solidFill>
            <a:schemeClr val="accent1">
              <a:lumMod val="40000"/>
              <a:lumOff val="60000"/>
            </a:schemeClr>
          </a:solidFill>
          <a:ln w="6350">
            <a:solidFill>
              <a:srgbClr val="3A3F52"/>
            </a:solidFill>
            <a:prstDash val="solid"/>
          </a:ln>
        </p:spPr>
        <p:txBody>
          <a:bodyPr/>
          <a:lstStyle/>
          <a:p>
            <a:pPr defTabSz="1219170"/>
            <a:endParaRPr lang="en-CA" sz="2400">
              <a:solidFill>
                <a:prstClr val="black"/>
              </a:solidFill>
              <a:latin typeface="Calibri" panose="020F0502020204030204"/>
            </a:endParaRPr>
          </a:p>
        </p:txBody>
      </p:sp>
      <p:sp>
        <p:nvSpPr>
          <p:cNvPr id="62" name="Text 23">
            <a:extLst>
              <a:ext uri="{FF2B5EF4-FFF2-40B4-BE49-F238E27FC236}">
                <a16:creationId xmlns:a16="http://schemas.microsoft.com/office/drawing/2014/main" id="{6B432427-D860-0A76-0056-1E82D531CCFF}"/>
              </a:ext>
            </a:extLst>
          </p:cNvPr>
          <p:cNvSpPr/>
          <p:nvPr/>
        </p:nvSpPr>
        <p:spPr>
          <a:xfrm>
            <a:off x="894454" y="5571381"/>
            <a:ext cx="4267200" cy="426720"/>
          </a:xfrm>
          <a:prstGeom prst="rect">
            <a:avLst/>
          </a:prstGeom>
          <a:noFill/>
          <a:ln/>
        </p:spPr>
        <p:txBody>
          <a:bodyPr wrap="square" lIns="0" tIns="0" rIns="0" bIns="0" rtlCol="0" anchor="ctr"/>
          <a:lstStyle/>
          <a:p>
            <a:pPr defTabSz="1219170"/>
            <a:r>
              <a:rPr lang="en-US" sz="1867" dirty="0">
                <a:latin typeface="Calibri" pitchFamily="34" charset="0"/>
                <a:ea typeface="Calibri" pitchFamily="34" charset="-122"/>
                <a:cs typeface="Calibri" pitchFamily="34" charset="-120"/>
              </a:rPr>
              <a:t>Conversation history</a:t>
            </a:r>
            <a:endParaRPr lang="en-US" sz="1867" dirty="0">
              <a:latin typeface="Calibri" panose="020F0502020204030204"/>
            </a:endParaRPr>
          </a:p>
        </p:txBody>
      </p:sp>
      <p:sp>
        <p:nvSpPr>
          <p:cNvPr id="63" name="Text 24">
            <a:extLst>
              <a:ext uri="{FF2B5EF4-FFF2-40B4-BE49-F238E27FC236}">
                <a16:creationId xmlns:a16="http://schemas.microsoft.com/office/drawing/2014/main" id="{E733DAE6-40F6-0AB0-FD82-0A565C2D817B}"/>
              </a:ext>
            </a:extLst>
          </p:cNvPr>
          <p:cNvSpPr/>
          <p:nvPr/>
        </p:nvSpPr>
        <p:spPr>
          <a:xfrm>
            <a:off x="894454" y="5881261"/>
            <a:ext cx="6705600" cy="341376"/>
          </a:xfrm>
          <a:prstGeom prst="rect">
            <a:avLst/>
          </a:prstGeom>
          <a:noFill/>
          <a:ln/>
        </p:spPr>
        <p:txBody>
          <a:bodyPr wrap="square" lIns="0" tIns="0" rIns="0" bIns="0" rtlCol="0" anchor="ctr"/>
          <a:lstStyle/>
          <a:p>
            <a:pPr defTabSz="1219170"/>
            <a:r>
              <a:rPr lang="en-US" sz="1467" dirty="0">
                <a:latin typeface="Calibri" pitchFamily="34" charset="0"/>
                <a:ea typeface="Calibri" pitchFamily="34" charset="-122"/>
                <a:cs typeface="Calibri" pitchFamily="34" charset="-120"/>
              </a:rPr>
              <a:t>Messages, code, tool output</a:t>
            </a:r>
            <a:endParaRPr lang="en-US" sz="1467" dirty="0">
              <a:latin typeface="Calibri" panose="020F0502020204030204"/>
            </a:endParaRPr>
          </a:p>
        </p:txBody>
      </p:sp>
      <p:sp>
        <p:nvSpPr>
          <p:cNvPr id="64" name="Shape 25">
            <a:extLst>
              <a:ext uri="{FF2B5EF4-FFF2-40B4-BE49-F238E27FC236}">
                <a16:creationId xmlns:a16="http://schemas.microsoft.com/office/drawing/2014/main" id="{07BBCEF2-ABCC-0AA9-F382-F69B7099E261}"/>
              </a:ext>
            </a:extLst>
          </p:cNvPr>
          <p:cNvSpPr/>
          <p:nvPr/>
        </p:nvSpPr>
        <p:spPr>
          <a:xfrm>
            <a:off x="9611734" y="5661805"/>
            <a:ext cx="1828800" cy="438912"/>
          </a:xfrm>
          <a:prstGeom prst="rect">
            <a:avLst/>
          </a:prstGeom>
          <a:solidFill>
            <a:srgbClr val="6B7280">
              <a:alpha val="20000"/>
            </a:srgbClr>
          </a:solidFill>
          <a:ln w="12700">
            <a:solidFill>
              <a:srgbClr val="6B7280"/>
            </a:solidFill>
            <a:prstDash val="solid"/>
          </a:ln>
        </p:spPr>
        <p:txBody>
          <a:bodyPr/>
          <a:lstStyle/>
          <a:p>
            <a:pPr defTabSz="1219170"/>
            <a:endParaRPr lang="en-CA" sz="2400">
              <a:latin typeface="Calibri" panose="020F0502020204030204"/>
            </a:endParaRPr>
          </a:p>
        </p:txBody>
      </p:sp>
      <p:sp>
        <p:nvSpPr>
          <p:cNvPr id="65" name="Text 26">
            <a:extLst>
              <a:ext uri="{FF2B5EF4-FFF2-40B4-BE49-F238E27FC236}">
                <a16:creationId xmlns:a16="http://schemas.microsoft.com/office/drawing/2014/main" id="{6C7EA435-A0DC-76A3-EB58-2C059DAFBB1C}"/>
              </a:ext>
            </a:extLst>
          </p:cNvPr>
          <p:cNvSpPr/>
          <p:nvPr/>
        </p:nvSpPr>
        <p:spPr>
          <a:xfrm>
            <a:off x="9611734" y="5661805"/>
            <a:ext cx="1828800" cy="438912"/>
          </a:xfrm>
          <a:prstGeom prst="rect">
            <a:avLst/>
          </a:prstGeom>
          <a:noFill/>
          <a:ln/>
        </p:spPr>
        <p:txBody>
          <a:bodyPr wrap="square" rtlCol="0" anchor="ctr"/>
          <a:lstStyle/>
          <a:p>
            <a:pPr algn="ctr" defTabSz="1219170"/>
            <a:r>
              <a:rPr lang="en-US" sz="1467" b="1" dirty="0">
                <a:latin typeface="Calibri" pitchFamily="34" charset="0"/>
                <a:ea typeface="Calibri" pitchFamily="34" charset="-122"/>
                <a:cs typeface="Calibri" pitchFamily="34" charset="-120"/>
              </a:rPr>
              <a:t>Grows</a:t>
            </a:r>
            <a:endParaRPr lang="en-US" sz="1467" dirty="0">
              <a:latin typeface="Calibri" panose="020F0502020204030204"/>
            </a:endParaRPr>
          </a:p>
        </p:txBody>
      </p:sp>
      <p:sp>
        <p:nvSpPr>
          <p:cNvPr id="66" name="Text 27">
            <a:extLst>
              <a:ext uri="{FF2B5EF4-FFF2-40B4-BE49-F238E27FC236}">
                <a16:creationId xmlns:a16="http://schemas.microsoft.com/office/drawing/2014/main" id="{C49FC5FB-28F1-6B2A-14F9-5B301CA48DC3}"/>
              </a:ext>
            </a:extLst>
          </p:cNvPr>
          <p:cNvSpPr/>
          <p:nvPr/>
        </p:nvSpPr>
        <p:spPr>
          <a:xfrm>
            <a:off x="5405494" y="4978037"/>
            <a:ext cx="3901440" cy="438912"/>
          </a:xfrm>
          <a:prstGeom prst="rect">
            <a:avLst/>
          </a:prstGeom>
          <a:noFill/>
          <a:ln/>
        </p:spPr>
        <p:txBody>
          <a:bodyPr wrap="square" lIns="0" tIns="0" rIns="0" bIns="0" rtlCol="0" anchor="ctr"/>
          <a:lstStyle/>
          <a:p>
            <a:pPr defTabSz="1219170"/>
            <a:r>
              <a:rPr lang="en-US" sz="1467" i="1" dirty="0">
                <a:latin typeface="Calibri" pitchFamily="34" charset="0"/>
                <a:ea typeface="Calibri" pitchFamily="34" charset="-122"/>
                <a:cs typeface="Calibri" pitchFamily="34" charset="-120"/>
              </a:rPr>
              <a:t>← The one layer you control</a:t>
            </a:r>
            <a:endParaRPr lang="en-US" sz="1467" dirty="0">
              <a:latin typeface="Calibri" panose="020F0502020204030204"/>
            </a:endParaRPr>
          </a:p>
        </p:txBody>
      </p:sp>
      <p:sp>
        <p:nvSpPr>
          <p:cNvPr id="68" name="TextBox 67">
            <a:extLst>
              <a:ext uri="{FF2B5EF4-FFF2-40B4-BE49-F238E27FC236}">
                <a16:creationId xmlns:a16="http://schemas.microsoft.com/office/drawing/2014/main" id="{E7F85CA9-A056-AF1E-3469-F42CE5F887F2}"/>
              </a:ext>
            </a:extLst>
          </p:cNvPr>
          <p:cNvSpPr txBox="1"/>
          <p:nvPr/>
        </p:nvSpPr>
        <p:spPr>
          <a:xfrm>
            <a:off x="202465" y="508785"/>
            <a:ext cx="11834813" cy="1754326"/>
          </a:xfrm>
          <a:prstGeom prst="rect">
            <a:avLst/>
          </a:prstGeom>
          <a:noFill/>
        </p:spPr>
        <p:txBody>
          <a:bodyPr wrap="square">
            <a:spAutoFit/>
          </a:bodyPr>
          <a:lstStyle/>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A context window is the total amount of text Claude can process in a single session, measured in tokens. Everything counts: your messages, Claude's replies, files it opened, and tool results. </a:t>
            </a:r>
          </a:p>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r>
              <a:rPr lang="en-US" dirty="0">
                <a:latin typeface="Montserrat" panose="00000500000000000000" pitchFamily="2" charset="0"/>
              </a:rPr>
              <a:t>When the session exceeds that limit, older content gets dropped, and Claude can no longer reference it. </a:t>
            </a:r>
          </a:p>
        </p:txBody>
      </p:sp>
    </p:spTree>
    <p:extLst>
      <p:ext uri="{BB962C8B-B14F-4D97-AF65-F5344CB8AC3E}">
        <p14:creationId xmlns:p14="http://schemas.microsoft.com/office/powerpoint/2010/main" val="2527727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5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fade">
                                      <p:cBhvr>
                                        <p:cTn id="36" dur="500"/>
                                        <p:tgtEl>
                                          <p:spTgt spid="5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4"/>
                                        </p:tgtEl>
                                        <p:attrNameLst>
                                          <p:attrName>style.visibility</p:attrName>
                                        </p:attrNameLst>
                                      </p:cBhvr>
                                      <p:to>
                                        <p:strVal val="visible"/>
                                      </p:to>
                                    </p:set>
                                    <p:animEffect transition="in" filter="fade">
                                      <p:cBhvr>
                                        <p:cTn id="50" dur="500"/>
                                        <p:tgtEl>
                                          <p:spTgt spid="5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animEffect transition="in" filter="fade">
                                      <p:cBhvr>
                                        <p:cTn id="53" dur="500"/>
                                        <p:tgtEl>
                                          <p:spTgt spid="5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8"/>
                                        </p:tgtEl>
                                        <p:attrNameLst>
                                          <p:attrName>style.visibility</p:attrName>
                                        </p:attrNameLst>
                                      </p:cBhvr>
                                      <p:to>
                                        <p:strVal val="visible"/>
                                      </p:to>
                                    </p:set>
                                    <p:animEffect transition="in" filter="fade">
                                      <p:cBhvr>
                                        <p:cTn id="64" dur="500"/>
                                        <p:tgtEl>
                                          <p:spTgt spid="5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fade">
                                      <p:cBhvr>
                                        <p:cTn id="67" dur="500"/>
                                        <p:tgtEl>
                                          <p:spTgt spid="5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60"/>
                                        </p:tgtEl>
                                        <p:attrNameLst>
                                          <p:attrName>style.visibility</p:attrName>
                                        </p:attrNameLst>
                                      </p:cBhvr>
                                      <p:to>
                                        <p:strVal val="visible"/>
                                      </p:to>
                                    </p:set>
                                    <p:animEffect transition="in" filter="fade">
                                      <p:cBhvr>
                                        <p:cTn id="70" dur="500"/>
                                        <p:tgtEl>
                                          <p:spTgt spid="6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animEffect transition="in" filter="fade">
                                      <p:cBhvr>
                                        <p:cTn id="73" dur="500"/>
                                        <p:tgtEl>
                                          <p:spTgt spid="6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1"/>
                                        </p:tgtEl>
                                        <p:attrNameLst>
                                          <p:attrName>style.visibility</p:attrName>
                                        </p:attrNameLst>
                                      </p:cBhvr>
                                      <p:to>
                                        <p:strVal val="visible"/>
                                      </p:to>
                                    </p:set>
                                    <p:animEffect transition="in" filter="fade">
                                      <p:cBhvr>
                                        <p:cTn id="78" dur="500"/>
                                        <p:tgtEl>
                                          <p:spTgt spid="6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fade">
                                      <p:cBhvr>
                                        <p:cTn id="84" dur="500"/>
                                        <p:tgtEl>
                                          <p:spTgt spid="6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4"/>
                                        </p:tgtEl>
                                        <p:attrNameLst>
                                          <p:attrName>style.visibility</p:attrName>
                                        </p:attrNameLst>
                                      </p:cBhvr>
                                      <p:to>
                                        <p:strVal val="visible"/>
                                      </p:to>
                                    </p:set>
                                    <p:animEffect transition="in" filter="fade">
                                      <p:cBhvr>
                                        <p:cTn id="87" dur="500"/>
                                        <p:tgtEl>
                                          <p:spTgt spid="6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65"/>
                                        </p:tgtEl>
                                        <p:attrNameLst>
                                          <p:attrName>style.visibility</p:attrName>
                                        </p:attrNameLst>
                                      </p:cBhvr>
                                      <p:to>
                                        <p:strVal val="visible"/>
                                      </p:to>
                                    </p:set>
                                    <p:animEffect transition="in" filter="fade">
                                      <p:cBhvr>
                                        <p:cTn id="9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F376-16E2-A894-FBC4-BE05AB64CA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7D1C2E0-743C-3F48-2E25-7AA0E4E58DCF}"/>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6A32E7AD-4225-3441-39EB-F3F63BE85E1C}"/>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22B9C78-376D-6CB4-4EE7-AA3A31025D2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 Analogy </a:t>
            </a:r>
          </a:p>
        </p:txBody>
      </p:sp>
      <p:sp>
        <p:nvSpPr>
          <p:cNvPr id="9" name="TextBox 8">
            <a:extLst>
              <a:ext uri="{FF2B5EF4-FFF2-40B4-BE49-F238E27FC236}">
                <a16:creationId xmlns:a16="http://schemas.microsoft.com/office/drawing/2014/main" id="{607ACA6C-F069-0D1C-DA76-F15FFBF41F0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2879A62D-04A5-650B-D250-5B9293F9E24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68" name="TextBox 67">
            <a:extLst>
              <a:ext uri="{FF2B5EF4-FFF2-40B4-BE49-F238E27FC236}">
                <a16:creationId xmlns:a16="http://schemas.microsoft.com/office/drawing/2014/main" id="{ABA56345-7DC4-075D-3CFC-241B8390A68A}"/>
              </a:ext>
            </a:extLst>
          </p:cNvPr>
          <p:cNvSpPr txBox="1"/>
          <p:nvPr/>
        </p:nvSpPr>
        <p:spPr>
          <a:xfrm>
            <a:off x="0" y="818443"/>
            <a:ext cx="12025509" cy="2585323"/>
          </a:xfrm>
          <a:prstGeom prst="rect">
            <a:avLst/>
          </a:prstGeom>
          <a:noFill/>
        </p:spPr>
        <p:txBody>
          <a:bodyPr wrap="square">
            <a:spAutoFit/>
          </a:bodyPr>
          <a:lstStyle/>
          <a:p>
            <a:pPr marL="285750" indent="-285750">
              <a:buFont typeface="Arial" panose="020B0604020202020204" pitchFamily="34" charset="0"/>
              <a:buChar char="•"/>
            </a:pPr>
            <a:r>
              <a:rPr lang="en-US" dirty="0">
                <a:latin typeface="Montserrat" panose="00000500000000000000" pitchFamily="2" charset="0"/>
              </a:rPr>
              <a:t>The context window is like a whiteboard; Claude can only see what’s in it and nothing more. Every session, that whiteboard gets filled in layers. At the top are things Anthropic already wrote; Claude's built-in instructions &amp; tools.</a:t>
            </a:r>
          </a:p>
          <a:p>
            <a:pPr marL="285750" indent="-285750">
              <a:buFont typeface="Arial" panose="020B0604020202020204" pitchFamily="34" charset="0"/>
              <a:buChar char="•"/>
            </a:pPr>
            <a:r>
              <a:rPr lang="en-US" dirty="0">
                <a:latin typeface="Montserrat" panose="00000500000000000000" pitchFamily="2" charset="0"/>
              </a:rPr>
              <a:t>CLAUDE.md is the layer in your control. Every time Claude starts, it reads your file and knows your project. Below that is the conversation itself such as your messages, Claude's replies, any code it wrote, any files it opened. That part keeps growing the longer you work.</a:t>
            </a:r>
          </a:p>
          <a:p>
            <a:pPr marL="285750" indent="-285750">
              <a:buFont typeface="Arial" panose="020B0604020202020204" pitchFamily="34" charset="0"/>
              <a:buChar char="•"/>
            </a:pPr>
            <a:r>
              <a:rPr lang="en-US" dirty="0">
                <a:latin typeface="Montserrat" panose="00000500000000000000" pitchFamily="2" charset="0"/>
              </a:rPr>
              <a:t>The context has a size limit. When it's full, Claude starts forgetting the top of the conversation. That's when you use /compact; it summarizes the history and frees up space, like erasing the old content while saving a summary.</a:t>
            </a:r>
          </a:p>
        </p:txBody>
      </p:sp>
      <p:pic>
        <p:nvPicPr>
          <p:cNvPr id="8" name="Picture 7">
            <a:extLst>
              <a:ext uri="{FF2B5EF4-FFF2-40B4-BE49-F238E27FC236}">
                <a16:creationId xmlns:a16="http://schemas.microsoft.com/office/drawing/2014/main" id="{DC7D3C18-124F-AC03-EBA0-E975454849C2}"/>
              </a:ext>
            </a:extLst>
          </p:cNvPr>
          <p:cNvPicPr>
            <a:picLocks noChangeAspect="1"/>
          </p:cNvPicPr>
          <p:nvPr/>
        </p:nvPicPr>
        <p:blipFill>
          <a:blip r:embed="rId5"/>
          <a:stretch>
            <a:fillRect/>
          </a:stretch>
        </p:blipFill>
        <p:spPr>
          <a:xfrm>
            <a:off x="3605797" y="3316300"/>
            <a:ext cx="4980406" cy="3320270"/>
          </a:xfrm>
          <a:prstGeom prst="rect">
            <a:avLst/>
          </a:prstGeom>
        </p:spPr>
      </p:pic>
    </p:spTree>
    <p:extLst>
      <p:ext uri="{BB962C8B-B14F-4D97-AF65-F5344CB8AC3E}">
        <p14:creationId xmlns:p14="http://schemas.microsoft.com/office/powerpoint/2010/main" val="935023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1AA63-A527-A06B-EEC2-1BA55AD13C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037249-47B3-1394-4229-D958D02D9E0D}"/>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07230453-C7F4-4E09-B89C-67679CEF5C12}"/>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3F8CDE-2E40-444D-D420-11C7C7D66A8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When the context Window fills up</a:t>
            </a:r>
          </a:p>
        </p:txBody>
      </p:sp>
      <p:sp>
        <p:nvSpPr>
          <p:cNvPr id="9" name="TextBox 8">
            <a:extLst>
              <a:ext uri="{FF2B5EF4-FFF2-40B4-BE49-F238E27FC236}">
                <a16:creationId xmlns:a16="http://schemas.microsoft.com/office/drawing/2014/main" id="{F3B86B0C-5435-773B-FE2D-3917D440E45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69C8C7C6-B2A3-0F02-F6BE-B1923B7ED0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2" name="Shape 2">
            <a:extLst>
              <a:ext uri="{FF2B5EF4-FFF2-40B4-BE49-F238E27FC236}">
                <a16:creationId xmlns:a16="http://schemas.microsoft.com/office/drawing/2014/main" id="{49515F98-3C5F-6FA6-7BF6-37D44E81A14E}"/>
              </a:ext>
            </a:extLst>
          </p:cNvPr>
          <p:cNvSpPr/>
          <p:nvPr/>
        </p:nvSpPr>
        <p:spPr>
          <a:xfrm>
            <a:off x="365760" y="1144757"/>
            <a:ext cx="5120640" cy="4267200"/>
          </a:xfrm>
          <a:prstGeom prst="rect">
            <a:avLst/>
          </a:prstGeom>
          <a:solidFill>
            <a:srgbClr val="0C1752"/>
          </a:solidFill>
          <a:ln w="19050">
            <a:noFill/>
            <a:prstDash val="solid"/>
          </a:ln>
        </p:spPr>
        <p:txBody>
          <a:bodyPr/>
          <a:lstStyle/>
          <a:p>
            <a:endParaRPr lang="en-CA" sz="2400">
              <a:latin typeface="Montserrat" panose="00000500000000000000" pitchFamily="2" charset="0"/>
            </a:endParaRPr>
          </a:p>
        </p:txBody>
      </p:sp>
      <p:sp>
        <p:nvSpPr>
          <p:cNvPr id="8" name="Text 4">
            <a:extLst>
              <a:ext uri="{FF2B5EF4-FFF2-40B4-BE49-F238E27FC236}">
                <a16:creationId xmlns:a16="http://schemas.microsoft.com/office/drawing/2014/main" id="{34B76D53-928E-9F03-CD02-FCCA54ADDCA3}"/>
              </a:ext>
            </a:extLst>
          </p:cNvPr>
          <p:cNvSpPr/>
          <p:nvPr/>
        </p:nvSpPr>
        <p:spPr>
          <a:xfrm>
            <a:off x="548640" y="1327637"/>
            <a:ext cx="4754880" cy="487680"/>
          </a:xfrm>
          <a:prstGeom prst="rect">
            <a:avLst/>
          </a:prstGeom>
          <a:noFill/>
          <a:ln/>
        </p:spPr>
        <p:txBody>
          <a:bodyPr wrap="square" rtlCol="0" anchor="ctr"/>
          <a:lstStyle/>
          <a:p>
            <a:r>
              <a:rPr lang="en-US" sz="2133" b="1" dirty="0">
                <a:solidFill>
                  <a:schemeClr val="bg1"/>
                </a:solidFill>
                <a:latin typeface="Montserrat" panose="00000500000000000000" pitchFamily="2" charset="0"/>
                <a:ea typeface="Calibri" pitchFamily="34" charset="-122"/>
                <a:cs typeface="Calibri" pitchFamily="34" charset="-120"/>
              </a:rPr>
              <a:t>The problem</a:t>
            </a:r>
            <a:endParaRPr lang="en-US" sz="2133" dirty="0">
              <a:solidFill>
                <a:schemeClr val="bg1"/>
              </a:solidFill>
              <a:latin typeface="Montserrat" panose="00000500000000000000" pitchFamily="2" charset="0"/>
            </a:endParaRPr>
          </a:p>
        </p:txBody>
      </p:sp>
      <p:sp>
        <p:nvSpPr>
          <p:cNvPr id="10" name="Text 5">
            <a:extLst>
              <a:ext uri="{FF2B5EF4-FFF2-40B4-BE49-F238E27FC236}">
                <a16:creationId xmlns:a16="http://schemas.microsoft.com/office/drawing/2014/main" id="{F575D617-22FA-F218-5866-F854E99E5DA2}"/>
              </a:ext>
            </a:extLst>
          </p:cNvPr>
          <p:cNvSpPr/>
          <p:nvPr/>
        </p:nvSpPr>
        <p:spPr>
          <a:xfrm>
            <a:off x="539115" y="1693397"/>
            <a:ext cx="4693920" cy="3169920"/>
          </a:xfrm>
          <a:prstGeom prst="rect">
            <a:avLst/>
          </a:prstGeom>
          <a:noFill/>
          <a:ln/>
        </p:spPr>
        <p:txBody>
          <a:bodyPr wrap="square" rtlCol="0" anchor="ctr"/>
          <a:lstStyle/>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Claude has a token limit</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The longer you work, the more history fills up</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When full, older messages get dropped</a:t>
            </a:r>
            <a:endParaRPr lang="en-US" sz="1733" dirty="0">
              <a:solidFill>
                <a:schemeClr val="bg1"/>
              </a:solidFill>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solidFill>
                  <a:schemeClr val="bg1"/>
                </a:solidFill>
                <a:latin typeface="Montserrat" panose="00000500000000000000" pitchFamily="2" charset="0"/>
                <a:ea typeface="Calibri" pitchFamily="34" charset="-122"/>
                <a:cs typeface="Calibri" pitchFamily="34" charset="-120"/>
              </a:rPr>
              <a:t>Claude loses early context; it may forget things you said</a:t>
            </a:r>
            <a:endParaRPr lang="en-US" sz="1733" dirty="0">
              <a:solidFill>
                <a:schemeClr val="bg1"/>
              </a:solidFill>
              <a:latin typeface="Montserrat" panose="00000500000000000000" pitchFamily="2" charset="0"/>
            </a:endParaRPr>
          </a:p>
        </p:txBody>
      </p:sp>
      <p:sp>
        <p:nvSpPr>
          <p:cNvPr id="11" name="Shape 6">
            <a:extLst>
              <a:ext uri="{FF2B5EF4-FFF2-40B4-BE49-F238E27FC236}">
                <a16:creationId xmlns:a16="http://schemas.microsoft.com/office/drawing/2014/main" id="{1C74A6B7-C973-ABC6-4511-E293DB7CC879}"/>
              </a:ext>
            </a:extLst>
          </p:cNvPr>
          <p:cNvSpPr/>
          <p:nvPr/>
        </p:nvSpPr>
        <p:spPr>
          <a:xfrm>
            <a:off x="6217920" y="1144757"/>
            <a:ext cx="5120640" cy="4267200"/>
          </a:xfrm>
          <a:prstGeom prst="rect">
            <a:avLst/>
          </a:prstGeom>
          <a:solidFill>
            <a:srgbClr val="D56E48"/>
          </a:solidFill>
          <a:ln w="19050">
            <a:noFill/>
            <a:prstDash val="solid"/>
          </a:ln>
        </p:spPr>
        <p:txBody>
          <a:bodyPr/>
          <a:lstStyle/>
          <a:p>
            <a:endParaRPr lang="en-CA" sz="2400">
              <a:latin typeface="Montserrat" panose="00000500000000000000" pitchFamily="2" charset="0"/>
            </a:endParaRPr>
          </a:p>
        </p:txBody>
      </p:sp>
      <p:sp>
        <p:nvSpPr>
          <p:cNvPr id="13" name="Text 8">
            <a:extLst>
              <a:ext uri="{FF2B5EF4-FFF2-40B4-BE49-F238E27FC236}">
                <a16:creationId xmlns:a16="http://schemas.microsoft.com/office/drawing/2014/main" id="{7DB95920-352C-0A4E-052B-FFF72719E4CB}"/>
              </a:ext>
            </a:extLst>
          </p:cNvPr>
          <p:cNvSpPr/>
          <p:nvPr/>
        </p:nvSpPr>
        <p:spPr>
          <a:xfrm>
            <a:off x="6400800" y="1327637"/>
            <a:ext cx="4754880" cy="487680"/>
          </a:xfrm>
          <a:prstGeom prst="rect">
            <a:avLst/>
          </a:prstGeom>
          <a:noFill/>
          <a:ln/>
        </p:spPr>
        <p:txBody>
          <a:bodyPr wrap="square" rtlCol="0" anchor="ctr"/>
          <a:lstStyle/>
          <a:p>
            <a:r>
              <a:rPr lang="en-US" sz="2133" b="1" dirty="0">
                <a:latin typeface="Montserrat" panose="00000500000000000000" pitchFamily="2" charset="0"/>
                <a:ea typeface="Calibri" pitchFamily="34" charset="-122"/>
                <a:cs typeface="Calibri" pitchFamily="34" charset="-120"/>
              </a:rPr>
              <a:t>The fix: /compact</a:t>
            </a:r>
            <a:endParaRPr lang="en-US" sz="2133" dirty="0">
              <a:latin typeface="Montserrat" panose="00000500000000000000" pitchFamily="2" charset="0"/>
            </a:endParaRPr>
          </a:p>
        </p:txBody>
      </p:sp>
      <p:sp>
        <p:nvSpPr>
          <p:cNvPr id="14" name="Text 9">
            <a:extLst>
              <a:ext uri="{FF2B5EF4-FFF2-40B4-BE49-F238E27FC236}">
                <a16:creationId xmlns:a16="http://schemas.microsoft.com/office/drawing/2014/main" id="{54025834-5C26-F0A5-8EDA-D63897AC368D}"/>
              </a:ext>
            </a:extLst>
          </p:cNvPr>
          <p:cNvSpPr/>
          <p:nvPr/>
        </p:nvSpPr>
        <p:spPr>
          <a:xfrm>
            <a:off x="6391275" y="1806819"/>
            <a:ext cx="4693920" cy="3169920"/>
          </a:xfrm>
          <a:prstGeom prst="rect">
            <a:avLst/>
          </a:prstGeom>
          <a:noFill/>
          <a:ln/>
        </p:spPr>
        <p:txBody>
          <a:bodyPr wrap="square" rtlCol="0" anchor="ctr"/>
          <a:lstStyle/>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Run /compact in your session</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Claude summarizes the conversation history</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Summary replaces the full history which frees up space</a:t>
            </a:r>
            <a:endParaRPr lang="en-US" sz="1733" dirty="0">
              <a:latin typeface="Montserrat" panose="00000500000000000000" pitchFamily="2" charset="0"/>
            </a:endParaRPr>
          </a:p>
          <a:p>
            <a:pPr marL="285750" indent="-285750">
              <a:spcAft>
                <a:spcPts val="1067"/>
              </a:spcAft>
              <a:buSzPct val="100000"/>
              <a:buFont typeface="Arial" panose="020B0604020202020204" pitchFamily="34" charset="0"/>
              <a:buChar char="•"/>
            </a:pPr>
            <a:r>
              <a:rPr lang="en-US" sz="1733" dirty="0">
                <a:latin typeface="Montserrat" panose="00000500000000000000" pitchFamily="2" charset="0"/>
                <a:ea typeface="Calibri" pitchFamily="34" charset="-122"/>
                <a:cs typeface="Calibri" pitchFamily="34" charset="-120"/>
              </a:rPr>
              <a:t>CLAUDE.md always survives; it reloads fresh every time</a:t>
            </a:r>
            <a:endParaRPr lang="en-US" sz="1733" dirty="0">
              <a:latin typeface="Montserrat" panose="00000500000000000000" pitchFamily="2" charset="0"/>
            </a:endParaRPr>
          </a:p>
        </p:txBody>
      </p:sp>
      <p:sp>
        <p:nvSpPr>
          <p:cNvPr id="16" name="Text 11">
            <a:extLst>
              <a:ext uri="{FF2B5EF4-FFF2-40B4-BE49-F238E27FC236}">
                <a16:creationId xmlns:a16="http://schemas.microsoft.com/office/drawing/2014/main" id="{920F568E-9BE4-732C-AD5F-59E4E6A06E70}"/>
              </a:ext>
            </a:extLst>
          </p:cNvPr>
          <p:cNvSpPr/>
          <p:nvPr/>
        </p:nvSpPr>
        <p:spPr>
          <a:xfrm>
            <a:off x="426720" y="5655797"/>
            <a:ext cx="10850880" cy="609600"/>
          </a:xfrm>
          <a:prstGeom prst="rect">
            <a:avLst/>
          </a:prstGeom>
          <a:noFill/>
          <a:ln/>
        </p:spPr>
        <p:txBody>
          <a:bodyPr wrap="square" rtlCol="0" anchor="ctr"/>
          <a:lstStyle/>
          <a:p>
            <a:pPr algn="ctr"/>
            <a:r>
              <a:rPr lang="en-US" sz="1867" i="1" dirty="0">
                <a:latin typeface="Montserrat" panose="00000500000000000000" pitchFamily="2" charset="0"/>
                <a:ea typeface="Calibri" pitchFamily="34" charset="-122"/>
                <a:cs typeface="Calibri" pitchFamily="34" charset="-120"/>
              </a:rPr>
              <a:t>Key takeaway: CLAUDE.md is permanent. Conversation history is not.</a:t>
            </a:r>
            <a:endParaRPr lang="en-US" sz="1867" dirty="0">
              <a:latin typeface="Montserrat" panose="00000500000000000000" pitchFamily="2" charset="0"/>
            </a:endParaRPr>
          </a:p>
        </p:txBody>
      </p:sp>
    </p:spTree>
    <p:extLst>
      <p:ext uri="{BB962C8B-B14F-4D97-AF65-F5344CB8AC3E}">
        <p14:creationId xmlns:p14="http://schemas.microsoft.com/office/powerpoint/2010/main" val="290459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10" grpId="0" animBg="1"/>
      <p:bldP spid="11" grpId="0" animBg="1"/>
      <p:bldP spid="13" grpId="0" animBg="1"/>
      <p:bldP spid="14"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FE1D-1167-EFE7-BD8A-10A3C43FC4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9ABAF3-244A-A616-295D-7EFF66F650B1}"/>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C537D20-724E-A5A7-FCA0-4433C532C02A}"/>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52884D2-FEE1-5C53-D7B4-81C3538E070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a:t>
            </a:r>
          </a:p>
        </p:txBody>
      </p:sp>
      <p:sp>
        <p:nvSpPr>
          <p:cNvPr id="9" name="TextBox 8">
            <a:extLst>
              <a:ext uri="{FF2B5EF4-FFF2-40B4-BE49-F238E27FC236}">
                <a16:creationId xmlns:a16="http://schemas.microsoft.com/office/drawing/2014/main" id="{4C5405F6-6215-4A82-9C55-5CB5B132AFA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DED017CF-CCD1-EF71-7ECD-3E686F092E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5FB61CB1-EAE5-EBDE-B93C-CB7C493101FD}"/>
              </a:ext>
            </a:extLst>
          </p:cNvPr>
          <p:cNvSpPr txBox="1"/>
          <p:nvPr/>
        </p:nvSpPr>
        <p:spPr>
          <a:xfrm>
            <a:off x="154722" y="605711"/>
            <a:ext cx="11734698" cy="1754326"/>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atin typeface="Montserrat" panose="00000500000000000000" pitchFamily="2" charset="0"/>
              </a:defRPr>
            </a:lvl1pPr>
          </a:lstStyle>
          <a:p>
            <a:endParaRPr lang="en-US" altLang="en-US" sz="1800" dirty="0"/>
          </a:p>
          <a:p>
            <a:r>
              <a:rPr lang="en-US" altLang="en-US" sz="1800" dirty="0"/>
              <a:t>Running </a:t>
            </a:r>
            <a:r>
              <a:rPr lang="en-US" altLang="en-US" sz="1800" b="1" dirty="0"/>
              <a:t>/context </a:t>
            </a:r>
            <a:r>
              <a:rPr lang="en-US" altLang="en-US" sz="1800" dirty="0"/>
              <a:t>in Claude Code shows a live breakdown of how your 1M token limit is being used, including the system prompt, tools, memory, and your conversation messages. At the start of a session, most of the window is still free (99% here). </a:t>
            </a:r>
          </a:p>
          <a:p>
            <a:r>
              <a:rPr lang="en-US" altLang="en-US" sz="1800" dirty="0"/>
              <a:t>The </a:t>
            </a:r>
            <a:r>
              <a:rPr lang="en-US" altLang="en-US" sz="1800" dirty="0" err="1"/>
              <a:t>autocompact</a:t>
            </a:r>
            <a:r>
              <a:rPr lang="en-US" altLang="en-US" sz="1800" dirty="0"/>
              <a:t> buffer (33k tokens, 3%) is space Claude reserves to summarize the conversation before the window fills up completely, so it can compact automatically without losing your work. </a:t>
            </a:r>
          </a:p>
        </p:txBody>
      </p:sp>
      <p:pic>
        <p:nvPicPr>
          <p:cNvPr id="8" name="Picture 7">
            <a:extLst>
              <a:ext uri="{FF2B5EF4-FFF2-40B4-BE49-F238E27FC236}">
                <a16:creationId xmlns:a16="http://schemas.microsoft.com/office/drawing/2014/main" id="{8AAB6AED-21FD-5D35-F3AF-CE8C810B7DB5}"/>
              </a:ext>
            </a:extLst>
          </p:cNvPr>
          <p:cNvPicPr>
            <a:picLocks noChangeAspect="1"/>
          </p:cNvPicPr>
          <p:nvPr/>
        </p:nvPicPr>
        <p:blipFill>
          <a:blip r:embed="rId5"/>
          <a:srcRect t="1295"/>
          <a:stretch>
            <a:fillRect/>
          </a:stretch>
        </p:blipFill>
        <p:spPr>
          <a:xfrm>
            <a:off x="1647125" y="2738438"/>
            <a:ext cx="7433376" cy="3647686"/>
          </a:xfrm>
          <a:prstGeom prst="rect">
            <a:avLst/>
          </a:prstGeom>
        </p:spPr>
      </p:pic>
    </p:spTree>
    <p:extLst>
      <p:ext uri="{BB962C8B-B14F-4D97-AF65-F5344CB8AC3E}">
        <p14:creationId xmlns:p14="http://schemas.microsoft.com/office/powerpoint/2010/main" val="4018038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A4D0F-B221-D98C-94C8-F0A5E4DCFA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B57CA3-DBD4-256F-83CC-138B5A2DAEE4}"/>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FAA7DC53-F10D-0764-91F5-B4A9C267E865}"/>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8BA0C6D-2E6D-1F94-47FC-8C5EF7AAFD7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Context Window in Claude</a:t>
            </a:r>
          </a:p>
        </p:txBody>
      </p:sp>
      <p:sp>
        <p:nvSpPr>
          <p:cNvPr id="9" name="TextBox 8">
            <a:extLst>
              <a:ext uri="{FF2B5EF4-FFF2-40B4-BE49-F238E27FC236}">
                <a16:creationId xmlns:a16="http://schemas.microsoft.com/office/drawing/2014/main" id="{06D3CB08-F2E8-5F0D-B552-0F6181AC565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6CB32F88-5FDB-BA16-2A0E-743E37B2133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4" name="Picture 2" descr="AI Tools 101: Claude Code Guide to Build Real Apps Faster">
            <a:extLst>
              <a:ext uri="{FF2B5EF4-FFF2-40B4-BE49-F238E27FC236}">
                <a16:creationId xmlns:a16="http://schemas.microsoft.com/office/drawing/2014/main" id="{ADB57E04-4014-BE0C-0CCD-63BAC556D2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5477" y="1620628"/>
            <a:ext cx="5720348" cy="368022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116;p5">
            <a:extLst>
              <a:ext uri="{FF2B5EF4-FFF2-40B4-BE49-F238E27FC236}">
                <a16:creationId xmlns:a16="http://schemas.microsoft.com/office/drawing/2014/main" id="{60697029-87F8-80BA-C1EA-80414B324613}"/>
              </a:ext>
            </a:extLst>
          </p:cNvPr>
          <p:cNvSpPr txBox="1"/>
          <p:nvPr/>
        </p:nvSpPr>
        <p:spPr>
          <a:xfrm>
            <a:off x="166990" y="915981"/>
            <a:ext cx="11899671" cy="921900"/>
          </a:xfrm>
          <a:prstGeom prst="rect">
            <a:avLst/>
          </a:prstGeom>
          <a:noFill/>
          <a:ln>
            <a:noFill/>
          </a:ln>
        </p:spPr>
        <p:txBody>
          <a:bodyPr spcFirstLastPara="1" wrap="square" lIns="91425" tIns="45700" rIns="91425" bIns="45700" anchor="t" anchorCtr="0">
            <a:normAutofit/>
          </a:bodyPr>
          <a:lstStyle/>
          <a:p>
            <a:pPr marL="228600" lvl="0" indent="-228600" defTabSz="457200">
              <a:lnSpc>
                <a:spcPct val="90000"/>
              </a:lnSpc>
              <a:buClr>
                <a:srgbClr val="1BBFD1"/>
              </a:buClr>
              <a:buSzPts val="1800"/>
              <a:buFont typeface="Arial"/>
              <a:buChar char="•"/>
            </a:pPr>
            <a:r>
              <a:rPr lang="en-US" dirty="0">
                <a:solidFill>
                  <a:prstClr val="black"/>
                </a:solidFill>
                <a:latin typeface="Montserrat"/>
                <a:ea typeface="Montserrat"/>
                <a:cs typeface="Montserrat"/>
                <a:sym typeface="Montserrat"/>
              </a:rPr>
              <a:t>Show /context command</a:t>
            </a:r>
          </a:p>
        </p:txBody>
      </p:sp>
    </p:spTree>
    <p:extLst>
      <p:ext uri="{BB962C8B-B14F-4D97-AF65-F5344CB8AC3E}">
        <p14:creationId xmlns:p14="http://schemas.microsoft.com/office/powerpoint/2010/main" val="2710880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13CEC-F7AB-428E-2291-5F29EDBC6C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9FC675-0DC5-61A2-0787-5CB24809A621}"/>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F3EFD766-FD6E-B1A2-9BC5-42452CB30B20}"/>
              </a:ext>
            </a:extLst>
          </p:cNvPr>
          <p:cNvSpPr/>
          <p:nvPr/>
        </p:nvSpPr>
        <p:spPr>
          <a:xfrm>
            <a:off x="134842" y="120240"/>
            <a:ext cx="5336864" cy="2308324"/>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PROJECT: BUILD A CALORIE TRACKER WITH CLAUDE CODE (PHASE 1)</a:t>
            </a:r>
          </a:p>
        </p:txBody>
      </p:sp>
      <p:pic>
        <p:nvPicPr>
          <p:cNvPr id="6" name="Picture 5">
            <a:extLst>
              <a:ext uri="{FF2B5EF4-FFF2-40B4-BE49-F238E27FC236}">
                <a16:creationId xmlns:a16="http://schemas.microsoft.com/office/drawing/2014/main" id="{3600EFD4-11F8-355F-647B-4CAD9F22F7C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302624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rPr>
              <a:t>Project</a:t>
            </a:r>
            <a:r>
              <a:rPr sz="2400" dirty="0">
                <a:solidFill>
                  <a:schemeClr val="bg1"/>
                </a:solidFill>
                <a:latin typeface="Montserrat" charset="0"/>
              </a:rPr>
              <a:t> Overview</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Rounded Rectangle 5"/>
          <p:cNvSpPr/>
          <p:nvPr/>
        </p:nvSpPr>
        <p:spPr>
          <a:xfrm>
            <a:off x="525780" y="1828800"/>
            <a:ext cx="2926080" cy="2194560"/>
          </a:xfrm>
          <a:prstGeom prst="roundRect">
            <a:avLst>
              <a:gd name="adj" fmla="val 5000"/>
            </a:avLst>
          </a:prstGeom>
          <a:solidFill>
            <a:srgbClr val="1BBFD1"/>
          </a:solidFill>
          <a:ln w="3810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tIns="502920" rIns="137160" rtlCol="0" anchor="t"/>
          <a:lstStyle/>
          <a:p>
            <a:pPr algn="ctr">
              <a:defRPr sz="2000" b="1">
                <a:solidFill>
                  <a:srgbClr val="0C1752"/>
                </a:solidFill>
                <a:latin typeface="Montserrat"/>
              </a:defRPr>
            </a:pPr>
            <a:r>
              <a:rPr dirty="0"/>
              <a:t>Build App</a:t>
            </a:r>
          </a:p>
          <a:p>
            <a:pPr algn="ctr">
              <a:spcBef>
                <a:spcPts val="1000"/>
              </a:spcBef>
              <a:defRPr sz="1400">
                <a:solidFill>
                  <a:srgbClr val="333333"/>
                </a:solidFill>
                <a:latin typeface="Montserrat"/>
              </a:defRPr>
            </a:pPr>
            <a:r>
              <a:rPr dirty="0"/>
              <a:t>Scaffold the full</a:t>
            </a:r>
            <a:br>
              <a:rPr dirty="0"/>
            </a:br>
            <a:r>
              <a:rPr dirty="0"/>
              <a:t>calorie tracker</a:t>
            </a:r>
          </a:p>
        </p:txBody>
      </p:sp>
      <p:sp>
        <p:nvSpPr>
          <p:cNvPr id="7" name="Rounded Rectangle 6"/>
          <p:cNvSpPr/>
          <p:nvPr/>
        </p:nvSpPr>
        <p:spPr>
          <a:xfrm>
            <a:off x="1303020" y="1627632"/>
            <a:ext cx="1371600" cy="402336"/>
          </a:xfrm>
          <a:prstGeom prst="roundRect">
            <a:avLst>
              <a:gd name="adj" fmla="val 30000"/>
            </a:avLst>
          </a:prstGeom>
          <a:solidFill>
            <a:srgbClr val="B0B0B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CA" sz="1300" b="1" dirty="0">
                <a:solidFill>
                  <a:srgbClr val="FFFFFF"/>
                </a:solidFill>
                <a:latin typeface="Montserrat"/>
              </a:rPr>
              <a:t>Phase</a:t>
            </a:r>
            <a:r>
              <a:rPr sz="1300" b="1" dirty="0">
                <a:solidFill>
                  <a:srgbClr val="FFFFFF"/>
                </a:solidFill>
                <a:latin typeface="Montserrat"/>
              </a:rPr>
              <a:t> 1</a:t>
            </a:r>
          </a:p>
        </p:txBody>
      </p:sp>
      <p:sp>
        <p:nvSpPr>
          <p:cNvPr id="8" name="Rounded Rectangle 7"/>
          <p:cNvSpPr/>
          <p:nvPr/>
        </p:nvSpPr>
        <p:spPr>
          <a:xfrm>
            <a:off x="1165860" y="4133088"/>
            <a:ext cx="1645920" cy="329184"/>
          </a:xfrm>
          <a:prstGeom prst="roundRect">
            <a:avLst>
              <a:gd name="adj" fmla="val 3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latin typeface="Montserrat"/>
              </a:defRPr>
            </a:pPr>
            <a:r>
              <a:t>You are here</a:t>
            </a:r>
          </a:p>
        </p:txBody>
      </p:sp>
      <p:sp>
        <p:nvSpPr>
          <p:cNvPr id="9" name="Right Arrow 8"/>
          <p:cNvSpPr/>
          <p:nvPr/>
        </p:nvSpPr>
        <p:spPr>
          <a:xfrm>
            <a:off x="3515868" y="2651760"/>
            <a:ext cx="900684"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80560" y="1828800"/>
            <a:ext cx="2926080" cy="2194560"/>
          </a:xfrm>
          <a:prstGeom prst="roundRect">
            <a:avLst>
              <a:gd name="adj" fmla="val 5000"/>
            </a:avLst>
          </a:prstGeom>
          <a:solidFill>
            <a:srgbClr val="0C1752"/>
          </a:solidFill>
          <a:ln w="19050">
            <a:solidFill>
              <a:srgbClr val="B0B0B0"/>
            </a:solidFill>
          </a:ln>
        </p:spPr>
        <p:style>
          <a:lnRef idx="1">
            <a:schemeClr val="accent1"/>
          </a:lnRef>
          <a:fillRef idx="3">
            <a:schemeClr val="accent1"/>
          </a:fillRef>
          <a:effectRef idx="2">
            <a:schemeClr val="accent1"/>
          </a:effectRef>
          <a:fontRef idx="minor">
            <a:schemeClr val="lt1"/>
          </a:fontRef>
        </p:style>
        <p:txBody>
          <a:bodyPr wrap="square" lIns="137160" tIns="502920" rIns="137160" rtlCol="0" anchor="t"/>
          <a:lstStyle/>
          <a:p>
            <a:pPr algn="ctr">
              <a:defRPr sz="2000" b="1">
                <a:solidFill>
                  <a:srgbClr val="0C1752"/>
                </a:solidFill>
                <a:latin typeface="Montserrat"/>
              </a:defRPr>
            </a:pPr>
            <a:r>
              <a:rPr dirty="0">
                <a:solidFill>
                  <a:schemeClr val="bg1"/>
                </a:solidFill>
              </a:rPr>
              <a:t>Add AI</a:t>
            </a:r>
          </a:p>
          <a:p>
            <a:pPr algn="ctr">
              <a:spcBef>
                <a:spcPts val="1000"/>
              </a:spcBef>
              <a:defRPr sz="1400">
                <a:solidFill>
                  <a:srgbClr val="333333"/>
                </a:solidFill>
                <a:latin typeface="Montserrat"/>
              </a:defRPr>
            </a:pPr>
            <a:r>
              <a:rPr dirty="0">
                <a:solidFill>
                  <a:schemeClr val="bg1"/>
                </a:solidFill>
              </a:rPr>
              <a:t>Gemini-powered</a:t>
            </a:r>
            <a:br>
              <a:rPr dirty="0">
                <a:solidFill>
                  <a:schemeClr val="bg1"/>
                </a:solidFill>
              </a:rPr>
            </a:br>
            <a:r>
              <a:rPr dirty="0">
                <a:solidFill>
                  <a:schemeClr val="bg1"/>
                </a:solidFill>
              </a:rPr>
              <a:t>food search &amp; photos</a:t>
            </a:r>
          </a:p>
        </p:txBody>
      </p:sp>
      <p:sp>
        <p:nvSpPr>
          <p:cNvPr id="11" name="Rounded Rectangle 10"/>
          <p:cNvSpPr/>
          <p:nvPr/>
        </p:nvSpPr>
        <p:spPr>
          <a:xfrm>
            <a:off x="5257800" y="1627632"/>
            <a:ext cx="1371600" cy="402336"/>
          </a:xfrm>
          <a:prstGeom prst="roundRect">
            <a:avLst>
              <a:gd name="adj" fmla="val 30000"/>
            </a:avLst>
          </a:prstGeom>
          <a:solidFill>
            <a:srgbClr val="B0B0B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Montserrat"/>
              </a:defRPr>
            </a:pPr>
            <a:r>
              <a:rPr lang="en-CA" dirty="0"/>
              <a:t>Phase</a:t>
            </a:r>
            <a:r>
              <a:rPr dirty="0"/>
              <a:t> 2</a:t>
            </a:r>
          </a:p>
        </p:txBody>
      </p:sp>
      <p:sp>
        <p:nvSpPr>
          <p:cNvPr id="12" name="Right Arrow 11"/>
          <p:cNvSpPr/>
          <p:nvPr/>
        </p:nvSpPr>
        <p:spPr>
          <a:xfrm>
            <a:off x="7452359" y="2651760"/>
            <a:ext cx="1179195"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641080" y="1828800"/>
            <a:ext cx="2926080" cy="2194560"/>
          </a:xfrm>
          <a:prstGeom prst="roundRect">
            <a:avLst>
              <a:gd name="adj" fmla="val 5000"/>
            </a:avLst>
          </a:prstGeom>
          <a:solidFill>
            <a:srgbClr val="D56E48"/>
          </a:solidFill>
          <a:ln w="19050">
            <a:solidFill>
              <a:srgbClr val="B0B0B0"/>
            </a:solidFill>
          </a:ln>
        </p:spPr>
        <p:style>
          <a:lnRef idx="1">
            <a:schemeClr val="accent1"/>
          </a:lnRef>
          <a:fillRef idx="3">
            <a:schemeClr val="accent1"/>
          </a:fillRef>
          <a:effectRef idx="2">
            <a:schemeClr val="accent1"/>
          </a:effectRef>
          <a:fontRef idx="minor">
            <a:schemeClr val="lt1"/>
          </a:fontRef>
        </p:style>
        <p:txBody>
          <a:bodyPr wrap="square" lIns="137160" tIns="502920" rIns="137160" rtlCol="0" anchor="t"/>
          <a:lstStyle/>
          <a:p>
            <a:pPr algn="ctr">
              <a:defRPr sz="2000" b="1">
                <a:solidFill>
                  <a:srgbClr val="0C1752"/>
                </a:solidFill>
                <a:latin typeface="Montserrat"/>
              </a:defRPr>
            </a:pPr>
            <a:r>
              <a:rPr dirty="0">
                <a:solidFill>
                  <a:schemeClr val="bg1"/>
                </a:solidFill>
              </a:rPr>
              <a:t>Improve</a:t>
            </a:r>
            <a:br>
              <a:rPr dirty="0">
                <a:solidFill>
                  <a:schemeClr val="bg1"/>
                </a:solidFill>
              </a:rPr>
            </a:br>
            <a:r>
              <a:rPr dirty="0">
                <a:solidFill>
                  <a:schemeClr val="bg1"/>
                </a:solidFill>
              </a:rPr>
              <a:t>with Ralph</a:t>
            </a:r>
          </a:p>
          <a:p>
            <a:pPr algn="ctr">
              <a:spcBef>
                <a:spcPts val="1000"/>
              </a:spcBef>
              <a:defRPr sz="1400">
                <a:solidFill>
                  <a:srgbClr val="333333"/>
                </a:solidFill>
                <a:latin typeface="Montserrat"/>
              </a:defRPr>
            </a:pPr>
            <a:r>
              <a:rPr dirty="0">
                <a:solidFill>
                  <a:schemeClr val="bg1"/>
                </a:solidFill>
              </a:rPr>
              <a:t>Review, iterate,</a:t>
            </a:r>
            <a:br>
              <a:rPr dirty="0">
                <a:solidFill>
                  <a:schemeClr val="bg1"/>
                </a:solidFill>
              </a:rPr>
            </a:br>
            <a:r>
              <a:rPr dirty="0">
                <a:solidFill>
                  <a:schemeClr val="bg1"/>
                </a:solidFill>
              </a:rPr>
              <a:t>and polish</a:t>
            </a:r>
          </a:p>
        </p:txBody>
      </p:sp>
      <p:sp>
        <p:nvSpPr>
          <p:cNvPr id="14" name="Rounded Rectangle 13"/>
          <p:cNvSpPr/>
          <p:nvPr/>
        </p:nvSpPr>
        <p:spPr>
          <a:xfrm>
            <a:off x="9418320" y="1627632"/>
            <a:ext cx="1371600" cy="402336"/>
          </a:xfrm>
          <a:prstGeom prst="roundRect">
            <a:avLst>
              <a:gd name="adj" fmla="val 30000"/>
            </a:avLst>
          </a:prstGeom>
          <a:solidFill>
            <a:srgbClr val="B0B0B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latin typeface="Montserrat"/>
              </a:defRPr>
            </a:pPr>
            <a:r>
              <a:rPr lang="en-CA" dirty="0"/>
              <a:t>Phase</a:t>
            </a:r>
            <a:r>
              <a:rPr dirty="0"/>
              <a:t> 3</a:t>
            </a:r>
          </a:p>
        </p:txBody>
      </p:sp>
      <p:pic>
        <p:nvPicPr>
          <p:cNvPr id="16" name="Picture 15">
            <a:extLst>
              <a:ext uri="{FF2B5EF4-FFF2-40B4-BE49-F238E27FC236}">
                <a16:creationId xmlns:a16="http://schemas.microsoft.com/office/drawing/2014/main" id="{EC24A117-4ABB-0C30-01C1-5A6A7728324A}"/>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Best Practice: Plan Mode</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280160"/>
            <a:ext cx="5486400" cy="457200"/>
          </a:xfrm>
          <a:prstGeom prst="rect">
            <a:avLst/>
          </a:prstGeom>
          <a:noFill/>
        </p:spPr>
        <p:txBody>
          <a:bodyPr wrap="square">
            <a:spAutoFit/>
          </a:bodyPr>
          <a:lstStyle/>
          <a:p>
            <a:pPr algn="l">
              <a:defRPr sz="2200" b="1">
                <a:solidFill>
                  <a:srgbClr val="0C1752"/>
                </a:solidFill>
                <a:latin typeface="Montserrat"/>
              </a:defRPr>
            </a:pPr>
            <a:r>
              <a:rPr dirty="0"/>
              <a:t>What is Plan Mode?</a:t>
            </a:r>
          </a:p>
        </p:txBody>
      </p:sp>
      <p:sp>
        <p:nvSpPr>
          <p:cNvPr id="7" name="TextBox 6"/>
          <p:cNvSpPr txBox="1"/>
          <p:nvPr/>
        </p:nvSpPr>
        <p:spPr>
          <a:xfrm>
            <a:off x="274320" y="1828800"/>
            <a:ext cx="5486400" cy="1590179"/>
          </a:xfrm>
          <a:prstGeom prst="rect">
            <a:avLst/>
          </a:prstGeom>
          <a:noFill/>
        </p:spPr>
        <p:txBody>
          <a:bodyPr wrap="square">
            <a:spAutoFit/>
          </a:bodyPr>
          <a:lstStyle/>
          <a:p>
            <a:pPr marL="285750" indent="-285750">
              <a:buFont typeface="Arial" panose="020B0604020202020204" pitchFamily="34" charset="0"/>
              <a:buChar char="•"/>
              <a:defRPr sz="1600">
                <a:solidFill>
                  <a:srgbClr val="333333"/>
                </a:solidFill>
                <a:latin typeface="Montserrat"/>
              </a:defRPr>
            </a:pPr>
            <a:r>
              <a:rPr dirty="0"/>
              <a:t>Press </a:t>
            </a:r>
            <a:r>
              <a:rPr dirty="0" err="1"/>
              <a:t>Shift+Tab</a:t>
            </a:r>
            <a:r>
              <a:rPr dirty="0"/>
              <a:t> twice in Claude Code</a:t>
            </a:r>
          </a:p>
          <a:p>
            <a:pPr marL="285750" indent="-285750" algn="l">
              <a:spcBef>
                <a:spcPts val="1200"/>
              </a:spcBef>
              <a:spcAft>
                <a:spcPts val="200"/>
              </a:spcAft>
              <a:buFont typeface="Arial" panose="020B0604020202020204" pitchFamily="34" charset="0"/>
              <a:buChar char="•"/>
              <a:defRPr sz="1600" b="0">
                <a:solidFill>
                  <a:srgbClr val="333333"/>
                </a:solidFill>
                <a:latin typeface="Montserrat"/>
              </a:defRPr>
            </a:pPr>
            <a:r>
              <a:rPr dirty="0"/>
              <a:t>Claude thinks and designs before writing code</a:t>
            </a:r>
          </a:p>
          <a:p>
            <a:pPr marL="285750" indent="-285750" algn="l">
              <a:spcBef>
                <a:spcPts val="1200"/>
              </a:spcBef>
              <a:spcAft>
                <a:spcPts val="200"/>
              </a:spcAft>
              <a:buFont typeface="Arial" panose="020B0604020202020204" pitchFamily="34" charset="0"/>
              <a:buChar char="•"/>
              <a:defRPr sz="1600" b="0">
                <a:solidFill>
                  <a:srgbClr val="333333"/>
                </a:solidFill>
                <a:latin typeface="Montserrat"/>
              </a:defRPr>
            </a:pPr>
            <a:r>
              <a:rPr dirty="0"/>
              <a:t>You review the plan first, then approve it</a:t>
            </a:r>
          </a:p>
          <a:p>
            <a:pPr marL="285750" indent="-285750" algn="l">
              <a:spcBef>
                <a:spcPts val="1200"/>
              </a:spcBef>
              <a:spcAft>
                <a:spcPts val="200"/>
              </a:spcAft>
              <a:buFont typeface="Arial" panose="020B0604020202020204" pitchFamily="34" charset="0"/>
              <a:buChar char="•"/>
              <a:defRPr sz="1600" b="0">
                <a:solidFill>
                  <a:srgbClr val="333333"/>
                </a:solidFill>
                <a:latin typeface="Montserrat"/>
              </a:defRPr>
            </a:pPr>
            <a:r>
              <a:rPr dirty="0"/>
              <a:t>Result: better architecture, fewer rewrites</a:t>
            </a:r>
          </a:p>
        </p:txBody>
      </p:sp>
      <p:sp>
        <p:nvSpPr>
          <p:cNvPr id="8" name="Rounded Rectangle 7"/>
          <p:cNvSpPr/>
          <p:nvPr/>
        </p:nvSpPr>
        <p:spPr>
          <a:xfrm>
            <a:off x="274320" y="4206240"/>
            <a:ext cx="5486400" cy="502920"/>
          </a:xfrm>
          <a:prstGeom prst="roundRect">
            <a:avLst>
              <a:gd name="adj" fmla="val 5000"/>
            </a:avLst>
          </a:prstGeom>
          <a:solidFill>
            <a:srgbClr val="E8EAF2"/>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C1752"/>
                </a:solidFill>
                <a:latin typeface="Montserrat"/>
              </a:defRPr>
            </a:pPr>
            <a:r>
              <a:rPr dirty="0"/>
              <a:t>Shift + Tab →  Plan Mode activated</a:t>
            </a:r>
          </a:p>
        </p:txBody>
      </p:sp>
      <p:sp>
        <p:nvSpPr>
          <p:cNvPr id="9" name="Rounded Rectangle 8"/>
          <p:cNvSpPr/>
          <p:nvPr/>
        </p:nvSpPr>
        <p:spPr>
          <a:xfrm>
            <a:off x="6217920" y="1280160"/>
            <a:ext cx="5120640" cy="1645920"/>
          </a:xfrm>
          <a:prstGeom prst="roundRect">
            <a:avLst>
              <a:gd name="adj" fmla="val 5000"/>
            </a:avLst>
          </a:prstGeom>
          <a:solidFill>
            <a:srgbClr val="FFFFFF"/>
          </a:solidFill>
          <a:ln w="2540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600" b="1">
                <a:solidFill>
                  <a:srgbClr val="D56E48"/>
                </a:solidFill>
                <a:latin typeface="Montserrat"/>
              </a:defRPr>
            </a:pPr>
            <a:r>
              <a:t>Without Plan Mode</a:t>
            </a:r>
          </a:p>
          <a:p>
            <a:pPr algn="l">
              <a:spcBef>
                <a:spcPts val="1000"/>
              </a:spcBef>
              <a:defRPr sz="1400">
                <a:solidFill>
                  <a:srgbClr val="333333"/>
                </a:solidFill>
                <a:latin typeface="Montserrat"/>
              </a:defRPr>
            </a:pPr>
            <a:r>
              <a:t>Claude jumps straight into code</a:t>
            </a:r>
          </a:p>
          <a:p>
            <a:pPr algn="l">
              <a:spcBef>
                <a:spcPts val="600"/>
              </a:spcBef>
              <a:defRPr sz="1400">
                <a:solidFill>
                  <a:srgbClr val="D56E48"/>
                </a:solidFill>
                <a:latin typeface="Montserrat"/>
              </a:defRPr>
            </a:pPr>
            <a:r>
              <a:t>Might go in the wrong direction</a:t>
            </a:r>
          </a:p>
        </p:txBody>
      </p:sp>
      <p:sp>
        <p:nvSpPr>
          <p:cNvPr id="11" name="Rounded Rectangle 10"/>
          <p:cNvSpPr/>
          <p:nvPr/>
        </p:nvSpPr>
        <p:spPr>
          <a:xfrm>
            <a:off x="6217920" y="3291840"/>
            <a:ext cx="5120640" cy="1645920"/>
          </a:xfrm>
          <a:prstGeom prst="roundRect">
            <a:avLst>
              <a:gd name="adj" fmla="val 5000"/>
            </a:avLst>
          </a:prstGeom>
          <a:solidFill>
            <a:srgbClr val="FFFFFF"/>
          </a:solidFill>
          <a:ln w="2540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600" b="1">
                <a:solidFill>
                  <a:srgbClr val="6CCAD8"/>
                </a:solidFill>
                <a:latin typeface="Montserrat"/>
              </a:defRPr>
            </a:pPr>
            <a:r>
              <a:t>With Plan Mode</a:t>
            </a:r>
          </a:p>
          <a:p>
            <a:pPr algn="l">
              <a:spcBef>
                <a:spcPts val="1000"/>
              </a:spcBef>
              <a:defRPr sz="1400">
                <a:solidFill>
                  <a:srgbClr val="333333"/>
                </a:solidFill>
                <a:latin typeface="Montserrat"/>
              </a:defRPr>
            </a:pPr>
            <a:r>
              <a:t>Claude designs the architecture first</a:t>
            </a:r>
          </a:p>
          <a:p>
            <a:pPr algn="l">
              <a:spcBef>
                <a:spcPts val="600"/>
              </a:spcBef>
              <a:defRPr sz="1400">
                <a:solidFill>
                  <a:srgbClr val="6CCAD8"/>
                </a:solidFill>
                <a:latin typeface="Montserrat"/>
              </a:defRPr>
            </a:pPr>
            <a:r>
              <a:t>You review, then it builds right</a:t>
            </a:r>
          </a:p>
        </p:txBody>
      </p:sp>
      <p:pic>
        <p:nvPicPr>
          <p:cNvPr id="12" name="Picture 11">
            <a:extLst>
              <a:ext uri="{FF2B5EF4-FFF2-40B4-BE49-F238E27FC236}">
                <a16:creationId xmlns:a16="http://schemas.microsoft.com/office/drawing/2014/main" id="{35663408-5AE9-3313-9CBA-560F2BFFD2FB}"/>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F1CCA-EFF2-D8CE-F48F-280CA80965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DD8958-6FAF-EB44-3A03-0014833599DB}"/>
              </a:ext>
            </a:extLst>
          </p:cNvPr>
          <p:cNvPicPr>
            <a:picLocks noChangeAspect="1"/>
          </p:cNvPicPr>
          <p:nvPr/>
        </p:nvPicPr>
        <p:blipFill>
          <a:blip r:embed="rId3"/>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C345B2C0-B560-7BA0-B1A2-E5954143CE5F}"/>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E6E3BCB-1676-B23D-0103-149FFA591F8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Build a calorie tracker app – Phase 1</a:t>
            </a:r>
          </a:p>
        </p:txBody>
      </p:sp>
      <p:sp>
        <p:nvSpPr>
          <p:cNvPr id="9" name="TextBox 8">
            <a:extLst>
              <a:ext uri="{FF2B5EF4-FFF2-40B4-BE49-F238E27FC236}">
                <a16:creationId xmlns:a16="http://schemas.microsoft.com/office/drawing/2014/main" id="{A440DFDE-96B8-87A4-2BC4-9EDF26612AC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3910386E-96D9-ADE9-C6DA-56ECC487FA7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4" name="Picture 2" descr="AI Tools 101: Claude Code Guide to Build Real Apps Faster">
            <a:extLst>
              <a:ext uri="{FF2B5EF4-FFF2-40B4-BE49-F238E27FC236}">
                <a16:creationId xmlns:a16="http://schemas.microsoft.com/office/drawing/2014/main" id="{BC129D0A-81F9-D9C6-6F42-79A05DECF3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5477" y="1620628"/>
            <a:ext cx="5720348" cy="3680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727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0: Setup Your Environment</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371600"/>
            <a:ext cx="5943600" cy="457200"/>
          </a:xfrm>
          <a:prstGeom prst="rect">
            <a:avLst/>
          </a:prstGeom>
          <a:noFill/>
        </p:spPr>
        <p:txBody>
          <a:bodyPr wrap="square">
            <a:spAutoFit/>
          </a:bodyPr>
          <a:lstStyle/>
          <a:p>
            <a:pPr algn="l">
              <a:defRPr sz="1800" b="1">
                <a:solidFill>
                  <a:srgbClr val="0C1752"/>
                </a:solidFill>
                <a:latin typeface="Montserrat"/>
              </a:defRPr>
            </a:pPr>
            <a:r>
              <a:t>What this prompt does:</a:t>
            </a:r>
          </a:p>
        </p:txBody>
      </p:sp>
      <p:sp>
        <p:nvSpPr>
          <p:cNvPr id="7" name="Rounded Rectangle 6"/>
          <p:cNvSpPr/>
          <p:nvPr/>
        </p:nvSpPr>
        <p:spPr>
          <a:xfrm>
            <a:off x="2722245" y="1920240"/>
            <a:ext cx="5669280" cy="82296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91440" rtlCol="0" anchor="t"/>
          <a:lstStyle/>
          <a:p>
            <a:pPr algn="ctr">
              <a:defRPr sz="1500" b="1">
                <a:solidFill>
                  <a:srgbClr val="0C1752"/>
                </a:solidFill>
                <a:latin typeface="Montserrat"/>
              </a:defRPr>
            </a:pPr>
            <a:r>
              <a:t>Gemini API Key</a:t>
            </a:r>
          </a:p>
          <a:p>
            <a:pPr>
              <a:spcBef>
                <a:spcPts val="400"/>
              </a:spcBef>
              <a:defRPr sz="1300">
                <a:solidFill>
                  <a:srgbClr val="333333"/>
                </a:solidFill>
                <a:latin typeface="Montserrat"/>
              </a:defRPr>
            </a:pPr>
            <a:r>
              <a:t>Get your free key from aistudio.google.com</a:t>
            </a:r>
          </a:p>
        </p:txBody>
      </p:sp>
      <p:sp>
        <p:nvSpPr>
          <p:cNvPr id="8" name="Rounded Rectangle 7"/>
          <p:cNvSpPr/>
          <p:nvPr/>
        </p:nvSpPr>
        <p:spPr>
          <a:xfrm>
            <a:off x="2722245" y="2926080"/>
            <a:ext cx="5669280" cy="82296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91440" rtlCol="0" anchor="t"/>
          <a:lstStyle/>
          <a:p>
            <a:pPr algn="ctr">
              <a:defRPr sz="1500" b="1">
                <a:solidFill>
                  <a:srgbClr val="0C1752"/>
                </a:solidFill>
                <a:latin typeface="Montserrat"/>
              </a:defRPr>
            </a:pPr>
            <a:r>
              <a:t>Node.js Check</a:t>
            </a:r>
          </a:p>
          <a:p>
            <a:pPr>
              <a:spcBef>
                <a:spcPts val="400"/>
              </a:spcBef>
              <a:defRPr sz="1300">
                <a:solidFill>
                  <a:srgbClr val="333333"/>
                </a:solidFill>
                <a:latin typeface="Montserrat"/>
              </a:defRPr>
            </a:pPr>
            <a:r>
              <a:t>Verify Node.js v18+ is installed</a:t>
            </a:r>
          </a:p>
        </p:txBody>
      </p:sp>
      <p:sp>
        <p:nvSpPr>
          <p:cNvPr id="9" name="Rounded Rectangle 8"/>
          <p:cNvSpPr/>
          <p:nvPr/>
        </p:nvSpPr>
        <p:spPr>
          <a:xfrm>
            <a:off x="2722245" y="3931920"/>
            <a:ext cx="5669280" cy="82296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91440" rtlCol="0" anchor="t"/>
          <a:lstStyle/>
          <a:p>
            <a:pPr algn="ctr">
              <a:defRPr sz="1500" b="1">
                <a:solidFill>
                  <a:srgbClr val="0C1752"/>
                </a:solidFill>
                <a:latin typeface="Montserrat"/>
              </a:defRPr>
            </a:pPr>
            <a:r>
              <a:t>Empty Folder</a:t>
            </a:r>
          </a:p>
          <a:p>
            <a:pPr>
              <a:spcBef>
                <a:spcPts val="400"/>
              </a:spcBef>
              <a:defRPr sz="1300">
                <a:solidFill>
                  <a:srgbClr val="333333"/>
                </a:solidFill>
                <a:latin typeface="Montserrat"/>
              </a:defRPr>
            </a:pPr>
            <a:r>
              <a:t>Create a clean project directory</a:t>
            </a:r>
          </a:p>
        </p:txBody>
      </p:sp>
      <p:sp>
        <p:nvSpPr>
          <p:cNvPr id="10" name="Rounded Rectangle 9"/>
          <p:cNvSpPr/>
          <p:nvPr/>
        </p:nvSpPr>
        <p:spPr>
          <a:xfrm>
            <a:off x="2722245" y="4937760"/>
            <a:ext cx="5669280" cy="82296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91440" rtlCol="0" anchor="t"/>
          <a:lstStyle/>
          <a:p>
            <a:pPr algn="ctr">
              <a:defRPr sz="1500" b="1">
                <a:solidFill>
                  <a:srgbClr val="0C1752"/>
                </a:solidFill>
                <a:latin typeface="Montserrat"/>
              </a:defRPr>
            </a:pPr>
            <a:r>
              <a:t>.env &amp; .gitignore</a:t>
            </a:r>
          </a:p>
          <a:p>
            <a:pPr>
              <a:spcBef>
                <a:spcPts val="400"/>
              </a:spcBef>
              <a:defRPr sz="1300">
                <a:solidFill>
                  <a:srgbClr val="333333"/>
                </a:solidFill>
                <a:latin typeface="Montserrat"/>
              </a:defRPr>
            </a:pPr>
            <a:r>
              <a:t>Store GEMINI_API_KEY placeholder, ignore secrets</a:t>
            </a:r>
          </a:p>
        </p:txBody>
      </p:sp>
      <p:pic>
        <p:nvPicPr>
          <p:cNvPr id="21" name="Picture 20">
            <a:extLst>
              <a:ext uri="{FF2B5EF4-FFF2-40B4-BE49-F238E27FC236}">
                <a16:creationId xmlns:a16="http://schemas.microsoft.com/office/drawing/2014/main" id="{8635E060-5B52-9D5F-8750-1270E0DBE567}"/>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1: Plan &amp; Build the Whole App</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188720"/>
            <a:ext cx="5669280" cy="457200"/>
          </a:xfrm>
          <a:prstGeom prst="rect">
            <a:avLst/>
          </a:prstGeom>
          <a:noFill/>
        </p:spPr>
        <p:txBody>
          <a:bodyPr wrap="square">
            <a:spAutoFit/>
          </a:bodyPr>
          <a:lstStyle/>
          <a:p>
            <a:pPr algn="l">
              <a:defRPr sz="1800" b="1">
                <a:solidFill>
                  <a:srgbClr val="0C1752"/>
                </a:solidFill>
                <a:latin typeface="Montserrat"/>
              </a:defRPr>
            </a:pPr>
            <a:r>
              <a:t>What this prompt does:</a:t>
            </a:r>
          </a:p>
        </p:txBody>
      </p:sp>
      <p:sp>
        <p:nvSpPr>
          <p:cNvPr id="7" name="TextBox 6"/>
          <p:cNvSpPr txBox="1"/>
          <p:nvPr/>
        </p:nvSpPr>
        <p:spPr>
          <a:xfrm>
            <a:off x="274319" y="1691640"/>
            <a:ext cx="8002905" cy="2313454"/>
          </a:xfrm>
          <a:prstGeom prst="rect">
            <a:avLst/>
          </a:prstGeom>
          <a:noFill/>
        </p:spPr>
        <p:txBody>
          <a:bodyPr wrap="square">
            <a:spAutoFit/>
          </a:bodyPr>
          <a:lstStyle/>
          <a:p>
            <a:pPr marL="285750" indent="-285750">
              <a:buFont typeface="Arial" panose="020B0604020202020204" pitchFamily="34" charset="0"/>
              <a:buChar char="•"/>
              <a:defRPr sz="1500">
                <a:solidFill>
                  <a:srgbClr val="333333"/>
                </a:solidFill>
                <a:latin typeface="Montserrat"/>
              </a:defRPr>
            </a:pPr>
            <a:r>
              <a:rPr sz="1600" dirty="0"/>
              <a:t>Uses Plan Mode to design the architecture</a:t>
            </a:r>
          </a:p>
          <a:p>
            <a:pPr marL="285750" indent="-285750" algn="l">
              <a:spcBef>
                <a:spcPts val="1000"/>
              </a:spcBef>
              <a:spcAft>
                <a:spcPts val="200"/>
              </a:spcAft>
              <a:buFont typeface="Arial" panose="020B0604020202020204" pitchFamily="34" charset="0"/>
              <a:buChar char="•"/>
              <a:defRPr sz="1500" b="0">
                <a:solidFill>
                  <a:srgbClr val="333333"/>
                </a:solidFill>
                <a:latin typeface="Montserrat"/>
              </a:defRPr>
            </a:pPr>
            <a:r>
              <a:rPr sz="1600" dirty="0"/>
              <a:t>Scaffolds a full Next.js / TypeScript / Tailwind app</a:t>
            </a:r>
          </a:p>
          <a:p>
            <a:pPr marL="285750" indent="-285750" algn="l">
              <a:spcBef>
                <a:spcPts val="1000"/>
              </a:spcBef>
              <a:spcAft>
                <a:spcPts val="200"/>
              </a:spcAft>
              <a:buFont typeface="Arial" panose="020B0604020202020204" pitchFamily="34" charset="0"/>
              <a:buChar char="•"/>
              <a:defRPr sz="1500" b="0">
                <a:solidFill>
                  <a:srgbClr val="333333"/>
                </a:solidFill>
                <a:latin typeface="Montserrat"/>
              </a:defRPr>
            </a:pPr>
            <a:r>
              <a:rPr sz="1600" dirty="0"/>
              <a:t>Creates a local SQLite food database</a:t>
            </a:r>
          </a:p>
          <a:p>
            <a:pPr marL="285750" indent="-285750" algn="l">
              <a:spcBef>
                <a:spcPts val="1000"/>
              </a:spcBef>
              <a:spcAft>
                <a:spcPts val="200"/>
              </a:spcAft>
              <a:buFont typeface="Arial" panose="020B0604020202020204" pitchFamily="34" charset="0"/>
              <a:buChar char="•"/>
              <a:defRPr sz="1500" b="0">
                <a:solidFill>
                  <a:srgbClr val="333333"/>
                </a:solidFill>
                <a:latin typeface="Montserrat"/>
              </a:defRPr>
            </a:pPr>
            <a:r>
              <a:rPr sz="1600" dirty="0"/>
              <a:t>Builds search, daily log, calorie totals, common foods</a:t>
            </a:r>
          </a:p>
          <a:p>
            <a:pPr marL="285750" indent="-285750" algn="l">
              <a:spcBef>
                <a:spcPts val="1000"/>
              </a:spcBef>
              <a:spcAft>
                <a:spcPts val="200"/>
              </a:spcAft>
              <a:buFont typeface="Arial" panose="020B0604020202020204" pitchFamily="34" charset="0"/>
              <a:buChar char="•"/>
              <a:defRPr sz="1500" b="0">
                <a:solidFill>
                  <a:srgbClr val="333333"/>
                </a:solidFill>
                <a:latin typeface="Montserrat"/>
              </a:defRPr>
            </a:pPr>
            <a:r>
              <a:rPr sz="1600" dirty="0"/>
              <a:t>Creates CLAUDE.md for project memory</a:t>
            </a:r>
          </a:p>
          <a:p>
            <a:pPr marL="285750" indent="-285750" algn="l">
              <a:spcBef>
                <a:spcPts val="1000"/>
              </a:spcBef>
              <a:spcAft>
                <a:spcPts val="200"/>
              </a:spcAft>
              <a:buFont typeface="Arial" panose="020B0604020202020204" pitchFamily="34" charset="0"/>
              <a:buChar char="•"/>
              <a:defRPr sz="1500" b="0">
                <a:solidFill>
                  <a:srgbClr val="333333"/>
                </a:solidFill>
                <a:latin typeface="Montserrat"/>
              </a:defRPr>
            </a:pPr>
            <a:r>
              <a:rPr sz="1600" dirty="0"/>
              <a:t>Generates dated docs/ decision log</a:t>
            </a:r>
          </a:p>
        </p:txBody>
      </p:sp>
      <p:pic>
        <p:nvPicPr>
          <p:cNvPr id="19" name="Picture 18">
            <a:extLst>
              <a:ext uri="{FF2B5EF4-FFF2-40B4-BE49-F238E27FC236}">
                <a16:creationId xmlns:a16="http://schemas.microsoft.com/office/drawing/2014/main" id="{B7E2B60D-B90D-C3F4-F9E9-71F1FD4DB430}"/>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F8753-98D2-A258-60BA-F98CCB9D821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0F1CCDB-E8E2-B5D4-553F-8B4EBF91732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FC8F1744-028E-9B6B-7737-FB76E28C4938}"/>
              </a:ext>
            </a:extLst>
          </p:cNvPr>
          <p:cNvSpPr/>
          <p:nvPr/>
        </p:nvSpPr>
        <p:spPr>
          <a:xfrm>
            <a:off x="134842" y="120240"/>
            <a:ext cx="5336864" cy="2308324"/>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PROJECT: BUILD A CALORIE TRACKER WITH CLAUDE CODE (PHASE 2)</a:t>
            </a:r>
          </a:p>
        </p:txBody>
      </p:sp>
      <p:pic>
        <p:nvPicPr>
          <p:cNvPr id="6" name="Picture 5">
            <a:extLst>
              <a:ext uri="{FF2B5EF4-FFF2-40B4-BE49-F238E27FC236}">
                <a16:creationId xmlns:a16="http://schemas.microsoft.com/office/drawing/2014/main" id="{1EC31CA6-3DD1-B9B5-486A-C36C0375731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232001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rPr>
              <a:t>Phase 2: </a:t>
            </a:r>
            <a:r>
              <a:rPr sz="2400" dirty="0">
                <a:solidFill>
                  <a:schemeClr val="bg1"/>
                </a:solidFill>
                <a:latin typeface="Montserrat" charset="0"/>
              </a:rPr>
              <a:t>What We’re Adding</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280160"/>
            <a:ext cx="11155680" cy="430887"/>
          </a:xfrm>
          <a:prstGeom prst="rect">
            <a:avLst/>
          </a:prstGeom>
          <a:noFill/>
        </p:spPr>
        <p:txBody>
          <a:bodyPr wrap="square">
            <a:spAutoFit/>
          </a:bodyPr>
          <a:lstStyle/>
          <a:p>
            <a:pPr algn="ctr">
              <a:defRPr sz="2200" b="1">
                <a:solidFill>
                  <a:srgbClr val="0C1752"/>
                </a:solidFill>
                <a:latin typeface="Montserrat"/>
              </a:defRPr>
            </a:pPr>
            <a:r>
              <a:rPr dirty="0"/>
              <a:t>Three ways to add food</a:t>
            </a:r>
            <a:r>
              <a:rPr lang="en-CA" dirty="0"/>
              <a:t>, </a:t>
            </a:r>
            <a:r>
              <a:rPr dirty="0"/>
              <a:t>all powered by AI</a:t>
            </a:r>
          </a:p>
        </p:txBody>
      </p:sp>
      <p:sp>
        <p:nvSpPr>
          <p:cNvPr id="7" name="Rounded Rectangle 6"/>
          <p:cNvSpPr/>
          <p:nvPr/>
        </p:nvSpPr>
        <p:spPr>
          <a:xfrm>
            <a:off x="594360" y="1920240"/>
            <a:ext cx="3291840" cy="2011680"/>
          </a:xfrm>
          <a:prstGeom prst="roundRect">
            <a:avLst>
              <a:gd name="adj" fmla="val 5000"/>
            </a:avLst>
          </a:prstGeom>
          <a:solidFill>
            <a:srgbClr val="EAF7FA"/>
          </a:solidFill>
          <a:ln w="2540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t"/>
          <a:lstStyle/>
          <a:p>
            <a:pPr algn="ctr">
              <a:defRPr sz="2200" b="1">
                <a:solidFill>
                  <a:srgbClr val="6CCAD8"/>
                </a:solidFill>
                <a:latin typeface="Montserrat"/>
              </a:defRPr>
            </a:pPr>
            <a:r>
              <a:t>⌨  Type it</a:t>
            </a:r>
          </a:p>
          <a:p>
            <a:pPr algn="ctr">
              <a:spcBef>
                <a:spcPts val="1200"/>
              </a:spcBef>
              <a:defRPr sz="1400" b="1">
                <a:solidFill>
                  <a:srgbClr val="0C1752"/>
                </a:solidFill>
                <a:latin typeface="Montserrat"/>
              </a:defRPr>
            </a:pPr>
            <a:r>
              <a:t>Text Search via AI</a:t>
            </a:r>
          </a:p>
          <a:p>
            <a:pPr algn="ctr">
              <a:spcBef>
                <a:spcPts val="800"/>
              </a:spcBef>
              <a:defRPr sz="1200">
                <a:solidFill>
                  <a:srgbClr val="333333"/>
                </a:solidFill>
                <a:latin typeface="Montserrat"/>
              </a:defRPr>
            </a:pPr>
            <a:r>
              <a:t>"grilled chicken with rice"</a:t>
            </a:r>
          </a:p>
        </p:txBody>
      </p:sp>
      <p:sp>
        <p:nvSpPr>
          <p:cNvPr id="8" name="Rounded Rectangle 7"/>
          <p:cNvSpPr/>
          <p:nvPr/>
        </p:nvSpPr>
        <p:spPr>
          <a:xfrm>
            <a:off x="4389120" y="1920240"/>
            <a:ext cx="3291840" cy="2011680"/>
          </a:xfrm>
          <a:prstGeom prst="roundRect">
            <a:avLst>
              <a:gd name="adj" fmla="val 5000"/>
            </a:avLst>
          </a:prstGeom>
          <a:solidFill>
            <a:srgbClr val="FDF0EA"/>
          </a:solidFill>
          <a:ln w="2540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t"/>
          <a:lstStyle/>
          <a:p>
            <a:pPr algn="ctr">
              <a:defRPr sz="2200" b="1">
                <a:solidFill>
                  <a:srgbClr val="D56E48"/>
                </a:solidFill>
                <a:latin typeface="Montserrat"/>
              </a:defRPr>
            </a:pPr>
            <a:r>
              <a:t>◎  Snap it</a:t>
            </a:r>
          </a:p>
          <a:p>
            <a:pPr algn="ctr">
              <a:spcBef>
                <a:spcPts val="1200"/>
              </a:spcBef>
              <a:defRPr sz="1400" b="1">
                <a:solidFill>
                  <a:srgbClr val="0C1752"/>
                </a:solidFill>
                <a:latin typeface="Montserrat"/>
              </a:defRPr>
            </a:pPr>
            <a:r>
              <a:t>Photo Upload via AI</a:t>
            </a:r>
          </a:p>
          <a:p>
            <a:pPr algn="ctr">
              <a:spcBef>
                <a:spcPts val="800"/>
              </a:spcBef>
              <a:defRPr sz="1200">
                <a:solidFill>
                  <a:srgbClr val="333333"/>
                </a:solidFill>
                <a:latin typeface="Montserrat"/>
              </a:defRPr>
            </a:pPr>
            <a:r>
              <a:t>Upload a photo of your meal</a:t>
            </a:r>
          </a:p>
        </p:txBody>
      </p:sp>
      <p:sp>
        <p:nvSpPr>
          <p:cNvPr id="9" name="Rounded Rectangle 8"/>
          <p:cNvSpPr/>
          <p:nvPr/>
        </p:nvSpPr>
        <p:spPr>
          <a:xfrm>
            <a:off x="8183880" y="1920240"/>
            <a:ext cx="3291840" cy="2011680"/>
          </a:xfrm>
          <a:prstGeom prst="roundRect">
            <a:avLst>
              <a:gd name="adj" fmla="val 5000"/>
            </a:avLst>
          </a:prstGeom>
          <a:solidFill>
            <a:srgbClr val="E8EAF2"/>
          </a:solidFill>
          <a:ln w="25400">
            <a:solidFill>
              <a:srgbClr val="0C1752"/>
            </a:solidFill>
          </a:ln>
        </p:spPr>
        <p:style>
          <a:lnRef idx="1">
            <a:schemeClr val="accent1"/>
          </a:lnRef>
          <a:fillRef idx="3">
            <a:schemeClr val="accent1"/>
          </a:fillRef>
          <a:effectRef idx="2">
            <a:schemeClr val="accent1"/>
          </a:effectRef>
          <a:fontRef idx="minor">
            <a:schemeClr val="lt1"/>
          </a:fontRef>
        </p:style>
        <p:txBody>
          <a:bodyPr wrap="square" lIns="137160" tIns="182880" rIns="137160" rtlCol="0" anchor="t"/>
          <a:lstStyle/>
          <a:p>
            <a:pPr algn="ctr">
              <a:defRPr sz="2200" b="1">
                <a:solidFill>
                  <a:srgbClr val="0C1752"/>
                </a:solidFill>
                <a:latin typeface="Montserrat"/>
              </a:defRPr>
            </a:pPr>
            <a:r>
              <a:t>☑  Quick-add</a:t>
            </a:r>
          </a:p>
          <a:p>
            <a:pPr algn="ctr">
              <a:spcBef>
                <a:spcPts val="1200"/>
              </a:spcBef>
              <a:defRPr sz="1400" b="1">
                <a:solidFill>
                  <a:srgbClr val="0C1752"/>
                </a:solidFill>
                <a:latin typeface="Montserrat"/>
              </a:defRPr>
            </a:pPr>
            <a:r>
              <a:t>Tap Common Foods</a:t>
            </a:r>
          </a:p>
          <a:p>
            <a:pPr algn="ctr">
              <a:spcBef>
                <a:spcPts val="800"/>
              </a:spcBef>
              <a:defRPr sz="1200">
                <a:solidFill>
                  <a:srgbClr val="333333"/>
                </a:solidFill>
                <a:latin typeface="Montserrat"/>
              </a:defRPr>
            </a:pPr>
            <a:r>
              <a:t>Select from your frequent items</a:t>
            </a:r>
          </a:p>
        </p:txBody>
      </p:sp>
      <p:sp>
        <p:nvSpPr>
          <p:cNvPr id="10" name="Down Arrow 9"/>
          <p:cNvSpPr/>
          <p:nvPr/>
        </p:nvSpPr>
        <p:spPr>
          <a:xfrm>
            <a:off x="2103120" y="3977640"/>
            <a:ext cx="274320" cy="365760"/>
          </a:xfrm>
          <a:prstGeom prst="down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10"/>
          <p:cNvSpPr/>
          <p:nvPr/>
        </p:nvSpPr>
        <p:spPr>
          <a:xfrm>
            <a:off x="5897880" y="3977640"/>
            <a:ext cx="274320" cy="365760"/>
          </a:xfrm>
          <a:prstGeom prst="down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11"/>
          <p:cNvSpPr/>
          <p:nvPr/>
        </p:nvSpPr>
        <p:spPr>
          <a:xfrm>
            <a:off x="9692640" y="3977640"/>
            <a:ext cx="274320" cy="365760"/>
          </a:xfrm>
          <a:prstGeom prst="down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371600" y="4480560"/>
            <a:ext cx="9144000" cy="640080"/>
          </a:xfrm>
          <a:prstGeom prst="roundRect">
            <a:avLst>
              <a:gd name="adj" fmla="val 4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Montserrat"/>
              </a:defRPr>
            </a:pPr>
            <a:r>
              <a:rPr dirty="0"/>
              <a:t>Gemini AI analyzes → Nutrition data saved to database</a:t>
            </a:r>
          </a:p>
        </p:txBody>
      </p:sp>
      <p:pic>
        <p:nvPicPr>
          <p:cNvPr id="14" name="Picture 13">
            <a:extLst>
              <a:ext uri="{FF2B5EF4-FFF2-40B4-BE49-F238E27FC236}">
                <a16:creationId xmlns:a16="http://schemas.microsoft.com/office/drawing/2014/main" id="{65C0B01E-9A78-6081-E8A8-8EBB18241896}"/>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1: Build the API Routes</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076326"/>
            <a:ext cx="5669280" cy="365760"/>
          </a:xfrm>
          <a:prstGeom prst="rect">
            <a:avLst/>
          </a:prstGeom>
          <a:noFill/>
        </p:spPr>
        <p:txBody>
          <a:bodyPr wrap="square">
            <a:spAutoFit/>
          </a:bodyPr>
          <a:lstStyle/>
          <a:p>
            <a:pPr algn="l">
              <a:defRPr sz="2000" b="1">
                <a:solidFill>
                  <a:srgbClr val="0C1752"/>
                </a:solidFill>
                <a:latin typeface="Montserrat"/>
              </a:defRPr>
            </a:pPr>
            <a:r>
              <a:rPr dirty="0"/>
              <a:t>Two API routes, one AI model</a:t>
            </a:r>
          </a:p>
        </p:txBody>
      </p:sp>
      <p:sp>
        <p:nvSpPr>
          <p:cNvPr id="7" name="Rounded Rectangle 6"/>
          <p:cNvSpPr/>
          <p:nvPr/>
        </p:nvSpPr>
        <p:spPr>
          <a:xfrm>
            <a:off x="274320" y="2011680"/>
            <a:ext cx="5669280" cy="1371600"/>
          </a:xfrm>
          <a:prstGeom prst="roundRect">
            <a:avLst>
              <a:gd name="adj" fmla="val 5000"/>
            </a:avLst>
          </a:prstGeom>
          <a:solidFill>
            <a:srgbClr val="FFFFFF"/>
          </a:solidFill>
          <a:ln w="2540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tIns="91440" rtlCol="0" anchor="t"/>
          <a:lstStyle/>
          <a:p>
            <a:pPr algn="ctr">
              <a:defRPr sz="1600" b="1">
                <a:solidFill>
                  <a:srgbClr val="6CCAD8"/>
                </a:solidFill>
                <a:latin typeface="Montserrat"/>
              </a:defRPr>
            </a:pPr>
            <a:r>
              <a:rPr dirty="0"/>
              <a:t>Route 1: Text Query</a:t>
            </a:r>
          </a:p>
          <a:p>
            <a:pPr marL="285750" indent="-285750">
              <a:spcBef>
                <a:spcPts val="600"/>
              </a:spcBef>
              <a:buFont typeface="Arial" panose="020B0604020202020204" pitchFamily="34" charset="0"/>
              <a:buChar char="•"/>
              <a:defRPr sz="1300">
                <a:solidFill>
                  <a:srgbClr val="333333"/>
                </a:solidFill>
                <a:latin typeface="Montserrat"/>
              </a:defRPr>
            </a:pPr>
            <a:r>
              <a:rPr dirty="0"/>
              <a:t>User types: "grilled chicken with rice"</a:t>
            </a:r>
          </a:p>
          <a:p>
            <a:pPr marL="285750" indent="-285750">
              <a:spcBef>
                <a:spcPts val="600"/>
              </a:spcBef>
              <a:buFont typeface="Arial" panose="020B0604020202020204" pitchFamily="34" charset="0"/>
              <a:buChar char="•"/>
              <a:defRPr sz="1300">
                <a:solidFill>
                  <a:srgbClr val="333333"/>
                </a:solidFill>
                <a:latin typeface="Montserrat"/>
              </a:defRPr>
            </a:pPr>
            <a:r>
              <a:rPr dirty="0"/>
              <a:t>Gemini parses the text and returns structured nutrition JSON</a:t>
            </a:r>
          </a:p>
          <a:p>
            <a:pPr marL="285750" indent="-285750">
              <a:spcBef>
                <a:spcPts val="600"/>
              </a:spcBef>
              <a:buFont typeface="Arial" panose="020B0604020202020204" pitchFamily="34" charset="0"/>
              <a:buChar char="•"/>
              <a:defRPr sz="1300">
                <a:solidFill>
                  <a:srgbClr val="333333"/>
                </a:solidFill>
                <a:latin typeface="Montserrat"/>
              </a:defRPr>
            </a:pPr>
            <a:r>
              <a:rPr dirty="0"/>
              <a:t>Model: gemini-2.5-flash-lite</a:t>
            </a:r>
          </a:p>
        </p:txBody>
      </p:sp>
      <p:sp>
        <p:nvSpPr>
          <p:cNvPr id="8" name="Rounded Rectangle 7"/>
          <p:cNvSpPr/>
          <p:nvPr/>
        </p:nvSpPr>
        <p:spPr>
          <a:xfrm>
            <a:off x="6106063" y="2011680"/>
            <a:ext cx="5669280" cy="1371600"/>
          </a:xfrm>
          <a:prstGeom prst="roundRect">
            <a:avLst>
              <a:gd name="adj" fmla="val 5000"/>
            </a:avLst>
          </a:prstGeom>
          <a:solidFill>
            <a:srgbClr val="FFFFFF"/>
          </a:solidFill>
          <a:ln w="25400">
            <a:solidFill>
              <a:srgbClr val="D56E48"/>
            </a:solidFill>
          </a:ln>
        </p:spPr>
        <p:style>
          <a:lnRef idx="1">
            <a:schemeClr val="accent1"/>
          </a:lnRef>
          <a:fillRef idx="3">
            <a:schemeClr val="accent1"/>
          </a:fillRef>
          <a:effectRef idx="2">
            <a:schemeClr val="accent1"/>
          </a:effectRef>
          <a:fontRef idx="minor">
            <a:schemeClr val="lt1"/>
          </a:fontRef>
        </p:style>
        <p:txBody>
          <a:bodyPr wrap="square" lIns="137160" tIns="91440" rtlCol="0" anchor="t"/>
          <a:lstStyle/>
          <a:p>
            <a:pPr algn="ctr">
              <a:defRPr sz="1600" b="1">
                <a:solidFill>
                  <a:srgbClr val="D56E48"/>
                </a:solidFill>
                <a:latin typeface="Montserrat"/>
              </a:defRPr>
            </a:pPr>
            <a:r>
              <a:rPr dirty="0"/>
              <a:t>Route 2: Image Upload</a:t>
            </a:r>
          </a:p>
          <a:p>
            <a:pPr marL="285750" indent="-285750">
              <a:spcBef>
                <a:spcPts val="600"/>
              </a:spcBef>
              <a:buFont typeface="Arial" panose="020B0604020202020204" pitchFamily="34" charset="0"/>
              <a:buChar char="•"/>
              <a:defRPr sz="1300">
                <a:solidFill>
                  <a:srgbClr val="333333"/>
                </a:solidFill>
                <a:latin typeface="Montserrat"/>
              </a:defRPr>
            </a:pPr>
            <a:r>
              <a:rPr sz="1300" dirty="0">
                <a:solidFill>
                  <a:srgbClr val="333333"/>
                </a:solidFill>
                <a:latin typeface="Montserrat"/>
              </a:rPr>
              <a:t>User uploads a photo of their meal</a:t>
            </a:r>
          </a:p>
          <a:p>
            <a:pPr marL="285750" indent="-285750">
              <a:spcBef>
                <a:spcPts val="600"/>
              </a:spcBef>
              <a:buFont typeface="Arial" panose="020B0604020202020204" pitchFamily="34" charset="0"/>
              <a:buChar char="•"/>
              <a:defRPr sz="1300">
                <a:solidFill>
                  <a:srgbClr val="333333"/>
                </a:solidFill>
                <a:latin typeface="Montserrat"/>
              </a:defRPr>
            </a:pPr>
            <a:r>
              <a:rPr sz="1300" dirty="0">
                <a:solidFill>
                  <a:srgbClr val="333333"/>
                </a:solidFill>
                <a:latin typeface="Montserrat"/>
              </a:rPr>
              <a:t>Gemini analyzes the image and identifies each food item</a:t>
            </a:r>
          </a:p>
          <a:p>
            <a:pPr marL="285750" indent="-285750">
              <a:spcBef>
                <a:spcPts val="600"/>
              </a:spcBef>
              <a:buFont typeface="Arial" panose="020B0604020202020204" pitchFamily="34" charset="0"/>
              <a:buChar char="•"/>
              <a:defRPr sz="1300">
                <a:solidFill>
                  <a:srgbClr val="333333"/>
                </a:solidFill>
                <a:latin typeface="Montserrat"/>
              </a:defRPr>
            </a:pPr>
            <a:r>
              <a:rPr sz="1300" dirty="0">
                <a:solidFill>
                  <a:srgbClr val="333333"/>
                </a:solidFill>
                <a:latin typeface="Montserrat"/>
              </a:rPr>
              <a:t>Returns structured nutrition JSON per item</a:t>
            </a:r>
          </a:p>
        </p:txBody>
      </p:sp>
      <p:sp>
        <p:nvSpPr>
          <p:cNvPr id="9" name="Rounded Rectangle 8"/>
          <p:cNvSpPr/>
          <p:nvPr/>
        </p:nvSpPr>
        <p:spPr>
          <a:xfrm>
            <a:off x="3108960" y="4135754"/>
            <a:ext cx="5669280" cy="457200"/>
          </a:xfrm>
          <a:prstGeom prst="roundRect">
            <a:avLst>
              <a:gd name="adj" fmla="val 5000"/>
            </a:avLst>
          </a:prstGeom>
          <a:solidFill>
            <a:srgbClr val="E8EAF2"/>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0C1752"/>
                </a:solidFill>
                <a:latin typeface="Montserrat"/>
              </a:defRPr>
            </a:pPr>
            <a:r>
              <a:t>Backend only — don’t touch the frontend yet</a:t>
            </a:r>
          </a:p>
        </p:txBody>
      </p:sp>
      <p:pic>
        <p:nvPicPr>
          <p:cNvPr id="20" name="Picture 19">
            <a:extLst>
              <a:ext uri="{FF2B5EF4-FFF2-40B4-BE49-F238E27FC236}">
                <a16:creationId xmlns:a16="http://schemas.microsoft.com/office/drawing/2014/main" id="{DDE29DB6-740B-5102-0CE2-8E7927236200}"/>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2: Wire the Frontend</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463040"/>
            <a:ext cx="5669280" cy="365760"/>
          </a:xfrm>
          <a:prstGeom prst="rect">
            <a:avLst/>
          </a:prstGeom>
          <a:noFill/>
        </p:spPr>
        <p:txBody>
          <a:bodyPr wrap="square">
            <a:spAutoFit/>
          </a:bodyPr>
          <a:lstStyle/>
          <a:p>
            <a:pPr algn="l">
              <a:defRPr sz="2000" b="1">
                <a:solidFill>
                  <a:srgbClr val="0C1752"/>
                </a:solidFill>
                <a:latin typeface="Montserrat"/>
              </a:defRPr>
            </a:pPr>
            <a:r>
              <a:t>Connect AI to the UI</a:t>
            </a:r>
          </a:p>
        </p:txBody>
      </p:sp>
      <p:sp>
        <p:nvSpPr>
          <p:cNvPr id="7" name="Rectangle 6"/>
          <p:cNvSpPr/>
          <p:nvPr/>
        </p:nvSpPr>
        <p:spPr>
          <a:xfrm>
            <a:off x="2779395" y="1962446"/>
            <a:ext cx="73152" cy="777240"/>
          </a:xfrm>
          <a:prstGeom prst="rect">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916555" y="1962446"/>
            <a:ext cx="5532120" cy="77724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73152" rtlCol="0" anchor="t"/>
          <a:lstStyle/>
          <a:p>
            <a:pPr algn="ctr">
              <a:defRPr sz="1500" b="1">
                <a:solidFill>
                  <a:srgbClr val="6CCAD8"/>
                </a:solidFill>
                <a:latin typeface="Montserrat"/>
              </a:defRPr>
            </a:pPr>
            <a:r>
              <a:rPr dirty="0"/>
              <a:t>Quick-Add</a:t>
            </a:r>
          </a:p>
          <a:p>
            <a:pPr>
              <a:spcBef>
                <a:spcPts val="400"/>
              </a:spcBef>
              <a:defRPr sz="1200">
                <a:solidFill>
                  <a:srgbClr val="333333"/>
                </a:solidFill>
                <a:latin typeface="Montserrat"/>
              </a:defRPr>
            </a:pPr>
            <a:r>
              <a:rPr dirty="0"/>
              <a:t>Tap common foods from existing list</a:t>
            </a:r>
            <a:r>
              <a:rPr lang="en-CA" dirty="0"/>
              <a:t>; </a:t>
            </a:r>
            <a:r>
              <a:rPr dirty="0"/>
              <a:t> saves instantly</a:t>
            </a:r>
          </a:p>
        </p:txBody>
      </p:sp>
      <p:sp>
        <p:nvSpPr>
          <p:cNvPr id="9" name="Rectangle 8"/>
          <p:cNvSpPr/>
          <p:nvPr/>
        </p:nvSpPr>
        <p:spPr>
          <a:xfrm>
            <a:off x="2779395" y="2922566"/>
            <a:ext cx="73152" cy="777240"/>
          </a:xfrm>
          <a:prstGeom prst="rect">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916555" y="2922566"/>
            <a:ext cx="5532120" cy="77724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73152" rtlCol="0" anchor="t"/>
          <a:lstStyle/>
          <a:p>
            <a:pPr algn="ctr">
              <a:defRPr sz="1500" b="1">
                <a:solidFill>
                  <a:srgbClr val="D56E48"/>
                </a:solidFill>
                <a:latin typeface="Montserrat"/>
              </a:defRPr>
            </a:pPr>
            <a:r>
              <a:t>Text Search</a:t>
            </a:r>
          </a:p>
          <a:p>
            <a:pPr>
              <a:spcBef>
                <a:spcPts val="400"/>
              </a:spcBef>
              <a:defRPr sz="1200">
                <a:solidFill>
                  <a:srgbClr val="333333"/>
                </a:solidFill>
                <a:latin typeface="Montserrat"/>
              </a:defRPr>
            </a:pPr>
            <a:r>
              <a:t>Type any food → AI route → nutrition data → save</a:t>
            </a:r>
          </a:p>
        </p:txBody>
      </p:sp>
      <p:sp>
        <p:nvSpPr>
          <p:cNvPr id="11" name="Rectangle 10"/>
          <p:cNvSpPr/>
          <p:nvPr/>
        </p:nvSpPr>
        <p:spPr>
          <a:xfrm>
            <a:off x="2779395" y="3882686"/>
            <a:ext cx="73152" cy="777240"/>
          </a:xfrm>
          <a:prstGeom prst="rect">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16555" y="3882686"/>
            <a:ext cx="5532120" cy="777240"/>
          </a:xfrm>
          <a:prstGeom prst="roundRect">
            <a:avLst>
              <a:gd name="adj" fmla="val 5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wrap="square" lIns="109728" tIns="73152" rtlCol="0" anchor="t"/>
          <a:lstStyle/>
          <a:p>
            <a:pPr algn="ctr">
              <a:defRPr sz="1500" b="1">
                <a:solidFill>
                  <a:srgbClr val="0C1752"/>
                </a:solidFill>
                <a:latin typeface="Montserrat"/>
              </a:defRPr>
            </a:pPr>
            <a:r>
              <a:t>Photo Upload</a:t>
            </a:r>
          </a:p>
          <a:p>
            <a:pPr>
              <a:spcBef>
                <a:spcPts val="400"/>
              </a:spcBef>
              <a:defRPr sz="1200">
                <a:solidFill>
                  <a:srgbClr val="333333"/>
                </a:solidFill>
                <a:latin typeface="Montserrat"/>
              </a:defRPr>
            </a:pPr>
            <a:r>
              <a:t>Snap a photo → preview image → AI identifies items → confirm &amp; save</a:t>
            </a:r>
          </a:p>
        </p:txBody>
      </p:sp>
      <p:sp>
        <p:nvSpPr>
          <p:cNvPr id="13" name="Rounded Rectangle 12"/>
          <p:cNvSpPr/>
          <p:nvPr/>
        </p:nvSpPr>
        <p:spPr>
          <a:xfrm>
            <a:off x="2779395" y="4888526"/>
            <a:ext cx="5669280" cy="777240"/>
          </a:xfrm>
          <a:prstGeom prst="roundRect">
            <a:avLst>
              <a:gd name="adj" fmla="val 5000"/>
            </a:avLst>
          </a:prstGeom>
          <a:solidFill>
            <a:srgbClr val="FDF0EA"/>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lIns="109728" tIns="73152" rtlCol="0" anchor="t"/>
          <a:lstStyle/>
          <a:p>
            <a:pPr algn="ctr">
              <a:defRPr sz="1400" b="1">
                <a:solidFill>
                  <a:srgbClr val="D56E48"/>
                </a:solidFill>
                <a:latin typeface="Montserrat"/>
              </a:defRPr>
            </a:pPr>
            <a:r>
              <a:t>UX Details</a:t>
            </a:r>
          </a:p>
          <a:p>
            <a:pPr>
              <a:spcBef>
                <a:spcPts val="400"/>
              </a:spcBef>
              <a:defRPr sz="1200">
                <a:solidFill>
                  <a:srgbClr val="333333"/>
                </a:solidFill>
                <a:latin typeface="Montserrat"/>
              </a:defRPr>
            </a:pPr>
            <a:r>
              <a:t>Loading spinner • Error handling • Photo preview • Multi-item confirmation</a:t>
            </a:r>
          </a:p>
        </p:txBody>
      </p:sp>
      <p:pic>
        <p:nvPicPr>
          <p:cNvPr id="24" name="Picture 23">
            <a:extLst>
              <a:ext uri="{FF2B5EF4-FFF2-40B4-BE49-F238E27FC236}">
                <a16:creationId xmlns:a16="http://schemas.microsoft.com/office/drawing/2014/main" id="{462991D0-86F4-1053-57D7-D80B20A86F1F}"/>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lang="en-CA" sz="2400" dirty="0">
                <a:solidFill>
                  <a:schemeClr val="bg1"/>
                </a:solidFill>
                <a:latin typeface="Montserrat" charset="0"/>
              </a:rPr>
              <a:t>Before and after testing</a:t>
            </a:r>
            <a:endParaRPr sz="2400" dirty="0">
              <a:solidFill>
                <a:schemeClr val="bg1"/>
              </a:solidFill>
              <a:latin typeface="Montserrat" charset="0"/>
            </a:endParaRP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7" name="Rounded Rectangle 6"/>
          <p:cNvSpPr/>
          <p:nvPr/>
        </p:nvSpPr>
        <p:spPr>
          <a:xfrm>
            <a:off x="293370" y="1348740"/>
            <a:ext cx="5120640" cy="2560320"/>
          </a:xfrm>
          <a:prstGeom prst="roundRect">
            <a:avLst>
              <a:gd name="adj" fmla="val 5000"/>
            </a:avLst>
          </a:prstGeom>
          <a:solidFill>
            <a:srgbClr val="FFFFFF"/>
          </a:solidFill>
          <a:ln w="38100">
            <a:solidFill>
              <a:srgbClr val="D56E48"/>
            </a:solidFill>
          </a:ln>
        </p:spPr>
        <p:style>
          <a:lnRef idx="1">
            <a:schemeClr val="accent1"/>
          </a:lnRef>
          <a:fillRef idx="3">
            <a:schemeClr val="accent1"/>
          </a:fillRef>
          <a:effectRef idx="2">
            <a:schemeClr val="accent1"/>
          </a:effectRef>
          <a:fontRef idx="minor">
            <a:schemeClr val="lt1"/>
          </a:fontRef>
        </p:style>
        <p:txBody>
          <a:bodyPr wrap="square" lIns="182880" tIns="137160" rIns="137160" rtlCol="0" anchor="t"/>
          <a:lstStyle/>
          <a:p>
            <a:pPr algn="ctr">
              <a:defRPr sz="2000" b="1">
                <a:solidFill>
                  <a:srgbClr val="D56E48"/>
                </a:solidFill>
                <a:latin typeface="Montserrat"/>
              </a:defRPr>
            </a:pPr>
            <a:r>
              <a:t>BEFORE</a:t>
            </a:r>
          </a:p>
          <a:p>
            <a:pPr algn="ctr">
              <a:spcBef>
                <a:spcPts val="600"/>
              </a:spcBef>
              <a:defRPr sz="1400">
                <a:solidFill>
                  <a:srgbClr val="333333"/>
                </a:solidFill>
                <a:latin typeface="Montserrat"/>
              </a:defRPr>
            </a:pPr>
            <a:endParaRPr/>
          </a:p>
          <a:p>
            <a:pPr algn="ctr">
              <a:spcBef>
                <a:spcPts val="600"/>
              </a:spcBef>
              <a:defRPr sz="1400">
                <a:solidFill>
                  <a:srgbClr val="333333"/>
                </a:solidFill>
                <a:latin typeface="Montserrat"/>
              </a:defRPr>
            </a:pPr>
            <a:r>
              <a:t>Pick from a list of 20 hardcoded foods</a:t>
            </a:r>
          </a:p>
          <a:p>
            <a:pPr algn="ctr">
              <a:spcBef>
                <a:spcPts val="600"/>
              </a:spcBef>
              <a:defRPr sz="1400">
                <a:solidFill>
                  <a:srgbClr val="333333"/>
                </a:solidFill>
                <a:latin typeface="Montserrat"/>
              </a:defRPr>
            </a:pPr>
            <a:endParaRPr/>
          </a:p>
          <a:p>
            <a:pPr algn="ctr">
              <a:spcBef>
                <a:spcPts val="600"/>
              </a:spcBef>
              <a:defRPr sz="1400">
                <a:solidFill>
                  <a:srgbClr val="333333"/>
                </a:solidFill>
                <a:latin typeface="Montserrat"/>
              </a:defRPr>
            </a:pPr>
            <a:r>
              <a:t>Limited options, no customization</a:t>
            </a:r>
          </a:p>
          <a:p>
            <a:pPr algn="ctr">
              <a:spcBef>
                <a:spcPts val="600"/>
              </a:spcBef>
              <a:defRPr sz="1400">
                <a:solidFill>
                  <a:srgbClr val="333333"/>
                </a:solidFill>
                <a:latin typeface="Montserrat"/>
              </a:defRPr>
            </a:pPr>
            <a:r>
              <a:t>Manual calorie entry for anything else</a:t>
            </a:r>
          </a:p>
        </p:txBody>
      </p:sp>
      <p:sp>
        <p:nvSpPr>
          <p:cNvPr id="8" name="Right Arrow 7"/>
          <p:cNvSpPr/>
          <p:nvPr/>
        </p:nvSpPr>
        <p:spPr>
          <a:xfrm>
            <a:off x="5596890" y="2263140"/>
            <a:ext cx="502920" cy="411480"/>
          </a:xfrm>
          <a:prstGeom prst="rightArrow">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36970" y="1348740"/>
            <a:ext cx="5120640" cy="2560320"/>
          </a:xfrm>
          <a:prstGeom prst="roundRect">
            <a:avLst>
              <a:gd name="adj" fmla="val 5000"/>
            </a:avLst>
          </a:prstGeom>
          <a:solidFill>
            <a:srgbClr val="FFFFFF"/>
          </a:solidFill>
          <a:ln w="38100">
            <a:solidFill>
              <a:srgbClr val="6CCAD8"/>
            </a:solidFill>
          </a:ln>
        </p:spPr>
        <p:style>
          <a:lnRef idx="1">
            <a:schemeClr val="accent1"/>
          </a:lnRef>
          <a:fillRef idx="3">
            <a:schemeClr val="accent1"/>
          </a:fillRef>
          <a:effectRef idx="2">
            <a:schemeClr val="accent1"/>
          </a:effectRef>
          <a:fontRef idx="minor">
            <a:schemeClr val="lt1"/>
          </a:fontRef>
        </p:style>
        <p:txBody>
          <a:bodyPr wrap="square" lIns="182880" tIns="137160" rIns="137160" rtlCol="0" anchor="t"/>
          <a:lstStyle/>
          <a:p>
            <a:pPr algn="ctr">
              <a:defRPr sz="2000" b="1">
                <a:solidFill>
                  <a:srgbClr val="6CCAD8"/>
                </a:solidFill>
                <a:latin typeface="Montserrat"/>
              </a:defRPr>
            </a:pPr>
            <a:r>
              <a:t>AFTER</a:t>
            </a:r>
          </a:p>
          <a:p>
            <a:pPr algn="ctr">
              <a:spcBef>
                <a:spcPts val="600"/>
              </a:spcBef>
              <a:defRPr sz="1400">
                <a:solidFill>
                  <a:srgbClr val="333333"/>
                </a:solidFill>
                <a:latin typeface="Montserrat"/>
              </a:defRPr>
            </a:pPr>
            <a:endParaRPr/>
          </a:p>
          <a:p>
            <a:pPr algn="ctr">
              <a:spcBef>
                <a:spcPts val="600"/>
              </a:spcBef>
              <a:defRPr sz="1400">
                <a:solidFill>
                  <a:srgbClr val="333333"/>
                </a:solidFill>
                <a:latin typeface="Montserrat"/>
              </a:defRPr>
            </a:pPr>
            <a:r>
              <a:t>Type anything OR snap a photo</a:t>
            </a:r>
          </a:p>
          <a:p>
            <a:pPr algn="ctr">
              <a:spcBef>
                <a:spcPts val="600"/>
              </a:spcBef>
              <a:defRPr sz="1400">
                <a:solidFill>
                  <a:srgbClr val="333333"/>
                </a:solidFill>
                <a:latin typeface="Montserrat"/>
              </a:defRPr>
            </a:pPr>
            <a:endParaRPr/>
          </a:p>
          <a:p>
            <a:pPr algn="ctr">
              <a:spcBef>
                <a:spcPts val="600"/>
              </a:spcBef>
              <a:defRPr sz="1400">
                <a:solidFill>
                  <a:srgbClr val="333333"/>
                </a:solidFill>
                <a:latin typeface="Montserrat"/>
              </a:defRPr>
            </a:pPr>
            <a:r>
              <a:t>AI identifies every food item automatically</a:t>
            </a:r>
          </a:p>
          <a:p>
            <a:pPr algn="ctr">
              <a:spcBef>
                <a:spcPts val="600"/>
              </a:spcBef>
              <a:defRPr sz="1400">
                <a:solidFill>
                  <a:srgbClr val="333333"/>
                </a:solidFill>
                <a:latin typeface="Montserrat"/>
              </a:defRPr>
            </a:pPr>
            <a:r>
              <a:t>Accurate nutrition data in seconds</a:t>
            </a:r>
          </a:p>
        </p:txBody>
      </p:sp>
      <p:sp>
        <p:nvSpPr>
          <p:cNvPr id="10" name="Rounded Rectangle 9"/>
          <p:cNvSpPr/>
          <p:nvPr/>
        </p:nvSpPr>
        <p:spPr>
          <a:xfrm>
            <a:off x="1371600" y="5074920"/>
            <a:ext cx="9144000" cy="594360"/>
          </a:xfrm>
          <a:prstGeom prst="roundRect">
            <a:avLst>
              <a:gd name="adj" fmla="val 4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Montserrat"/>
              </a:defRPr>
            </a:pPr>
            <a:r>
              <a:t>From a basic food picker to an AI-powered nutrition tracker</a:t>
            </a:r>
          </a:p>
        </p:txBody>
      </p:sp>
      <p:pic>
        <p:nvPicPr>
          <p:cNvPr id="11" name="Picture 10">
            <a:extLst>
              <a:ext uri="{FF2B5EF4-FFF2-40B4-BE49-F238E27FC236}">
                <a16:creationId xmlns:a16="http://schemas.microsoft.com/office/drawing/2014/main" id="{31C66EC0-872B-93F5-1EE9-8486784B36DE}"/>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D2C8-B1E9-A470-ED72-99920C88165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C269A4-68CC-13F9-1752-5E3DE17808F1}"/>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BA4DF5A1-7379-AC69-4B15-ED292B888F5B}"/>
              </a:ext>
            </a:extLst>
          </p:cNvPr>
          <p:cNvSpPr/>
          <p:nvPr/>
        </p:nvSpPr>
        <p:spPr>
          <a:xfrm>
            <a:off x="134842" y="120240"/>
            <a:ext cx="5336864" cy="2308324"/>
          </a:xfrm>
          <a:prstGeom prst="rect">
            <a:avLst/>
          </a:prstGeom>
        </p:spPr>
        <p:txBody>
          <a:bodyPr wrap="square">
            <a:spAutoFit/>
          </a:bodyPr>
          <a:lstStyle/>
          <a:p>
            <a:r>
              <a:rPr lang="en-US" sz="3600" b="1" dirty="0">
                <a:solidFill>
                  <a:schemeClr val="bg1"/>
                </a:solidFill>
                <a:latin typeface="Montserrat" charset="0"/>
                <a:ea typeface="Montserrat" charset="0"/>
                <a:cs typeface="Montserrat" charset="0"/>
              </a:rPr>
              <a:t>PROJECT: BUILD A CALORIE TRACKER WITH CLAUDE CODE (PHASE 3)</a:t>
            </a:r>
          </a:p>
        </p:txBody>
      </p:sp>
      <p:pic>
        <p:nvPicPr>
          <p:cNvPr id="6" name="Picture 5">
            <a:extLst>
              <a:ext uri="{FF2B5EF4-FFF2-40B4-BE49-F238E27FC236}">
                <a16:creationId xmlns:a16="http://schemas.microsoft.com/office/drawing/2014/main" id="{DF5172F2-C56A-8CD4-FA00-3E7E0C01DC8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420346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What is the Ralph Loop?</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Rounded Rectangle 5"/>
          <p:cNvSpPr/>
          <p:nvPr/>
        </p:nvSpPr>
        <p:spPr>
          <a:xfrm>
            <a:off x="608076" y="1645920"/>
            <a:ext cx="2011680" cy="2194560"/>
          </a:xfrm>
          <a:prstGeom prst="roundRect">
            <a:avLst>
              <a:gd name="adj" fmla="val 5000"/>
            </a:avLst>
          </a:prstGeom>
          <a:solidFill>
            <a:srgbClr val="EAF7FA"/>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tIns="548640" rtlCol="0" anchor="t"/>
          <a:lstStyle/>
          <a:p>
            <a:pPr algn="ctr">
              <a:defRPr sz="1600" b="1">
                <a:solidFill>
                  <a:srgbClr val="0C1752"/>
                </a:solidFill>
                <a:latin typeface="Montserrat"/>
              </a:defRPr>
            </a:pPr>
            <a:r>
              <a:t>Review</a:t>
            </a:r>
          </a:p>
          <a:p>
            <a:pPr algn="ctr">
              <a:spcBef>
                <a:spcPts val="800"/>
              </a:spcBef>
              <a:defRPr sz="1300">
                <a:solidFill>
                  <a:srgbClr val="333333"/>
                </a:solidFill>
                <a:latin typeface="Montserrat"/>
              </a:defRPr>
            </a:pPr>
            <a:r>
              <a:t>Look at the</a:t>
            </a:r>
            <a:br/>
            <a:r>
              <a:t>current state</a:t>
            </a:r>
          </a:p>
        </p:txBody>
      </p:sp>
      <p:sp>
        <p:nvSpPr>
          <p:cNvPr id="7" name="Rounded Rectangle 6"/>
          <p:cNvSpPr/>
          <p:nvPr/>
        </p:nvSpPr>
        <p:spPr>
          <a:xfrm>
            <a:off x="1357884" y="1444752"/>
            <a:ext cx="502920" cy="502920"/>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Montserrat"/>
              </a:defRPr>
            </a:pPr>
            <a:r>
              <a:t>R</a:t>
            </a:r>
          </a:p>
        </p:txBody>
      </p:sp>
      <p:sp>
        <p:nvSpPr>
          <p:cNvPr id="8" name="Right Arrow 7"/>
          <p:cNvSpPr/>
          <p:nvPr/>
        </p:nvSpPr>
        <p:spPr>
          <a:xfrm>
            <a:off x="2628900" y="2468880"/>
            <a:ext cx="201168" cy="365760"/>
          </a:xfrm>
          <a:prstGeom prst="right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8356" y="1645920"/>
            <a:ext cx="2011680" cy="2194560"/>
          </a:xfrm>
          <a:prstGeom prst="roundRect">
            <a:avLst>
              <a:gd name="adj" fmla="val 5000"/>
            </a:avLst>
          </a:prstGeom>
          <a:solidFill>
            <a:srgbClr val="FDF0EA"/>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tIns="548640" rtlCol="0" anchor="t"/>
          <a:lstStyle/>
          <a:p>
            <a:pPr algn="ctr">
              <a:defRPr sz="1600" b="1">
                <a:solidFill>
                  <a:srgbClr val="0C1752"/>
                </a:solidFill>
                <a:latin typeface="Montserrat"/>
              </a:defRPr>
            </a:pPr>
            <a:r>
              <a:t>Assess</a:t>
            </a:r>
          </a:p>
          <a:p>
            <a:pPr algn="ctr">
              <a:spcBef>
                <a:spcPts val="800"/>
              </a:spcBef>
              <a:defRPr sz="1300">
                <a:solidFill>
                  <a:srgbClr val="333333"/>
                </a:solidFill>
                <a:latin typeface="Montserrat"/>
              </a:defRPr>
            </a:pPr>
            <a:r>
              <a:t>What works,</a:t>
            </a:r>
            <a:br/>
            <a:r>
              <a:t>what doesn’t</a:t>
            </a:r>
          </a:p>
        </p:txBody>
      </p:sp>
      <p:sp>
        <p:nvSpPr>
          <p:cNvPr id="10" name="Rounded Rectangle 9"/>
          <p:cNvSpPr/>
          <p:nvPr/>
        </p:nvSpPr>
        <p:spPr>
          <a:xfrm>
            <a:off x="3598164" y="1444752"/>
            <a:ext cx="502920" cy="502920"/>
          </a:xfrm>
          <a:prstGeom prst="roundRect">
            <a:avLst>
              <a:gd name="adj" fmla="val 50000"/>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Montserrat"/>
              </a:defRPr>
            </a:pPr>
            <a:r>
              <a:t>A</a:t>
            </a:r>
          </a:p>
        </p:txBody>
      </p:sp>
      <p:sp>
        <p:nvSpPr>
          <p:cNvPr id="11" name="Right Arrow 10"/>
          <p:cNvSpPr/>
          <p:nvPr/>
        </p:nvSpPr>
        <p:spPr>
          <a:xfrm>
            <a:off x="4869180" y="2468880"/>
            <a:ext cx="201168" cy="365760"/>
          </a:xfrm>
          <a:prstGeom prst="right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88636" y="1645920"/>
            <a:ext cx="2011680" cy="2194560"/>
          </a:xfrm>
          <a:prstGeom prst="roundRect">
            <a:avLst>
              <a:gd name="adj" fmla="val 5000"/>
            </a:avLst>
          </a:prstGeom>
          <a:solidFill>
            <a:srgbClr val="E8EAF2"/>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tIns="548640" rtlCol="0" anchor="t"/>
          <a:lstStyle/>
          <a:p>
            <a:pPr algn="ctr">
              <a:defRPr sz="1600" b="1">
                <a:solidFill>
                  <a:srgbClr val="0C1752"/>
                </a:solidFill>
                <a:latin typeface="Montserrat"/>
              </a:defRPr>
            </a:pPr>
            <a:r>
              <a:t>List</a:t>
            </a:r>
          </a:p>
          <a:p>
            <a:pPr algn="ctr">
              <a:spcBef>
                <a:spcPts val="800"/>
              </a:spcBef>
              <a:defRPr sz="1300">
                <a:solidFill>
                  <a:srgbClr val="333333"/>
                </a:solidFill>
                <a:latin typeface="Montserrat"/>
              </a:defRPr>
            </a:pPr>
            <a:r>
              <a:t>Potential</a:t>
            </a:r>
            <a:br/>
            <a:r>
              <a:t>improvements</a:t>
            </a:r>
          </a:p>
        </p:txBody>
      </p:sp>
      <p:sp>
        <p:nvSpPr>
          <p:cNvPr id="13" name="Rounded Rectangle 12"/>
          <p:cNvSpPr/>
          <p:nvPr/>
        </p:nvSpPr>
        <p:spPr>
          <a:xfrm>
            <a:off x="5838444" y="1444752"/>
            <a:ext cx="502920" cy="502920"/>
          </a:xfrm>
          <a:prstGeom prst="roundRect">
            <a:avLst>
              <a:gd name="adj" fmla="val 50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Montserrat"/>
              </a:defRPr>
            </a:pPr>
            <a:r>
              <a:t>L</a:t>
            </a:r>
          </a:p>
        </p:txBody>
      </p:sp>
      <p:sp>
        <p:nvSpPr>
          <p:cNvPr id="14" name="Right Arrow 13"/>
          <p:cNvSpPr/>
          <p:nvPr/>
        </p:nvSpPr>
        <p:spPr>
          <a:xfrm>
            <a:off x="7109460" y="2468880"/>
            <a:ext cx="201168" cy="365760"/>
          </a:xfrm>
          <a:prstGeom prst="right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28916" y="1645920"/>
            <a:ext cx="2011680" cy="2194560"/>
          </a:xfrm>
          <a:prstGeom prst="roundRect">
            <a:avLst>
              <a:gd name="adj" fmla="val 5000"/>
            </a:avLst>
          </a:prstGeom>
          <a:solidFill>
            <a:srgbClr val="EAF7FA"/>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tIns="548640" rtlCol="0" anchor="t"/>
          <a:lstStyle/>
          <a:p>
            <a:pPr algn="ctr">
              <a:defRPr sz="1600" b="1">
                <a:solidFill>
                  <a:srgbClr val="0C1752"/>
                </a:solidFill>
                <a:latin typeface="Montserrat"/>
              </a:defRPr>
            </a:pPr>
            <a:r>
              <a:t>Prioritize</a:t>
            </a:r>
          </a:p>
          <a:p>
            <a:pPr algn="ctr">
              <a:spcBef>
                <a:spcPts val="800"/>
              </a:spcBef>
              <a:defRPr sz="1300">
                <a:solidFill>
                  <a:srgbClr val="333333"/>
                </a:solidFill>
                <a:latin typeface="Montserrat"/>
              </a:defRPr>
            </a:pPr>
            <a:r>
              <a:t>Rank by impact</a:t>
            </a:r>
            <a:br/>
            <a:r>
              <a:t>vs effort</a:t>
            </a:r>
          </a:p>
        </p:txBody>
      </p:sp>
      <p:sp>
        <p:nvSpPr>
          <p:cNvPr id="16" name="Rounded Rectangle 15"/>
          <p:cNvSpPr/>
          <p:nvPr/>
        </p:nvSpPr>
        <p:spPr>
          <a:xfrm>
            <a:off x="8078724" y="1444752"/>
            <a:ext cx="502920" cy="502920"/>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Montserrat"/>
              </a:defRPr>
            </a:pPr>
            <a:r>
              <a:t>P</a:t>
            </a:r>
          </a:p>
        </p:txBody>
      </p:sp>
      <p:sp>
        <p:nvSpPr>
          <p:cNvPr id="17" name="Right Arrow 16"/>
          <p:cNvSpPr/>
          <p:nvPr/>
        </p:nvSpPr>
        <p:spPr>
          <a:xfrm>
            <a:off x="9349740" y="2468880"/>
            <a:ext cx="201168" cy="365760"/>
          </a:xfrm>
          <a:prstGeom prst="right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569196" y="1645920"/>
            <a:ext cx="2011680" cy="2194560"/>
          </a:xfrm>
          <a:prstGeom prst="roundRect">
            <a:avLst>
              <a:gd name="adj" fmla="val 5000"/>
            </a:avLst>
          </a:prstGeom>
          <a:solidFill>
            <a:srgbClr val="FDF0EA"/>
          </a:solidFill>
          <a:ln w="19050">
            <a:solidFill>
              <a:srgbClr val="D56E48"/>
            </a:solidFill>
          </a:ln>
        </p:spPr>
        <p:style>
          <a:lnRef idx="1">
            <a:schemeClr val="accent1"/>
          </a:lnRef>
          <a:fillRef idx="3">
            <a:schemeClr val="accent1"/>
          </a:fillRef>
          <a:effectRef idx="2">
            <a:schemeClr val="accent1"/>
          </a:effectRef>
          <a:fontRef idx="minor">
            <a:schemeClr val="lt1"/>
          </a:fontRef>
        </p:style>
        <p:txBody>
          <a:bodyPr wrap="square" tIns="548640" rtlCol="0" anchor="t"/>
          <a:lstStyle/>
          <a:p>
            <a:pPr algn="ctr">
              <a:defRPr sz="1600" b="1">
                <a:solidFill>
                  <a:srgbClr val="0C1752"/>
                </a:solidFill>
                <a:latin typeface="Montserrat"/>
              </a:defRPr>
            </a:pPr>
            <a:r>
              <a:t>Handle</a:t>
            </a:r>
          </a:p>
          <a:p>
            <a:pPr algn="ctr">
              <a:spcBef>
                <a:spcPts val="800"/>
              </a:spcBef>
              <a:defRPr sz="1300">
                <a:solidFill>
                  <a:srgbClr val="333333"/>
                </a:solidFill>
                <a:latin typeface="Montserrat"/>
              </a:defRPr>
            </a:pPr>
            <a:r>
              <a:t>Implement the</a:t>
            </a:r>
            <a:br/>
            <a:r>
              <a:t>top ones</a:t>
            </a:r>
          </a:p>
        </p:txBody>
      </p:sp>
      <p:sp>
        <p:nvSpPr>
          <p:cNvPr id="19" name="Rounded Rectangle 18"/>
          <p:cNvSpPr/>
          <p:nvPr/>
        </p:nvSpPr>
        <p:spPr>
          <a:xfrm>
            <a:off x="10319004" y="1444752"/>
            <a:ext cx="502920" cy="502920"/>
          </a:xfrm>
          <a:prstGeom prst="roundRect">
            <a:avLst>
              <a:gd name="adj" fmla="val 50000"/>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FFFFF"/>
                </a:solidFill>
                <a:latin typeface="Montserrat"/>
              </a:defRPr>
            </a:pPr>
            <a:r>
              <a:t>H</a:t>
            </a:r>
          </a:p>
        </p:txBody>
      </p:sp>
      <p:sp>
        <p:nvSpPr>
          <p:cNvPr id="20" name="TextBox 19"/>
          <p:cNvSpPr txBox="1"/>
          <p:nvPr/>
        </p:nvSpPr>
        <p:spPr>
          <a:xfrm>
            <a:off x="274320" y="4160520"/>
            <a:ext cx="11155680" cy="457200"/>
          </a:xfrm>
          <a:prstGeom prst="rect">
            <a:avLst/>
          </a:prstGeom>
          <a:noFill/>
        </p:spPr>
        <p:txBody>
          <a:bodyPr wrap="square">
            <a:spAutoFit/>
          </a:bodyPr>
          <a:lstStyle/>
          <a:p>
            <a:pPr algn="ctr">
              <a:defRPr sz="1600" b="1">
                <a:solidFill>
                  <a:srgbClr val="D56E48"/>
                </a:solidFill>
                <a:latin typeface="Montserrat"/>
              </a:defRPr>
            </a:pPr>
            <a:r>
              <a:rPr dirty="0"/>
              <a:t>It’s a plugin — install it and run /ralph-loop</a:t>
            </a:r>
          </a:p>
        </p:txBody>
      </p:sp>
      <p:pic>
        <p:nvPicPr>
          <p:cNvPr id="21" name="Picture 20">
            <a:extLst>
              <a:ext uri="{FF2B5EF4-FFF2-40B4-BE49-F238E27FC236}">
                <a16:creationId xmlns:a16="http://schemas.microsoft.com/office/drawing/2014/main" id="{9452E753-88AB-9961-948F-74675E528840}"/>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The Quality Loop</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463040"/>
            <a:ext cx="11155680" cy="400110"/>
          </a:xfrm>
          <a:prstGeom prst="rect">
            <a:avLst/>
          </a:prstGeom>
          <a:noFill/>
        </p:spPr>
        <p:txBody>
          <a:bodyPr wrap="square">
            <a:spAutoFit/>
          </a:bodyPr>
          <a:lstStyle/>
          <a:p>
            <a:pPr algn="ctr">
              <a:defRPr sz="2000" b="1">
                <a:solidFill>
                  <a:srgbClr val="0C1752"/>
                </a:solidFill>
                <a:latin typeface="Montserrat"/>
              </a:defRPr>
            </a:pPr>
            <a:r>
              <a:rPr dirty="0"/>
              <a:t>Structured, verified improvement</a:t>
            </a:r>
            <a:r>
              <a:rPr lang="en-CA" dirty="0"/>
              <a:t>, </a:t>
            </a:r>
            <a:r>
              <a:rPr dirty="0"/>
              <a:t>not random changes</a:t>
            </a:r>
          </a:p>
        </p:txBody>
      </p:sp>
      <p:sp>
        <p:nvSpPr>
          <p:cNvPr id="7" name="Rounded Rectangle 6"/>
          <p:cNvSpPr/>
          <p:nvPr/>
        </p:nvSpPr>
        <p:spPr>
          <a:xfrm>
            <a:off x="180829" y="2240280"/>
            <a:ext cx="2926080" cy="1828800"/>
          </a:xfrm>
          <a:prstGeom prst="roundRect">
            <a:avLst>
              <a:gd name="adj" fmla="val 5000"/>
            </a:avLst>
          </a:prstGeom>
          <a:solidFill>
            <a:srgbClr val="E8EAF2"/>
          </a:solidFill>
          <a:ln w="25400">
            <a:solidFill>
              <a:srgbClr val="0C175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0C1752"/>
                </a:solidFill>
                <a:latin typeface="Montserrat"/>
              </a:defRPr>
            </a:pPr>
            <a:r>
              <a:t>Ralph</a:t>
            </a:r>
            <a:br/>
            <a:r>
              <a:t>Reviews</a:t>
            </a:r>
          </a:p>
        </p:txBody>
      </p:sp>
      <p:sp>
        <p:nvSpPr>
          <p:cNvPr id="8" name="Right Arrow 7"/>
          <p:cNvSpPr/>
          <p:nvPr/>
        </p:nvSpPr>
        <p:spPr>
          <a:xfrm>
            <a:off x="3152629" y="2880360"/>
            <a:ext cx="365760" cy="411480"/>
          </a:xfrm>
          <a:prstGeom prst="rightArrow">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64109" y="2240280"/>
            <a:ext cx="2926080" cy="1828800"/>
          </a:xfrm>
          <a:prstGeom prst="roundRect">
            <a:avLst>
              <a:gd name="adj" fmla="val 5000"/>
            </a:avLst>
          </a:prstGeom>
          <a:solidFill>
            <a:srgbClr val="FDF0EA"/>
          </a:solidFill>
          <a:ln w="25400">
            <a:solidFill>
              <a:srgbClr val="D56E4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D56E48"/>
                </a:solidFill>
                <a:latin typeface="Montserrat"/>
              </a:defRPr>
            </a:pPr>
            <a:r>
              <a:t>Implements</a:t>
            </a:r>
            <a:br/>
            <a:r>
              <a:t>Improvements</a:t>
            </a:r>
          </a:p>
        </p:txBody>
      </p:sp>
      <p:sp>
        <p:nvSpPr>
          <p:cNvPr id="10" name="Right Arrow 9"/>
          <p:cNvSpPr/>
          <p:nvPr/>
        </p:nvSpPr>
        <p:spPr>
          <a:xfrm>
            <a:off x="6535909" y="2880360"/>
            <a:ext cx="365760" cy="411480"/>
          </a:xfrm>
          <a:prstGeom prst="rightArrow">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947389" y="2240280"/>
            <a:ext cx="2926080" cy="1828800"/>
          </a:xfrm>
          <a:prstGeom prst="roundRect">
            <a:avLst>
              <a:gd name="adj" fmla="val 5000"/>
            </a:avLst>
          </a:prstGeom>
          <a:solidFill>
            <a:srgbClr val="EAF7FA"/>
          </a:solidFill>
          <a:ln w="25400">
            <a:solidFill>
              <a:srgbClr val="6CCAD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6CCAD8"/>
                </a:solidFill>
                <a:latin typeface="Montserrat"/>
              </a:defRPr>
            </a:pPr>
            <a:r>
              <a:t>Frontend-Design</a:t>
            </a:r>
            <a:br/>
            <a:r>
              <a:t>Verifies</a:t>
            </a:r>
          </a:p>
        </p:txBody>
      </p:sp>
      <p:sp>
        <p:nvSpPr>
          <p:cNvPr id="12" name="Rounded Rectangle 11"/>
          <p:cNvSpPr/>
          <p:nvPr/>
        </p:nvSpPr>
        <p:spPr>
          <a:xfrm>
            <a:off x="3200400" y="4389120"/>
            <a:ext cx="5760720" cy="502920"/>
          </a:xfrm>
          <a:prstGeom prst="roundRect">
            <a:avLst>
              <a:gd name="adj" fmla="val 5000"/>
            </a:avLst>
          </a:prstGeom>
          <a:solidFill>
            <a:srgbClr val="F5F5F5"/>
          </a:solidFill>
          <a:ln w="19050">
            <a:solidFill>
              <a:srgbClr val="E0E0E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0C1752"/>
                </a:solidFill>
                <a:latin typeface="Montserrat"/>
              </a:defRPr>
            </a:pPr>
            <a:r>
              <a:t>↻  Repeat 2–3 times until professional quality</a:t>
            </a:r>
          </a:p>
        </p:txBody>
      </p:sp>
      <p:sp>
        <p:nvSpPr>
          <p:cNvPr id="13" name="Right Arrow 12"/>
          <p:cNvSpPr/>
          <p:nvPr/>
        </p:nvSpPr>
        <p:spPr>
          <a:xfrm>
            <a:off x="9919189" y="2880360"/>
            <a:ext cx="365760" cy="411480"/>
          </a:xfrm>
          <a:prstGeom prst="rightArrow">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30669" y="2468880"/>
            <a:ext cx="1371600" cy="1371600"/>
          </a:xfrm>
          <a:prstGeom prst="roundRect">
            <a:avLst>
              <a:gd name="adj" fmla="val 15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Montserrat"/>
              </a:defRPr>
            </a:pPr>
            <a:r>
              <a:t>Done!</a:t>
            </a:r>
          </a:p>
          <a:p>
            <a:pPr algn="ctr">
              <a:spcBef>
                <a:spcPts val="400"/>
              </a:spcBef>
              <a:defRPr sz="1300" b="0">
                <a:solidFill>
                  <a:srgbClr val="B0B0B0"/>
                </a:solidFill>
                <a:latin typeface="Montserrat"/>
              </a:defRPr>
            </a:pPr>
            <a:r>
              <a:t>Ship it</a:t>
            </a:r>
          </a:p>
        </p:txBody>
      </p:sp>
      <p:sp>
        <p:nvSpPr>
          <p:cNvPr id="15" name="Rounded Rectangle 14"/>
          <p:cNvSpPr/>
          <p:nvPr/>
        </p:nvSpPr>
        <p:spPr>
          <a:xfrm>
            <a:off x="274320" y="5212080"/>
            <a:ext cx="11155680" cy="502920"/>
          </a:xfrm>
          <a:prstGeom prst="roundRect">
            <a:avLst>
              <a:gd name="adj" fmla="val 5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latin typeface="Montserrat"/>
              </a:defRPr>
            </a:pPr>
            <a:r>
              <a:rPr dirty="0"/>
              <a:t>Not random changes</a:t>
            </a:r>
            <a:r>
              <a:rPr lang="en-CA" dirty="0"/>
              <a:t>; </a:t>
            </a:r>
            <a:r>
              <a:rPr dirty="0"/>
              <a:t>structured, verified improvement</a:t>
            </a:r>
          </a:p>
        </p:txBody>
      </p:sp>
      <p:pic>
        <p:nvPicPr>
          <p:cNvPr id="16" name="Picture 15">
            <a:extLst>
              <a:ext uri="{FF2B5EF4-FFF2-40B4-BE49-F238E27FC236}">
                <a16:creationId xmlns:a16="http://schemas.microsoft.com/office/drawing/2014/main" id="{124060A8-3DC4-F28E-F398-A3A37D6EE85F}"/>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1: Install Tools</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154191"/>
            <a:ext cx="5486400" cy="457200"/>
          </a:xfrm>
          <a:prstGeom prst="rect">
            <a:avLst/>
          </a:prstGeom>
          <a:noFill/>
        </p:spPr>
        <p:txBody>
          <a:bodyPr wrap="square">
            <a:spAutoFit/>
          </a:bodyPr>
          <a:lstStyle/>
          <a:p>
            <a:pPr algn="l">
              <a:defRPr sz="1800" b="1">
                <a:solidFill>
                  <a:srgbClr val="0C1752"/>
                </a:solidFill>
                <a:latin typeface="Montserrat"/>
              </a:defRPr>
            </a:pPr>
            <a:r>
              <a:rPr dirty="0"/>
              <a:t>Two tools that work together:</a:t>
            </a:r>
          </a:p>
        </p:txBody>
      </p:sp>
      <p:sp>
        <p:nvSpPr>
          <p:cNvPr id="7" name="Rounded Rectangle 6"/>
          <p:cNvSpPr/>
          <p:nvPr/>
        </p:nvSpPr>
        <p:spPr>
          <a:xfrm>
            <a:off x="2430634" y="1895476"/>
            <a:ext cx="7170566" cy="1463040"/>
          </a:xfrm>
          <a:prstGeom prst="roundRect">
            <a:avLst>
              <a:gd name="adj" fmla="val 5000"/>
            </a:avLst>
          </a:prstGeom>
          <a:solidFill>
            <a:srgbClr val="E8EAF2"/>
          </a:solidFill>
          <a:ln w="19050">
            <a:solidFill>
              <a:srgbClr val="0C1752"/>
            </a:solid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600" b="1">
                <a:solidFill>
                  <a:srgbClr val="0C1752"/>
                </a:solidFill>
                <a:latin typeface="Montserrat"/>
              </a:defRPr>
            </a:pPr>
            <a:r>
              <a:rPr dirty="0"/>
              <a:t>Ralph Loop Plugin</a:t>
            </a:r>
          </a:p>
          <a:p>
            <a:pPr>
              <a:spcBef>
                <a:spcPts val="1000"/>
              </a:spcBef>
              <a:defRPr sz="1400" b="1">
                <a:solidFill>
                  <a:srgbClr val="D56E48"/>
                </a:solidFill>
                <a:latin typeface="Montserrat"/>
              </a:defRPr>
            </a:pPr>
            <a:r>
              <a:rPr lang="en-CA" dirty="0" err="1"/>
              <a:t>claude</a:t>
            </a:r>
            <a:r>
              <a:rPr lang="en-CA" dirty="0"/>
              <a:t> plugin marketplace add </a:t>
            </a:r>
            <a:r>
              <a:rPr lang="en-CA" dirty="0" err="1"/>
              <a:t>anthropics</a:t>
            </a:r>
            <a:r>
              <a:rPr lang="en-CA" dirty="0"/>
              <a:t>/</a:t>
            </a:r>
            <a:r>
              <a:rPr lang="en-CA" dirty="0" err="1"/>
              <a:t>claude</a:t>
            </a:r>
            <a:r>
              <a:rPr lang="en-CA" dirty="0"/>
              <a:t>-code</a:t>
            </a:r>
          </a:p>
          <a:p>
            <a:pPr>
              <a:spcBef>
                <a:spcPts val="1000"/>
              </a:spcBef>
              <a:defRPr sz="1400" b="1">
                <a:solidFill>
                  <a:srgbClr val="D56E48"/>
                </a:solidFill>
                <a:latin typeface="Montserrat"/>
              </a:defRPr>
            </a:pPr>
            <a:r>
              <a:rPr lang="en-CA" dirty="0" err="1"/>
              <a:t>claude</a:t>
            </a:r>
            <a:r>
              <a:rPr lang="en-CA" dirty="0"/>
              <a:t> plugin install ralph-</a:t>
            </a:r>
            <a:r>
              <a:rPr lang="en-CA" dirty="0" err="1"/>
              <a:t>wiggum</a:t>
            </a:r>
            <a:endParaRPr dirty="0"/>
          </a:p>
          <a:p>
            <a:pPr>
              <a:spcBef>
                <a:spcPts val="800"/>
              </a:spcBef>
              <a:defRPr sz="1300">
                <a:solidFill>
                  <a:srgbClr val="333333"/>
                </a:solidFill>
                <a:latin typeface="Montserrat"/>
              </a:defRPr>
            </a:pPr>
            <a:r>
              <a:rPr dirty="0"/>
              <a:t>Runs structured improvement cycles (Review, Assess, List, Prioritize, Handle)</a:t>
            </a:r>
          </a:p>
        </p:txBody>
      </p:sp>
      <p:sp>
        <p:nvSpPr>
          <p:cNvPr id="8" name="Rounded Rectangle 7"/>
          <p:cNvSpPr/>
          <p:nvPr/>
        </p:nvSpPr>
        <p:spPr>
          <a:xfrm>
            <a:off x="2430634" y="3541396"/>
            <a:ext cx="7170566" cy="1463040"/>
          </a:xfrm>
          <a:prstGeom prst="roundRect">
            <a:avLst>
              <a:gd name="adj" fmla="val 5000"/>
            </a:avLst>
          </a:prstGeom>
          <a:solidFill>
            <a:srgbClr val="EAF7FA"/>
          </a:solidFill>
          <a:ln w="190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37160" tIns="109728" rtlCol="0" anchor="t"/>
          <a:lstStyle/>
          <a:p>
            <a:pPr algn="ctr">
              <a:defRPr sz="1600" b="1">
                <a:solidFill>
                  <a:srgbClr val="6CCAD8"/>
                </a:solidFill>
                <a:latin typeface="Montserrat"/>
              </a:defRPr>
            </a:pPr>
            <a:r>
              <a:rPr dirty="0"/>
              <a:t>Frontend Design Skill</a:t>
            </a:r>
          </a:p>
          <a:p>
            <a:pPr>
              <a:spcBef>
                <a:spcPts val="1000"/>
              </a:spcBef>
              <a:defRPr sz="1400" b="1">
                <a:solidFill>
                  <a:srgbClr val="D56E48"/>
                </a:solidFill>
                <a:latin typeface="Montserrat"/>
              </a:defRPr>
            </a:pPr>
            <a:r>
              <a:rPr lang="en-CA" dirty="0" err="1"/>
              <a:t>npx</a:t>
            </a:r>
            <a:r>
              <a:rPr lang="en-CA" dirty="0"/>
              <a:t> skills add https://github.com/anthropics/skills --skill frontend-design</a:t>
            </a:r>
            <a:endParaRPr dirty="0"/>
          </a:p>
          <a:p>
            <a:pPr>
              <a:spcBef>
                <a:spcPts val="800"/>
              </a:spcBef>
              <a:defRPr sz="1300">
                <a:solidFill>
                  <a:srgbClr val="333333"/>
                </a:solidFill>
                <a:latin typeface="Montserrat"/>
              </a:defRPr>
            </a:pPr>
            <a:r>
              <a:rPr dirty="0"/>
              <a:t>Gives Claude the eye of a professional UI designer — verifies quality after each round</a:t>
            </a:r>
          </a:p>
        </p:txBody>
      </p:sp>
      <p:sp>
        <p:nvSpPr>
          <p:cNvPr id="9" name="TextBox 8"/>
          <p:cNvSpPr txBox="1"/>
          <p:nvPr/>
        </p:nvSpPr>
        <p:spPr>
          <a:xfrm>
            <a:off x="3430759" y="5396032"/>
            <a:ext cx="5669280" cy="307777"/>
          </a:xfrm>
          <a:prstGeom prst="rect">
            <a:avLst/>
          </a:prstGeom>
          <a:noFill/>
        </p:spPr>
        <p:txBody>
          <a:bodyPr wrap="square">
            <a:spAutoFit/>
          </a:bodyPr>
          <a:lstStyle/>
          <a:p>
            <a:pPr algn="l">
              <a:defRPr sz="1300" b="1">
                <a:solidFill>
                  <a:srgbClr val="D56E48"/>
                </a:solidFill>
                <a:latin typeface="Montserrat"/>
              </a:defRPr>
            </a:pPr>
            <a:r>
              <a:rPr sz="1400" dirty="0"/>
              <a:t>Run these in your terminal not inside Claude Code</a:t>
            </a:r>
          </a:p>
        </p:txBody>
      </p:sp>
      <p:pic>
        <p:nvPicPr>
          <p:cNvPr id="20" name="Picture 19">
            <a:extLst>
              <a:ext uri="{FF2B5EF4-FFF2-40B4-BE49-F238E27FC236}">
                <a16:creationId xmlns:a16="http://schemas.microsoft.com/office/drawing/2014/main" id="{310B1AE7-2856-7FC8-E564-359636A09F03}"/>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Step 2: Run Ralph &amp; Polish</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TextBox 5"/>
          <p:cNvSpPr txBox="1"/>
          <p:nvPr/>
        </p:nvSpPr>
        <p:spPr>
          <a:xfrm>
            <a:off x="274320" y="1188720"/>
            <a:ext cx="5669280" cy="457200"/>
          </a:xfrm>
          <a:prstGeom prst="rect">
            <a:avLst/>
          </a:prstGeom>
          <a:noFill/>
        </p:spPr>
        <p:txBody>
          <a:bodyPr wrap="square">
            <a:spAutoFit/>
          </a:bodyPr>
          <a:lstStyle/>
          <a:p>
            <a:pPr algn="l">
              <a:defRPr sz="1800" b="1">
                <a:solidFill>
                  <a:srgbClr val="0C1752"/>
                </a:solidFill>
                <a:latin typeface="Montserrat"/>
              </a:defRPr>
            </a:pPr>
            <a:r>
              <a:t>The quality bar:</a:t>
            </a:r>
          </a:p>
        </p:txBody>
      </p:sp>
      <p:sp>
        <p:nvSpPr>
          <p:cNvPr id="7" name="TextBox 6"/>
          <p:cNvSpPr txBox="1"/>
          <p:nvPr/>
        </p:nvSpPr>
        <p:spPr>
          <a:xfrm>
            <a:off x="274320" y="1645920"/>
            <a:ext cx="10488930" cy="1554272"/>
          </a:xfrm>
          <a:prstGeom prst="rect">
            <a:avLst/>
          </a:prstGeom>
          <a:noFill/>
        </p:spPr>
        <p:txBody>
          <a:bodyPr wrap="square">
            <a:spAutoFit/>
          </a:bodyPr>
          <a:lstStyle/>
          <a:p>
            <a:pPr marL="285750" indent="-285750">
              <a:buFont typeface="Arial" panose="020B0604020202020204" pitchFamily="34" charset="0"/>
              <a:buChar char="•"/>
              <a:defRPr sz="1400">
                <a:solidFill>
                  <a:srgbClr val="333333"/>
                </a:solidFill>
                <a:latin typeface="Montserrat"/>
              </a:defRPr>
            </a:pPr>
            <a:r>
              <a:rPr dirty="0"/>
              <a:t>Looks like a real product</a:t>
            </a:r>
            <a:r>
              <a:rPr lang="en-CA" dirty="0"/>
              <a:t>;</a:t>
            </a:r>
            <a:r>
              <a:rPr dirty="0"/>
              <a:t> not a tutorial demo</a:t>
            </a:r>
          </a:p>
          <a:p>
            <a:pPr marL="285750" indent="-285750" algn="l">
              <a:spcBef>
                <a:spcPts val="600"/>
              </a:spcBef>
              <a:spcAft>
                <a:spcPts val="200"/>
              </a:spcAft>
              <a:buFont typeface="Arial" panose="020B0604020202020204" pitchFamily="34" charset="0"/>
              <a:buChar char="•"/>
              <a:defRPr sz="1400" b="0">
                <a:solidFill>
                  <a:srgbClr val="333333"/>
                </a:solidFill>
                <a:latin typeface="Montserrat"/>
              </a:defRPr>
            </a:pPr>
            <a:r>
              <a:rPr dirty="0"/>
              <a:t>Clean layout, consistent spacing, professional colors</a:t>
            </a:r>
          </a:p>
          <a:p>
            <a:pPr marL="285750" indent="-285750" algn="l">
              <a:spcBef>
                <a:spcPts val="600"/>
              </a:spcBef>
              <a:spcAft>
                <a:spcPts val="200"/>
              </a:spcAft>
              <a:buFont typeface="Arial" panose="020B0604020202020204" pitchFamily="34" charset="0"/>
              <a:buChar char="•"/>
              <a:defRPr sz="1400" b="0">
                <a:solidFill>
                  <a:srgbClr val="333333"/>
                </a:solidFill>
                <a:latin typeface="Montserrat"/>
              </a:defRPr>
            </a:pPr>
            <a:r>
              <a:rPr dirty="0"/>
              <a:t>Intuitive UX</a:t>
            </a:r>
            <a:r>
              <a:rPr lang="en-CA" dirty="0"/>
              <a:t>; </a:t>
            </a:r>
            <a:r>
              <a:rPr dirty="0"/>
              <a:t> a first-time user knows what to do</a:t>
            </a:r>
          </a:p>
          <a:p>
            <a:pPr marL="285750" indent="-285750" algn="l">
              <a:spcBef>
                <a:spcPts val="600"/>
              </a:spcBef>
              <a:spcAft>
                <a:spcPts val="200"/>
              </a:spcAft>
              <a:buFont typeface="Arial" panose="020B0604020202020204" pitchFamily="34" charset="0"/>
              <a:buChar char="•"/>
              <a:defRPr sz="1400" b="0">
                <a:solidFill>
                  <a:srgbClr val="333333"/>
                </a:solidFill>
                <a:latin typeface="Montserrat"/>
              </a:defRPr>
            </a:pPr>
            <a:r>
              <a:rPr dirty="0"/>
              <a:t>Works on both desktop and mobile</a:t>
            </a:r>
          </a:p>
          <a:p>
            <a:pPr marL="285750" indent="-285750" algn="l">
              <a:spcBef>
                <a:spcPts val="600"/>
              </a:spcBef>
              <a:spcAft>
                <a:spcPts val="200"/>
              </a:spcAft>
              <a:buFont typeface="Arial" panose="020B0604020202020204" pitchFamily="34" charset="0"/>
              <a:buChar char="•"/>
              <a:defRPr sz="1400" b="0">
                <a:solidFill>
                  <a:srgbClr val="333333"/>
                </a:solidFill>
                <a:latin typeface="Montserrat"/>
              </a:defRPr>
            </a:pPr>
            <a:r>
              <a:rPr dirty="0"/>
              <a:t>Has loading states, empty states, error messages</a:t>
            </a:r>
          </a:p>
        </p:txBody>
      </p:sp>
      <p:sp>
        <p:nvSpPr>
          <p:cNvPr id="8" name="TextBox 7"/>
          <p:cNvSpPr txBox="1"/>
          <p:nvPr/>
        </p:nvSpPr>
        <p:spPr>
          <a:xfrm>
            <a:off x="6417945" y="1005840"/>
            <a:ext cx="5669280" cy="365760"/>
          </a:xfrm>
          <a:prstGeom prst="rect">
            <a:avLst/>
          </a:prstGeom>
          <a:noFill/>
        </p:spPr>
        <p:txBody>
          <a:bodyPr wrap="square">
            <a:spAutoFit/>
          </a:bodyPr>
          <a:lstStyle/>
          <a:p>
            <a:pPr algn="l">
              <a:defRPr sz="1600" b="1">
                <a:solidFill>
                  <a:srgbClr val="D56E48"/>
                </a:solidFill>
                <a:latin typeface="Montserrat"/>
              </a:defRPr>
            </a:pPr>
            <a:r>
              <a:t>Features being added:</a:t>
            </a:r>
          </a:p>
        </p:txBody>
      </p:sp>
      <p:sp>
        <p:nvSpPr>
          <p:cNvPr id="9" name="Rounded Rectangle 8"/>
          <p:cNvSpPr/>
          <p:nvPr/>
        </p:nvSpPr>
        <p:spPr>
          <a:xfrm>
            <a:off x="6417945" y="1426464"/>
            <a:ext cx="164592" cy="164592"/>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92265" y="1371600"/>
            <a:ext cx="1371600" cy="320040"/>
          </a:xfrm>
          <a:prstGeom prst="rect">
            <a:avLst/>
          </a:prstGeom>
          <a:noFill/>
        </p:spPr>
        <p:txBody>
          <a:bodyPr wrap="square">
            <a:spAutoFit/>
          </a:bodyPr>
          <a:lstStyle/>
          <a:p>
            <a:pPr algn="l">
              <a:defRPr sz="1300" b="1">
                <a:solidFill>
                  <a:srgbClr val="0C1752"/>
                </a:solidFill>
                <a:latin typeface="Montserrat"/>
              </a:defRPr>
            </a:pPr>
            <a:r>
              <a:t>Calorie Goal</a:t>
            </a:r>
          </a:p>
        </p:txBody>
      </p:sp>
      <p:sp>
        <p:nvSpPr>
          <p:cNvPr id="11" name="TextBox 10"/>
          <p:cNvSpPr txBox="1"/>
          <p:nvPr/>
        </p:nvSpPr>
        <p:spPr>
          <a:xfrm>
            <a:off x="8063865" y="1371600"/>
            <a:ext cx="3931920" cy="320040"/>
          </a:xfrm>
          <a:prstGeom prst="rect">
            <a:avLst/>
          </a:prstGeom>
          <a:noFill/>
        </p:spPr>
        <p:txBody>
          <a:bodyPr wrap="square">
            <a:spAutoFit/>
          </a:bodyPr>
          <a:lstStyle/>
          <a:p>
            <a:pPr algn="l">
              <a:defRPr sz="1300" b="0">
                <a:solidFill>
                  <a:srgbClr val="333333"/>
                </a:solidFill>
                <a:latin typeface="Montserrat"/>
              </a:defRPr>
            </a:pPr>
            <a:r>
              <a:t>Visual progress bar (green/yellow/red)</a:t>
            </a:r>
          </a:p>
        </p:txBody>
      </p:sp>
      <p:sp>
        <p:nvSpPr>
          <p:cNvPr id="12" name="Rounded Rectangle 11"/>
          <p:cNvSpPr/>
          <p:nvPr/>
        </p:nvSpPr>
        <p:spPr>
          <a:xfrm>
            <a:off x="6417945" y="1865376"/>
            <a:ext cx="164592" cy="164592"/>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92265" y="1810512"/>
            <a:ext cx="1371600" cy="320040"/>
          </a:xfrm>
          <a:prstGeom prst="rect">
            <a:avLst/>
          </a:prstGeom>
          <a:noFill/>
        </p:spPr>
        <p:txBody>
          <a:bodyPr wrap="square">
            <a:spAutoFit/>
          </a:bodyPr>
          <a:lstStyle/>
          <a:p>
            <a:pPr algn="l">
              <a:defRPr sz="1300" b="1">
                <a:solidFill>
                  <a:srgbClr val="0C1752"/>
                </a:solidFill>
                <a:latin typeface="Montserrat"/>
              </a:defRPr>
            </a:pPr>
            <a:r>
              <a:t>Macros</a:t>
            </a:r>
          </a:p>
        </p:txBody>
      </p:sp>
      <p:sp>
        <p:nvSpPr>
          <p:cNvPr id="14" name="TextBox 13"/>
          <p:cNvSpPr txBox="1"/>
          <p:nvPr/>
        </p:nvSpPr>
        <p:spPr>
          <a:xfrm>
            <a:off x="8063865" y="1810512"/>
            <a:ext cx="3931920" cy="320040"/>
          </a:xfrm>
          <a:prstGeom prst="rect">
            <a:avLst/>
          </a:prstGeom>
          <a:noFill/>
        </p:spPr>
        <p:txBody>
          <a:bodyPr wrap="square">
            <a:spAutoFit/>
          </a:bodyPr>
          <a:lstStyle/>
          <a:p>
            <a:pPr algn="l">
              <a:defRPr sz="1300" b="0">
                <a:solidFill>
                  <a:srgbClr val="333333"/>
                </a:solidFill>
                <a:latin typeface="Montserrat"/>
              </a:defRPr>
            </a:pPr>
            <a:r>
              <a:t>Protein, carbs, fat breakdown with chart</a:t>
            </a:r>
          </a:p>
        </p:txBody>
      </p:sp>
      <p:sp>
        <p:nvSpPr>
          <p:cNvPr id="15" name="Rounded Rectangle 14"/>
          <p:cNvSpPr/>
          <p:nvPr/>
        </p:nvSpPr>
        <p:spPr>
          <a:xfrm>
            <a:off x="6417945" y="2304288"/>
            <a:ext cx="164592" cy="164592"/>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92265" y="2249424"/>
            <a:ext cx="1371600" cy="320040"/>
          </a:xfrm>
          <a:prstGeom prst="rect">
            <a:avLst/>
          </a:prstGeom>
          <a:noFill/>
        </p:spPr>
        <p:txBody>
          <a:bodyPr wrap="square">
            <a:spAutoFit/>
          </a:bodyPr>
          <a:lstStyle/>
          <a:p>
            <a:pPr algn="l">
              <a:defRPr sz="1300" b="1">
                <a:solidFill>
                  <a:srgbClr val="0C1752"/>
                </a:solidFill>
                <a:latin typeface="Montserrat"/>
              </a:defRPr>
            </a:pPr>
            <a:r>
              <a:t>Meal Categories</a:t>
            </a:r>
          </a:p>
        </p:txBody>
      </p:sp>
      <p:sp>
        <p:nvSpPr>
          <p:cNvPr id="17" name="TextBox 16"/>
          <p:cNvSpPr txBox="1"/>
          <p:nvPr/>
        </p:nvSpPr>
        <p:spPr>
          <a:xfrm>
            <a:off x="8063865" y="2249424"/>
            <a:ext cx="3931920" cy="320040"/>
          </a:xfrm>
          <a:prstGeom prst="rect">
            <a:avLst/>
          </a:prstGeom>
          <a:noFill/>
        </p:spPr>
        <p:txBody>
          <a:bodyPr wrap="square">
            <a:spAutoFit/>
          </a:bodyPr>
          <a:lstStyle/>
          <a:p>
            <a:pPr algn="l">
              <a:defRPr sz="1300" b="0">
                <a:solidFill>
                  <a:srgbClr val="333333"/>
                </a:solidFill>
                <a:latin typeface="Montserrat"/>
              </a:defRPr>
            </a:pPr>
            <a:r>
              <a:t>Breakfast, Lunch, Dinner, Snack groups</a:t>
            </a:r>
          </a:p>
        </p:txBody>
      </p:sp>
      <p:sp>
        <p:nvSpPr>
          <p:cNvPr id="18" name="Rounded Rectangle 17"/>
          <p:cNvSpPr/>
          <p:nvPr/>
        </p:nvSpPr>
        <p:spPr>
          <a:xfrm>
            <a:off x="6417945" y="2743200"/>
            <a:ext cx="164592" cy="164592"/>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92265" y="2688336"/>
            <a:ext cx="1371600" cy="320040"/>
          </a:xfrm>
          <a:prstGeom prst="rect">
            <a:avLst/>
          </a:prstGeom>
          <a:noFill/>
        </p:spPr>
        <p:txBody>
          <a:bodyPr wrap="square">
            <a:spAutoFit/>
          </a:bodyPr>
          <a:lstStyle/>
          <a:p>
            <a:pPr algn="l">
              <a:defRPr sz="1300" b="1">
                <a:solidFill>
                  <a:srgbClr val="0C1752"/>
                </a:solidFill>
                <a:latin typeface="Montserrat"/>
              </a:defRPr>
            </a:pPr>
            <a:r>
              <a:t>Header</a:t>
            </a:r>
          </a:p>
        </p:txBody>
      </p:sp>
      <p:sp>
        <p:nvSpPr>
          <p:cNvPr id="20" name="TextBox 19"/>
          <p:cNvSpPr txBox="1"/>
          <p:nvPr/>
        </p:nvSpPr>
        <p:spPr>
          <a:xfrm>
            <a:off x="8063865" y="2688336"/>
            <a:ext cx="3931920" cy="320040"/>
          </a:xfrm>
          <a:prstGeom prst="rect">
            <a:avLst/>
          </a:prstGeom>
          <a:noFill/>
        </p:spPr>
        <p:txBody>
          <a:bodyPr wrap="square">
            <a:spAutoFit/>
          </a:bodyPr>
          <a:lstStyle/>
          <a:p>
            <a:pPr algn="l">
              <a:defRPr sz="1300" b="0">
                <a:solidFill>
                  <a:srgbClr val="333333"/>
                </a:solidFill>
                <a:latin typeface="Montserrat"/>
              </a:defRPr>
            </a:pPr>
            <a:r>
              <a:t>App name + today’s date</a:t>
            </a:r>
          </a:p>
        </p:txBody>
      </p:sp>
      <p:sp>
        <p:nvSpPr>
          <p:cNvPr id="21" name="Rounded Rectangle 20"/>
          <p:cNvSpPr/>
          <p:nvPr/>
        </p:nvSpPr>
        <p:spPr>
          <a:xfrm>
            <a:off x="6417945" y="3182112"/>
            <a:ext cx="164592" cy="164592"/>
          </a:xfrm>
          <a:prstGeom prst="roundRect">
            <a:avLst>
              <a:gd name="adj" fmla="val 50000"/>
            </a:avLst>
          </a:prstGeom>
          <a:solidFill>
            <a:srgbClr val="6CC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92265" y="3127248"/>
            <a:ext cx="1371600" cy="320040"/>
          </a:xfrm>
          <a:prstGeom prst="rect">
            <a:avLst/>
          </a:prstGeom>
          <a:noFill/>
        </p:spPr>
        <p:txBody>
          <a:bodyPr wrap="square">
            <a:spAutoFit/>
          </a:bodyPr>
          <a:lstStyle/>
          <a:p>
            <a:pPr algn="l">
              <a:defRPr sz="1300" b="1">
                <a:solidFill>
                  <a:srgbClr val="0C1752"/>
                </a:solidFill>
                <a:latin typeface="Montserrat"/>
              </a:defRPr>
            </a:pPr>
            <a:r>
              <a:t>Card Layout</a:t>
            </a:r>
          </a:p>
        </p:txBody>
      </p:sp>
      <p:sp>
        <p:nvSpPr>
          <p:cNvPr id="23" name="TextBox 22"/>
          <p:cNvSpPr txBox="1"/>
          <p:nvPr/>
        </p:nvSpPr>
        <p:spPr>
          <a:xfrm>
            <a:off x="8063865" y="3127248"/>
            <a:ext cx="3931920" cy="320040"/>
          </a:xfrm>
          <a:prstGeom prst="rect">
            <a:avLst/>
          </a:prstGeom>
          <a:noFill/>
        </p:spPr>
        <p:txBody>
          <a:bodyPr wrap="square">
            <a:spAutoFit/>
          </a:bodyPr>
          <a:lstStyle/>
          <a:p>
            <a:pPr algn="l">
              <a:defRPr sz="1300" b="0">
                <a:solidFill>
                  <a:srgbClr val="333333"/>
                </a:solidFill>
                <a:latin typeface="Montserrat"/>
              </a:defRPr>
            </a:pPr>
            <a:r>
              <a:t>Card-style food entries</a:t>
            </a:r>
          </a:p>
        </p:txBody>
      </p:sp>
      <p:pic>
        <p:nvPicPr>
          <p:cNvPr id="34" name="Picture 33">
            <a:extLst>
              <a:ext uri="{FF2B5EF4-FFF2-40B4-BE49-F238E27FC236}">
                <a16:creationId xmlns:a16="http://schemas.microsoft.com/office/drawing/2014/main" id="{DD932716-A823-E5BE-9BD3-DC0DB22F454E}"/>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icture_4.png"/>
          <p:cNvPicPr>
            <a:picLocks noChangeAspect="1"/>
          </p:cNvPicPr>
          <p:nvPr/>
        </p:nvPicPr>
        <p:blipFill>
          <a:blip r:embed="rId2"/>
          <a:stretch>
            <a:fillRect/>
          </a:stretch>
        </p:blipFill>
        <p:spPr>
          <a:xfrm>
            <a:off x="-6323" y="0"/>
            <a:ext cx="12224773" cy="6858000"/>
          </a:xfrm>
          <a:prstGeom prst="rect">
            <a:avLst/>
          </a:prstGeom>
        </p:spPr>
      </p:pic>
      <p:sp>
        <p:nvSpPr>
          <p:cNvPr id="3" name="Rectangle 2"/>
          <p:cNvSpPr/>
          <p:nvPr/>
        </p:nvSpPr>
        <p:spPr>
          <a:xfrm>
            <a:off x="154722" y="90489"/>
            <a:ext cx="9827492" cy="461665"/>
          </a:xfrm>
          <a:prstGeom prst="rect">
            <a:avLst/>
          </a:prstGeom>
        </p:spPr>
        <p:txBody>
          <a:bodyPr wrap="square">
            <a:spAutoFit/>
          </a:bodyPr>
          <a:lstStyle/>
          <a:p>
            <a:r>
              <a:rPr sz="2400" dirty="0">
                <a:solidFill>
                  <a:schemeClr val="bg1"/>
                </a:solidFill>
                <a:latin typeface="Montserrat" charset="0"/>
              </a:rPr>
              <a:t>Before &amp; After</a:t>
            </a:r>
          </a:p>
        </p:txBody>
      </p:sp>
      <p:sp>
        <p:nvSpPr>
          <p:cNvPr id="5" name="TextBox 4"/>
          <p:cNvSpPr txBox="1"/>
          <p:nvPr/>
        </p:nvSpPr>
        <p:spPr>
          <a:xfrm rot="16200000">
            <a:off x="9505627" y="3291463"/>
            <a:ext cx="5106141" cy="338554"/>
          </a:xfrm>
          <a:prstGeom prst="rect">
            <a:avLst/>
          </a:prstGeom>
          <a:noFill/>
        </p:spPr>
        <p:txBody>
          <a:bodyPr wrap="none">
            <a:spAutoFit/>
          </a:bodyPr>
          <a:lstStyle/>
          <a:p>
            <a:pPr>
              <a:defRPr sz="1600">
                <a:solidFill>
                  <a:srgbClr val="666666"/>
                </a:solidFill>
                <a:latin typeface="Arial"/>
              </a:defRPr>
            </a:pPr>
            <a:r>
              <a:t>© All rights reserved for Dr. Ryan Ahmed @Stemplicity Inc.</a:t>
            </a:r>
          </a:p>
        </p:txBody>
      </p:sp>
      <p:sp>
        <p:nvSpPr>
          <p:cNvPr id="6" name="Rounded Rectangle 5"/>
          <p:cNvSpPr/>
          <p:nvPr/>
        </p:nvSpPr>
        <p:spPr>
          <a:xfrm>
            <a:off x="457200" y="1280160"/>
            <a:ext cx="5120640" cy="3474720"/>
          </a:xfrm>
          <a:prstGeom prst="roundRect">
            <a:avLst>
              <a:gd name="adj" fmla="val 5000"/>
            </a:avLst>
          </a:prstGeom>
          <a:solidFill>
            <a:srgbClr val="FFFFFF"/>
          </a:solidFill>
          <a:ln w="31750">
            <a:solidFill>
              <a:srgbClr val="D56E48"/>
            </a:solidFill>
          </a:ln>
        </p:spPr>
        <p:style>
          <a:lnRef idx="1">
            <a:schemeClr val="accent1"/>
          </a:lnRef>
          <a:fillRef idx="3">
            <a:schemeClr val="accent1"/>
          </a:fillRef>
          <a:effectRef idx="2">
            <a:schemeClr val="accent1"/>
          </a:effectRef>
          <a:fontRef idx="minor">
            <a:schemeClr val="lt1"/>
          </a:fontRef>
        </p:style>
        <p:txBody>
          <a:bodyPr wrap="square" lIns="164592" tIns="137160" rIns="137160" rtlCol="0" anchor="t"/>
          <a:lstStyle/>
          <a:p>
            <a:pPr algn="ctr">
              <a:defRPr sz="2000" b="1">
                <a:solidFill>
                  <a:srgbClr val="D56E48"/>
                </a:solidFill>
                <a:latin typeface="Montserrat"/>
              </a:defRPr>
            </a:pPr>
            <a:r>
              <a:t>Before Ralph</a:t>
            </a:r>
          </a:p>
          <a:p>
            <a:pPr algn="l">
              <a:spcBef>
                <a:spcPts val="800"/>
              </a:spcBef>
              <a:defRPr sz="1500">
                <a:solidFill>
                  <a:srgbClr val="333333"/>
                </a:solidFill>
                <a:latin typeface="Montserrat"/>
              </a:defRPr>
            </a:pPr>
            <a:r>
              <a:t>•  Basic food log</a:t>
            </a:r>
          </a:p>
          <a:p>
            <a:pPr algn="l">
              <a:spcBef>
                <a:spcPts val="800"/>
              </a:spcBef>
              <a:defRPr sz="1500">
                <a:solidFill>
                  <a:srgbClr val="333333"/>
                </a:solidFill>
                <a:latin typeface="Montserrat"/>
              </a:defRPr>
            </a:pPr>
            <a:r>
              <a:t>•  Plain list display</a:t>
            </a:r>
          </a:p>
          <a:p>
            <a:pPr algn="l">
              <a:spcBef>
                <a:spcPts val="800"/>
              </a:spcBef>
              <a:defRPr sz="1500">
                <a:solidFill>
                  <a:srgbClr val="333333"/>
                </a:solidFill>
                <a:latin typeface="Montserrat"/>
              </a:defRPr>
            </a:pPr>
            <a:r>
              <a:t>•  Hardcoded styling</a:t>
            </a:r>
          </a:p>
          <a:p>
            <a:pPr algn="l">
              <a:spcBef>
                <a:spcPts val="800"/>
              </a:spcBef>
              <a:defRPr sz="1500">
                <a:solidFill>
                  <a:srgbClr val="333333"/>
                </a:solidFill>
                <a:latin typeface="Montserrat"/>
              </a:defRPr>
            </a:pPr>
            <a:r>
              <a:t>•  No calorie goals</a:t>
            </a:r>
          </a:p>
          <a:p>
            <a:pPr algn="l">
              <a:spcBef>
                <a:spcPts val="800"/>
              </a:spcBef>
              <a:defRPr sz="1500">
                <a:solidFill>
                  <a:srgbClr val="333333"/>
                </a:solidFill>
                <a:latin typeface="Montserrat"/>
              </a:defRPr>
            </a:pPr>
            <a:r>
              <a:t>•  No macro tracking</a:t>
            </a:r>
          </a:p>
          <a:p>
            <a:pPr algn="l">
              <a:spcBef>
                <a:spcPts val="800"/>
              </a:spcBef>
              <a:defRPr sz="1500">
                <a:solidFill>
                  <a:srgbClr val="333333"/>
                </a:solidFill>
                <a:latin typeface="Montserrat"/>
              </a:defRPr>
            </a:pPr>
            <a:r>
              <a:t>•  No meal categories</a:t>
            </a:r>
          </a:p>
          <a:p>
            <a:pPr algn="l">
              <a:spcBef>
                <a:spcPts val="800"/>
              </a:spcBef>
              <a:defRPr sz="1500">
                <a:solidFill>
                  <a:srgbClr val="333333"/>
                </a:solidFill>
                <a:latin typeface="Montserrat"/>
              </a:defRPr>
            </a:pPr>
            <a:r>
              <a:t>•  Desktop-only layout</a:t>
            </a:r>
          </a:p>
        </p:txBody>
      </p:sp>
      <p:sp>
        <p:nvSpPr>
          <p:cNvPr id="7" name="Right Arrow 6"/>
          <p:cNvSpPr/>
          <p:nvPr/>
        </p:nvSpPr>
        <p:spPr>
          <a:xfrm>
            <a:off x="5715000" y="2651760"/>
            <a:ext cx="457200" cy="457200"/>
          </a:xfrm>
          <a:prstGeom prst="rightArrow">
            <a:avLst/>
          </a:prstGeom>
          <a:solidFill>
            <a:srgbClr val="D56E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280160"/>
            <a:ext cx="5120640" cy="3474720"/>
          </a:xfrm>
          <a:prstGeom prst="roundRect">
            <a:avLst>
              <a:gd name="adj" fmla="val 5000"/>
            </a:avLst>
          </a:prstGeom>
          <a:solidFill>
            <a:srgbClr val="FFFFFF"/>
          </a:solidFill>
          <a:ln w="31750">
            <a:solidFill>
              <a:srgbClr val="6CCAD8"/>
            </a:solidFill>
          </a:ln>
        </p:spPr>
        <p:style>
          <a:lnRef idx="1">
            <a:schemeClr val="accent1"/>
          </a:lnRef>
          <a:fillRef idx="3">
            <a:schemeClr val="accent1"/>
          </a:fillRef>
          <a:effectRef idx="2">
            <a:schemeClr val="accent1"/>
          </a:effectRef>
          <a:fontRef idx="minor">
            <a:schemeClr val="lt1"/>
          </a:fontRef>
        </p:style>
        <p:txBody>
          <a:bodyPr wrap="square" lIns="164592" tIns="137160" rIns="137160" rtlCol="0" anchor="t"/>
          <a:lstStyle/>
          <a:p>
            <a:pPr algn="ctr">
              <a:defRPr sz="2000" b="1">
                <a:solidFill>
                  <a:srgbClr val="6CCAD8"/>
                </a:solidFill>
                <a:latin typeface="Montserrat"/>
              </a:defRPr>
            </a:pPr>
            <a:r>
              <a:t>After Ralph</a:t>
            </a:r>
          </a:p>
          <a:p>
            <a:pPr algn="l">
              <a:spcBef>
                <a:spcPts val="800"/>
              </a:spcBef>
              <a:defRPr sz="1500">
                <a:solidFill>
                  <a:srgbClr val="333333"/>
                </a:solidFill>
                <a:latin typeface="Montserrat"/>
              </a:defRPr>
            </a:pPr>
            <a:r>
              <a:t>✓  Calorie goals with progress bar</a:t>
            </a:r>
          </a:p>
          <a:p>
            <a:pPr algn="l">
              <a:spcBef>
                <a:spcPts val="800"/>
              </a:spcBef>
              <a:defRPr sz="1500">
                <a:solidFill>
                  <a:srgbClr val="333333"/>
                </a:solidFill>
                <a:latin typeface="Montserrat"/>
              </a:defRPr>
            </a:pPr>
            <a:r>
              <a:t>✓  Macro charts (protein/carbs/fat)</a:t>
            </a:r>
          </a:p>
          <a:p>
            <a:pPr algn="l">
              <a:spcBef>
                <a:spcPts val="800"/>
              </a:spcBef>
              <a:defRPr sz="1500">
                <a:solidFill>
                  <a:srgbClr val="333333"/>
                </a:solidFill>
                <a:latin typeface="Montserrat"/>
              </a:defRPr>
            </a:pPr>
            <a:r>
              <a:t>✓  Meal categories (grouped entries)</a:t>
            </a:r>
          </a:p>
          <a:p>
            <a:pPr algn="l">
              <a:spcBef>
                <a:spcPts val="800"/>
              </a:spcBef>
              <a:defRPr sz="1500">
                <a:solidFill>
                  <a:srgbClr val="333333"/>
                </a:solidFill>
                <a:latin typeface="Montserrat"/>
              </a:defRPr>
            </a:pPr>
            <a:r>
              <a:t>✓  Card-style food entries</a:t>
            </a:r>
          </a:p>
          <a:p>
            <a:pPr algn="l">
              <a:spcBef>
                <a:spcPts val="800"/>
              </a:spcBef>
              <a:defRPr sz="1500">
                <a:solidFill>
                  <a:srgbClr val="333333"/>
                </a:solidFill>
                <a:latin typeface="Montserrat"/>
              </a:defRPr>
            </a:pPr>
            <a:r>
              <a:t>✓  Professional design &amp; colors</a:t>
            </a:r>
          </a:p>
          <a:p>
            <a:pPr algn="l">
              <a:spcBef>
                <a:spcPts val="800"/>
              </a:spcBef>
              <a:defRPr sz="1500">
                <a:solidFill>
                  <a:srgbClr val="333333"/>
                </a:solidFill>
                <a:latin typeface="Montserrat"/>
              </a:defRPr>
            </a:pPr>
            <a:r>
              <a:t>✓  Responsive (desktop + mobile)</a:t>
            </a:r>
          </a:p>
          <a:p>
            <a:pPr algn="l">
              <a:spcBef>
                <a:spcPts val="800"/>
              </a:spcBef>
              <a:defRPr sz="1500">
                <a:solidFill>
                  <a:srgbClr val="333333"/>
                </a:solidFill>
                <a:latin typeface="Montserrat"/>
              </a:defRPr>
            </a:pPr>
            <a:r>
              <a:t>✓  Loading/empty/error states</a:t>
            </a:r>
          </a:p>
        </p:txBody>
      </p:sp>
      <p:sp>
        <p:nvSpPr>
          <p:cNvPr id="9" name="Rounded Rectangle 8"/>
          <p:cNvSpPr/>
          <p:nvPr/>
        </p:nvSpPr>
        <p:spPr>
          <a:xfrm>
            <a:off x="1371600" y="5029200"/>
            <a:ext cx="9418320" cy="502920"/>
          </a:xfrm>
          <a:prstGeom prst="roundRect">
            <a:avLst>
              <a:gd name="adj" fmla="val 5000"/>
            </a:avLst>
          </a:prstGeom>
          <a:solidFill>
            <a:srgbClr val="0C175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FFFF"/>
                </a:solidFill>
                <a:latin typeface="Montserrat"/>
              </a:defRPr>
            </a:pPr>
            <a:r>
              <a:rPr dirty="0"/>
              <a:t>From functional to professional in one prompt</a:t>
            </a:r>
          </a:p>
        </p:txBody>
      </p:sp>
      <p:pic>
        <p:nvPicPr>
          <p:cNvPr id="10" name="Picture 9">
            <a:extLst>
              <a:ext uri="{FF2B5EF4-FFF2-40B4-BE49-F238E27FC236}">
                <a16:creationId xmlns:a16="http://schemas.microsoft.com/office/drawing/2014/main" id="{C3BFB673-F275-DCFA-7FC9-B5F440AC2BAA}"/>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6129</TotalTime>
  <Words>2094</Words>
  <Application>Microsoft Office PowerPoint</Application>
  <PresentationFormat>Widescreen</PresentationFormat>
  <Paragraphs>311</Paragraphs>
  <Slides>29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Consolas</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689</cp:revision>
  <dcterms:created xsi:type="dcterms:W3CDTF">2019-11-18T17:58:36Z</dcterms:created>
  <dcterms:modified xsi:type="dcterms:W3CDTF">2026-03-15T20:44:06Z</dcterms:modified>
</cp:coreProperties>
</file>