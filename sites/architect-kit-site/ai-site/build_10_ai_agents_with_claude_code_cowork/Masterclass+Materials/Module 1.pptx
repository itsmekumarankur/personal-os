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4388" r:id="rId2"/>
    <p:sldId id="569" r:id="rId3"/>
    <p:sldId id="4208" r:id="rId4"/>
    <p:sldId id="4449" r:id="rId5"/>
    <p:sldId id="4386" r:id="rId6"/>
    <p:sldId id="4212" r:id="rId7"/>
    <p:sldId id="4387" r:id="rId8"/>
    <p:sldId id="4327" r:id="rId9"/>
    <p:sldId id="4299" r:id="rId10"/>
    <p:sldId id="4214" r:id="rId11"/>
    <p:sldId id="4309" r:id="rId12"/>
    <p:sldId id="4455" r:id="rId13"/>
    <p:sldId id="4281" r:id="rId14"/>
    <p:sldId id="27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752"/>
    <a:srgbClr val="D56E48"/>
    <a:srgbClr val="1BBFD1"/>
    <a:srgbClr val="F9F9F9"/>
    <a:srgbClr val="11CCDD"/>
    <a:srgbClr val="E7C24C"/>
    <a:srgbClr val="FF0909"/>
    <a:srgbClr val="4472C4"/>
    <a:srgbClr val="D1C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439" autoAdjust="0"/>
    <p:restoredTop sz="94721"/>
  </p:normalViewPr>
  <p:slideViewPr>
    <p:cSldViewPr snapToGrid="0" snapToObjects="1">
      <p:cViewPr varScale="1">
        <p:scale>
          <a:sx n="109" d="100"/>
          <a:sy n="109" d="100"/>
        </p:scale>
        <p:origin x="126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1D1-6589-4D4A-810A-D1CB24D3060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34E27-21C0-AB42-9720-9468F68A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3D2DA-554C-58DE-9F94-4FA1B19A2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86D157-C2FF-F16D-DEF8-0C48D6A9D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1F55F-F6CE-E37C-28D0-19222D72C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A0C6A-A123-B514-B899-D30A74BAC2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2403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D6F-859A-B746-837E-C5D978EC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E93-A6A2-054F-8C31-54E8ABF6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DB13-4A11-2643-B65C-065BE177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779B-2DF9-41ED-BDF6-094A96BB5831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8DD79-905B-054B-B597-6AB7252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4DF4-5AD9-8C41-9C38-63470B3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93AB-04A1-834E-A498-C252C111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34D4-4817-FF44-8044-9A872518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C4A-8264-ED4C-B758-FA62E7CC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3053-3D74-4D22-89B3-9024BA4F287F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E0D2-BE66-FF45-B7B1-F69E22F0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4184-A60F-6246-8A9A-79DD6FEC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2D0B-A98C-6E4C-9A34-47981F0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EE8E-C392-5E47-ADCB-A446128C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4B18-53C2-D548-8CFF-5D7097F0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BCF6-84B7-49AA-A69F-35D95B9487C2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654B-C8C3-F647-BDFC-BE54D2B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3980-622B-334C-9137-9A866151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288-ED8B-E34E-BAB6-1D26157B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E68A-CA3F-9948-9F78-46C13FEE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62E7-8BD2-264E-A470-F8E73C9D6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3621-D1A0-D241-B666-A457ACC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19D7-9FF6-460F-A484-0C02884C819E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9F7B-BD42-C44E-AA35-681E6A1C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368C-62E4-C243-98AE-B5BC9B4F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A85E-7345-A641-A78E-CFCE6B4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13C7-3C24-DC40-8DAD-E16482E60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0715-8982-4245-AC34-4AFC280B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CC337-7A68-B44F-A75F-2EAED4C8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17B-E9E2-5A4F-9564-4E8671A7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A4340-16C5-D64A-954E-D207165B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F2F9-9F59-4926-81E1-5AE7B5F13616}" type="datetime1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4C0C9-507A-DC40-9896-CAA4CCBF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C304-57C8-6848-8E40-051A6BFA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1005-2F0C-3F41-8F0D-B94FF1E8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EC46B-9591-7147-B23E-808DFCDB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E9FE-B00F-4787-941B-81F5C60BF956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8438C-4B28-CC47-9F0D-D243C059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64186-1092-3244-AA0C-4F8C98E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1ABCA-C9B4-2C4E-A11A-21473A2C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63A8-27AB-4485-9BAB-385A926DB554}" type="datetime1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8B611-5E83-0843-977C-16E1A2E8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3613-5124-BA4D-9CAB-52053A73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5775-3C65-984A-BA3D-74F6AA5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6B8A-7DF2-254A-A58A-3F781F1A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C9F2F-598A-9444-B48C-6BA9400EF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619B-B04E-A94F-B294-EE523AB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E9DF-0ED6-4B61-A1FD-8DD75280FE01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418F-6D05-564F-ACAC-0CE18B41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FA7B-E334-F841-9F55-8FE3994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20FD-C21B-F942-933E-C7F1539A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509F0-CB84-8346-88EC-B60FAB239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B07D7-B626-4245-8DB7-641F9BE45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2CF3-BF8E-CC45-AFD1-29BF7888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4C01-5047-4D04-A79D-6D96B1DB76E2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EA5E-B447-2945-A61F-23F43D1B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110A-1EF4-4E47-BC27-95CCC22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58-278B-D14B-9123-9451D8F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E07C-511F-3A43-84A6-10110129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7FEB-35FC-E245-9B8A-12B9596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BBC8-E478-43C9-A4F1-EDD4F72015DC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7081-9459-C64F-895D-A9A37C0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1E24-D886-5444-8983-468379B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8AD-56F2-8141-B3EC-B0792780C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A58ED-0A7F-F541-B86D-47050570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61A-7351-3846-BCB0-C5618DA0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BB6-29D9-437A-B4EB-C48447ACC5C8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D98-D553-4C46-941B-9CF2C56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676D-8472-4F4A-A337-CF5E8C4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070BF-9A90-A245-B77A-28DCF3E4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F1332-889D-FA43-A51D-33C48B35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FC81-D9EE-0347-B9BA-8E603587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9903-C382-4170-95C6-7F2CD4702B84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954-DDAB-064F-B985-8986B113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76A-2C89-5D4A-A893-BDE076899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laude.com/product/cowork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claude.com/product/cowork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killhub.club/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nthropics/skills/tree/main/skills" TargetMode="External"/><Relationship Id="rId5" Type="http://schemas.openxmlformats.org/officeDocument/2006/relationships/image" Target="../media/image11.png"/><Relationship Id="rId4" Type="http://schemas.openxmlformats.org/officeDocument/2006/relationships/hyperlink" Target="https://skills.sh/" TargetMode="External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github.com/anthropics/skills/tree/main/skill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laude.com/product/cowork" TargetMode="Externa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529F-B86A-83C8-478E-307AC309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403872-6FAD-0F11-5844-575593A583D8}"/>
              </a:ext>
            </a:extLst>
          </p:cNvPr>
          <p:cNvSpPr/>
          <p:nvPr/>
        </p:nvSpPr>
        <p:spPr>
          <a:xfrm>
            <a:off x="293915" y="489004"/>
            <a:ext cx="474345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 COWORK 101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22CCA-AE82-A418-52D1-CBC82BEC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957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655F7-D3CE-503A-06B0-415EBF4A4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4BE74D-72DE-1ECA-0B68-A8F5C0DF6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8C15DF-79C1-8260-335D-38302FEC0B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DF172E0F-F674-1396-8D50-B98BB01F2670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 Code &amp; Claude </a:t>
            </a:r>
            <a:r>
              <a:rPr lang="en-US" sz="2400" dirty="0" err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Cowork</a:t>
            </a:r>
            <a:endParaRPr lang="en-US" sz="2400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A68AC4-8901-A54A-0C5D-14603BCF5981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6BCDC4-1681-62E4-2C41-AA0478515F57}"/>
              </a:ext>
            </a:extLst>
          </p:cNvPr>
          <p:cNvSpPr txBox="1"/>
          <p:nvPr/>
        </p:nvSpPr>
        <p:spPr>
          <a:xfrm>
            <a:off x="154722" y="742704"/>
            <a:ext cx="114319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Claude </a:t>
            </a: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800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ode is an agentic AI coding tool that reads your codebase, edits files, runs commands, and autonomously works through problems.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Claude </a:t>
            </a:r>
            <a:r>
              <a:rPr lang="en-US" dirty="0" err="1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Cowork</a:t>
            </a: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 uses the same agentic architecture that powers Claude Code, now accessible within Claude Desktop and without opening the terminal.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Instead of responding to prompts one at a time, Claude can take on complex, multi-step tasks and execute them on your behalf.</a:t>
            </a:r>
            <a:endParaRPr lang="en-US" dirty="0">
              <a:latin typeface="Montserrat" panose="00000500000000000000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>
              <a:latin typeface="Montserrat" panose="00000500000000000000" pitchFamily="2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948EEFC-27B2-FEC4-C276-A6124862D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239" y="3487341"/>
            <a:ext cx="2559975" cy="2576928"/>
          </a:xfrm>
          <a:prstGeom prst="rect">
            <a:avLst/>
          </a:prstGeom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D4CC8C0E-26EA-1187-C451-6F31679AA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595" y="2478356"/>
            <a:ext cx="4509889" cy="972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A30558-9D03-BF7A-1D2F-207AED16550D}"/>
              </a:ext>
            </a:extLst>
          </p:cNvPr>
          <p:cNvSpPr txBox="1"/>
          <p:nvPr/>
        </p:nvSpPr>
        <p:spPr>
          <a:xfrm>
            <a:off x="3698544" y="6226618"/>
            <a:ext cx="6121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>
                <a:hlinkClick r:id="rId6"/>
              </a:rPr>
              <a:t>https://claude.com/product/cowork</a:t>
            </a:r>
            <a:endParaRPr lang="en-CA" sz="2000" dirty="0"/>
          </a:p>
          <a:p>
            <a:endParaRPr lang="en-CA" sz="2000" dirty="0"/>
          </a:p>
        </p:txBody>
      </p:sp>
      <p:pic>
        <p:nvPicPr>
          <p:cNvPr id="1026" name="Picture 2" descr="Claude Code - Complete Beginner's Guide | Hieu Nguyen">
            <a:extLst>
              <a:ext uri="{FF2B5EF4-FFF2-40B4-BE49-F238E27FC236}">
                <a16:creationId xmlns:a16="http://schemas.microsoft.com/office/drawing/2014/main" id="{65B9B7B6-E77F-2389-98BD-D0C0860AB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484" y="3799209"/>
            <a:ext cx="4057055" cy="2102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9506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D1976-2AE7-4EF7-1560-C61D0DF2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DD5BA7-FB07-7089-F20D-24BB35AAE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664485-532C-5083-5A25-F8BB6A0380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D71C1B3F-A8C9-9CB8-73B0-ED05DBBB3FAE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 Code &amp; </a:t>
            </a:r>
            <a:r>
              <a:rPr lang="en-US" sz="2400" dirty="0" err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Cowork</a:t>
            </a:r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 Frenzy!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35601-1B01-6301-4C7A-EC04531AF16A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1BEE4E-B65A-4556-B333-703443AB4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789" y="4997465"/>
            <a:ext cx="8173454" cy="12690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1FC91D-0A69-45B3-900E-4C32396331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520" y="3103038"/>
            <a:ext cx="7026375" cy="16220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9C23AB-E733-B3C3-7523-BEC40C947A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3304" y="795124"/>
            <a:ext cx="6672936" cy="192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26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CC450-1398-7CCF-5308-6BEF93BA9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B43C10-5828-B101-456E-2C53EFD8F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FFEA63-8476-C748-A510-4A6695EFCD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81B538BC-C2E5-C87E-10E6-82927E34D780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Quick Demo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23FBA4-5049-A771-9D71-3DFC74F47C3B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3CC9895-2C4F-3D29-D9F8-4A65477AD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581" y="1481449"/>
            <a:ext cx="4077754" cy="41047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2269E9-AD51-8079-92AB-D05EBB1C0420}"/>
              </a:ext>
            </a:extLst>
          </p:cNvPr>
          <p:cNvSpPr txBox="1"/>
          <p:nvPr/>
        </p:nvSpPr>
        <p:spPr>
          <a:xfrm>
            <a:off x="3698544" y="6226618"/>
            <a:ext cx="6121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>
                <a:hlinkClick r:id="rId5"/>
              </a:rPr>
              <a:t>https://claude.com/product/cowork</a:t>
            </a:r>
            <a:endParaRPr lang="en-CA" sz="2000" dirty="0"/>
          </a:p>
          <a:p>
            <a:endParaRPr lang="en-CA" sz="2000" dirty="0"/>
          </a:p>
        </p:txBody>
      </p:sp>
      <p:pic>
        <p:nvPicPr>
          <p:cNvPr id="1026" name="Picture 2" descr="Claude Code - Complete Beginner's Guide | Hieu Nguyen">
            <a:extLst>
              <a:ext uri="{FF2B5EF4-FFF2-40B4-BE49-F238E27FC236}">
                <a16:creationId xmlns:a16="http://schemas.microsoft.com/office/drawing/2014/main" id="{35723498-C90A-5FBD-5F4F-25DDC3220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065" y="1827059"/>
            <a:ext cx="6304179" cy="3267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1149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CE665-07D5-E57C-BEDE-A753EDE92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ED2FB7-08F8-F133-F62B-9F8B4BCFD2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E1C513-D856-9998-D9B6-DC8BC3E6D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257487E-2935-C42A-DCD6-6FA13373B0AB}"/>
              </a:ext>
            </a:extLst>
          </p:cNvPr>
          <p:cNvSpPr/>
          <p:nvPr/>
        </p:nvSpPr>
        <p:spPr>
          <a:xfrm>
            <a:off x="373310" y="535140"/>
            <a:ext cx="83594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AGENT SKILLS</a:t>
            </a:r>
          </a:p>
        </p:txBody>
      </p:sp>
    </p:spTree>
    <p:extLst>
      <p:ext uri="{BB962C8B-B14F-4D97-AF65-F5344CB8AC3E}">
        <p14:creationId xmlns:p14="http://schemas.microsoft.com/office/powerpoint/2010/main" val="1312788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A2B1E-18FC-4AA6-B25F-972C6A666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5DA7F8-472E-1EFD-2BD3-0E138248B9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665"/>
          <a:stretch>
            <a:fillRect/>
          </a:stretch>
        </p:blipFill>
        <p:spPr>
          <a:xfrm>
            <a:off x="0" y="0"/>
            <a:ext cx="12224773" cy="640211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0315FA85-FA1A-E995-64FA-77386358B8B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Skills Sources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9FC58B-B69E-FE8C-F725-A99CBA502707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7EBC53-5776-8E5D-4A76-03F5BB74F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711" y="803151"/>
            <a:ext cx="11480067" cy="792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04792" indent="-304792">
              <a:lnSpc>
                <a:spcPct val="90000"/>
              </a:lnSpc>
              <a:spcBef>
                <a:spcPts val="1333"/>
              </a:spcBef>
              <a:buClr>
                <a:srgbClr val="1BBFD1"/>
              </a:buClr>
              <a:buFont typeface="Arial" panose="020B0604020202020204" pitchFamily="34" charset="0"/>
              <a:buChar char="•"/>
            </a:pPr>
            <a:endParaRPr lang="en-US" altLang="en-US" dirty="0">
              <a:latin typeface="Montserrat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A5EB1F-519E-1591-399B-F71AE3B0C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84" y="1301346"/>
            <a:ext cx="8514945" cy="42804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75D86F-3E18-54BC-0788-DB27F820179B}"/>
              </a:ext>
            </a:extLst>
          </p:cNvPr>
          <p:cNvSpPr txBox="1"/>
          <p:nvPr/>
        </p:nvSpPr>
        <p:spPr>
          <a:xfrm>
            <a:off x="6165679" y="1287937"/>
            <a:ext cx="4952816" cy="95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CA" sz="1867" kern="0" dirty="0">
                <a:solidFill>
                  <a:srgbClr val="EBEBE6"/>
                </a:solidFill>
                <a:latin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https://skills.sh/</a:t>
            </a:r>
            <a:endParaRPr lang="en-CA" sz="1867" kern="0" dirty="0">
              <a:solidFill>
                <a:srgbClr val="EBEBE6"/>
              </a:solidFill>
              <a:latin typeface="Arial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endParaRPr lang="en-CA" sz="1867" kern="0" dirty="0">
              <a:solidFill>
                <a:srgbClr val="1F1F1E"/>
              </a:solidFill>
              <a:latin typeface="Arial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endParaRPr lang="en-CA" sz="1867" kern="0" dirty="0">
              <a:solidFill>
                <a:srgbClr val="1F1F1E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A2DC0E-7F1B-2943-7838-F18B234CE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711" y="803151"/>
            <a:ext cx="11480067" cy="792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04792" indent="-304792" defTabSz="1219170">
              <a:lnSpc>
                <a:spcPct val="90000"/>
              </a:lnSpc>
              <a:spcBef>
                <a:spcPts val="1333"/>
              </a:spcBef>
              <a:buClr>
                <a:srgbClr val="1BBFD1"/>
              </a:buClr>
              <a:buFont typeface="Arial" panose="020B0604020202020204" pitchFamily="34" charset="0"/>
              <a:buChar char="•"/>
            </a:pPr>
            <a:endParaRPr lang="en-US" altLang="en-US" kern="0" dirty="0">
              <a:solidFill>
                <a:srgbClr val="000000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4B18B1-DEA7-40FE-9D83-95F993EAD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8682" y="2141618"/>
            <a:ext cx="7788268" cy="35562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E74904-6684-F033-39ED-F2076B24E6F0}"/>
              </a:ext>
            </a:extLst>
          </p:cNvPr>
          <p:cNvSpPr txBox="1"/>
          <p:nvPr/>
        </p:nvSpPr>
        <p:spPr>
          <a:xfrm>
            <a:off x="4555319" y="2047627"/>
            <a:ext cx="5751892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022911"/>
                </a:solidFill>
              </a:defRPr>
            </a:lvl1pPr>
          </a:lstStyle>
          <a:p>
            <a:pPr defTabSz="1219170">
              <a:buClr>
                <a:srgbClr val="000000"/>
              </a:buClr>
            </a:pPr>
            <a:r>
              <a:rPr lang="en-CA" sz="1867" kern="0" dirty="0">
                <a:latin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https://github.com/anthropics/skills/tree/main/skills</a:t>
            </a:r>
            <a:endParaRPr lang="en-CA" sz="1867" kern="0" dirty="0">
              <a:latin typeface="Arial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endParaRPr lang="en-CA" sz="1867" kern="0" dirty="0">
              <a:latin typeface="Arial"/>
              <a:cs typeface="Arial"/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1B5F38-2DBE-0392-54E4-EA3FDC7AF6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1087" y="2966736"/>
            <a:ext cx="6939064" cy="3784587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82BCAB-9E8B-46D1-658E-A58C0D3B9AEF}"/>
              </a:ext>
            </a:extLst>
          </p:cNvPr>
          <p:cNvSpPr txBox="1"/>
          <p:nvPr/>
        </p:nvSpPr>
        <p:spPr>
          <a:xfrm>
            <a:off x="9027971" y="3096944"/>
            <a:ext cx="3164029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CA" sz="1867" kern="0" dirty="0">
                <a:solidFill>
                  <a:srgbClr val="022911"/>
                </a:solidFill>
                <a:latin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https://www.skillhub.club/</a:t>
            </a:r>
            <a:endParaRPr lang="en-CA" sz="1867" kern="0" dirty="0">
              <a:solidFill>
                <a:srgbClr val="022911"/>
              </a:solidFill>
              <a:latin typeface="Arial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endParaRPr lang="en-CA" sz="1867" kern="0" dirty="0">
              <a:solidFill>
                <a:srgbClr val="022911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6D8656-4641-297F-A21A-546E54217ED3}"/>
              </a:ext>
            </a:extLst>
          </p:cNvPr>
          <p:cNvSpPr txBox="1"/>
          <p:nvPr/>
        </p:nvSpPr>
        <p:spPr>
          <a:xfrm>
            <a:off x="139689" y="640211"/>
            <a:ext cx="12599591" cy="12912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 sz="1350"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304792" indent="-304792" defTabSz="1219170">
              <a:spcBef>
                <a:spcPts val="1333"/>
              </a:spcBef>
              <a:buClr>
                <a:srgbClr val="022911"/>
              </a:buClr>
            </a:pPr>
            <a:r>
              <a:rPr lang="en-US" sz="1800" kern="0" dirty="0">
                <a:solidFill>
                  <a:srgbClr val="000000"/>
                </a:solidFill>
                <a:cs typeface="Arial"/>
                <a:sym typeface="Arial"/>
              </a:rPr>
              <a:t>Skills extend Claude's capabilities by giving it access to specialized knowledge and workflows. Create once, use everywhere. It’s summarized in a SKILL.md file.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F3C68A-4157-774C-6E63-951015231A3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86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D86C7-9C61-0178-9610-398879218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CB3F50-D8DA-5FAF-D185-04525A1A2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700D3CCC-EC6E-1028-45B6-92981E49C0E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What does a Skill file look like?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07CB1F-4C2F-FD85-36FE-E18DDA413E40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7E3BAD-8745-E1BE-2FFE-10E9A0D4B3FF}"/>
              </a:ext>
            </a:extLst>
          </p:cNvPr>
          <p:cNvSpPr txBox="1"/>
          <p:nvPr/>
        </p:nvSpPr>
        <p:spPr>
          <a:xfrm>
            <a:off x="236618" y="784575"/>
            <a:ext cx="115362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  <a:ea typeface="Calibri" pitchFamily="34" charset="-122"/>
                <a:cs typeface="Calibri" pitchFamily="34" charset="-120"/>
              </a:defRPr>
            </a:lvl1pPr>
          </a:lstStyle>
          <a:p>
            <a:pPr>
              <a:buClrTx/>
            </a:pPr>
            <a:r>
              <a:rPr lang="en-US" dirty="0"/>
              <a:t>Claude loads skills dynamically to improve performance on specialized tasks.</a:t>
            </a:r>
          </a:p>
          <a:p>
            <a:r>
              <a:rPr lang="en-US" dirty="0"/>
              <a:t>Every Skill requires a SKILL.md file. </a:t>
            </a:r>
          </a:p>
          <a:p>
            <a:r>
              <a:rPr lang="en-US" dirty="0"/>
              <a:t>Note that on the top of each SKILL.md file, there is metadata that describes what the skill does which includes name and description.</a:t>
            </a:r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B1AE7A-BB0C-D9BA-9A0F-0E74F409E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28" y="2378291"/>
            <a:ext cx="10695205" cy="375613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CBB98D5-121F-16D4-E3AE-C97D8736A7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000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3212C-38BD-11FF-F76B-39087AC10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92D725-B98A-FCB5-19CC-4CC6601F5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814F9EAA-0651-062E-1026-8BCA3F26A900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Anthropic’s</a:t>
            </a:r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 Official Skills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AA2024-C0E6-4DFB-5388-006AB9819A71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8D06A7-7D62-5D54-7409-4A31EB5F9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A328CAA5-9BD9-FDBB-3AA5-B8914024002B}"/>
              </a:ext>
            </a:extLst>
          </p:cNvPr>
          <p:cNvSpPr/>
          <p:nvPr/>
        </p:nvSpPr>
        <p:spPr>
          <a:xfrm>
            <a:off x="1001255" y="1438169"/>
            <a:ext cx="2621280" cy="2011680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216FF97-4595-EF19-79B3-6ACBBD427B8D}"/>
              </a:ext>
            </a:extLst>
          </p:cNvPr>
          <p:cNvSpPr/>
          <p:nvPr/>
        </p:nvSpPr>
        <p:spPr>
          <a:xfrm>
            <a:off x="1184135" y="1657625"/>
            <a:ext cx="670560" cy="463296"/>
          </a:xfrm>
          <a:prstGeom prst="rect">
            <a:avLst/>
          </a:prstGeom>
          <a:solidFill>
            <a:srgbClr val="C0441C">
              <a:alpha val="25000"/>
            </a:srgbClr>
          </a:solidFill>
          <a:ln w="12700">
            <a:solidFill>
              <a:srgbClr val="C0441C"/>
            </a:solidFill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622CFB8-007D-D000-CCED-D083A3FFD36C}"/>
              </a:ext>
            </a:extLst>
          </p:cNvPr>
          <p:cNvSpPr/>
          <p:nvPr/>
        </p:nvSpPr>
        <p:spPr>
          <a:xfrm>
            <a:off x="1184135" y="1657625"/>
            <a:ext cx="670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pptx</a:t>
            </a:r>
            <a:endParaRPr lang="en-US" sz="1333" dirty="0">
              <a:latin typeface="Montserrat" panose="00000500000000000000" pitchFamily="2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1524638-C978-562C-767F-E8D809B7D9BA}"/>
              </a:ext>
            </a:extLst>
          </p:cNvPr>
          <p:cNvSpPr/>
          <p:nvPr/>
        </p:nvSpPr>
        <p:spPr>
          <a:xfrm>
            <a:off x="1952230" y="1657625"/>
            <a:ext cx="1668409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733" dirty="0">
              <a:latin typeface="Montserrat" panose="00000500000000000000" pitchFamily="2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43D6E03-E213-9EE7-DB87-B835307E3BAA}"/>
              </a:ext>
            </a:extLst>
          </p:cNvPr>
          <p:cNvSpPr/>
          <p:nvPr/>
        </p:nvSpPr>
        <p:spPr>
          <a:xfrm>
            <a:off x="1184135" y="2218457"/>
            <a:ext cx="225552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A3A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Create and edit .pptx presentations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9305C27E-E5E7-9EAB-3626-290757A305FA}"/>
              </a:ext>
            </a:extLst>
          </p:cNvPr>
          <p:cNvSpPr/>
          <p:nvPr/>
        </p:nvSpPr>
        <p:spPr>
          <a:xfrm>
            <a:off x="4857290" y="1438169"/>
            <a:ext cx="2621280" cy="2011680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63EAAF0B-C21A-A523-72DB-EB621BB781A2}"/>
              </a:ext>
            </a:extLst>
          </p:cNvPr>
          <p:cNvSpPr/>
          <p:nvPr/>
        </p:nvSpPr>
        <p:spPr>
          <a:xfrm>
            <a:off x="5040170" y="1657625"/>
            <a:ext cx="670560" cy="463296"/>
          </a:xfrm>
          <a:prstGeom prst="rect">
            <a:avLst/>
          </a:prstGeom>
          <a:solidFill>
            <a:srgbClr val="1D7044">
              <a:alpha val="25000"/>
            </a:srgbClr>
          </a:solidFill>
          <a:ln w="12700">
            <a:solidFill>
              <a:srgbClr val="1D7044"/>
            </a:solidFill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6D658D20-F66C-B82A-A8C7-782A194CF9CE}"/>
              </a:ext>
            </a:extLst>
          </p:cNvPr>
          <p:cNvSpPr/>
          <p:nvPr/>
        </p:nvSpPr>
        <p:spPr>
          <a:xfrm>
            <a:off x="5040170" y="1657625"/>
            <a:ext cx="670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xlsx</a:t>
            </a:r>
            <a:endParaRPr lang="en-US" sz="1333" dirty="0">
              <a:latin typeface="Montserrat" panose="00000500000000000000" pitchFamily="2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65FF1279-E931-FEEF-6E76-256FECC79162}"/>
              </a:ext>
            </a:extLst>
          </p:cNvPr>
          <p:cNvSpPr/>
          <p:nvPr/>
        </p:nvSpPr>
        <p:spPr>
          <a:xfrm>
            <a:off x="5808266" y="1657625"/>
            <a:ext cx="14630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733" dirty="0">
              <a:latin typeface="Montserrat" panose="00000500000000000000" pitchFamily="2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A04EAAEF-DBB3-C2E4-73FD-4370A5560F63}"/>
              </a:ext>
            </a:extLst>
          </p:cNvPr>
          <p:cNvSpPr/>
          <p:nvPr/>
        </p:nvSpPr>
        <p:spPr>
          <a:xfrm>
            <a:off x="5040170" y="2218457"/>
            <a:ext cx="225552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A3A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Build spreadsheets, charts, and formulas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ACDCAF7D-EF70-CD1D-5871-923D83745991}"/>
              </a:ext>
            </a:extLst>
          </p:cNvPr>
          <p:cNvSpPr/>
          <p:nvPr/>
        </p:nvSpPr>
        <p:spPr>
          <a:xfrm>
            <a:off x="8471549" y="1438169"/>
            <a:ext cx="2621280" cy="2011680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ACBCCFF1-F048-C222-CCA6-7F5A40B76220}"/>
              </a:ext>
            </a:extLst>
          </p:cNvPr>
          <p:cNvSpPr/>
          <p:nvPr/>
        </p:nvSpPr>
        <p:spPr>
          <a:xfrm>
            <a:off x="8654429" y="1657625"/>
            <a:ext cx="670560" cy="463296"/>
          </a:xfrm>
          <a:prstGeom prst="rect">
            <a:avLst/>
          </a:prstGeom>
          <a:solidFill>
            <a:srgbClr val="2B579A">
              <a:alpha val="25000"/>
            </a:srgbClr>
          </a:solidFill>
          <a:ln w="127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C5DEE61F-A7A9-6A93-5BAE-69D4FBFCA350}"/>
              </a:ext>
            </a:extLst>
          </p:cNvPr>
          <p:cNvSpPr/>
          <p:nvPr/>
        </p:nvSpPr>
        <p:spPr>
          <a:xfrm>
            <a:off x="8654429" y="1657625"/>
            <a:ext cx="670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docx</a:t>
            </a:r>
            <a:endParaRPr lang="en-US" sz="1333" dirty="0">
              <a:latin typeface="Montserrat" panose="00000500000000000000" pitchFamily="2" charset="0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487A9B3-1849-72CE-501C-49E334AC6F4D}"/>
              </a:ext>
            </a:extLst>
          </p:cNvPr>
          <p:cNvSpPr/>
          <p:nvPr/>
        </p:nvSpPr>
        <p:spPr>
          <a:xfrm>
            <a:off x="9422525" y="1657625"/>
            <a:ext cx="14630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733" dirty="0">
              <a:latin typeface="Montserrat" panose="00000500000000000000" pitchFamily="2" charset="0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4947B80E-87FF-0083-A5FA-3D85DE3E1002}"/>
              </a:ext>
            </a:extLst>
          </p:cNvPr>
          <p:cNvSpPr/>
          <p:nvPr/>
        </p:nvSpPr>
        <p:spPr>
          <a:xfrm>
            <a:off x="8654429" y="2218457"/>
            <a:ext cx="225552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A3A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Generate and edit formatted .docx documents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C8605C97-D0DC-DD9E-3254-FD5E3D243AC3}"/>
              </a:ext>
            </a:extLst>
          </p:cNvPr>
          <p:cNvSpPr/>
          <p:nvPr/>
        </p:nvSpPr>
        <p:spPr>
          <a:xfrm>
            <a:off x="2886165" y="3790950"/>
            <a:ext cx="2621280" cy="2011680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87F61F75-2C34-F84F-2813-F1B7DE103CD0}"/>
              </a:ext>
            </a:extLst>
          </p:cNvPr>
          <p:cNvSpPr/>
          <p:nvPr/>
        </p:nvSpPr>
        <p:spPr>
          <a:xfrm>
            <a:off x="3069045" y="4010406"/>
            <a:ext cx="670560" cy="463296"/>
          </a:xfrm>
          <a:prstGeom prst="rect">
            <a:avLst/>
          </a:prstGeom>
          <a:solidFill>
            <a:srgbClr val="CC3333">
              <a:alpha val="25000"/>
            </a:srgbClr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A220F084-2A7B-31EF-B7FE-2EB0F11380C9}"/>
              </a:ext>
            </a:extLst>
          </p:cNvPr>
          <p:cNvSpPr/>
          <p:nvPr/>
        </p:nvSpPr>
        <p:spPr>
          <a:xfrm>
            <a:off x="3069045" y="4010406"/>
            <a:ext cx="670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pdf</a:t>
            </a:r>
            <a:endParaRPr lang="en-US" sz="1333" dirty="0">
              <a:latin typeface="Montserrat" panose="00000500000000000000" pitchFamily="2" charset="0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1391EA55-85ED-56EE-1A8C-49DE8FC6F4B4}"/>
              </a:ext>
            </a:extLst>
          </p:cNvPr>
          <p:cNvSpPr/>
          <p:nvPr/>
        </p:nvSpPr>
        <p:spPr>
          <a:xfrm>
            <a:off x="3837141" y="4010406"/>
            <a:ext cx="14630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733" dirty="0">
              <a:latin typeface="Montserrat" panose="00000500000000000000" pitchFamily="2" charset="0"/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AA2717CB-4B4B-5671-A9E3-454CE3485E7F}"/>
              </a:ext>
            </a:extLst>
          </p:cNvPr>
          <p:cNvSpPr/>
          <p:nvPr/>
        </p:nvSpPr>
        <p:spPr>
          <a:xfrm>
            <a:off x="3069045" y="4571238"/>
            <a:ext cx="24384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A3A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Create, fill, merge, and extract from PDFs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4C50D6F8-DCE4-F108-82EC-315AF336C4AC}"/>
              </a:ext>
            </a:extLst>
          </p:cNvPr>
          <p:cNvSpPr/>
          <p:nvPr/>
        </p:nvSpPr>
        <p:spPr>
          <a:xfrm>
            <a:off x="6744095" y="3821705"/>
            <a:ext cx="2621280" cy="2011680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8BCE13E0-B3E9-B60E-62C9-1EB3D5237ABD}"/>
              </a:ext>
            </a:extLst>
          </p:cNvPr>
          <p:cNvSpPr/>
          <p:nvPr/>
        </p:nvSpPr>
        <p:spPr>
          <a:xfrm>
            <a:off x="6963551" y="4041161"/>
            <a:ext cx="22555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frontend-design</a:t>
            </a:r>
          </a:p>
        </p:txBody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FD850338-105D-5140-8F4E-21278259C19A}"/>
              </a:ext>
            </a:extLst>
          </p:cNvPr>
          <p:cNvSpPr/>
          <p:nvPr/>
        </p:nvSpPr>
        <p:spPr>
          <a:xfrm>
            <a:off x="6926975" y="4601993"/>
            <a:ext cx="24384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A3A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Production-grade UI with bold aesthetic choices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735FE79-E7E1-2075-5618-63D92561BDC0}"/>
              </a:ext>
            </a:extLst>
          </p:cNvPr>
          <p:cNvSpPr txBox="1"/>
          <p:nvPr/>
        </p:nvSpPr>
        <p:spPr>
          <a:xfrm>
            <a:off x="339657" y="829445"/>
            <a:ext cx="105702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latin typeface="Montserrat" panose="00000500000000000000" pitchFamily="2" charset="0"/>
              </a:rPr>
              <a:t>Check the official skills list: </a:t>
            </a:r>
            <a:r>
              <a:rPr lang="en-CA" dirty="0">
                <a:latin typeface="Montserrat" panose="00000500000000000000" pitchFamily="2" charset="0"/>
                <a:hlinkClick r:id="rId4"/>
              </a:rPr>
              <a:t>https://github.com/anthropics/skills/tree/main/skills</a:t>
            </a:r>
            <a:endParaRPr lang="en-CA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657155-A0DA-555A-27D8-3F9B232705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11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9E7D7-63C1-9DCA-A7B1-B839D1199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E5D3B3-D609-13E4-7779-7BD5E01D75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FBCD09-E6FA-3444-F259-4E7BB002A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70C1981-F860-AA8F-3C01-BBEDA3F9F5A3}"/>
              </a:ext>
            </a:extLst>
          </p:cNvPr>
          <p:cNvSpPr/>
          <p:nvPr/>
        </p:nvSpPr>
        <p:spPr>
          <a:xfrm>
            <a:off x="293914" y="793804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 PLUG-INS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F03F10-BEF5-2DCF-ABA8-DFA305019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415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B60EC-0163-2103-5D90-09CB50DB6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0C45C4-6C58-C9A0-6021-D2A51D5BA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FC2007-BFB1-3F3D-1F7D-9D9821F5F4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4C965D83-3C7F-0875-8ECA-3FB5EE28AE6D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Plugins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048C52-D724-B852-B30D-0F0B802B7B71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374863-6FC5-EFD8-EBF2-D4040E6F9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711" y="803151"/>
            <a:ext cx="11480067" cy="792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04792" indent="-304792">
              <a:lnSpc>
                <a:spcPct val="90000"/>
              </a:lnSpc>
              <a:spcBef>
                <a:spcPts val="1333"/>
              </a:spcBef>
              <a:buClr>
                <a:srgbClr val="1BBFD1"/>
              </a:buClr>
              <a:buFont typeface="Arial" panose="020B0604020202020204" pitchFamily="34" charset="0"/>
              <a:buChar char="•"/>
            </a:pPr>
            <a:endParaRPr lang="en-US" altLang="en-US" dirty="0"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43430-9F44-FCBE-61EC-22F14C7BC4F6}"/>
              </a:ext>
            </a:extLst>
          </p:cNvPr>
          <p:cNvSpPr txBox="1"/>
          <p:nvPr/>
        </p:nvSpPr>
        <p:spPr>
          <a:xfrm>
            <a:off x="214711" y="907391"/>
            <a:ext cx="112152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Plugins bundle skills, connectors, slash commands &amp; sub-agents into one package for a specific job function. No technical knowledge required to create them.</a:t>
            </a:r>
            <a:endParaRPr lang="en-US" sz="1800" dirty="0">
              <a:latin typeface="Montserrat" panose="00000500000000000000" pitchFamily="2" charset="0"/>
            </a:endParaRP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A57E931C-83DF-347A-1869-DE53CDFC1FAC}"/>
              </a:ext>
            </a:extLst>
          </p:cNvPr>
          <p:cNvSpPr/>
          <p:nvPr/>
        </p:nvSpPr>
        <p:spPr>
          <a:xfrm>
            <a:off x="688548" y="1892400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F172A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What's Inside a Plugin</a:t>
            </a:r>
            <a:endParaRPr lang="en-US" sz="24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4A5908F8-50E7-B624-4809-6652C8BC633E}"/>
              </a:ext>
            </a:extLst>
          </p:cNvPr>
          <p:cNvSpPr/>
          <p:nvPr/>
        </p:nvSpPr>
        <p:spPr>
          <a:xfrm>
            <a:off x="688548" y="2441040"/>
            <a:ext cx="512064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CA" sz="240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FB64E94E-323E-433D-961B-1EE72B5F126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71428" y="2526384"/>
            <a:ext cx="414528" cy="414528"/>
          </a:xfrm>
          <a:prstGeom prst="rect">
            <a:avLst/>
          </a:prstGeom>
        </p:spPr>
      </p:pic>
      <p:sp>
        <p:nvSpPr>
          <p:cNvPr id="31" name="Text 6">
            <a:extLst>
              <a:ext uri="{FF2B5EF4-FFF2-40B4-BE49-F238E27FC236}">
                <a16:creationId xmlns:a16="http://schemas.microsoft.com/office/drawing/2014/main" id="{6016D5B4-7FC2-52A8-DF6B-C2EC2E4CFF3E}"/>
              </a:ext>
            </a:extLst>
          </p:cNvPr>
          <p:cNvSpPr/>
          <p:nvPr/>
        </p:nvSpPr>
        <p:spPr>
          <a:xfrm>
            <a:off x="1481028" y="2465424"/>
            <a:ext cx="41452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C1752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Skills</a:t>
            </a:r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 Specialized knowledge &amp; workflows</a:t>
            </a:r>
            <a:endParaRPr lang="en-US" sz="16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95E86DF4-58A8-4BEB-EC88-0894B987AE46}"/>
              </a:ext>
            </a:extLst>
          </p:cNvPr>
          <p:cNvSpPr/>
          <p:nvPr/>
        </p:nvSpPr>
        <p:spPr>
          <a:xfrm>
            <a:off x="688548" y="3148176"/>
            <a:ext cx="512064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CA" sz="240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2F43BA4C-F2A6-BE0D-611B-48A5CB353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8" y="3233520"/>
            <a:ext cx="414528" cy="414528"/>
          </a:xfrm>
          <a:prstGeom prst="rect">
            <a:avLst/>
          </a:prstGeom>
        </p:spPr>
      </p:pic>
      <p:sp>
        <p:nvSpPr>
          <p:cNvPr id="34" name="Text 8">
            <a:extLst>
              <a:ext uri="{FF2B5EF4-FFF2-40B4-BE49-F238E27FC236}">
                <a16:creationId xmlns:a16="http://schemas.microsoft.com/office/drawing/2014/main" id="{97AD8013-1BA0-161C-955C-C59CA7C76F0B}"/>
              </a:ext>
            </a:extLst>
          </p:cNvPr>
          <p:cNvSpPr/>
          <p:nvPr/>
        </p:nvSpPr>
        <p:spPr>
          <a:xfrm>
            <a:off x="1481028" y="3172560"/>
            <a:ext cx="41452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C1752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Connectors (MCP)</a:t>
            </a:r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 Link to Google Drive, Slack, etc.</a:t>
            </a:r>
            <a:endParaRPr lang="en-US" sz="16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F208EBE6-8227-8B1C-834A-32034879C016}"/>
              </a:ext>
            </a:extLst>
          </p:cNvPr>
          <p:cNvSpPr/>
          <p:nvPr/>
        </p:nvSpPr>
        <p:spPr>
          <a:xfrm>
            <a:off x="688548" y="3855312"/>
            <a:ext cx="512064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CA" sz="240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36" name="Image 2" descr="preencoded.png">
            <a:extLst>
              <a:ext uri="{FF2B5EF4-FFF2-40B4-BE49-F238E27FC236}">
                <a16:creationId xmlns:a16="http://schemas.microsoft.com/office/drawing/2014/main" id="{85718FE5-AF0E-E4CB-9BD5-8555B7F243FF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71428" y="3940656"/>
            <a:ext cx="414528" cy="414528"/>
          </a:xfrm>
          <a:prstGeom prst="rect">
            <a:avLst/>
          </a:prstGeom>
        </p:spPr>
      </p:pic>
      <p:sp>
        <p:nvSpPr>
          <p:cNvPr id="37" name="Text 10">
            <a:extLst>
              <a:ext uri="{FF2B5EF4-FFF2-40B4-BE49-F238E27FC236}">
                <a16:creationId xmlns:a16="http://schemas.microsoft.com/office/drawing/2014/main" id="{41AE5B17-42B6-7108-298F-4999EC7551FD}"/>
              </a:ext>
            </a:extLst>
          </p:cNvPr>
          <p:cNvSpPr/>
          <p:nvPr/>
        </p:nvSpPr>
        <p:spPr>
          <a:xfrm>
            <a:off x="1481028" y="3879696"/>
            <a:ext cx="41452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C1752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Slash Commands</a:t>
            </a:r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  Quick-launch structured workflows</a:t>
            </a:r>
            <a:endParaRPr lang="en-US" sz="16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3E57111C-CF49-5576-0D75-B6ACDAED8B33}"/>
              </a:ext>
            </a:extLst>
          </p:cNvPr>
          <p:cNvSpPr/>
          <p:nvPr/>
        </p:nvSpPr>
        <p:spPr>
          <a:xfrm>
            <a:off x="688548" y="4562448"/>
            <a:ext cx="512064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CA" sz="240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39" name="Image 3" descr="preencoded.png">
            <a:extLst>
              <a:ext uri="{FF2B5EF4-FFF2-40B4-BE49-F238E27FC236}">
                <a16:creationId xmlns:a16="http://schemas.microsoft.com/office/drawing/2014/main" id="{0A3FDFB5-7DC5-2259-D49E-9CC934C643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428" y="4647792"/>
            <a:ext cx="414528" cy="414528"/>
          </a:xfrm>
          <a:prstGeom prst="rect">
            <a:avLst/>
          </a:prstGeom>
        </p:spPr>
      </p:pic>
      <p:sp>
        <p:nvSpPr>
          <p:cNvPr id="40" name="Text 12">
            <a:extLst>
              <a:ext uri="{FF2B5EF4-FFF2-40B4-BE49-F238E27FC236}">
                <a16:creationId xmlns:a16="http://schemas.microsoft.com/office/drawing/2014/main" id="{D663544D-8D44-D0F3-60C1-7C857446DA78}"/>
              </a:ext>
            </a:extLst>
          </p:cNvPr>
          <p:cNvSpPr/>
          <p:nvPr/>
        </p:nvSpPr>
        <p:spPr>
          <a:xfrm>
            <a:off x="1481028" y="4586832"/>
            <a:ext cx="41452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C1752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Sub-Agents</a:t>
            </a:r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Specialized task executors</a:t>
            </a:r>
            <a:endParaRPr lang="en-US" sz="16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EEE0F908-8006-45F5-32C3-386841C3AA31}"/>
              </a:ext>
            </a:extLst>
          </p:cNvPr>
          <p:cNvSpPr/>
          <p:nvPr/>
        </p:nvSpPr>
        <p:spPr>
          <a:xfrm>
            <a:off x="6868534" y="1892400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F172A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Pre-Built Plugins</a:t>
            </a:r>
            <a:endParaRPr lang="en-US" sz="24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42" name="Image 4" descr="preencoded.png">
            <a:extLst>
              <a:ext uri="{FF2B5EF4-FFF2-40B4-BE49-F238E27FC236}">
                <a16:creationId xmlns:a16="http://schemas.microsoft.com/office/drawing/2014/main" id="{71A37600-892E-8960-E4E6-60E96A82819E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2599536"/>
            <a:ext cx="304800" cy="304800"/>
          </a:xfrm>
          <a:prstGeom prst="rect">
            <a:avLst/>
          </a:prstGeom>
        </p:spPr>
      </p:pic>
      <p:sp>
        <p:nvSpPr>
          <p:cNvPr id="43" name="Text 14">
            <a:extLst>
              <a:ext uri="{FF2B5EF4-FFF2-40B4-BE49-F238E27FC236}">
                <a16:creationId xmlns:a16="http://schemas.microsoft.com/office/drawing/2014/main" id="{5572ED2E-F677-AC53-14C2-5BF122B3CCBE}"/>
              </a:ext>
            </a:extLst>
          </p:cNvPr>
          <p:cNvSpPr/>
          <p:nvPr/>
        </p:nvSpPr>
        <p:spPr>
          <a:xfrm>
            <a:off x="7478134" y="2562960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HR: People operations &amp; lifecycle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44" name="Image 5" descr="preencoded.png">
            <a:extLst>
              <a:ext uri="{FF2B5EF4-FFF2-40B4-BE49-F238E27FC236}">
                <a16:creationId xmlns:a16="http://schemas.microsoft.com/office/drawing/2014/main" id="{D6AAB6AC-931E-6827-2A69-6F38AF34E340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3111600"/>
            <a:ext cx="304800" cy="304800"/>
          </a:xfrm>
          <a:prstGeom prst="rect">
            <a:avLst/>
          </a:prstGeom>
        </p:spPr>
      </p:pic>
      <p:sp>
        <p:nvSpPr>
          <p:cNvPr id="45" name="Text 15">
            <a:extLst>
              <a:ext uri="{FF2B5EF4-FFF2-40B4-BE49-F238E27FC236}">
                <a16:creationId xmlns:a16="http://schemas.microsoft.com/office/drawing/2014/main" id="{CBD7CA9D-9235-C37D-CACC-6386432E7D1C}"/>
              </a:ext>
            </a:extLst>
          </p:cNvPr>
          <p:cNvSpPr/>
          <p:nvPr/>
        </p:nvSpPr>
        <p:spPr>
          <a:xfrm>
            <a:off x="7478134" y="3075024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Design: UX, accessibility, critiques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46" name="Image 6" descr="preencoded.png">
            <a:extLst>
              <a:ext uri="{FF2B5EF4-FFF2-40B4-BE49-F238E27FC236}">
                <a16:creationId xmlns:a16="http://schemas.microsoft.com/office/drawing/2014/main" id="{788FB0BF-17CA-5E68-D24A-E50339002218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3623664"/>
            <a:ext cx="304800" cy="304800"/>
          </a:xfrm>
          <a:prstGeom prst="rect">
            <a:avLst/>
          </a:prstGeom>
        </p:spPr>
      </p:pic>
      <p:sp>
        <p:nvSpPr>
          <p:cNvPr id="47" name="Text 16">
            <a:extLst>
              <a:ext uri="{FF2B5EF4-FFF2-40B4-BE49-F238E27FC236}">
                <a16:creationId xmlns:a16="http://schemas.microsoft.com/office/drawing/2014/main" id="{1A30E9F9-43FD-38A1-6FF1-5BE2ED760169}"/>
              </a:ext>
            </a:extLst>
          </p:cNvPr>
          <p:cNvSpPr/>
          <p:nvPr/>
        </p:nvSpPr>
        <p:spPr>
          <a:xfrm>
            <a:off x="7478134" y="3587088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Engineering: Standups, deploys, incidents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48" name="Image 7" descr="preencoded.png">
            <a:extLst>
              <a:ext uri="{FF2B5EF4-FFF2-40B4-BE49-F238E27FC236}">
                <a16:creationId xmlns:a16="http://schemas.microsoft.com/office/drawing/2014/main" id="{3631AB11-0AC8-8A76-0DF5-D0F9AACF5F7B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4135728"/>
            <a:ext cx="304800" cy="304800"/>
          </a:xfrm>
          <a:prstGeom prst="rect">
            <a:avLst/>
          </a:prstGeom>
        </p:spPr>
      </p:pic>
      <p:sp>
        <p:nvSpPr>
          <p:cNvPr id="49" name="Text 17">
            <a:extLst>
              <a:ext uri="{FF2B5EF4-FFF2-40B4-BE49-F238E27FC236}">
                <a16:creationId xmlns:a16="http://schemas.microsoft.com/office/drawing/2014/main" id="{E38D4818-4252-BB46-784A-EBD53A11736C}"/>
              </a:ext>
            </a:extLst>
          </p:cNvPr>
          <p:cNvSpPr/>
          <p:nvPr/>
        </p:nvSpPr>
        <p:spPr>
          <a:xfrm>
            <a:off x="7478134" y="4099152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Operations: Runbooks, vendor evals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50" name="Image 8" descr="preencoded.png">
            <a:extLst>
              <a:ext uri="{FF2B5EF4-FFF2-40B4-BE49-F238E27FC236}">
                <a16:creationId xmlns:a16="http://schemas.microsoft.com/office/drawing/2014/main" id="{3C1B99E3-288E-821F-1378-E63AAD814AE1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4647792"/>
            <a:ext cx="304800" cy="304800"/>
          </a:xfrm>
          <a:prstGeom prst="rect">
            <a:avLst/>
          </a:prstGeom>
        </p:spPr>
      </p:pic>
      <p:sp>
        <p:nvSpPr>
          <p:cNvPr id="51" name="Text 18">
            <a:extLst>
              <a:ext uri="{FF2B5EF4-FFF2-40B4-BE49-F238E27FC236}">
                <a16:creationId xmlns:a16="http://schemas.microsoft.com/office/drawing/2014/main" id="{6B4DB5B4-4BFA-8AAF-7041-84A7EAB4E264}"/>
              </a:ext>
            </a:extLst>
          </p:cNvPr>
          <p:cNvSpPr/>
          <p:nvPr/>
        </p:nvSpPr>
        <p:spPr>
          <a:xfrm>
            <a:off x="7478134" y="4611216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Finance: FP&amp;A, variance analysis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52" name="Image 9" descr="preencoded.png">
            <a:extLst>
              <a:ext uri="{FF2B5EF4-FFF2-40B4-BE49-F238E27FC236}">
                <a16:creationId xmlns:a16="http://schemas.microsoft.com/office/drawing/2014/main" id="{8C8B6F39-45B9-CCA8-D242-4D5FBEF587A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5159856"/>
            <a:ext cx="304800" cy="304800"/>
          </a:xfrm>
          <a:prstGeom prst="rect">
            <a:avLst/>
          </a:prstGeom>
        </p:spPr>
      </p:pic>
      <p:sp>
        <p:nvSpPr>
          <p:cNvPr id="53" name="Text 19">
            <a:extLst>
              <a:ext uri="{FF2B5EF4-FFF2-40B4-BE49-F238E27FC236}">
                <a16:creationId xmlns:a16="http://schemas.microsoft.com/office/drawing/2014/main" id="{3505D79B-D18D-713D-DB4B-310B46A78948}"/>
              </a:ext>
            </a:extLst>
          </p:cNvPr>
          <p:cNvSpPr/>
          <p:nvPr/>
        </p:nvSpPr>
        <p:spPr>
          <a:xfrm>
            <a:off x="7478134" y="5123280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Sales: Outreach, research, CRM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034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1" grpId="0" animBg="1"/>
      <p:bldP spid="32" grpId="0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  <p:bldP spid="43" grpId="0" animBg="1"/>
      <p:bldP spid="45" grpId="0" animBg="1"/>
      <p:bldP spid="47" grpId="0" animBg="1"/>
      <p:bldP spid="49" grpId="0" animBg="1"/>
      <p:bldP spid="51" grpId="0" animBg="1"/>
      <p:bldP spid="5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DD842-F390-2AC5-FE71-52B494130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312D07-3E1F-5992-40C3-B485390BB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352691-848D-7E58-E313-08614C657A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587B0968-8CFF-E32C-5D71-AFBC258A7949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Available Claude Plugins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F0EF8B-0E7C-2C27-7326-659B2A726A8E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3026E2-2336-5BD1-7DE7-1AC75F625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711" y="803151"/>
            <a:ext cx="11480067" cy="792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04792" indent="-304792">
              <a:lnSpc>
                <a:spcPct val="90000"/>
              </a:lnSpc>
              <a:spcBef>
                <a:spcPts val="1333"/>
              </a:spcBef>
              <a:buClr>
                <a:srgbClr val="1BBFD1"/>
              </a:buClr>
              <a:buFont typeface="Arial" panose="020B0604020202020204" pitchFamily="34" charset="0"/>
              <a:buChar char="•"/>
            </a:pPr>
            <a:endParaRPr lang="en-US" altLang="en-US" dirty="0">
              <a:latin typeface="Montserrat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7B0AE5-C6C4-9446-ED94-403104115A4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5E5E5C"/>
              </a:clrFrom>
              <a:clrTo>
                <a:srgbClr val="5E5E5C">
                  <a:alpha val="0"/>
                </a:srgbClr>
              </a:clrTo>
            </a:clrChange>
          </a:blip>
          <a:srcRect l="16813" t="13412" r="14554" b="12503"/>
          <a:stretch>
            <a:fillRect/>
          </a:stretch>
        </p:blipFill>
        <p:spPr>
          <a:xfrm>
            <a:off x="2139355" y="1393018"/>
            <a:ext cx="6934200" cy="462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51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DD9A6-2F75-5BBD-643E-CE11F42CA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028149-CB94-2A68-8409-0329D9584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584B14-8A2C-0C6B-2C19-6C6E652832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85E63847-DCC1-6026-1C99-92AF7D664C5E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Quick Demo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5091F8-805C-C415-1BDD-7E0BCC06FDB7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0FABBC4-8AE9-0D73-F436-5F71A86BB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0618" y="1465547"/>
            <a:ext cx="4077754" cy="41047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CEBA45-A5D2-A116-7F43-90FCAAF5333F}"/>
              </a:ext>
            </a:extLst>
          </p:cNvPr>
          <p:cNvSpPr txBox="1"/>
          <p:nvPr/>
        </p:nvSpPr>
        <p:spPr>
          <a:xfrm>
            <a:off x="3698544" y="6226618"/>
            <a:ext cx="6121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>
                <a:hlinkClick r:id="rId5"/>
              </a:rPr>
              <a:t>https://claude.com/product/cowork</a:t>
            </a:r>
            <a:endParaRPr lang="en-CA" sz="2000" dirty="0"/>
          </a:p>
          <a:p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2969602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5B119-793C-0FDF-C32E-5F9DDE91E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9267E8-8584-BDA9-D39B-300EAC7A8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2872C3-0E9D-1C5F-A116-5900D1DCAD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AADF091B-9C17-B638-40BA-5AE0C84FB818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Practice Opportunity: Claude Plugins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AC4715-593F-BF2A-1E8F-7A0FF7951D7B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31A747-CE62-D3DB-6E1D-A991DED273B4}"/>
              </a:ext>
            </a:extLst>
          </p:cNvPr>
          <p:cNvSpPr txBox="1"/>
          <p:nvPr/>
        </p:nvSpPr>
        <p:spPr>
          <a:xfrm>
            <a:off x="189384" y="871861"/>
            <a:ext cx="11780457" cy="6495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sz="1600" dirty="0"/>
          </a:p>
          <a:p>
            <a:endParaRPr lang="en-US" sz="1400" dirty="0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E4E95363-7C0B-15FF-C8BD-02853A7DE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0A6279-38FB-B7CB-89A2-84DEBF975B7E}"/>
              </a:ext>
            </a:extLst>
          </p:cNvPr>
          <p:cNvSpPr txBox="1"/>
          <p:nvPr/>
        </p:nvSpPr>
        <p:spPr>
          <a:xfrm>
            <a:off x="153409" y="907669"/>
            <a:ext cx="890579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</a:rPr>
              <a:t>Use the same saas_monthly_metrics.csv datasets: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</a:rPr>
              <a:t>Download the data plugin in Claude Cowork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</a:rPr>
              <a:t>Generate visuals and static plots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</a:rPr>
              <a:t>Summarize the results in a 5-slide PowerPoint presentation</a:t>
            </a:r>
          </a:p>
          <a:p>
            <a:endParaRPr lang="en-US" dirty="0">
              <a:latin typeface="Montserrat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27231B-FFAA-F14A-02D5-B1871A7DECF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98545" y="747334"/>
            <a:ext cx="3060152" cy="242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660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09FB-E671-B17D-77BB-65311A51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5C378-4A8E-9187-A206-DB4730F915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25B6F-0705-62E5-DF16-79898F06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A9FA6F-A71D-92D5-9E16-A91F986E09CE}"/>
              </a:ext>
            </a:extLst>
          </p:cNvPr>
          <p:cNvSpPr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9615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7840</TotalTime>
  <Words>585</Words>
  <Application>Microsoft Office PowerPoint</Application>
  <PresentationFormat>Widescreen</PresentationFormat>
  <Paragraphs>70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kukesh kodess</dc:creator>
  <cp:lastModifiedBy>Ryan Ahmed</cp:lastModifiedBy>
  <cp:revision>832</cp:revision>
  <dcterms:created xsi:type="dcterms:W3CDTF">2019-11-18T17:58:36Z</dcterms:created>
  <dcterms:modified xsi:type="dcterms:W3CDTF">2026-05-07T20:37:31Z</dcterms:modified>
</cp:coreProperties>
</file>