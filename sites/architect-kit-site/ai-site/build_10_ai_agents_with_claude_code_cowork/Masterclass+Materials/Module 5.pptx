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565" r:id="rId2"/>
    <p:sldId id="4410" r:id="rId3"/>
    <p:sldId id="4338" r:id="rId4"/>
    <p:sldId id="4339" r:id="rId5"/>
    <p:sldId id="4438" r:id="rId6"/>
    <p:sldId id="4411" r:id="rId7"/>
    <p:sldId id="4439" r:id="rId8"/>
    <p:sldId id="4430" r:id="rId9"/>
    <p:sldId id="4437" r:id="rId10"/>
    <p:sldId id="4440" r:id="rId11"/>
    <p:sldId id="4431" r:id="rId12"/>
    <p:sldId id="4441" r:id="rId13"/>
    <p:sldId id="4442" r:id="rId14"/>
    <p:sldId id="4434" r:id="rId15"/>
    <p:sldId id="277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C1752"/>
    <a:srgbClr val="D56E48"/>
    <a:srgbClr val="1BBFD1"/>
    <a:srgbClr val="F9F9F9"/>
    <a:srgbClr val="11CCDD"/>
    <a:srgbClr val="E7C24C"/>
    <a:srgbClr val="FF0909"/>
    <a:srgbClr val="4472C4"/>
    <a:srgbClr val="D1C3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4439" autoAdjust="0"/>
    <p:restoredTop sz="94721"/>
  </p:normalViewPr>
  <p:slideViewPr>
    <p:cSldViewPr snapToGrid="0" snapToObjects="1">
      <p:cViewPr varScale="1">
        <p:scale>
          <a:sx n="109" d="100"/>
          <a:sy n="109" d="100"/>
        </p:scale>
        <p:origin x="126" y="4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C911D1-6589-4D4A-810A-D1CB24D30600}" type="datetimeFigureOut">
              <a:rPr lang="en-US" smtClean="0"/>
              <a:t>5/6/2026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234E27-21C0-AB42-9720-9468F68AD70E}" type="slidenum">
              <a:rPr lang="en-US" smtClean="0"/>
              <a:t>‹#›</a:t>
            </a:fld>
            <a:endParaRPr lang="en-US"/>
          </a:p>
        </p:txBody>
      </p:sp>
    </p:spTree>
    <p:extLst>
      <p:ext uri="{BB962C8B-B14F-4D97-AF65-F5344CB8AC3E}">
        <p14:creationId xmlns:p14="http://schemas.microsoft.com/office/powerpoint/2010/main" val="33151572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BDE79-A39D-9B01-B349-0C856F90E2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0830B3-E043-59DA-D4D3-1D27513765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25B699-D113-4E00-BEB8-1EBF85CC6B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B167C9-52B5-AF50-F567-FBFF866832A0}"/>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5867194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051A0-194D-E856-32E9-F75FF069C5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D2C782-FCAC-B442-0D78-A1F121ACDA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0A42D6-BF36-CE63-5674-458EE6E01D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FE5D22-F5B9-6555-1E45-9356DA629E55}"/>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1107251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346E6-F191-F5C8-CE77-2AC40C766A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35F992-45E2-DC8F-2B70-C6FBBB9859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9EF6AB-0186-CC42-13C3-97F5A360F3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C82EFDD-6742-272B-F3AB-E87F1142FF55}"/>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8149189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5525C-D496-1948-D66D-B89A605873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3CCB84-9A37-60B2-B34D-CCB9A19763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EC966B-ACF1-CDC8-D14F-225F155AE8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1A520C9-9811-AA87-234C-88CE810F6124}"/>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0500393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C414C-BAB2-D14F-6057-982153E9B9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EC68A0-0419-935E-84BD-3048B52F0A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5D6742-9134-1B12-585C-1CE4FB6645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866F83-636D-2A8C-7536-FF2F29FA3067}"/>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6652597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8516E-F8B3-83D6-D726-F13791DBDC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DF222E-6ED9-D338-8897-EEBCAE2962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B13D9D-7A7F-D57A-BAA8-FBABA5F22D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B35743-2A08-5575-F709-D81A1BCA58CE}"/>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9137520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6ED6F-859A-B746-837E-C5D978EC306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46CAE93-A6A2-054F-8C31-54E8ABF6AE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C8ADB13-4A11-2643-B65C-065BE17739F2}"/>
              </a:ext>
            </a:extLst>
          </p:cNvPr>
          <p:cNvSpPr>
            <a:spLocks noGrp="1"/>
          </p:cNvSpPr>
          <p:nvPr>
            <p:ph type="dt" sz="half" idx="10"/>
          </p:nvPr>
        </p:nvSpPr>
        <p:spPr/>
        <p:txBody>
          <a:bodyPr/>
          <a:lstStyle/>
          <a:p>
            <a:fld id="{FD8C779B-2DF9-41ED-BDF6-094A96BB5831}" type="datetime1">
              <a:rPr lang="en-US" smtClean="0"/>
              <a:t>5/6/2026</a:t>
            </a:fld>
            <a:endParaRPr lang="en-US"/>
          </a:p>
        </p:txBody>
      </p:sp>
      <p:sp>
        <p:nvSpPr>
          <p:cNvPr id="5" name="Footer Placeholder 4">
            <a:extLst>
              <a:ext uri="{FF2B5EF4-FFF2-40B4-BE49-F238E27FC236}">
                <a16:creationId xmlns:a16="http://schemas.microsoft.com/office/drawing/2014/main" id="{3F68DD79-905B-054B-B597-6AB72529A68D}"/>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3FDD4DF4-5AD9-8C41-9C38-63470B32845E}"/>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105137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F93AB-04A1-834E-A498-C252C11131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8534D4-4817-FF44-8044-9A872518BEF8}"/>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EB8C4A-8264-ED4C-B758-FA62E7CC38F6}"/>
              </a:ext>
            </a:extLst>
          </p:cNvPr>
          <p:cNvSpPr>
            <a:spLocks noGrp="1"/>
          </p:cNvSpPr>
          <p:nvPr>
            <p:ph type="dt" sz="half" idx="10"/>
          </p:nvPr>
        </p:nvSpPr>
        <p:spPr/>
        <p:txBody>
          <a:bodyPr/>
          <a:lstStyle/>
          <a:p>
            <a:fld id="{CEC83053-3D74-4D22-89B3-9024BA4F287F}" type="datetime1">
              <a:rPr lang="en-US" smtClean="0"/>
              <a:t>5/6/2026</a:t>
            </a:fld>
            <a:endParaRPr lang="en-US"/>
          </a:p>
        </p:txBody>
      </p:sp>
      <p:sp>
        <p:nvSpPr>
          <p:cNvPr id="5" name="Footer Placeholder 4">
            <a:extLst>
              <a:ext uri="{FF2B5EF4-FFF2-40B4-BE49-F238E27FC236}">
                <a16:creationId xmlns:a16="http://schemas.microsoft.com/office/drawing/2014/main" id="{878AE0D2-BE66-FF45-B7B1-F69E22F06CE9}"/>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49FB4184-A60F-6246-8A9A-79DD6FECEA19}"/>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17151044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A2D0B-A98C-6E4C-9A34-47981F0C23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655EE8E-C392-5E47-ADCB-A446128CAD2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6B14B18-53C2-D548-8CFF-5D7097F07978}"/>
              </a:ext>
            </a:extLst>
          </p:cNvPr>
          <p:cNvSpPr>
            <a:spLocks noGrp="1"/>
          </p:cNvSpPr>
          <p:nvPr>
            <p:ph type="dt" sz="half" idx="10"/>
          </p:nvPr>
        </p:nvSpPr>
        <p:spPr/>
        <p:txBody>
          <a:bodyPr/>
          <a:lstStyle/>
          <a:p>
            <a:fld id="{37A6BCF6-84B7-49AA-A69F-35D95B9487C2}" type="datetime1">
              <a:rPr lang="en-US" smtClean="0"/>
              <a:t>5/6/2026</a:t>
            </a:fld>
            <a:endParaRPr lang="en-US"/>
          </a:p>
        </p:txBody>
      </p:sp>
      <p:sp>
        <p:nvSpPr>
          <p:cNvPr id="5" name="Footer Placeholder 4">
            <a:extLst>
              <a:ext uri="{FF2B5EF4-FFF2-40B4-BE49-F238E27FC236}">
                <a16:creationId xmlns:a16="http://schemas.microsoft.com/office/drawing/2014/main" id="{1710654B-C8C3-F647-BDFC-BE54D2B2895E}"/>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BCD63980-622B-334C-9137-9A86615196EB}"/>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40065804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92288-ED8B-E34E-BAB6-1D26157B90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86AE68A-CA3F-9948-9F78-46C13FEE829F}"/>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11E62E7-8BD2-264E-A470-F8E73C9D6FE5}"/>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E423621-D1A0-D241-B666-A457ACCAB3EB}"/>
              </a:ext>
            </a:extLst>
          </p:cNvPr>
          <p:cNvSpPr>
            <a:spLocks noGrp="1"/>
          </p:cNvSpPr>
          <p:nvPr>
            <p:ph type="dt" sz="half" idx="10"/>
          </p:nvPr>
        </p:nvSpPr>
        <p:spPr/>
        <p:txBody>
          <a:bodyPr/>
          <a:lstStyle/>
          <a:p>
            <a:fld id="{DFF119D7-9FF6-460F-A484-0C02884C819E}" type="datetime1">
              <a:rPr lang="en-US" smtClean="0"/>
              <a:t>5/6/2026</a:t>
            </a:fld>
            <a:endParaRPr lang="en-US"/>
          </a:p>
        </p:txBody>
      </p:sp>
      <p:sp>
        <p:nvSpPr>
          <p:cNvPr id="6" name="Footer Placeholder 5">
            <a:extLst>
              <a:ext uri="{FF2B5EF4-FFF2-40B4-BE49-F238E27FC236}">
                <a16:creationId xmlns:a16="http://schemas.microsoft.com/office/drawing/2014/main" id="{D5769F7B-BD42-C44E-AA35-681E6A1C40A4}"/>
              </a:ext>
            </a:extLst>
          </p:cNvPr>
          <p:cNvSpPr>
            <a:spLocks noGrp="1"/>
          </p:cNvSpPr>
          <p:nvPr>
            <p:ph type="ftr" sz="quarter" idx="11"/>
          </p:nvPr>
        </p:nvSpPr>
        <p:spPr/>
        <p:txBody>
          <a:bodyPr/>
          <a:lstStyle/>
          <a:p>
            <a:r>
              <a:rPr lang="en-US"/>
              <a:t>Dr. Ryan Ahmed @Stemplicity</a:t>
            </a:r>
          </a:p>
        </p:txBody>
      </p:sp>
      <p:sp>
        <p:nvSpPr>
          <p:cNvPr id="7" name="Slide Number Placeholder 6">
            <a:extLst>
              <a:ext uri="{FF2B5EF4-FFF2-40B4-BE49-F238E27FC236}">
                <a16:creationId xmlns:a16="http://schemas.microsoft.com/office/drawing/2014/main" id="{BA17368C-62E4-C243-98AE-B5BC9B4F3F09}"/>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32881024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8A85E-7345-A641-A78E-CFCE6B479C3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BEA13C7-3C24-DC40-8DAD-E16482E601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CF90715-8982-4245-AC34-4AFC280BDFC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C4CC337-7A68-B44F-A75F-2EAED4C8CC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24BF17B-E9E2-5A4F-9564-4E8671A7A27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6DA4340-16C5-D64A-954E-D207165B5D6E}"/>
              </a:ext>
            </a:extLst>
          </p:cNvPr>
          <p:cNvSpPr>
            <a:spLocks noGrp="1"/>
          </p:cNvSpPr>
          <p:nvPr>
            <p:ph type="dt" sz="half" idx="10"/>
          </p:nvPr>
        </p:nvSpPr>
        <p:spPr/>
        <p:txBody>
          <a:bodyPr/>
          <a:lstStyle/>
          <a:p>
            <a:fld id="{00D3F2F9-9F59-4926-81E1-5AE7B5F13616}" type="datetime1">
              <a:rPr lang="en-US" smtClean="0"/>
              <a:t>5/6/2026</a:t>
            </a:fld>
            <a:endParaRPr lang="en-US"/>
          </a:p>
        </p:txBody>
      </p:sp>
      <p:sp>
        <p:nvSpPr>
          <p:cNvPr id="8" name="Footer Placeholder 7">
            <a:extLst>
              <a:ext uri="{FF2B5EF4-FFF2-40B4-BE49-F238E27FC236}">
                <a16:creationId xmlns:a16="http://schemas.microsoft.com/office/drawing/2014/main" id="{5B44C0C9-507A-DC40-9896-CAA4CCBF98F5}"/>
              </a:ext>
            </a:extLst>
          </p:cNvPr>
          <p:cNvSpPr>
            <a:spLocks noGrp="1"/>
          </p:cNvSpPr>
          <p:nvPr>
            <p:ph type="ftr" sz="quarter" idx="11"/>
          </p:nvPr>
        </p:nvSpPr>
        <p:spPr/>
        <p:txBody>
          <a:bodyPr/>
          <a:lstStyle/>
          <a:p>
            <a:r>
              <a:rPr lang="en-US"/>
              <a:t>Dr. Ryan Ahmed @Stemplicity</a:t>
            </a:r>
          </a:p>
        </p:txBody>
      </p:sp>
      <p:sp>
        <p:nvSpPr>
          <p:cNvPr id="9" name="Slide Number Placeholder 8">
            <a:extLst>
              <a:ext uri="{FF2B5EF4-FFF2-40B4-BE49-F238E27FC236}">
                <a16:creationId xmlns:a16="http://schemas.microsoft.com/office/drawing/2014/main" id="{B4C3C304-57C8-6848-8E40-051A6BFA3F85}"/>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7709954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31005-2F0C-3F41-8F0D-B94FF1E86A0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76EC46B-9591-7147-B23E-808DFCDBEEE0}"/>
              </a:ext>
            </a:extLst>
          </p:cNvPr>
          <p:cNvSpPr>
            <a:spLocks noGrp="1"/>
          </p:cNvSpPr>
          <p:nvPr>
            <p:ph type="dt" sz="half" idx="10"/>
          </p:nvPr>
        </p:nvSpPr>
        <p:spPr/>
        <p:txBody>
          <a:bodyPr/>
          <a:lstStyle/>
          <a:p>
            <a:fld id="{2425E9FE-B00F-4787-941B-81F5C60BF956}" type="datetime1">
              <a:rPr lang="en-US" smtClean="0"/>
              <a:t>5/6/2026</a:t>
            </a:fld>
            <a:endParaRPr lang="en-US"/>
          </a:p>
        </p:txBody>
      </p:sp>
      <p:sp>
        <p:nvSpPr>
          <p:cNvPr id="4" name="Footer Placeholder 3">
            <a:extLst>
              <a:ext uri="{FF2B5EF4-FFF2-40B4-BE49-F238E27FC236}">
                <a16:creationId xmlns:a16="http://schemas.microsoft.com/office/drawing/2014/main" id="{41A8438C-4B28-CC47-9F0D-D243C05972C5}"/>
              </a:ext>
            </a:extLst>
          </p:cNvPr>
          <p:cNvSpPr>
            <a:spLocks noGrp="1"/>
          </p:cNvSpPr>
          <p:nvPr>
            <p:ph type="ftr" sz="quarter" idx="11"/>
          </p:nvPr>
        </p:nvSpPr>
        <p:spPr/>
        <p:txBody>
          <a:bodyPr/>
          <a:lstStyle/>
          <a:p>
            <a:r>
              <a:rPr lang="en-US"/>
              <a:t>Dr. Ryan Ahmed @Stemplicity</a:t>
            </a:r>
          </a:p>
        </p:txBody>
      </p:sp>
      <p:sp>
        <p:nvSpPr>
          <p:cNvPr id="5" name="Slide Number Placeholder 4">
            <a:extLst>
              <a:ext uri="{FF2B5EF4-FFF2-40B4-BE49-F238E27FC236}">
                <a16:creationId xmlns:a16="http://schemas.microsoft.com/office/drawing/2014/main" id="{55C64186-1092-3244-AA0C-4F8C98ECF008}"/>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3357577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81ABCA-C9B4-2C4E-A11A-21473A2C36B2}"/>
              </a:ext>
            </a:extLst>
          </p:cNvPr>
          <p:cNvSpPr>
            <a:spLocks noGrp="1"/>
          </p:cNvSpPr>
          <p:nvPr>
            <p:ph type="dt" sz="half" idx="10"/>
          </p:nvPr>
        </p:nvSpPr>
        <p:spPr/>
        <p:txBody>
          <a:bodyPr/>
          <a:lstStyle/>
          <a:p>
            <a:fld id="{A83063A8-27AB-4485-9BAB-385A926DB554}" type="datetime1">
              <a:rPr lang="en-US" smtClean="0"/>
              <a:t>5/6/2026</a:t>
            </a:fld>
            <a:endParaRPr lang="en-US"/>
          </a:p>
        </p:txBody>
      </p:sp>
      <p:sp>
        <p:nvSpPr>
          <p:cNvPr id="3" name="Footer Placeholder 2">
            <a:extLst>
              <a:ext uri="{FF2B5EF4-FFF2-40B4-BE49-F238E27FC236}">
                <a16:creationId xmlns:a16="http://schemas.microsoft.com/office/drawing/2014/main" id="{C628B611-5E83-0843-977C-16E1A2E894CA}"/>
              </a:ext>
            </a:extLst>
          </p:cNvPr>
          <p:cNvSpPr>
            <a:spLocks noGrp="1"/>
          </p:cNvSpPr>
          <p:nvPr>
            <p:ph type="ftr" sz="quarter" idx="11"/>
          </p:nvPr>
        </p:nvSpPr>
        <p:spPr/>
        <p:txBody>
          <a:bodyPr/>
          <a:lstStyle/>
          <a:p>
            <a:r>
              <a:rPr lang="en-US"/>
              <a:t>Dr. Ryan Ahmed @Stemplicity</a:t>
            </a:r>
          </a:p>
        </p:txBody>
      </p:sp>
      <p:sp>
        <p:nvSpPr>
          <p:cNvPr id="4" name="Slide Number Placeholder 3">
            <a:extLst>
              <a:ext uri="{FF2B5EF4-FFF2-40B4-BE49-F238E27FC236}">
                <a16:creationId xmlns:a16="http://schemas.microsoft.com/office/drawing/2014/main" id="{1A6D3613-5124-BA4D-9CAB-52053A73DB72}"/>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13273423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D5775-3C65-984A-BA3D-74F6AA5404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0876B8A-7DF2-254A-A58A-3F781F1A70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17C9F2F-598A-9444-B48C-6BA9400EF9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EFA619B-B04E-A94F-B294-EE523AB822EB}"/>
              </a:ext>
            </a:extLst>
          </p:cNvPr>
          <p:cNvSpPr>
            <a:spLocks noGrp="1"/>
          </p:cNvSpPr>
          <p:nvPr>
            <p:ph type="dt" sz="half" idx="10"/>
          </p:nvPr>
        </p:nvSpPr>
        <p:spPr/>
        <p:txBody>
          <a:bodyPr/>
          <a:lstStyle/>
          <a:p>
            <a:fld id="{B91EE9DF-0ED6-4B61-A1FD-8DD75280FE01}" type="datetime1">
              <a:rPr lang="en-US" smtClean="0"/>
              <a:t>5/6/2026</a:t>
            </a:fld>
            <a:endParaRPr lang="en-US"/>
          </a:p>
        </p:txBody>
      </p:sp>
      <p:sp>
        <p:nvSpPr>
          <p:cNvPr id="6" name="Footer Placeholder 5">
            <a:extLst>
              <a:ext uri="{FF2B5EF4-FFF2-40B4-BE49-F238E27FC236}">
                <a16:creationId xmlns:a16="http://schemas.microsoft.com/office/drawing/2014/main" id="{F218418F-6D05-564F-ACAC-0CE18B415C47}"/>
              </a:ext>
            </a:extLst>
          </p:cNvPr>
          <p:cNvSpPr>
            <a:spLocks noGrp="1"/>
          </p:cNvSpPr>
          <p:nvPr>
            <p:ph type="ftr" sz="quarter" idx="11"/>
          </p:nvPr>
        </p:nvSpPr>
        <p:spPr/>
        <p:txBody>
          <a:bodyPr/>
          <a:lstStyle/>
          <a:p>
            <a:r>
              <a:rPr lang="en-US"/>
              <a:t>Dr. Ryan Ahmed @Stemplicity</a:t>
            </a:r>
          </a:p>
        </p:txBody>
      </p:sp>
      <p:sp>
        <p:nvSpPr>
          <p:cNvPr id="7" name="Slide Number Placeholder 6">
            <a:extLst>
              <a:ext uri="{FF2B5EF4-FFF2-40B4-BE49-F238E27FC236}">
                <a16:creationId xmlns:a16="http://schemas.microsoft.com/office/drawing/2014/main" id="{2652FA7B-E334-F841-9F55-8FE3994F6708}"/>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547199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20FD-C21B-F942-933E-C7F1539AEBA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50509F0-CB84-8346-88EC-B60FAB2391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C2B07D7-B626-4245-8DB7-641F9BE45C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9192CF3-BF8E-CC45-AFD1-29BF788849AD}"/>
              </a:ext>
            </a:extLst>
          </p:cNvPr>
          <p:cNvSpPr>
            <a:spLocks noGrp="1"/>
          </p:cNvSpPr>
          <p:nvPr>
            <p:ph type="dt" sz="half" idx="10"/>
          </p:nvPr>
        </p:nvSpPr>
        <p:spPr/>
        <p:txBody>
          <a:bodyPr/>
          <a:lstStyle/>
          <a:p>
            <a:fld id="{0C6B4C01-5047-4D04-A79D-6D96B1DB76E2}" type="datetime1">
              <a:rPr lang="en-US" smtClean="0"/>
              <a:t>5/6/2026</a:t>
            </a:fld>
            <a:endParaRPr lang="en-US"/>
          </a:p>
        </p:txBody>
      </p:sp>
      <p:sp>
        <p:nvSpPr>
          <p:cNvPr id="6" name="Footer Placeholder 5">
            <a:extLst>
              <a:ext uri="{FF2B5EF4-FFF2-40B4-BE49-F238E27FC236}">
                <a16:creationId xmlns:a16="http://schemas.microsoft.com/office/drawing/2014/main" id="{91BEEA5E-B447-2945-A61F-23F43D1BAE5F}"/>
              </a:ext>
            </a:extLst>
          </p:cNvPr>
          <p:cNvSpPr>
            <a:spLocks noGrp="1"/>
          </p:cNvSpPr>
          <p:nvPr>
            <p:ph type="ftr" sz="quarter" idx="11"/>
          </p:nvPr>
        </p:nvSpPr>
        <p:spPr/>
        <p:txBody>
          <a:bodyPr/>
          <a:lstStyle/>
          <a:p>
            <a:r>
              <a:rPr lang="en-US"/>
              <a:t>Dr. Ryan Ahmed @Stemplicity</a:t>
            </a:r>
          </a:p>
        </p:txBody>
      </p:sp>
      <p:sp>
        <p:nvSpPr>
          <p:cNvPr id="7" name="Slide Number Placeholder 6">
            <a:extLst>
              <a:ext uri="{FF2B5EF4-FFF2-40B4-BE49-F238E27FC236}">
                <a16:creationId xmlns:a16="http://schemas.microsoft.com/office/drawing/2014/main" id="{4E03110A-1EF4-4E47-BC27-95CCC22DB031}"/>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40415639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94858-278B-D14B-9123-9451D8F7BB9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B98E07C-511F-3A43-84A6-1011012918C1}"/>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B27FEB-35FC-E245-9B8A-12B959651942}"/>
              </a:ext>
            </a:extLst>
          </p:cNvPr>
          <p:cNvSpPr>
            <a:spLocks noGrp="1"/>
          </p:cNvSpPr>
          <p:nvPr>
            <p:ph type="dt" sz="half" idx="10"/>
          </p:nvPr>
        </p:nvSpPr>
        <p:spPr/>
        <p:txBody>
          <a:bodyPr/>
          <a:lstStyle/>
          <a:p>
            <a:fld id="{2050BBC8-E478-43C9-A4F1-EDD4F72015DC}" type="datetime1">
              <a:rPr lang="en-US" smtClean="0"/>
              <a:t>5/6/2026</a:t>
            </a:fld>
            <a:endParaRPr lang="en-US"/>
          </a:p>
        </p:txBody>
      </p:sp>
      <p:sp>
        <p:nvSpPr>
          <p:cNvPr id="5" name="Footer Placeholder 4">
            <a:extLst>
              <a:ext uri="{FF2B5EF4-FFF2-40B4-BE49-F238E27FC236}">
                <a16:creationId xmlns:a16="http://schemas.microsoft.com/office/drawing/2014/main" id="{06777081-9459-C64F-895D-A9A37C0D0BB7}"/>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1FAC1E24-D886-5444-8983-468379B78FD8}"/>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1663703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7F08AD-56F2-8141-B3EC-B0792780C20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C7A58ED-0A7F-F541-B86D-470505704EB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82861A-7351-3846-BCB0-C5618DA092CE}"/>
              </a:ext>
            </a:extLst>
          </p:cNvPr>
          <p:cNvSpPr>
            <a:spLocks noGrp="1"/>
          </p:cNvSpPr>
          <p:nvPr>
            <p:ph type="dt" sz="half" idx="10"/>
          </p:nvPr>
        </p:nvSpPr>
        <p:spPr/>
        <p:txBody>
          <a:bodyPr/>
          <a:lstStyle/>
          <a:p>
            <a:fld id="{04321BB6-29D9-437A-B4EB-C48447ACC5C8}" type="datetime1">
              <a:rPr lang="en-US" smtClean="0"/>
              <a:t>5/6/2026</a:t>
            </a:fld>
            <a:endParaRPr lang="en-US"/>
          </a:p>
        </p:txBody>
      </p:sp>
      <p:sp>
        <p:nvSpPr>
          <p:cNvPr id="5" name="Footer Placeholder 4">
            <a:extLst>
              <a:ext uri="{FF2B5EF4-FFF2-40B4-BE49-F238E27FC236}">
                <a16:creationId xmlns:a16="http://schemas.microsoft.com/office/drawing/2014/main" id="{BAA1FD98-D553-4C46-941B-9CF2C56A19FE}"/>
              </a:ext>
            </a:extLst>
          </p:cNvPr>
          <p:cNvSpPr>
            <a:spLocks noGrp="1"/>
          </p:cNvSpPr>
          <p:nvPr>
            <p:ph type="ftr" sz="quarter" idx="11"/>
          </p:nvPr>
        </p:nvSpPr>
        <p:spPr/>
        <p:txBody>
          <a:bodyPr/>
          <a:lstStyle/>
          <a:p>
            <a:r>
              <a:rPr lang="en-US"/>
              <a:t>Dr. Ryan Ahmed @Stemplicity</a:t>
            </a:r>
          </a:p>
        </p:txBody>
      </p:sp>
      <p:sp>
        <p:nvSpPr>
          <p:cNvPr id="6" name="Slide Number Placeholder 5">
            <a:extLst>
              <a:ext uri="{FF2B5EF4-FFF2-40B4-BE49-F238E27FC236}">
                <a16:creationId xmlns:a16="http://schemas.microsoft.com/office/drawing/2014/main" id="{BABD676D-8472-4F4A-A337-CF5E8C495173}"/>
              </a:ext>
            </a:extLst>
          </p:cNvPr>
          <p:cNvSpPr>
            <a:spLocks noGrp="1"/>
          </p:cNvSpPr>
          <p:nvPr>
            <p:ph type="sldNum" sz="quarter" idx="12"/>
          </p:nvPr>
        </p:nvSpPr>
        <p:spPr/>
        <p:txBody>
          <a:bodyPr/>
          <a:lstStyle/>
          <a:p>
            <a:fld id="{FEAA372C-9768-B740-91C6-444FA6615483}" type="slidenum">
              <a:rPr lang="en-US" smtClean="0"/>
              <a:t>‹#›</a:t>
            </a:fld>
            <a:endParaRPr lang="en-US"/>
          </a:p>
        </p:txBody>
      </p:sp>
    </p:spTree>
    <p:extLst>
      <p:ext uri="{BB962C8B-B14F-4D97-AF65-F5344CB8AC3E}">
        <p14:creationId xmlns:p14="http://schemas.microsoft.com/office/powerpoint/2010/main" val="9773032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07793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B070BF-9A90-A245-B77A-28DCF3E4E9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19F1332-889D-FA43-A51D-33C48B35BB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27FC81-D9EE-0347-B9BA-8E603587AC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729903-C382-4170-95C6-7F2CD4702B84}" type="datetime1">
              <a:rPr lang="en-US" smtClean="0"/>
              <a:t>5/6/2026</a:t>
            </a:fld>
            <a:endParaRPr lang="en-US"/>
          </a:p>
        </p:txBody>
      </p:sp>
      <p:sp>
        <p:nvSpPr>
          <p:cNvPr id="5" name="Footer Placeholder 4">
            <a:extLst>
              <a:ext uri="{FF2B5EF4-FFF2-40B4-BE49-F238E27FC236}">
                <a16:creationId xmlns:a16="http://schemas.microsoft.com/office/drawing/2014/main" id="{F7CC4954-DDAB-064F-B985-8986B1132B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Dr. Ryan Ahmed @Stemplicity</a:t>
            </a:r>
          </a:p>
        </p:txBody>
      </p:sp>
      <p:sp>
        <p:nvSpPr>
          <p:cNvPr id="6" name="Slide Number Placeholder 5">
            <a:extLst>
              <a:ext uri="{FF2B5EF4-FFF2-40B4-BE49-F238E27FC236}">
                <a16:creationId xmlns:a16="http://schemas.microsoft.com/office/drawing/2014/main" id="{E670476A-2C89-5D4A-A893-BDE0768995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AA372C-9768-B740-91C6-444FA6615483}" type="slidenum">
              <a:rPr lang="en-US" smtClean="0"/>
              <a:t>‹#›</a:t>
            </a:fld>
            <a:endParaRPr lang="en-US"/>
          </a:p>
        </p:txBody>
      </p:sp>
    </p:spTree>
    <p:extLst>
      <p:ext uri="{BB962C8B-B14F-4D97-AF65-F5344CB8AC3E}">
        <p14:creationId xmlns:p14="http://schemas.microsoft.com/office/powerpoint/2010/main" val="2598711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hyperlink" Target="https://support.claude.com/en/articles/13947068-assign-tasks-from-anywhere-in-claude-cowork" TargetMode="External"/><Relationship Id="rId5" Type="http://schemas.openxmlformats.org/officeDocument/2006/relationships/image" Target="../media/image12.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15.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AF529F-B86A-83C8-478E-307AC30917EC}"/>
              </a:ext>
            </a:extLst>
          </p:cNvPr>
          <p:cNvPicPr>
            <a:picLocks noChangeAspect="1"/>
          </p:cNvPicPr>
          <p:nvPr/>
        </p:nvPicPr>
        <p:blipFill>
          <a:blip r:embed="rId2"/>
          <a:stretch>
            <a:fillRect/>
          </a:stretch>
        </p:blipFill>
        <p:spPr>
          <a:xfrm>
            <a:off x="-6382" y="-1"/>
            <a:ext cx="12198382" cy="6858001"/>
          </a:xfrm>
          <a:prstGeom prst="rect">
            <a:avLst/>
          </a:prstGeom>
        </p:spPr>
      </p:pic>
      <p:sp>
        <p:nvSpPr>
          <p:cNvPr id="4" name="Rectangle 3">
            <a:extLst>
              <a:ext uri="{FF2B5EF4-FFF2-40B4-BE49-F238E27FC236}">
                <a16:creationId xmlns:a16="http://schemas.microsoft.com/office/drawing/2014/main" id="{8C403872-6FAD-0F11-5844-575593A583D8}"/>
              </a:ext>
            </a:extLst>
          </p:cNvPr>
          <p:cNvSpPr/>
          <p:nvPr/>
        </p:nvSpPr>
        <p:spPr>
          <a:xfrm>
            <a:off x="134841" y="70651"/>
            <a:ext cx="5256143" cy="2554545"/>
          </a:xfrm>
          <a:prstGeom prst="rect">
            <a:avLst/>
          </a:prstGeom>
        </p:spPr>
        <p:txBody>
          <a:bodyPr wrap="square">
            <a:spAutoFit/>
          </a:bodyPr>
          <a:lstStyle/>
          <a:p>
            <a:r>
              <a:rPr lang="en-US" sz="4000" b="1" dirty="0">
                <a:solidFill>
                  <a:schemeClr val="bg1"/>
                </a:solidFill>
                <a:latin typeface="Montserrat" charset="0"/>
              </a:rPr>
              <a:t>BUILD YOUR PERSONAL AI AGENT WITH CLAUDE CODE</a:t>
            </a:r>
            <a:endParaRPr lang="en-US" sz="4000" b="1" dirty="0">
              <a:solidFill>
                <a:schemeClr val="bg1"/>
              </a:solidFill>
              <a:latin typeface="Montserrat" charset="0"/>
              <a:ea typeface="Montserrat" charset="0"/>
              <a:cs typeface="Montserrat" charset="0"/>
            </a:endParaRPr>
          </a:p>
        </p:txBody>
      </p:sp>
      <p:pic>
        <p:nvPicPr>
          <p:cNvPr id="6" name="Picture 5">
            <a:extLst>
              <a:ext uri="{FF2B5EF4-FFF2-40B4-BE49-F238E27FC236}">
                <a16:creationId xmlns:a16="http://schemas.microsoft.com/office/drawing/2014/main" id="{8F922CCA-AE82-A418-52D1-CBC82BEC14DD}"/>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22707112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C1BEB-9F1E-F1B8-358F-106E79903C7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0B28FDE-BC69-93C9-2265-05B2B4DD9448}"/>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47DC6F16-638D-905D-9C48-62F72741342F}"/>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75765C5B-027D-BA77-5E68-84D8FA1D71D9}"/>
              </a:ext>
            </a:extLst>
          </p:cNvPr>
          <p:cNvSpPr/>
          <p:nvPr/>
        </p:nvSpPr>
        <p:spPr>
          <a:xfrm>
            <a:off x="293914" y="793804"/>
            <a:ext cx="5578566" cy="1938992"/>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RUNNING THE 10 AUTOMATIONS (WHAT TO EXPECT)</a:t>
            </a:r>
          </a:p>
        </p:txBody>
      </p:sp>
      <p:pic>
        <p:nvPicPr>
          <p:cNvPr id="5" name="Picture 4">
            <a:extLst>
              <a:ext uri="{FF2B5EF4-FFF2-40B4-BE49-F238E27FC236}">
                <a16:creationId xmlns:a16="http://schemas.microsoft.com/office/drawing/2014/main" id="{B52377B1-21FF-06E8-D56C-72FF99D16944}"/>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22699562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EF030-4B7F-216D-D1D0-C38C87F4024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072B487-DB38-5DD8-0A04-FE4DE21CD51F}"/>
              </a:ext>
            </a:extLst>
          </p:cNvPr>
          <p:cNvPicPr>
            <a:picLocks noChangeAspect="1"/>
          </p:cNvPicPr>
          <p:nvPr/>
        </p:nvPicPr>
        <p:blipFill>
          <a:blip r:embed="rId2"/>
          <a:stretch>
            <a:fillRect/>
          </a:stretch>
        </p:blipFill>
        <p:spPr>
          <a:xfrm>
            <a:off x="-6323" y="0"/>
            <a:ext cx="12224773" cy="6858000"/>
          </a:xfrm>
          <a:prstGeom prst="rect">
            <a:avLst/>
          </a:prstGeom>
        </p:spPr>
      </p:pic>
      <p:sp>
        <p:nvSpPr>
          <p:cNvPr id="7" name="Прямоугольник 9">
            <a:extLst>
              <a:ext uri="{FF2B5EF4-FFF2-40B4-BE49-F238E27FC236}">
                <a16:creationId xmlns:a16="http://schemas.microsoft.com/office/drawing/2014/main" id="{3F57971E-752D-531B-2FF4-4361052B9F07}"/>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10 Automations. All Connected.</a:t>
            </a:r>
          </a:p>
        </p:txBody>
      </p:sp>
      <p:sp>
        <p:nvSpPr>
          <p:cNvPr id="9" name="TextBox 8">
            <a:extLst>
              <a:ext uri="{FF2B5EF4-FFF2-40B4-BE49-F238E27FC236}">
                <a16:creationId xmlns:a16="http://schemas.microsoft.com/office/drawing/2014/main" id="{802B139C-6A65-9B82-6E2F-6D1DBA8AE95E}"/>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3" name="Rectangle 1">
            <a:extLst>
              <a:ext uri="{FF2B5EF4-FFF2-40B4-BE49-F238E27FC236}">
                <a16:creationId xmlns:a16="http://schemas.microsoft.com/office/drawing/2014/main" id="{FA219005-B880-E2A0-0FD4-0810B94818D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sp>
        <p:nvSpPr>
          <p:cNvPr id="6" name="Shape 2">
            <a:extLst>
              <a:ext uri="{FF2B5EF4-FFF2-40B4-BE49-F238E27FC236}">
                <a16:creationId xmlns:a16="http://schemas.microsoft.com/office/drawing/2014/main" id="{2D6A892E-9B2D-4C5A-F148-CF469525B7F4}"/>
              </a:ext>
            </a:extLst>
          </p:cNvPr>
          <p:cNvSpPr/>
          <p:nvPr/>
        </p:nvSpPr>
        <p:spPr>
          <a:xfrm>
            <a:off x="487680" y="957072"/>
            <a:ext cx="2133600" cy="2316480"/>
          </a:xfrm>
          <a:prstGeom prst="rect">
            <a:avLst/>
          </a:prstGeom>
          <a:solidFill>
            <a:srgbClr val="0C1752"/>
          </a:solidFill>
          <a:ln/>
          <a:effectLst>
            <a:outerShdw blurRad="101600" dist="38100" dir="8100000" algn="bl" rotWithShape="0">
              <a:srgbClr val="000000">
                <a:alpha val="30000"/>
              </a:srgbClr>
            </a:outerShdw>
          </a:effectLst>
        </p:spPr>
        <p:txBody>
          <a:bodyPr/>
          <a:lstStyle/>
          <a:p>
            <a:pPr defTabSz="1219170">
              <a:buClr>
                <a:srgbClr val="000000"/>
              </a:buClr>
            </a:pPr>
            <a:endParaRPr lang="en-CA" sz="1867" kern="0">
              <a:solidFill>
                <a:srgbClr val="000000"/>
              </a:solidFill>
              <a:latin typeface="Arial"/>
              <a:cs typeface="Arial"/>
              <a:sym typeface="Arial"/>
            </a:endParaRPr>
          </a:p>
        </p:txBody>
      </p:sp>
      <p:sp>
        <p:nvSpPr>
          <p:cNvPr id="12" name="Shape 3">
            <a:extLst>
              <a:ext uri="{FF2B5EF4-FFF2-40B4-BE49-F238E27FC236}">
                <a16:creationId xmlns:a16="http://schemas.microsoft.com/office/drawing/2014/main" id="{A81607B9-7CA3-A485-97D2-BBF5BC2346BF}"/>
              </a:ext>
            </a:extLst>
          </p:cNvPr>
          <p:cNvSpPr/>
          <p:nvPr/>
        </p:nvSpPr>
        <p:spPr>
          <a:xfrm>
            <a:off x="1158240" y="1139952"/>
            <a:ext cx="792480" cy="792480"/>
          </a:xfrm>
          <a:prstGeom prst="ellipse">
            <a:avLst/>
          </a:prstGeom>
          <a:solidFill>
            <a:srgbClr val="D56E48"/>
          </a:solidFill>
          <a:ln/>
        </p:spPr>
        <p:txBody>
          <a:bodyPr/>
          <a:lstStyle/>
          <a:p>
            <a:pPr defTabSz="1219170">
              <a:buClr>
                <a:srgbClr val="000000"/>
              </a:buClr>
            </a:pPr>
            <a:endParaRPr lang="en-CA" sz="1867" kern="0">
              <a:solidFill>
                <a:srgbClr val="000000"/>
              </a:solidFill>
              <a:latin typeface="Arial"/>
              <a:cs typeface="Arial"/>
              <a:sym typeface="Arial"/>
            </a:endParaRPr>
          </a:p>
        </p:txBody>
      </p:sp>
      <p:sp>
        <p:nvSpPr>
          <p:cNvPr id="14" name="Text 4">
            <a:extLst>
              <a:ext uri="{FF2B5EF4-FFF2-40B4-BE49-F238E27FC236}">
                <a16:creationId xmlns:a16="http://schemas.microsoft.com/office/drawing/2014/main" id="{73BD1829-3047-4613-1406-E9658D659FB8}"/>
              </a:ext>
            </a:extLst>
          </p:cNvPr>
          <p:cNvSpPr/>
          <p:nvPr/>
        </p:nvSpPr>
        <p:spPr>
          <a:xfrm>
            <a:off x="1158240" y="1139952"/>
            <a:ext cx="792480" cy="792480"/>
          </a:xfrm>
          <a:prstGeom prst="rect">
            <a:avLst/>
          </a:prstGeom>
          <a:noFill/>
          <a:ln/>
        </p:spPr>
        <p:txBody>
          <a:bodyPr wrap="square" lIns="0" tIns="0" rIns="0" bIns="0" rtlCol="0" anchor="ctr"/>
          <a:lstStyle/>
          <a:p>
            <a:pPr algn="ctr" defTabSz="1219170">
              <a:buClr>
                <a:srgbClr val="000000"/>
              </a:buClr>
            </a:pPr>
            <a:r>
              <a:rPr lang="en-US" sz="2133" b="1" kern="0" dirty="0">
                <a:solidFill>
                  <a:srgbClr val="FFFFFF"/>
                </a:solidFill>
                <a:latin typeface="Georgia" pitchFamily="34" charset="0"/>
                <a:ea typeface="Georgia" pitchFamily="34" charset="-122"/>
                <a:cs typeface="Georgia" pitchFamily="34" charset="-120"/>
                <a:sym typeface="Arial"/>
              </a:rPr>
              <a:t>01</a:t>
            </a:r>
            <a:endParaRPr lang="en-US" sz="2133" kern="0" dirty="0">
              <a:solidFill>
                <a:srgbClr val="000000"/>
              </a:solidFill>
              <a:latin typeface="Arial"/>
              <a:cs typeface="Arial"/>
              <a:sym typeface="Arial"/>
            </a:endParaRPr>
          </a:p>
        </p:txBody>
      </p:sp>
      <p:sp>
        <p:nvSpPr>
          <p:cNvPr id="16" name="Text 5">
            <a:extLst>
              <a:ext uri="{FF2B5EF4-FFF2-40B4-BE49-F238E27FC236}">
                <a16:creationId xmlns:a16="http://schemas.microsoft.com/office/drawing/2014/main" id="{17E94512-CB33-7D4E-27A4-B95C9D4D2224}"/>
              </a:ext>
            </a:extLst>
          </p:cNvPr>
          <p:cNvSpPr/>
          <p:nvPr/>
        </p:nvSpPr>
        <p:spPr>
          <a:xfrm>
            <a:off x="609600" y="2054352"/>
            <a:ext cx="1889760" cy="609600"/>
          </a:xfrm>
          <a:prstGeom prst="rect">
            <a:avLst/>
          </a:prstGeom>
          <a:noFill/>
          <a:ln/>
        </p:spPr>
        <p:txBody>
          <a:bodyPr wrap="square" lIns="0" tIns="0" rIns="0" bIns="0" rtlCol="0" anchor="ctr"/>
          <a:lstStyle/>
          <a:p>
            <a:pPr algn="ctr" defTabSz="1219170">
              <a:buClr>
                <a:srgbClr val="000000"/>
              </a:buClr>
            </a:pPr>
            <a:r>
              <a:rPr lang="en-US" sz="1600" b="1" kern="0" dirty="0">
                <a:solidFill>
                  <a:srgbClr val="FFFFFF"/>
                </a:solidFill>
                <a:latin typeface="Calibri" pitchFamily="34" charset="0"/>
                <a:ea typeface="Calibri" pitchFamily="34" charset="-122"/>
                <a:cs typeface="Calibri" pitchFamily="34" charset="-120"/>
                <a:sym typeface="Arial"/>
              </a:rPr>
              <a:t>Sprint Tracker</a:t>
            </a:r>
            <a:endParaRPr lang="en-US" sz="1600" kern="0" dirty="0">
              <a:solidFill>
                <a:srgbClr val="000000"/>
              </a:solidFill>
              <a:latin typeface="Arial"/>
              <a:cs typeface="Arial"/>
              <a:sym typeface="Arial"/>
            </a:endParaRPr>
          </a:p>
        </p:txBody>
      </p:sp>
      <p:sp>
        <p:nvSpPr>
          <p:cNvPr id="17" name="Text 6">
            <a:extLst>
              <a:ext uri="{FF2B5EF4-FFF2-40B4-BE49-F238E27FC236}">
                <a16:creationId xmlns:a16="http://schemas.microsoft.com/office/drawing/2014/main" id="{29469612-9BBC-42E4-BC4C-579126B0DBAF}"/>
              </a:ext>
            </a:extLst>
          </p:cNvPr>
          <p:cNvSpPr/>
          <p:nvPr/>
        </p:nvSpPr>
        <p:spPr>
          <a:xfrm>
            <a:off x="609600" y="2602992"/>
            <a:ext cx="1889760" cy="487680"/>
          </a:xfrm>
          <a:prstGeom prst="rect">
            <a:avLst/>
          </a:prstGeom>
          <a:noFill/>
          <a:ln/>
        </p:spPr>
        <p:txBody>
          <a:bodyPr wrap="square" lIns="0" tIns="0" rIns="0" bIns="0" rtlCol="0" anchor="t"/>
          <a:lstStyle/>
          <a:p>
            <a:pPr algn="ctr" defTabSz="1219170">
              <a:buClr>
                <a:srgbClr val="000000"/>
              </a:buClr>
            </a:pPr>
            <a:r>
              <a:rPr lang="en-US" sz="1333" kern="0" dirty="0">
                <a:solidFill>
                  <a:srgbClr val="9898B8"/>
                </a:solidFill>
                <a:latin typeface="Calibri" pitchFamily="34" charset="0"/>
                <a:ea typeface="Calibri" pitchFamily="34" charset="-122"/>
                <a:cs typeface="Calibri" pitchFamily="34" charset="-120"/>
                <a:sym typeface="Arial"/>
              </a:rPr>
              <a:t>Project board</a:t>
            </a:r>
            <a:endParaRPr lang="en-US" sz="1333" kern="0" dirty="0">
              <a:solidFill>
                <a:srgbClr val="000000"/>
              </a:solidFill>
              <a:latin typeface="Arial"/>
              <a:cs typeface="Arial"/>
              <a:sym typeface="Arial"/>
            </a:endParaRPr>
          </a:p>
        </p:txBody>
      </p:sp>
      <p:sp>
        <p:nvSpPr>
          <p:cNvPr id="18" name="Shape 7">
            <a:extLst>
              <a:ext uri="{FF2B5EF4-FFF2-40B4-BE49-F238E27FC236}">
                <a16:creationId xmlns:a16="http://schemas.microsoft.com/office/drawing/2014/main" id="{7C6162D7-6C2B-E531-019F-8866A55BCAC4}"/>
              </a:ext>
            </a:extLst>
          </p:cNvPr>
          <p:cNvSpPr/>
          <p:nvPr/>
        </p:nvSpPr>
        <p:spPr>
          <a:xfrm>
            <a:off x="2804160" y="957072"/>
            <a:ext cx="2133600" cy="2316480"/>
          </a:xfrm>
          <a:prstGeom prst="rect">
            <a:avLst/>
          </a:prstGeom>
          <a:solidFill>
            <a:srgbClr val="0C1752"/>
          </a:solidFill>
          <a:ln/>
          <a:effectLst>
            <a:outerShdw blurRad="101600" dist="38100" dir="8100000" algn="bl" rotWithShape="0">
              <a:srgbClr val="000000">
                <a:alpha val="30000"/>
              </a:srgbClr>
            </a:outerShdw>
          </a:effectLst>
        </p:spPr>
        <p:txBody>
          <a:bodyPr/>
          <a:lstStyle/>
          <a:p>
            <a:pPr defTabSz="1219170">
              <a:buClr>
                <a:srgbClr val="000000"/>
              </a:buClr>
            </a:pPr>
            <a:endParaRPr lang="en-CA" sz="1867" kern="0">
              <a:solidFill>
                <a:srgbClr val="000000"/>
              </a:solidFill>
              <a:latin typeface="Arial"/>
              <a:cs typeface="Arial"/>
              <a:sym typeface="Arial"/>
            </a:endParaRPr>
          </a:p>
        </p:txBody>
      </p:sp>
      <p:sp>
        <p:nvSpPr>
          <p:cNvPr id="19" name="Shape 8">
            <a:extLst>
              <a:ext uri="{FF2B5EF4-FFF2-40B4-BE49-F238E27FC236}">
                <a16:creationId xmlns:a16="http://schemas.microsoft.com/office/drawing/2014/main" id="{BA435BB8-7056-67C3-4B2C-77617FE4E82B}"/>
              </a:ext>
            </a:extLst>
          </p:cNvPr>
          <p:cNvSpPr/>
          <p:nvPr/>
        </p:nvSpPr>
        <p:spPr>
          <a:xfrm>
            <a:off x="3474720" y="1139952"/>
            <a:ext cx="792480" cy="792480"/>
          </a:xfrm>
          <a:prstGeom prst="ellipse">
            <a:avLst/>
          </a:prstGeom>
          <a:solidFill>
            <a:srgbClr val="D56E48"/>
          </a:solidFill>
          <a:ln/>
        </p:spPr>
        <p:txBody>
          <a:bodyPr/>
          <a:lstStyle/>
          <a:p>
            <a:pPr defTabSz="1219170">
              <a:buClr>
                <a:srgbClr val="000000"/>
              </a:buClr>
            </a:pPr>
            <a:endParaRPr lang="en-CA" sz="1867" kern="0">
              <a:solidFill>
                <a:srgbClr val="000000"/>
              </a:solidFill>
              <a:latin typeface="Arial"/>
              <a:cs typeface="Arial"/>
              <a:sym typeface="Arial"/>
            </a:endParaRPr>
          </a:p>
        </p:txBody>
      </p:sp>
      <p:sp>
        <p:nvSpPr>
          <p:cNvPr id="20" name="Text 9">
            <a:extLst>
              <a:ext uri="{FF2B5EF4-FFF2-40B4-BE49-F238E27FC236}">
                <a16:creationId xmlns:a16="http://schemas.microsoft.com/office/drawing/2014/main" id="{DDAA7338-EA61-CFB8-FF75-B05793A4D9ED}"/>
              </a:ext>
            </a:extLst>
          </p:cNvPr>
          <p:cNvSpPr/>
          <p:nvPr/>
        </p:nvSpPr>
        <p:spPr>
          <a:xfrm>
            <a:off x="3474720" y="1139952"/>
            <a:ext cx="792480" cy="792480"/>
          </a:xfrm>
          <a:prstGeom prst="rect">
            <a:avLst/>
          </a:prstGeom>
          <a:noFill/>
          <a:ln/>
        </p:spPr>
        <p:txBody>
          <a:bodyPr wrap="square" lIns="0" tIns="0" rIns="0" bIns="0" rtlCol="0" anchor="ctr"/>
          <a:lstStyle/>
          <a:p>
            <a:pPr algn="ctr" defTabSz="1219170">
              <a:buClr>
                <a:srgbClr val="000000"/>
              </a:buClr>
            </a:pPr>
            <a:r>
              <a:rPr lang="en-US" sz="2133" b="1" kern="0" dirty="0">
                <a:solidFill>
                  <a:srgbClr val="FFFFFF"/>
                </a:solidFill>
                <a:latin typeface="Georgia" pitchFamily="34" charset="0"/>
                <a:ea typeface="Georgia" pitchFamily="34" charset="-122"/>
                <a:cs typeface="Georgia" pitchFamily="34" charset="-120"/>
                <a:sym typeface="Arial"/>
              </a:rPr>
              <a:t>02</a:t>
            </a:r>
            <a:endParaRPr lang="en-US" sz="2133" kern="0" dirty="0">
              <a:solidFill>
                <a:srgbClr val="000000"/>
              </a:solidFill>
              <a:latin typeface="Arial"/>
              <a:cs typeface="Arial"/>
              <a:sym typeface="Arial"/>
            </a:endParaRPr>
          </a:p>
        </p:txBody>
      </p:sp>
      <p:sp>
        <p:nvSpPr>
          <p:cNvPr id="21" name="Text 10">
            <a:extLst>
              <a:ext uri="{FF2B5EF4-FFF2-40B4-BE49-F238E27FC236}">
                <a16:creationId xmlns:a16="http://schemas.microsoft.com/office/drawing/2014/main" id="{00CED4D3-71B6-76E3-AC55-F3DF321EFAD2}"/>
              </a:ext>
            </a:extLst>
          </p:cNvPr>
          <p:cNvSpPr/>
          <p:nvPr/>
        </p:nvSpPr>
        <p:spPr>
          <a:xfrm>
            <a:off x="2926080" y="2054352"/>
            <a:ext cx="1889760" cy="609600"/>
          </a:xfrm>
          <a:prstGeom prst="rect">
            <a:avLst/>
          </a:prstGeom>
          <a:noFill/>
          <a:ln/>
        </p:spPr>
        <p:txBody>
          <a:bodyPr wrap="square" lIns="0" tIns="0" rIns="0" bIns="0" rtlCol="0" anchor="ctr"/>
          <a:lstStyle/>
          <a:p>
            <a:pPr algn="ctr" defTabSz="1219170">
              <a:buClr>
                <a:srgbClr val="000000"/>
              </a:buClr>
            </a:pPr>
            <a:r>
              <a:rPr lang="en-US" sz="1600" b="1" kern="0" dirty="0">
                <a:solidFill>
                  <a:srgbClr val="FFFFFF"/>
                </a:solidFill>
                <a:latin typeface="Calibri" pitchFamily="34" charset="0"/>
                <a:ea typeface="Calibri" pitchFamily="34" charset="-122"/>
                <a:cs typeface="Calibri" pitchFamily="34" charset="-120"/>
                <a:sym typeface="Arial"/>
              </a:rPr>
              <a:t>Morning Brief</a:t>
            </a:r>
            <a:endParaRPr lang="en-US" sz="1600" kern="0" dirty="0">
              <a:solidFill>
                <a:srgbClr val="000000"/>
              </a:solidFill>
              <a:latin typeface="Arial"/>
              <a:cs typeface="Arial"/>
              <a:sym typeface="Arial"/>
            </a:endParaRPr>
          </a:p>
        </p:txBody>
      </p:sp>
      <p:sp>
        <p:nvSpPr>
          <p:cNvPr id="22" name="Text 11">
            <a:extLst>
              <a:ext uri="{FF2B5EF4-FFF2-40B4-BE49-F238E27FC236}">
                <a16:creationId xmlns:a16="http://schemas.microsoft.com/office/drawing/2014/main" id="{C894CAB2-5B89-46E3-12D9-EE7588C7637A}"/>
              </a:ext>
            </a:extLst>
          </p:cNvPr>
          <p:cNvSpPr/>
          <p:nvPr/>
        </p:nvSpPr>
        <p:spPr>
          <a:xfrm>
            <a:off x="2926080" y="2602992"/>
            <a:ext cx="1889760" cy="487680"/>
          </a:xfrm>
          <a:prstGeom prst="rect">
            <a:avLst/>
          </a:prstGeom>
          <a:noFill/>
          <a:ln/>
        </p:spPr>
        <p:txBody>
          <a:bodyPr wrap="square" lIns="0" tIns="0" rIns="0" bIns="0" rtlCol="0" anchor="t"/>
          <a:lstStyle/>
          <a:p>
            <a:pPr algn="ctr" defTabSz="1219170">
              <a:buClr>
                <a:srgbClr val="000000"/>
              </a:buClr>
            </a:pPr>
            <a:r>
              <a:rPr lang="en-US" sz="1333" kern="0" dirty="0">
                <a:solidFill>
                  <a:srgbClr val="9898B8"/>
                </a:solidFill>
                <a:latin typeface="Calibri" pitchFamily="34" charset="0"/>
                <a:ea typeface="Calibri" pitchFamily="34" charset="-122"/>
                <a:cs typeface="Calibri" pitchFamily="34" charset="-120"/>
                <a:sym typeface="Arial"/>
              </a:rPr>
              <a:t>Daily snapshot</a:t>
            </a:r>
            <a:endParaRPr lang="en-US" sz="1333" kern="0" dirty="0">
              <a:solidFill>
                <a:srgbClr val="000000"/>
              </a:solidFill>
              <a:latin typeface="Arial"/>
              <a:cs typeface="Arial"/>
              <a:sym typeface="Arial"/>
            </a:endParaRPr>
          </a:p>
        </p:txBody>
      </p:sp>
      <p:sp>
        <p:nvSpPr>
          <p:cNvPr id="23" name="Shape 12">
            <a:extLst>
              <a:ext uri="{FF2B5EF4-FFF2-40B4-BE49-F238E27FC236}">
                <a16:creationId xmlns:a16="http://schemas.microsoft.com/office/drawing/2014/main" id="{2DE02EC5-58B1-201F-3935-98276B1294A5}"/>
              </a:ext>
            </a:extLst>
          </p:cNvPr>
          <p:cNvSpPr/>
          <p:nvPr/>
        </p:nvSpPr>
        <p:spPr>
          <a:xfrm>
            <a:off x="5120640" y="957072"/>
            <a:ext cx="2133600" cy="2316480"/>
          </a:xfrm>
          <a:prstGeom prst="rect">
            <a:avLst/>
          </a:prstGeom>
          <a:solidFill>
            <a:srgbClr val="0C1752"/>
          </a:solidFill>
          <a:ln/>
          <a:effectLst>
            <a:outerShdw blurRad="101600" dist="38100" dir="8100000" algn="bl" rotWithShape="0">
              <a:srgbClr val="000000">
                <a:alpha val="30000"/>
              </a:srgbClr>
            </a:outerShdw>
          </a:effectLst>
        </p:spPr>
        <p:txBody>
          <a:bodyPr/>
          <a:lstStyle/>
          <a:p>
            <a:pPr defTabSz="1219170">
              <a:buClr>
                <a:srgbClr val="000000"/>
              </a:buClr>
            </a:pPr>
            <a:endParaRPr lang="en-CA" sz="1867" kern="0">
              <a:solidFill>
                <a:srgbClr val="000000"/>
              </a:solidFill>
              <a:latin typeface="Arial"/>
              <a:cs typeface="Arial"/>
              <a:sym typeface="Arial"/>
            </a:endParaRPr>
          </a:p>
        </p:txBody>
      </p:sp>
      <p:sp>
        <p:nvSpPr>
          <p:cNvPr id="24" name="Shape 13">
            <a:extLst>
              <a:ext uri="{FF2B5EF4-FFF2-40B4-BE49-F238E27FC236}">
                <a16:creationId xmlns:a16="http://schemas.microsoft.com/office/drawing/2014/main" id="{CDBC6F57-57FB-9460-826A-EC24731BA8F3}"/>
              </a:ext>
            </a:extLst>
          </p:cNvPr>
          <p:cNvSpPr/>
          <p:nvPr/>
        </p:nvSpPr>
        <p:spPr>
          <a:xfrm>
            <a:off x="5791200" y="1139952"/>
            <a:ext cx="792480" cy="792480"/>
          </a:xfrm>
          <a:prstGeom prst="ellipse">
            <a:avLst/>
          </a:prstGeom>
          <a:solidFill>
            <a:srgbClr val="D56E48"/>
          </a:solidFill>
          <a:ln/>
        </p:spPr>
        <p:txBody>
          <a:bodyPr/>
          <a:lstStyle/>
          <a:p>
            <a:pPr defTabSz="1219170">
              <a:buClr>
                <a:srgbClr val="000000"/>
              </a:buClr>
            </a:pPr>
            <a:endParaRPr lang="en-CA" sz="1867" kern="0">
              <a:solidFill>
                <a:srgbClr val="000000"/>
              </a:solidFill>
              <a:latin typeface="Arial"/>
              <a:cs typeface="Arial"/>
              <a:sym typeface="Arial"/>
            </a:endParaRPr>
          </a:p>
        </p:txBody>
      </p:sp>
      <p:sp>
        <p:nvSpPr>
          <p:cNvPr id="25" name="Text 14">
            <a:extLst>
              <a:ext uri="{FF2B5EF4-FFF2-40B4-BE49-F238E27FC236}">
                <a16:creationId xmlns:a16="http://schemas.microsoft.com/office/drawing/2014/main" id="{E7B439F7-0A3E-9650-BACE-59559E0B1729}"/>
              </a:ext>
            </a:extLst>
          </p:cNvPr>
          <p:cNvSpPr/>
          <p:nvPr/>
        </p:nvSpPr>
        <p:spPr>
          <a:xfrm>
            <a:off x="5791200" y="1139952"/>
            <a:ext cx="792480" cy="792480"/>
          </a:xfrm>
          <a:prstGeom prst="rect">
            <a:avLst/>
          </a:prstGeom>
          <a:noFill/>
          <a:ln/>
        </p:spPr>
        <p:txBody>
          <a:bodyPr wrap="square" lIns="0" tIns="0" rIns="0" bIns="0" rtlCol="0" anchor="ctr"/>
          <a:lstStyle/>
          <a:p>
            <a:pPr algn="ctr" defTabSz="1219170">
              <a:buClr>
                <a:srgbClr val="000000"/>
              </a:buClr>
            </a:pPr>
            <a:r>
              <a:rPr lang="en-US" sz="2133" b="1" kern="0" dirty="0">
                <a:solidFill>
                  <a:srgbClr val="FFFFFF"/>
                </a:solidFill>
                <a:latin typeface="Georgia" pitchFamily="34" charset="0"/>
                <a:ea typeface="Georgia" pitchFamily="34" charset="-122"/>
                <a:cs typeface="Georgia" pitchFamily="34" charset="-120"/>
                <a:sym typeface="Arial"/>
              </a:rPr>
              <a:t>03</a:t>
            </a:r>
            <a:endParaRPr lang="en-US" sz="2133" kern="0" dirty="0">
              <a:solidFill>
                <a:srgbClr val="000000"/>
              </a:solidFill>
              <a:latin typeface="Arial"/>
              <a:cs typeface="Arial"/>
              <a:sym typeface="Arial"/>
            </a:endParaRPr>
          </a:p>
        </p:txBody>
      </p:sp>
      <p:sp>
        <p:nvSpPr>
          <p:cNvPr id="26" name="Text 15">
            <a:extLst>
              <a:ext uri="{FF2B5EF4-FFF2-40B4-BE49-F238E27FC236}">
                <a16:creationId xmlns:a16="http://schemas.microsoft.com/office/drawing/2014/main" id="{67202FA0-8035-0012-DC99-2F89E44D77C2}"/>
              </a:ext>
            </a:extLst>
          </p:cNvPr>
          <p:cNvSpPr/>
          <p:nvPr/>
        </p:nvSpPr>
        <p:spPr>
          <a:xfrm>
            <a:off x="5242560" y="2054352"/>
            <a:ext cx="1889760" cy="609600"/>
          </a:xfrm>
          <a:prstGeom prst="rect">
            <a:avLst/>
          </a:prstGeom>
          <a:noFill/>
          <a:ln/>
        </p:spPr>
        <p:txBody>
          <a:bodyPr wrap="square" lIns="0" tIns="0" rIns="0" bIns="0" rtlCol="0" anchor="ctr"/>
          <a:lstStyle/>
          <a:p>
            <a:pPr algn="ctr" defTabSz="1219170">
              <a:buClr>
                <a:srgbClr val="000000"/>
              </a:buClr>
            </a:pPr>
            <a:r>
              <a:rPr lang="en-US" sz="1600" b="1" kern="0" dirty="0">
                <a:solidFill>
                  <a:srgbClr val="FFFFFF"/>
                </a:solidFill>
                <a:latin typeface="Calibri" pitchFamily="34" charset="0"/>
                <a:ea typeface="Calibri" pitchFamily="34" charset="-122"/>
                <a:cs typeface="Calibri" pitchFamily="34" charset="-120"/>
                <a:sym typeface="Arial"/>
              </a:rPr>
              <a:t>Market Pulse</a:t>
            </a:r>
            <a:endParaRPr lang="en-US" sz="1600" kern="0" dirty="0">
              <a:solidFill>
                <a:srgbClr val="000000"/>
              </a:solidFill>
              <a:latin typeface="Arial"/>
              <a:cs typeface="Arial"/>
              <a:sym typeface="Arial"/>
            </a:endParaRPr>
          </a:p>
        </p:txBody>
      </p:sp>
      <p:sp>
        <p:nvSpPr>
          <p:cNvPr id="27" name="Text 16">
            <a:extLst>
              <a:ext uri="{FF2B5EF4-FFF2-40B4-BE49-F238E27FC236}">
                <a16:creationId xmlns:a16="http://schemas.microsoft.com/office/drawing/2014/main" id="{03F66EB7-187B-1E98-C902-D905F1517CBB}"/>
              </a:ext>
            </a:extLst>
          </p:cNvPr>
          <p:cNvSpPr/>
          <p:nvPr/>
        </p:nvSpPr>
        <p:spPr>
          <a:xfrm>
            <a:off x="5242560" y="2602992"/>
            <a:ext cx="1889760" cy="487680"/>
          </a:xfrm>
          <a:prstGeom prst="rect">
            <a:avLst/>
          </a:prstGeom>
          <a:noFill/>
          <a:ln/>
        </p:spPr>
        <p:txBody>
          <a:bodyPr wrap="square" lIns="0" tIns="0" rIns="0" bIns="0" rtlCol="0" anchor="t"/>
          <a:lstStyle/>
          <a:p>
            <a:pPr algn="ctr" defTabSz="1219170">
              <a:buClr>
                <a:srgbClr val="000000"/>
              </a:buClr>
            </a:pPr>
            <a:r>
              <a:rPr lang="en-US" sz="1333" kern="0" dirty="0">
                <a:solidFill>
                  <a:srgbClr val="9898B8"/>
                </a:solidFill>
                <a:latin typeface="Calibri" pitchFamily="34" charset="0"/>
                <a:ea typeface="Calibri" pitchFamily="34" charset="-122"/>
                <a:cs typeface="Calibri" pitchFamily="34" charset="-120"/>
                <a:sym typeface="Arial"/>
              </a:rPr>
              <a:t>Competitor radar</a:t>
            </a:r>
            <a:endParaRPr lang="en-US" sz="1333" kern="0" dirty="0">
              <a:solidFill>
                <a:srgbClr val="000000"/>
              </a:solidFill>
              <a:latin typeface="Arial"/>
              <a:cs typeface="Arial"/>
              <a:sym typeface="Arial"/>
            </a:endParaRPr>
          </a:p>
        </p:txBody>
      </p:sp>
      <p:sp>
        <p:nvSpPr>
          <p:cNvPr id="28" name="Shape 17">
            <a:extLst>
              <a:ext uri="{FF2B5EF4-FFF2-40B4-BE49-F238E27FC236}">
                <a16:creationId xmlns:a16="http://schemas.microsoft.com/office/drawing/2014/main" id="{BA46081B-C464-9647-6944-179ABBB327FD}"/>
              </a:ext>
            </a:extLst>
          </p:cNvPr>
          <p:cNvSpPr/>
          <p:nvPr/>
        </p:nvSpPr>
        <p:spPr>
          <a:xfrm>
            <a:off x="7437120" y="957072"/>
            <a:ext cx="2133600" cy="2316480"/>
          </a:xfrm>
          <a:prstGeom prst="rect">
            <a:avLst/>
          </a:prstGeom>
          <a:solidFill>
            <a:srgbClr val="0C1752"/>
          </a:solidFill>
          <a:ln/>
          <a:effectLst>
            <a:outerShdw blurRad="101600" dist="38100" dir="8100000" algn="bl" rotWithShape="0">
              <a:srgbClr val="000000">
                <a:alpha val="30000"/>
              </a:srgbClr>
            </a:outerShdw>
          </a:effectLst>
        </p:spPr>
        <p:txBody>
          <a:bodyPr/>
          <a:lstStyle/>
          <a:p>
            <a:pPr defTabSz="1219170">
              <a:buClr>
                <a:srgbClr val="000000"/>
              </a:buClr>
            </a:pPr>
            <a:endParaRPr lang="en-CA" sz="1867" kern="0">
              <a:solidFill>
                <a:srgbClr val="000000"/>
              </a:solidFill>
              <a:latin typeface="Arial"/>
              <a:cs typeface="Arial"/>
              <a:sym typeface="Arial"/>
            </a:endParaRPr>
          </a:p>
        </p:txBody>
      </p:sp>
      <p:sp>
        <p:nvSpPr>
          <p:cNvPr id="29" name="Shape 18">
            <a:extLst>
              <a:ext uri="{FF2B5EF4-FFF2-40B4-BE49-F238E27FC236}">
                <a16:creationId xmlns:a16="http://schemas.microsoft.com/office/drawing/2014/main" id="{87551A9C-4BB7-ADC9-740E-2840B834E58F}"/>
              </a:ext>
            </a:extLst>
          </p:cNvPr>
          <p:cNvSpPr/>
          <p:nvPr/>
        </p:nvSpPr>
        <p:spPr>
          <a:xfrm>
            <a:off x="8107680" y="1139952"/>
            <a:ext cx="792480" cy="792480"/>
          </a:xfrm>
          <a:prstGeom prst="ellipse">
            <a:avLst/>
          </a:prstGeom>
          <a:solidFill>
            <a:srgbClr val="D56E48"/>
          </a:solidFill>
          <a:ln/>
        </p:spPr>
        <p:txBody>
          <a:bodyPr/>
          <a:lstStyle/>
          <a:p>
            <a:pPr defTabSz="1219170">
              <a:buClr>
                <a:srgbClr val="000000"/>
              </a:buClr>
            </a:pPr>
            <a:endParaRPr lang="en-CA" sz="1867" kern="0">
              <a:solidFill>
                <a:srgbClr val="000000"/>
              </a:solidFill>
              <a:latin typeface="Arial"/>
              <a:cs typeface="Arial"/>
              <a:sym typeface="Arial"/>
            </a:endParaRPr>
          </a:p>
        </p:txBody>
      </p:sp>
      <p:sp>
        <p:nvSpPr>
          <p:cNvPr id="30" name="Text 19">
            <a:extLst>
              <a:ext uri="{FF2B5EF4-FFF2-40B4-BE49-F238E27FC236}">
                <a16:creationId xmlns:a16="http://schemas.microsoft.com/office/drawing/2014/main" id="{7560CE19-46F4-177A-D6A3-3D0AD1EEC0F1}"/>
              </a:ext>
            </a:extLst>
          </p:cNvPr>
          <p:cNvSpPr/>
          <p:nvPr/>
        </p:nvSpPr>
        <p:spPr>
          <a:xfrm>
            <a:off x="8107680" y="1139952"/>
            <a:ext cx="792480" cy="792480"/>
          </a:xfrm>
          <a:prstGeom prst="rect">
            <a:avLst/>
          </a:prstGeom>
          <a:noFill/>
          <a:ln/>
        </p:spPr>
        <p:txBody>
          <a:bodyPr wrap="square" lIns="0" tIns="0" rIns="0" bIns="0" rtlCol="0" anchor="ctr"/>
          <a:lstStyle/>
          <a:p>
            <a:pPr algn="ctr" defTabSz="1219170">
              <a:buClr>
                <a:srgbClr val="000000"/>
              </a:buClr>
            </a:pPr>
            <a:r>
              <a:rPr lang="en-US" sz="2133" b="1" kern="0" dirty="0">
                <a:solidFill>
                  <a:srgbClr val="FFFFFF"/>
                </a:solidFill>
                <a:latin typeface="Georgia" pitchFamily="34" charset="0"/>
                <a:ea typeface="Georgia" pitchFamily="34" charset="-122"/>
                <a:cs typeface="Georgia" pitchFamily="34" charset="-120"/>
                <a:sym typeface="Arial"/>
              </a:rPr>
              <a:t>04</a:t>
            </a:r>
            <a:endParaRPr lang="en-US" sz="2133" kern="0" dirty="0">
              <a:solidFill>
                <a:srgbClr val="000000"/>
              </a:solidFill>
              <a:latin typeface="Arial"/>
              <a:cs typeface="Arial"/>
              <a:sym typeface="Arial"/>
            </a:endParaRPr>
          </a:p>
        </p:txBody>
      </p:sp>
      <p:sp>
        <p:nvSpPr>
          <p:cNvPr id="31" name="Text 20">
            <a:extLst>
              <a:ext uri="{FF2B5EF4-FFF2-40B4-BE49-F238E27FC236}">
                <a16:creationId xmlns:a16="http://schemas.microsoft.com/office/drawing/2014/main" id="{65FB27D9-389E-601D-8608-AA8FF534DD23}"/>
              </a:ext>
            </a:extLst>
          </p:cNvPr>
          <p:cNvSpPr/>
          <p:nvPr/>
        </p:nvSpPr>
        <p:spPr>
          <a:xfrm>
            <a:off x="7559040" y="2054352"/>
            <a:ext cx="1889760" cy="609600"/>
          </a:xfrm>
          <a:prstGeom prst="rect">
            <a:avLst/>
          </a:prstGeom>
          <a:noFill/>
          <a:ln/>
        </p:spPr>
        <p:txBody>
          <a:bodyPr wrap="square" lIns="0" tIns="0" rIns="0" bIns="0" rtlCol="0" anchor="ctr"/>
          <a:lstStyle/>
          <a:p>
            <a:pPr algn="ctr" defTabSz="1219170">
              <a:buClr>
                <a:srgbClr val="000000"/>
              </a:buClr>
            </a:pPr>
            <a:r>
              <a:rPr lang="en-US" sz="1600" b="1" kern="0" dirty="0">
                <a:solidFill>
                  <a:srgbClr val="FFFFFF"/>
                </a:solidFill>
                <a:latin typeface="Calibri" pitchFamily="34" charset="0"/>
                <a:ea typeface="Calibri" pitchFamily="34" charset="-122"/>
                <a:cs typeface="Calibri" pitchFamily="34" charset="-120"/>
                <a:sym typeface="Arial"/>
              </a:rPr>
              <a:t>Research Team</a:t>
            </a:r>
            <a:endParaRPr lang="en-US" sz="1600" kern="0" dirty="0">
              <a:solidFill>
                <a:srgbClr val="000000"/>
              </a:solidFill>
              <a:latin typeface="Arial"/>
              <a:cs typeface="Arial"/>
              <a:sym typeface="Arial"/>
            </a:endParaRPr>
          </a:p>
        </p:txBody>
      </p:sp>
      <p:sp>
        <p:nvSpPr>
          <p:cNvPr id="32" name="Text 21">
            <a:extLst>
              <a:ext uri="{FF2B5EF4-FFF2-40B4-BE49-F238E27FC236}">
                <a16:creationId xmlns:a16="http://schemas.microsoft.com/office/drawing/2014/main" id="{2C0306B3-E8C1-738C-0870-FB324AE73703}"/>
              </a:ext>
            </a:extLst>
          </p:cNvPr>
          <p:cNvSpPr/>
          <p:nvPr/>
        </p:nvSpPr>
        <p:spPr>
          <a:xfrm>
            <a:off x="7559040" y="2602992"/>
            <a:ext cx="1889760" cy="487680"/>
          </a:xfrm>
          <a:prstGeom prst="rect">
            <a:avLst/>
          </a:prstGeom>
          <a:noFill/>
          <a:ln/>
        </p:spPr>
        <p:txBody>
          <a:bodyPr wrap="square" lIns="0" tIns="0" rIns="0" bIns="0" rtlCol="0" anchor="t"/>
          <a:lstStyle/>
          <a:p>
            <a:pPr algn="ctr" defTabSz="1219170">
              <a:buClr>
                <a:srgbClr val="000000"/>
              </a:buClr>
            </a:pPr>
            <a:r>
              <a:rPr lang="en-US" sz="1333" kern="0" dirty="0">
                <a:solidFill>
                  <a:srgbClr val="9898B8"/>
                </a:solidFill>
                <a:latin typeface="Calibri" pitchFamily="34" charset="0"/>
                <a:ea typeface="Calibri" pitchFamily="34" charset="-122"/>
                <a:cs typeface="Calibri" pitchFamily="34" charset="-120"/>
                <a:sym typeface="Arial"/>
              </a:rPr>
              <a:t>Multi-agent research</a:t>
            </a:r>
            <a:endParaRPr lang="en-US" sz="1333" kern="0" dirty="0">
              <a:solidFill>
                <a:srgbClr val="000000"/>
              </a:solidFill>
              <a:latin typeface="Arial"/>
              <a:cs typeface="Arial"/>
              <a:sym typeface="Arial"/>
            </a:endParaRPr>
          </a:p>
        </p:txBody>
      </p:sp>
      <p:sp>
        <p:nvSpPr>
          <p:cNvPr id="33" name="Shape 22">
            <a:extLst>
              <a:ext uri="{FF2B5EF4-FFF2-40B4-BE49-F238E27FC236}">
                <a16:creationId xmlns:a16="http://schemas.microsoft.com/office/drawing/2014/main" id="{248823C5-2D5A-55A3-8446-F8874FB7A6C7}"/>
              </a:ext>
            </a:extLst>
          </p:cNvPr>
          <p:cNvSpPr/>
          <p:nvPr/>
        </p:nvSpPr>
        <p:spPr>
          <a:xfrm>
            <a:off x="9753600" y="957072"/>
            <a:ext cx="2133600" cy="2316480"/>
          </a:xfrm>
          <a:prstGeom prst="rect">
            <a:avLst/>
          </a:prstGeom>
          <a:solidFill>
            <a:srgbClr val="0C1752"/>
          </a:solidFill>
          <a:ln/>
          <a:effectLst>
            <a:outerShdw blurRad="101600" dist="38100" dir="8100000" algn="bl" rotWithShape="0">
              <a:srgbClr val="000000">
                <a:alpha val="30000"/>
              </a:srgbClr>
            </a:outerShdw>
          </a:effectLst>
        </p:spPr>
        <p:txBody>
          <a:bodyPr/>
          <a:lstStyle/>
          <a:p>
            <a:pPr defTabSz="1219170">
              <a:buClr>
                <a:srgbClr val="000000"/>
              </a:buClr>
            </a:pPr>
            <a:endParaRPr lang="en-CA" sz="1867" kern="0">
              <a:solidFill>
                <a:srgbClr val="000000"/>
              </a:solidFill>
              <a:latin typeface="Arial"/>
              <a:cs typeface="Arial"/>
              <a:sym typeface="Arial"/>
            </a:endParaRPr>
          </a:p>
        </p:txBody>
      </p:sp>
      <p:sp>
        <p:nvSpPr>
          <p:cNvPr id="34" name="Shape 23">
            <a:extLst>
              <a:ext uri="{FF2B5EF4-FFF2-40B4-BE49-F238E27FC236}">
                <a16:creationId xmlns:a16="http://schemas.microsoft.com/office/drawing/2014/main" id="{0F2176CC-8321-F093-C35D-2F27B94CA35A}"/>
              </a:ext>
            </a:extLst>
          </p:cNvPr>
          <p:cNvSpPr/>
          <p:nvPr/>
        </p:nvSpPr>
        <p:spPr>
          <a:xfrm>
            <a:off x="10424160" y="1139952"/>
            <a:ext cx="792480" cy="792480"/>
          </a:xfrm>
          <a:prstGeom prst="ellipse">
            <a:avLst/>
          </a:prstGeom>
          <a:solidFill>
            <a:srgbClr val="D56E48"/>
          </a:solidFill>
          <a:ln/>
        </p:spPr>
        <p:txBody>
          <a:bodyPr/>
          <a:lstStyle/>
          <a:p>
            <a:pPr defTabSz="1219170">
              <a:buClr>
                <a:srgbClr val="000000"/>
              </a:buClr>
            </a:pPr>
            <a:endParaRPr lang="en-CA" sz="1867" kern="0">
              <a:solidFill>
                <a:srgbClr val="000000"/>
              </a:solidFill>
              <a:latin typeface="Arial"/>
              <a:cs typeface="Arial"/>
              <a:sym typeface="Arial"/>
            </a:endParaRPr>
          </a:p>
        </p:txBody>
      </p:sp>
      <p:sp>
        <p:nvSpPr>
          <p:cNvPr id="35" name="Text 24">
            <a:extLst>
              <a:ext uri="{FF2B5EF4-FFF2-40B4-BE49-F238E27FC236}">
                <a16:creationId xmlns:a16="http://schemas.microsoft.com/office/drawing/2014/main" id="{B58424AE-B0FC-0C60-B0C6-7F467D66A814}"/>
              </a:ext>
            </a:extLst>
          </p:cNvPr>
          <p:cNvSpPr/>
          <p:nvPr/>
        </p:nvSpPr>
        <p:spPr>
          <a:xfrm>
            <a:off x="10424160" y="1139952"/>
            <a:ext cx="792480" cy="792480"/>
          </a:xfrm>
          <a:prstGeom prst="rect">
            <a:avLst/>
          </a:prstGeom>
          <a:noFill/>
          <a:ln/>
        </p:spPr>
        <p:txBody>
          <a:bodyPr wrap="square" lIns="0" tIns="0" rIns="0" bIns="0" rtlCol="0" anchor="ctr"/>
          <a:lstStyle/>
          <a:p>
            <a:pPr algn="ctr" defTabSz="1219170">
              <a:buClr>
                <a:srgbClr val="000000"/>
              </a:buClr>
            </a:pPr>
            <a:r>
              <a:rPr lang="en-US" sz="2133" b="1" kern="0" dirty="0">
                <a:solidFill>
                  <a:srgbClr val="FFFFFF"/>
                </a:solidFill>
                <a:latin typeface="Georgia" pitchFamily="34" charset="0"/>
                <a:ea typeface="Georgia" pitchFamily="34" charset="-122"/>
                <a:cs typeface="Georgia" pitchFamily="34" charset="-120"/>
                <a:sym typeface="Arial"/>
              </a:rPr>
              <a:t>05</a:t>
            </a:r>
            <a:endParaRPr lang="en-US" sz="2133" kern="0" dirty="0">
              <a:solidFill>
                <a:srgbClr val="000000"/>
              </a:solidFill>
              <a:latin typeface="Arial"/>
              <a:cs typeface="Arial"/>
              <a:sym typeface="Arial"/>
            </a:endParaRPr>
          </a:p>
        </p:txBody>
      </p:sp>
      <p:sp>
        <p:nvSpPr>
          <p:cNvPr id="36" name="Text 25">
            <a:extLst>
              <a:ext uri="{FF2B5EF4-FFF2-40B4-BE49-F238E27FC236}">
                <a16:creationId xmlns:a16="http://schemas.microsoft.com/office/drawing/2014/main" id="{4B0AA1DC-01AF-E736-705E-38645D919541}"/>
              </a:ext>
            </a:extLst>
          </p:cNvPr>
          <p:cNvSpPr/>
          <p:nvPr/>
        </p:nvSpPr>
        <p:spPr>
          <a:xfrm>
            <a:off x="9875520" y="2054352"/>
            <a:ext cx="1889760" cy="609600"/>
          </a:xfrm>
          <a:prstGeom prst="rect">
            <a:avLst/>
          </a:prstGeom>
          <a:noFill/>
          <a:ln/>
        </p:spPr>
        <p:txBody>
          <a:bodyPr wrap="square" lIns="0" tIns="0" rIns="0" bIns="0" rtlCol="0" anchor="ctr"/>
          <a:lstStyle/>
          <a:p>
            <a:pPr algn="ctr" defTabSz="1219170">
              <a:buClr>
                <a:srgbClr val="000000"/>
              </a:buClr>
            </a:pPr>
            <a:r>
              <a:rPr lang="en-US" sz="1600" b="1" kern="0" dirty="0">
                <a:solidFill>
                  <a:srgbClr val="FFFFFF"/>
                </a:solidFill>
                <a:latin typeface="Calibri" pitchFamily="34" charset="0"/>
                <a:ea typeface="Calibri" pitchFamily="34" charset="-122"/>
                <a:cs typeface="Calibri" pitchFamily="34" charset="-120"/>
                <a:sym typeface="Arial"/>
              </a:rPr>
              <a:t>Personal CRM</a:t>
            </a:r>
            <a:endParaRPr lang="en-US" sz="1600" kern="0" dirty="0">
              <a:solidFill>
                <a:srgbClr val="000000"/>
              </a:solidFill>
              <a:latin typeface="Arial"/>
              <a:cs typeface="Arial"/>
              <a:sym typeface="Arial"/>
            </a:endParaRPr>
          </a:p>
        </p:txBody>
      </p:sp>
      <p:sp>
        <p:nvSpPr>
          <p:cNvPr id="37" name="Text 26">
            <a:extLst>
              <a:ext uri="{FF2B5EF4-FFF2-40B4-BE49-F238E27FC236}">
                <a16:creationId xmlns:a16="http://schemas.microsoft.com/office/drawing/2014/main" id="{E891A9DB-17DD-E9C5-E480-5724BC2D9B03}"/>
              </a:ext>
            </a:extLst>
          </p:cNvPr>
          <p:cNvSpPr/>
          <p:nvPr/>
        </p:nvSpPr>
        <p:spPr>
          <a:xfrm>
            <a:off x="9875520" y="2602992"/>
            <a:ext cx="1889760" cy="487680"/>
          </a:xfrm>
          <a:prstGeom prst="rect">
            <a:avLst/>
          </a:prstGeom>
          <a:noFill/>
          <a:ln/>
        </p:spPr>
        <p:txBody>
          <a:bodyPr wrap="square" lIns="0" tIns="0" rIns="0" bIns="0" rtlCol="0" anchor="t"/>
          <a:lstStyle/>
          <a:p>
            <a:pPr algn="ctr" defTabSz="1219170">
              <a:buClr>
                <a:srgbClr val="000000"/>
              </a:buClr>
            </a:pPr>
            <a:r>
              <a:rPr lang="en-US" sz="1333" kern="0" dirty="0">
                <a:solidFill>
                  <a:srgbClr val="9898B8"/>
                </a:solidFill>
                <a:latin typeface="Calibri" pitchFamily="34" charset="0"/>
                <a:ea typeface="Calibri" pitchFamily="34" charset="-122"/>
                <a:cs typeface="Calibri" pitchFamily="34" charset="-120"/>
                <a:sym typeface="Arial"/>
              </a:rPr>
              <a:t>Relationship tracker</a:t>
            </a:r>
            <a:endParaRPr lang="en-US" sz="1333" kern="0" dirty="0">
              <a:solidFill>
                <a:srgbClr val="000000"/>
              </a:solidFill>
              <a:latin typeface="Arial"/>
              <a:cs typeface="Arial"/>
              <a:sym typeface="Arial"/>
            </a:endParaRPr>
          </a:p>
        </p:txBody>
      </p:sp>
      <p:sp>
        <p:nvSpPr>
          <p:cNvPr id="38" name="Shape 27">
            <a:extLst>
              <a:ext uri="{FF2B5EF4-FFF2-40B4-BE49-F238E27FC236}">
                <a16:creationId xmlns:a16="http://schemas.microsoft.com/office/drawing/2014/main" id="{A656A0BA-9A80-CC80-E3C4-5D876A1E7DA3}"/>
              </a:ext>
            </a:extLst>
          </p:cNvPr>
          <p:cNvSpPr/>
          <p:nvPr/>
        </p:nvSpPr>
        <p:spPr>
          <a:xfrm>
            <a:off x="487680" y="3578352"/>
            <a:ext cx="2133600" cy="2316480"/>
          </a:xfrm>
          <a:prstGeom prst="rect">
            <a:avLst/>
          </a:prstGeom>
          <a:solidFill>
            <a:srgbClr val="0C1752"/>
          </a:solidFill>
          <a:ln/>
          <a:effectLst>
            <a:outerShdw blurRad="101600" dist="38100" dir="8100000" algn="bl" rotWithShape="0">
              <a:srgbClr val="000000">
                <a:alpha val="30000"/>
              </a:srgbClr>
            </a:outerShdw>
          </a:effectLst>
        </p:spPr>
        <p:txBody>
          <a:bodyPr/>
          <a:lstStyle/>
          <a:p>
            <a:pPr defTabSz="1219170">
              <a:buClr>
                <a:srgbClr val="000000"/>
              </a:buClr>
            </a:pPr>
            <a:endParaRPr lang="en-CA" sz="1867" kern="0">
              <a:solidFill>
                <a:srgbClr val="000000"/>
              </a:solidFill>
              <a:latin typeface="Arial"/>
              <a:cs typeface="Arial"/>
              <a:sym typeface="Arial"/>
            </a:endParaRPr>
          </a:p>
        </p:txBody>
      </p:sp>
      <p:sp>
        <p:nvSpPr>
          <p:cNvPr id="39" name="Shape 28">
            <a:extLst>
              <a:ext uri="{FF2B5EF4-FFF2-40B4-BE49-F238E27FC236}">
                <a16:creationId xmlns:a16="http://schemas.microsoft.com/office/drawing/2014/main" id="{CF576048-F4A5-3A1A-B214-89665470BB76}"/>
              </a:ext>
            </a:extLst>
          </p:cNvPr>
          <p:cNvSpPr/>
          <p:nvPr/>
        </p:nvSpPr>
        <p:spPr>
          <a:xfrm>
            <a:off x="1158240" y="3761232"/>
            <a:ext cx="792480" cy="792480"/>
          </a:xfrm>
          <a:prstGeom prst="ellipse">
            <a:avLst/>
          </a:prstGeom>
          <a:solidFill>
            <a:srgbClr val="D56E48"/>
          </a:solidFill>
          <a:ln/>
        </p:spPr>
        <p:txBody>
          <a:bodyPr/>
          <a:lstStyle/>
          <a:p>
            <a:pPr defTabSz="1219170">
              <a:buClr>
                <a:srgbClr val="000000"/>
              </a:buClr>
            </a:pPr>
            <a:endParaRPr lang="en-CA" sz="1867" kern="0">
              <a:solidFill>
                <a:srgbClr val="000000"/>
              </a:solidFill>
              <a:latin typeface="Arial"/>
              <a:cs typeface="Arial"/>
              <a:sym typeface="Arial"/>
            </a:endParaRPr>
          </a:p>
        </p:txBody>
      </p:sp>
      <p:sp>
        <p:nvSpPr>
          <p:cNvPr id="40" name="Text 29">
            <a:extLst>
              <a:ext uri="{FF2B5EF4-FFF2-40B4-BE49-F238E27FC236}">
                <a16:creationId xmlns:a16="http://schemas.microsoft.com/office/drawing/2014/main" id="{AEB563D4-F1D7-7BDE-D774-4DC6376995EB}"/>
              </a:ext>
            </a:extLst>
          </p:cNvPr>
          <p:cNvSpPr/>
          <p:nvPr/>
        </p:nvSpPr>
        <p:spPr>
          <a:xfrm>
            <a:off x="1158240" y="3761232"/>
            <a:ext cx="792480" cy="792480"/>
          </a:xfrm>
          <a:prstGeom prst="rect">
            <a:avLst/>
          </a:prstGeom>
          <a:noFill/>
          <a:ln/>
        </p:spPr>
        <p:txBody>
          <a:bodyPr wrap="square" lIns="0" tIns="0" rIns="0" bIns="0" rtlCol="0" anchor="ctr"/>
          <a:lstStyle/>
          <a:p>
            <a:pPr algn="ctr" defTabSz="1219170">
              <a:buClr>
                <a:srgbClr val="000000"/>
              </a:buClr>
            </a:pPr>
            <a:r>
              <a:rPr lang="en-US" sz="2133" b="1" kern="0" dirty="0">
                <a:solidFill>
                  <a:srgbClr val="FFFFFF"/>
                </a:solidFill>
                <a:latin typeface="Georgia" pitchFamily="34" charset="0"/>
                <a:ea typeface="Georgia" pitchFamily="34" charset="-122"/>
                <a:cs typeface="Georgia" pitchFamily="34" charset="-120"/>
                <a:sym typeface="Arial"/>
              </a:rPr>
              <a:t>06</a:t>
            </a:r>
            <a:endParaRPr lang="en-US" sz="2133" kern="0" dirty="0">
              <a:solidFill>
                <a:srgbClr val="000000"/>
              </a:solidFill>
              <a:latin typeface="Arial"/>
              <a:cs typeface="Arial"/>
              <a:sym typeface="Arial"/>
            </a:endParaRPr>
          </a:p>
        </p:txBody>
      </p:sp>
      <p:sp>
        <p:nvSpPr>
          <p:cNvPr id="41" name="Text 30">
            <a:extLst>
              <a:ext uri="{FF2B5EF4-FFF2-40B4-BE49-F238E27FC236}">
                <a16:creationId xmlns:a16="http://schemas.microsoft.com/office/drawing/2014/main" id="{E53AC9BF-A279-9CC1-570E-A965EF3261EF}"/>
              </a:ext>
            </a:extLst>
          </p:cNvPr>
          <p:cNvSpPr/>
          <p:nvPr/>
        </p:nvSpPr>
        <p:spPr>
          <a:xfrm>
            <a:off x="609600" y="4675632"/>
            <a:ext cx="1889760" cy="609600"/>
          </a:xfrm>
          <a:prstGeom prst="rect">
            <a:avLst/>
          </a:prstGeom>
          <a:noFill/>
          <a:ln/>
        </p:spPr>
        <p:txBody>
          <a:bodyPr wrap="square" lIns="0" tIns="0" rIns="0" bIns="0" rtlCol="0" anchor="ctr"/>
          <a:lstStyle/>
          <a:p>
            <a:pPr algn="ctr" defTabSz="1219170">
              <a:buClr>
                <a:srgbClr val="000000"/>
              </a:buClr>
            </a:pPr>
            <a:r>
              <a:rPr lang="en-US" sz="1600" b="1" kern="0" dirty="0">
                <a:solidFill>
                  <a:srgbClr val="FFFFFF"/>
                </a:solidFill>
                <a:latin typeface="Calibri" pitchFamily="34" charset="0"/>
                <a:ea typeface="Calibri" pitchFamily="34" charset="-122"/>
                <a:cs typeface="Calibri" pitchFamily="34" charset="-120"/>
                <a:sym typeface="Arial"/>
              </a:rPr>
              <a:t>Meeting Intel</a:t>
            </a:r>
            <a:endParaRPr lang="en-US" sz="1600" kern="0" dirty="0">
              <a:solidFill>
                <a:srgbClr val="000000"/>
              </a:solidFill>
              <a:latin typeface="Arial"/>
              <a:cs typeface="Arial"/>
              <a:sym typeface="Arial"/>
            </a:endParaRPr>
          </a:p>
        </p:txBody>
      </p:sp>
      <p:sp>
        <p:nvSpPr>
          <p:cNvPr id="42" name="Text 31">
            <a:extLst>
              <a:ext uri="{FF2B5EF4-FFF2-40B4-BE49-F238E27FC236}">
                <a16:creationId xmlns:a16="http://schemas.microsoft.com/office/drawing/2014/main" id="{EC65D3EC-CF4E-48E0-2984-193D10D7124F}"/>
              </a:ext>
            </a:extLst>
          </p:cNvPr>
          <p:cNvSpPr/>
          <p:nvPr/>
        </p:nvSpPr>
        <p:spPr>
          <a:xfrm>
            <a:off x="609600" y="5224272"/>
            <a:ext cx="1889760" cy="487680"/>
          </a:xfrm>
          <a:prstGeom prst="rect">
            <a:avLst/>
          </a:prstGeom>
          <a:noFill/>
          <a:ln/>
        </p:spPr>
        <p:txBody>
          <a:bodyPr wrap="square" lIns="0" tIns="0" rIns="0" bIns="0" rtlCol="0" anchor="t"/>
          <a:lstStyle/>
          <a:p>
            <a:pPr algn="ctr" defTabSz="1219170">
              <a:buClr>
                <a:srgbClr val="000000"/>
              </a:buClr>
            </a:pPr>
            <a:r>
              <a:rPr lang="en-US" sz="1333" kern="0" dirty="0">
                <a:solidFill>
                  <a:srgbClr val="9898B8"/>
                </a:solidFill>
                <a:latin typeface="Calibri" pitchFamily="34" charset="0"/>
                <a:ea typeface="Calibri" pitchFamily="34" charset="-122"/>
                <a:cs typeface="Calibri" pitchFamily="34" charset="-120"/>
                <a:sym typeface="Arial"/>
              </a:rPr>
              <a:t>Prep &amp; extraction</a:t>
            </a:r>
            <a:endParaRPr lang="en-US" sz="1333" kern="0" dirty="0">
              <a:solidFill>
                <a:srgbClr val="000000"/>
              </a:solidFill>
              <a:latin typeface="Arial"/>
              <a:cs typeface="Arial"/>
              <a:sym typeface="Arial"/>
            </a:endParaRPr>
          </a:p>
        </p:txBody>
      </p:sp>
      <p:sp>
        <p:nvSpPr>
          <p:cNvPr id="43" name="Shape 32">
            <a:extLst>
              <a:ext uri="{FF2B5EF4-FFF2-40B4-BE49-F238E27FC236}">
                <a16:creationId xmlns:a16="http://schemas.microsoft.com/office/drawing/2014/main" id="{E6EEBB13-4FFD-A497-ED86-C65B1D250377}"/>
              </a:ext>
            </a:extLst>
          </p:cNvPr>
          <p:cNvSpPr/>
          <p:nvPr/>
        </p:nvSpPr>
        <p:spPr>
          <a:xfrm>
            <a:off x="2804160" y="3578352"/>
            <a:ext cx="2133600" cy="2316480"/>
          </a:xfrm>
          <a:prstGeom prst="rect">
            <a:avLst/>
          </a:prstGeom>
          <a:solidFill>
            <a:srgbClr val="0C1752"/>
          </a:solidFill>
          <a:ln/>
          <a:effectLst>
            <a:outerShdw blurRad="101600" dist="38100" dir="8100000" algn="bl" rotWithShape="0">
              <a:srgbClr val="000000">
                <a:alpha val="30000"/>
              </a:srgbClr>
            </a:outerShdw>
          </a:effectLst>
        </p:spPr>
        <p:txBody>
          <a:bodyPr/>
          <a:lstStyle/>
          <a:p>
            <a:pPr defTabSz="1219170">
              <a:buClr>
                <a:srgbClr val="000000"/>
              </a:buClr>
            </a:pPr>
            <a:endParaRPr lang="en-CA" sz="1867" kern="0">
              <a:solidFill>
                <a:srgbClr val="000000"/>
              </a:solidFill>
              <a:latin typeface="Arial"/>
              <a:cs typeface="Arial"/>
              <a:sym typeface="Arial"/>
            </a:endParaRPr>
          </a:p>
        </p:txBody>
      </p:sp>
      <p:sp>
        <p:nvSpPr>
          <p:cNvPr id="44" name="Shape 33">
            <a:extLst>
              <a:ext uri="{FF2B5EF4-FFF2-40B4-BE49-F238E27FC236}">
                <a16:creationId xmlns:a16="http://schemas.microsoft.com/office/drawing/2014/main" id="{C2C4763D-C62D-57DC-4D40-1C914D127BB4}"/>
              </a:ext>
            </a:extLst>
          </p:cNvPr>
          <p:cNvSpPr/>
          <p:nvPr/>
        </p:nvSpPr>
        <p:spPr>
          <a:xfrm>
            <a:off x="3474720" y="3761232"/>
            <a:ext cx="792480" cy="792480"/>
          </a:xfrm>
          <a:prstGeom prst="ellipse">
            <a:avLst/>
          </a:prstGeom>
          <a:solidFill>
            <a:schemeClr val="bg2">
              <a:lumMod val="50000"/>
              <a:lumOff val="50000"/>
            </a:schemeClr>
          </a:solidFill>
          <a:ln/>
        </p:spPr>
        <p:txBody>
          <a:bodyPr/>
          <a:lstStyle/>
          <a:p>
            <a:pPr defTabSz="1219170">
              <a:buClr>
                <a:srgbClr val="000000"/>
              </a:buClr>
            </a:pPr>
            <a:endParaRPr lang="en-CA" sz="1867" kern="0">
              <a:solidFill>
                <a:srgbClr val="000000"/>
              </a:solidFill>
              <a:latin typeface="Arial"/>
              <a:cs typeface="Arial"/>
              <a:sym typeface="Arial"/>
            </a:endParaRPr>
          </a:p>
        </p:txBody>
      </p:sp>
      <p:sp>
        <p:nvSpPr>
          <p:cNvPr id="45" name="Text 34">
            <a:extLst>
              <a:ext uri="{FF2B5EF4-FFF2-40B4-BE49-F238E27FC236}">
                <a16:creationId xmlns:a16="http://schemas.microsoft.com/office/drawing/2014/main" id="{F20610F9-82C7-165C-3713-930AF3B578B6}"/>
              </a:ext>
            </a:extLst>
          </p:cNvPr>
          <p:cNvSpPr/>
          <p:nvPr/>
        </p:nvSpPr>
        <p:spPr>
          <a:xfrm>
            <a:off x="3474720" y="3761232"/>
            <a:ext cx="792480" cy="792480"/>
          </a:xfrm>
          <a:prstGeom prst="rect">
            <a:avLst/>
          </a:prstGeom>
          <a:solidFill>
            <a:srgbClr val="D56E48"/>
          </a:solidFill>
          <a:ln/>
        </p:spPr>
        <p:txBody>
          <a:bodyPr wrap="square" lIns="0" tIns="0" rIns="0" bIns="0" rtlCol="0" anchor="ctr"/>
          <a:lstStyle/>
          <a:p>
            <a:pPr algn="ctr" defTabSz="1219170">
              <a:buClr>
                <a:srgbClr val="000000"/>
              </a:buClr>
            </a:pPr>
            <a:r>
              <a:rPr lang="en-US" sz="2133" b="1" kern="0" dirty="0">
                <a:solidFill>
                  <a:srgbClr val="FFFFFF"/>
                </a:solidFill>
                <a:latin typeface="Georgia" pitchFamily="34" charset="0"/>
                <a:ea typeface="Georgia" pitchFamily="34" charset="-122"/>
                <a:cs typeface="Georgia" pitchFamily="34" charset="-120"/>
                <a:sym typeface="Arial"/>
              </a:rPr>
              <a:t>07</a:t>
            </a:r>
            <a:endParaRPr lang="en-US" sz="2133" kern="0" dirty="0">
              <a:solidFill>
                <a:srgbClr val="000000"/>
              </a:solidFill>
              <a:latin typeface="Arial"/>
              <a:cs typeface="Arial"/>
              <a:sym typeface="Arial"/>
            </a:endParaRPr>
          </a:p>
        </p:txBody>
      </p:sp>
      <p:sp>
        <p:nvSpPr>
          <p:cNvPr id="46" name="Text 35">
            <a:extLst>
              <a:ext uri="{FF2B5EF4-FFF2-40B4-BE49-F238E27FC236}">
                <a16:creationId xmlns:a16="http://schemas.microsoft.com/office/drawing/2014/main" id="{51F4EC3C-4895-875E-CA0A-56383ACEBD4C}"/>
              </a:ext>
            </a:extLst>
          </p:cNvPr>
          <p:cNvSpPr/>
          <p:nvPr/>
        </p:nvSpPr>
        <p:spPr>
          <a:xfrm>
            <a:off x="2926080" y="4675632"/>
            <a:ext cx="1889760" cy="609600"/>
          </a:xfrm>
          <a:prstGeom prst="rect">
            <a:avLst/>
          </a:prstGeom>
          <a:noFill/>
          <a:ln/>
        </p:spPr>
        <p:txBody>
          <a:bodyPr wrap="square" lIns="0" tIns="0" rIns="0" bIns="0" rtlCol="0" anchor="ctr"/>
          <a:lstStyle/>
          <a:p>
            <a:pPr algn="ctr" defTabSz="1219170">
              <a:buClr>
                <a:srgbClr val="000000"/>
              </a:buClr>
            </a:pPr>
            <a:r>
              <a:rPr lang="en-US" sz="1600" b="1" kern="0" dirty="0">
                <a:solidFill>
                  <a:srgbClr val="FFFFFF"/>
                </a:solidFill>
                <a:latin typeface="Calibri" pitchFamily="34" charset="0"/>
                <a:ea typeface="Calibri" pitchFamily="34" charset="-122"/>
                <a:cs typeface="Calibri" pitchFamily="34" charset="-120"/>
                <a:sym typeface="Arial"/>
              </a:rPr>
              <a:t>Email Triage</a:t>
            </a:r>
            <a:endParaRPr lang="en-US" sz="1600" kern="0" dirty="0">
              <a:solidFill>
                <a:srgbClr val="000000"/>
              </a:solidFill>
              <a:latin typeface="Arial"/>
              <a:cs typeface="Arial"/>
              <a:sym typeface="Arial"/>
            </a:endParaRPr>
          </a:p>
        </p:txBody>
      </p:sp>
      <p:sp>
        <p:nvSpPr>
          <p:cNvPr id="47" name="Text 36">
            <a:extLst>
              <a:ext uri="{FF2B5EF4-FFF2-40B4-BE49-F238E27FC236}">
                <a16:creationId xmlns:a16="http://schemas.microsoft.com/office/drawing/2014/main" id="{E969E69A-4C83-6E3E-F267-EFA0707897B0}"/>
              </a:ext>
            </a:extLst>
          </p:cNvPr>
          <p:cNvSpPr/>
          <p:nvPr/>
        </p:nvSpPr>
        <p:spPr>
          <a:xfrm>
            <a:off x="2926080" y="5224272"/>
            <a:ext cx="1889760" cy="487680"/>
          </a:xfrm>
          <a:prstGeom prst="rect">
            <a:avLst/>
          </a:prstGeom>
          <a:noFill/>
          <a:ln/>
        </p:spPr>
        <p:txBody>
          <a:bodyPr wrap="square" lIns="0" tIns="0" rIns="0" bIns="0" rtlCol="0" anchor="t"/>
          <a:lstStyle/>
          <a:p>
            <a:pPr algn="ctr" defTabSz="1219170">
              <a:buClr>
                <a:srgbClr val="000000"/>
              </a:buClr>
            </a:pPr>
            <a:r>
              <a:rPr lang="en-US" sz="1333" kern="0" dirty="0">
                <a:solidFill>
                  <a:srgbClr val="9898B8"/>
                </a:solidFill>
                <a:latin typeface="Calibri" pitchFamily="34" charset="0"/>
                <a:ea typeface="Calibri" pitchFamily="34" charset="-122"/>
                <a:cs typeface="Calibri" pitchFamily="34" charset="-120"/>
                <a:sym typeface="Arial"/>
              </a:rPr>
              <a:t>Inbox manager</a:t>
            </a:r>
            <a:endParaRPr lang="en-US" sz="1333" kern="0" dirty="0">
              <a:solidFill>
                <a:srgbClr val="000000"/>
              </a:solidFill>
              <a:latin typeface="Arial"/>
              <a:cs typeface="Arial"/>
              <a:sym typeface="Arial"/>
            </a:endParaRPr>
          </a:p>
        </p:txBody>
      </p:sp>
      <p:sp>
        <p:nvSpPr>
          <p:cNvPr id="48" name="Shape 37">
            <a:extLst>
              <a:ext uri="{FF2B5EF4-FFF2-40B4-BE49-F238E27FC236}">
                <a16:creationId xmlns:a16="http://schemas.microsoft.com/office/drawing/2014/main" id="{4E879326-861C-FEBA-2D60-B4855B173D27}"/>
              </a:ext>
            </a:extLst>
          </p:cNvPr>
          <p:cNvSpPr/>
          <p:nvPr/>
        </p:nvSpPr>
        <p:spPr>
          <a:xfrm>
            <a:off x="5120640" y="3578352"/>
            <a:ext cx="2133600" cy="2316480"/>
          </a:xfrm>
          <a:prstGeom prst="rect">
            <a:avLst/>
          </a:prstGeom>
          <a:solidFill>
            <a:srgbClr val="0C1752"/>
          </a:solidFill>
          <a:ln/>
          <a:effectLst>
            <a:outerShdw blurRad="101600" dist="38100" dir="8100000" algn="bl" rotWithShape="0">
              <a:srgbClr val="000000">
                <a:alpha val="30000"/>
              </a:srgbClr>
            </a:outerShdw>
          </a:effectLst>
        </p:spPr>
        <p:txBody>
          <a:bodyPr/>
          <a:lstStyle/>
          <a:p>
            <a:pPr defTabSz="1219170">
              <a:buClr>
                <a:srgbClr val="000000"/>
              </a:buClr>
            </a:pPr>
            <a:endParaRPr lang="en-CA" sz="1867" kern="0">
              <a:solidFill>
                <a:srgbClr val="000000"/>
              </a:solidFill>
              <a:latin typeface="Arial"/>
              <a:cs typeface="Arial"/>
              <a:sym typeface="Arial"/>
            </a:endParaRPr>
          </a:p>
        </p:txBody>
      </p:sp>
      <p:sp>
        <p:nvSpPr>
          <p:cNvPr id="49" name="Shape 38">
            <a:extLst>
              <a:ext uri="{FF2B5EF4-FFF2-40B4-BE49-F238E27FC236}">
                <a16:creationId xmlns:a16="http://schemas.microsoft.com/office/drawing/2014/main" id="{18E1529A-AF1F-0E54-9B36-6DA641C32285}"/>
              </a:ext>
            </a:extLst>
          </p:cNvPr>
          <p:cNvSpPr/>
          <p:nvPr/>
        </p:nvSpPr>
        <p:spPr>
          <a:xfrm>
            <a:off x="5791200" y="3761232"/>
            <a:ext cx="792480" cy="792480"/>
          </a:xfrm>
          <a:prstGeom prst="ellipse">
            <a:avLst/>
          </a:prstGeom>
          <a:solidFill>
            <a:srgbClr val="D56E48"/>
          </a:solidFill>
          <a:ln/>
        </p:spPr>
        <p:txBody>
          <a:bodyPr/>
          <a:lstStyle/>
          <a:p>
            <a:pPr defTabSz="1219170">
              <a:buClr>
                <a:srgbClr val="000000"/>
              </a:buClr>
            </a:pPr>
            <a:endParaRPr lang="en-CA" sz="1867" kern="0">
              <a:solidFill>
                <a:srgbClr val="000000"/>
              </a:solidFill>
              <a:latin typeface="Arial"/>
              <a:cs typeface="Arial"/>
              <a:sym typeface="Arial"/>
            </a:endParaRPr>
          </a:p>
        </p:txBody>
      </p:sp>
      <p:sp>
        <p:nvSpPr>
          <p:cNvPr id="50" name="Text 39">
            <a:extLst>
              <a:ext uri="{FF2B5EF4-FFF2-40B4-BE49-F238E27FC236}">
                <a16:creationId xmlns:a16="http://schemas.microsoft.com/office/drawing/2014/main" id="{658E69EE-CE02-EEF6-EA5C-1BF13E33AAA9}"/>
              </a:ext>
            </a:extLst>
          </p:cNvPr>
          <p:cNvSpPr/>
          <p:nvPr/>
        </p:nvSpPr>
        <p:spPr>
          <a:xfrm>
            <a:off x="5791200" y="3761232"/>
            <a:ext cx="792480" cy="792480"/>
          </a:xfrm>
          <a:prstGeom prst="rect">
            <a:avLst/>
          </a:prstGeom>
          <a:noFill/>
          <a:ln/>
        </p:spPr>
        <p:txBody>
          <a:bodyPr wrap="square" lIns="0" tIns="0" rIns="0" bIns="0" rtlCol="0" anchor="ctr"/>
          <a:lstStyle/>
          <a:p>
            <a:pPr algn="ctr" defTabSz="1219170">
              <a:buClr>
                <a:srgbClr val="000000"/>
              </a:buClr>
            </a:pPr>
            <a:r>
              <a:rPr lang="en-US" sz="2133" b="1" kern="0" dirty="0">
                <a:solidFill>
                  <a:srgbClr val="FFFFFF"/>
                </a:solidFill>
                <a:latin typeface="Georgia" pitchFamily="34" charset="0"/>
                <a:ea typeface="Georgia" pitchFamily="34" charset="-122"/>
                <a:cs typeface="Georgia" pitchFamily="34" charset="-120"/>
                <a:sym typeface="Arial"/>
              </a:rPr>
              <a:t>08</a:t>
            </a:r>
            <a:endParaRPr lang="en-US" sz="2133" kern="0" dirty="0">
              <a:solidFill>
                <a:srgbClr val="000000"/>
              </a:solidFill>
              <a:latin typeface="Arial"/>
              <a:cs typeface="Arial"/>
              <a:sym typeface="Arial"/>
            </a:endParaRPr>
          </a:p>
        </p:txBody>
      </p:sp>
      <p:sp>
        <p:nvSpPr>
          <p:cNvPr id="51" name="Text 40">
            <a:extLst>
              <a:ext uri="{FF2B5EF4-FFF2-40B4-BE49-F238E27FC236}">
                <a16:creationId xmlns:a16="http://schemas.microsoft.com/office/drawing/2014/main" id="{BADA7095-CC91-045C-D60F-4408CB9C9E13}"/>
              </a:ext>
            </a:extLst>
          </p:cNvPr>
          <p:cNvSpPr/>
          <p:nvPr/>
        </p:nvSpPr>
        <p:spPr>
          <a:xfrm>
            <a:off x="5242560" y="4675632"/>
            <a:ext cx="1889760" cy="609600"/>
          </a:xfrm>
          <a:prstGeom prst="rect">
            <a:avLst/>
          </a:prstGeom>
          <a:noFill/>
          <a:ln/>
        </p:spPr>
        <p:txBody>
          <a:bodyPr wrap="square" lIns="0" tIns="0" rIns="0" bIns="0" rtlCol="0" anchor="ctr"/>
          <a:lstStyle/>
          <a:p>
            <a:pPr algn="ctr" defTabSz="1219170">
              <a:buClr>
                <a:srgbClr val="000000"/>
              </a:buClr>
            </a:pPr>
            <a:r>
              <a:rPr lang="en-US" sz="1600" b="1" kern="0" dirty="0">
                <a:solidFill>
                  <a:srgbClr val="FFFFFF"/>
                </a:solidFill>
                <a:latin typeface="Calibri" pitchFamily="34" charset="0"/>
                <a:ea typeface="Calibri" pitchFamily="34" charset="-122"/>
                <a:cs typeface="Calibri" pitchFamily="34" charset="-120"/>
                <a:sym typeface="Arial"/>
              </a:rPr>
              <a:t>Expense Wrangler</a:t>
            </a:r>
            <a:endParaRPr lang="en-US" sz="1600" kern="0" dirty="0">
              <a:solidFill>
                <a:srgbClr val="000000"/>
              </a:solidFill>
              <a:latin typeface="Arial"/>
              <a:cs typeface="Arial"/>
              <a:sym typeface="Arial"/>
            </a:endParaRPr>
          </a:p>
        </p:txBody>
      </p:sp>
      <p:sp>
        <p:nvSpPr>
          <p:cNvPr id="52" name="Text 41">
            <a:extLst>
              <a:ext uri="{FF2B5EF4-FFF2-40B4-BE49-F238E27FC236}">
                <a16:creationId xmlns:a16="http://schemas.microsoft.com/office/drawing/2014/main" id="{EA883F99-24A1-59B9-44DD-FA212CA93297}"/>
              </a:ext>
            </a:extLst>
          </p:cNvPr>
          <p:cNvSpPr/>
          <p:nvPr/>
        </p:nvSpPr>
        <p:spPr>
          <a:xfrm>
            <a:off x="5242560" y="5224272"/>
            <a:ext cx="1889760" cy="487680"/>
          </a:xfrm>
          <a:prstGeom prst="rect">
            <a:avLst/>
          </a:prstGeom>
          <a:noFill/>
          <a:ln/>
        </p:spPr>
        <p:txBody>
          <a:bodyPr wrap="square" lIns="0" tIns="0" rIns="0" bIns="0" rtlCol="0" anchor="t"/>
          <a:lstStyle/>
          <a:p>
            <a:pPr algn="ctr" defTabSz="1219170">
              <a:buClr>
                <a:srgbClr val="000000"/>
              </a:buClr>
            </a:pPr>
            <a:r>
              <a:rPr lang="en-US" sz="1333" kern="0" dirty="0">
                <a:solidFill>
                  <a:srgbClr val="9898B8"/>
                </a:solidFill>
                <a:latin typeface="Calibri" pitchFamily="34" charset="0"/>
                <a:ea typeface="Calibri" pitchFamily="34" charset="-122"/>
                <a:cs typeface="Calibri" pitchFamily="34" charset="-120"/>
                <a:sym typeface="Arial"/>
              </a:rPr>
              <a:t>Receipt processing</a:t>
            </a:r>
            <a:endParaRPr lang="en-US" sz="1333" kern="0" dirty="0">
              <a:solidFill>
                <a:srgbClr val="000000"/>
              </a:solidFill>
              <a:latin typeface="Arial"/>
              <a:cs typeface="Arial"/>
              <a:sym typeface="Arial"/>
            </a:endParaRPr>
          </a:p>
        </p:txBody>
      </p:sp>
      <p:sp>
        <p:nvSpPr>
          <p:cNvPr id="53" name="Shape 42">
            <a:extLst>
              <a:ext uri="{FF2B5EF4-FFF2-40B4-BE49-F238E27FC236}">
                <a16:creationId xmlns:a16="http://schemas.microsoft.com/office/drawing/2014/main" id="{D405B2EA-83F9-A3FF-5380-7E963B4619FD}"/>
              </a:ext>
            </a:extLst>
          </p:cNvPr>
          <p:cNvSpPr/>
          <p:nvPr/>
        </p:nvSpPr>
        <p:spPr>
          <a:xfrm>
            <a:off x="7437120" y="3578352"/>
            <a:ext cx="2133600" cy="2316480"/>
          </a:xfrm>
          <a:prstGeom prst="rect">
            <a:avLst/>
          </a:prstGeom>
          <a:solidFill>
            <a:srgbClr val="0C1752"/>
          </a:solidFill>
          <a:ln/>
          <a:effectLst>
            <a:outerShdw blurRad="101600" dist="38100" dir="8100000" algn="bl" rotWithShape="0">
              <a:srgbClr val="000000">
                <a:alpha val="30000"/>
              </a:srgbClr>
            </a:outerShdw>
          </a:effectLst>
        </p:spPr>
        <p:txBody>
          <a:bodyPr/>
          <a:lstStyle/>
          <a:p>
            <a:pPr defTabSz="1219170">
              <a:buClr>
                <a:srgbClr val="000000"/>
              </a:buClr>
            </a:pPr>
            <a:endParaRPr lang="en-CA" sz="1867" kern="0">
              <a:solidFill>
                <a:srgbClr val="000000"/>
              </a:solidFill>
              <a:latin typeface="Arial"/>
              <a:cs typeface="Arial"/>
              <a:sym typeface="Arial"/>
            </a:endParaRPr>
          </a:p>
        </p:txBody>
      </p:sp>
      <p:sp>
        <p:nvSpPr>
          <p:cNvPr id="54" name="Shape 43">
            <a:extLst>
              <a:ext uri="{FF2B5EF4-FFF2-40B4-BE49-F238E27FC236}">
                <a16:creationId xmlns:a16="http://schemas.microsoft.com/office/drawing/2014/main" id="{B26C400D-E2A2-A03F-10DC-3695B54AF991}"/>
              </a:ext>
            </a:extLst>
          </p:cNvPr>
          <p:cNvSpPr/>
          <p:nvPr/>
        </p:nvSpPr>
        <p:spPr>
          <a:xfrm>
            <a:off x="8107680" y="3761232"/>
            <a:ext cx="792480" cy="792480"/>
          </a:xfrm>
          <a:prstGeom prst="ellipse">
            <a:avLst/>
          </a:prstGeom>
          <a:solidFill>
            <a:srgbClr val="D56E48"/>
          </a:solidFill>
          <a:ln/>
        </p:spPr>
        <p:txBody>
          <a:bodyPr/>
          <a:lstStyle/>
          <a:p>
            <a:pPr defTabSz="1219170">
              <a:buClr>
                <a:srgbClr val="000000"/>
              </a:buClr>
            </a:pPr>
            <a:endParaRPr lang="en-CA" sz="1867" kern="0">
              <a:solidFill>
                <a:srgbClr val="000000"/>
              </a:solidFill>
              <a:latin typeface="Arial"/>
              <a:cs typeface="Arial"/>
              <a:sym typeface="Arial"/>
            </a:endParaRPr>
          </a:p>
        </p:txBody>
      </p:sp>
      <p:sp>
        <p:nvSpPr>
          <p:cNvPr id="55" name="Text 44">
            <a:extLst>
              <a:ext uri="{FF2B5EF4-FFF2-40B4-BE49-F238E27FC236}">
                <a16:creationId xmlns:a16="http://schemas.microsoft.com/office/drawing/2014/main" id="{DB883776-5209-6280-C773-24AA6945CE3E}"/>
              </a:ext>
            </a:extLst>
          </p:cNvPr>
          <p:cNvSpPr/>
          <p:nvPr/>
        </p:nvSpPr>
        <p:spPr>
          <a:xfrm>
            <a:off x="8107680" y="3761232"/>
            <a:ext cx="792480" cy="792480"/>
          </a:xfrm>
          <a:prstGeom prst="rect">
            <a:avLst/>
          </a:prstGeom>
          <a:noFill/>
          <a:ln/>
        </p:spPr>
        <p:txBody>
          <a:bodyPr wrap="square" lIns="0" tIns="0" rIns="0" bIns="0" rtlCol="0" anchor="ctr"/>
          <a:lstStyle/>
          <a:p>
            <a:pPr algn="ctr" defTabSz="1219170">
              <a:buClr>
                <a:srgbClr val="000000"/>
              </a:buClr>
            </a:pPr>
            <a:r>
              <a:rPr lang="en-US" sz="2133" b="1" kern="0" dirty="0">
                <a:solidFill>
                  <a:srgbClr val="FFFFFF"/>
                </a:solidFill>
                <a:latin typeface="Georgia" pitchFamily="34" charset="0"/>
                <a:ea typeface="Georgia" pitchFamily="34" charset="-122"/>
                <a:cs typeface="Georgia" pitchFamily="34" charset="-120"/>
                <a:sym typeface="Arial"/>
              </a:rPr>
              <a:t>09</a:t>
            </a:r>
            <a:endParaRPr lang="en-US" sz="2133" kern="0" dirty="0">
              <a:solidFill>
                <a:srgbClr val="000000"/>
              </a:solidFill>
              <a:latin typeface="Arial"/>
              <a:cs typeface="Arial"/>
              <a:sym typeface="Arial"/>
            </a:endParaRPr>
          </a:p>
        </p:txBody>
      </p:sp>
      <p:sp>
        <p:nvSpPr>
          <p:cNvPr id="56" name="Text 45">
            <a:extLst>
              <a:ext uri="{FF2B5EF4-FFF2-40B4-BE49-F238E27FC236}">
                <a16:creationId xmlns:a16="http://schemas.microsoft.com/office/drawing/2014/main" id="{A173BABA-157B-9457-20DF-447379E6496D}"/>
              </a:ext>
            </a:extLst>
          </p:cNvPr>
          <p:cNvSpPr/>
          <p:nvPr/>
        </p:nvSpPr>
        <p:spPr>
          <a:xfrm>
            <a:off x="7559040" y="4675632"/>
            <a:ext cx="1889760" cy="609600"/>
          </a:xfrm>
          <a:prstGeom prst="rect">
            <a:avLst/>
          </a:prstGeom>
          <a:noFill/>
          <a:ln/>
        </p:spPr>
        <p:txBody>
          <a:bodyPr wrap="square" lIns="0" tIns="0" rIns="0" bIns="0" rtlCol="0" anchor="ctr"/>
          <a:lstStyle/>
          <a:p>
            <a:pPr algn="ctr" defTabSz="1219170">
              <a:buClr>
                <a:srgbClr val="000000"/>
              </a:buClr>
            </a:pPr>
            <a:r>
              <a:rPr lang="en-US" sz="1600" b="1" kern="0" dirty="0">
                <a:solidFill>
                  <a:srgbClr val="FFFFFF"/>
                </a:solidFill>
                <a:latin typeface="Calibri" pitchFamily="34" charset="0"/>
                <a:ea typeface="Calibri" pitchFamily="34" charset="-122"/>
                <a:cs typeface="Calibri" pitchFamily="34" charset="-120"/>
                <a:sym typeface="Arial"/>
              </a:rPr>
              <a:t>Content Machine</a:t>
            </a:r>
            <a:endParaRPr lang="en-US" sz="1600" kern="0" dirty="0">
              <a:solidFill>
                <a:srgbClr val="000000"/>
              </a:solidFill>
              <a:latin typeface="Arial"/>
              <a:cs typeface="Arial"/>
              <a:sym typeface="Arial"/>
            </a:endParaRPr>
          </a:p>
        </p:txBody>
      </p:sp>
      <p:sp>
        <p:nvSpPr>
          <p:cNvPr id="57" name="Text 46">
            <a:extLst>
              <a:ext uri="{FF2B5EF4-FFF2-40B4-BE49-F238E27FC236}">
                <a16:creationId xmlns:a16="http://schemas.microsoft.com/office/drawing/2014/main" id="{A94570C7-EB89-D0B6-0A1E-F3D25CE93CE6}"/>
              </a:ext>
            </a:extLst>
          </p:cNvPr>
          <p:cNvSpPr/>
          <p:nvPr/>
        </p:nvSpPr>
        <p:spPr>
          <a:xfrm>
            <a:off x="7559040" y="5224272"/>
            <a:ext cx="1889760" cy="487680"/>
          </a:xfrm>
          <a:prstGeom prst="rect">
            <a:avLst/>
          </a:prstGeom>
          <a:noFill/>
          <a:ln/>
        </p:spPr>
        <p:txBody>
          <a:bodyPr wrap="square" lIns="0" tIns="0" rIns="0" bIns="0" rtlCol="0" anchor="t"/>
          <a:lstStyle/>
          <a:p>
            <a:pPr algn="ctr" defTabSz="1219170">
              <a:buClr>
                <a:srgbClr val="000000"/>
              </a:buClr>
            </a:pPr>
            <a:r>
              <a:rPr lang="en-US" sz="1333" kern="0" dirty="0">
                <a:solidFill>
                  <a:srgbClr val="9898B8"/>
                </a:solidFill>
                <a:latin typeface="Calibri" pitchFamily="34" charset="0"/>
                <a:ea typeface="Calibri" pitchFamily="34" charset="-122"/>
                <a:cs typeface="Calibri" pitchFamily="34" charset="-120"/>
                <a:sym typeface="Arial"/>
              </a:rPr>
              <a:t>Multi-format content</a:t>
            </a:r>
            <a:endParaRPr lang="en-US" sz="1333" kern="0" dirty="0">
              <a:solidFill>
                <a:srgbClr val="000000"/>
              </a:solidFill>
              <a:latin typeface="Arial"/>
              <a:cs typeface="Arial"/>
              <a:sym typeface="Arial"/>
            </a:endParaRPr>
          </a:p>
        </p:txBody>
      </p:sp>
      <p:sp>
        <p:nvSpPr>
          <p:cNvPr id="58" name="Shape 47">
            <a:extLst>
              <a:ext uri="{FF2B5EF4-FFF2-40B4-BE49-F238E27FC236}">
                <a16:creationId xmlns:a16="http://schemas.microsoft.com/office/drawing/2014/main" id="{9974BEF4-7B62-3F49-90AE-E72334D1583E}"/>
              </a:ext>
            </a:extLst>
          </p:cNvPr>
          <p:cNvSpPr/>
          <p:nvPr/>
        </p:nvSpPr>
        <p:spPr>
          <a:xfrm>
            <a:off x="9753600" y="3578352"/>
            <a:ext cx="2133600" cy="2316480"/>
          </a:xfrm>
          <a:prstGeom prst="rect">
            <a:avLst/>
          </a:prstGeom>
          <a:solidFill>
            <a:srgbClr val="0C1752"/>
          </a:solidFill>
          <a:ln/>
          <a:effectLst>
            <a:outerShdw blurRad="101600" dist="38100" dir="8100000" algn="bl" rotWithShape="0">
              <a:srgbClr val="000000">
                <a:alpha val="30000"/>
              </a:srgbClr>
            </a:outerShdw>
          </a:effectLst>
        </p:spPr>
        <p:txBody>
          <a:bodyPr/>
          <a:lstStyle/>
          <a:p>
            <a:pPr defTabSz="1219170">
              <a:buClr>
                <a:srgbClr val="000000"/>
              </a:buClr>
            </a:pPr>
            <a:endParaRPr lang="en-CA" sz="1867" kern="0">
              <a:solidFill>
                <a:srgbClr val="000000"/>
              </a:solidFill>
              <a:latin typeface="Arial"/>
              <a:cs typeface="Arial"/>
              <a:sym typeface="Arial"/>
            </a:endParaRPr>
          </a:p>
        </p:txBody>
      </p:sp>
      <p:sp>
        <p:nvSpPr>
          <p:cNvPr id="59" name="Shape 48">
            <a:extLst>
              <a:ext uri="{FF2B5EF4-FFF2-40B4-BE49-F238E27FC236}">
                <a16:creationId xmlns:a16="http://schemas.microsoft.com/office/drawing/2014/main" id="{CC4F8346-0E31-BB53-DF95-4596558E9568}"/>
              </a:ext>
            </a:extLst>
          </p:cNvPr>
          <p:cNvSpPr/>
          <p:nvPr/>
        </p:nvSpPr>
        <p:spPr>
          <a:xfrm>
            <a:off x="10424160" y="3761232"/>
            <a:ext cx="792480" cy="792480"/>
          </a:xfrm>
          <a:prstGeom prst="ellipse">
            <a:avLst/>
          </a:prstGeom>
          <a:solidFill>
            <a:srgbClr val="D56E48"/>
          </a:solidFill>
          <a:ln/>
        </p:spPr>
        <p:txBody>
          <a:bodyPr/>
          <a:lstStyle/>
          <a:p>
            <a:pPr defTabSz="1219170">
              <a:buClr>
                <a:srgbClr val="000000"/>
              </a:buClr>
            </a:pPr>
            <a:endParaRPr lang="en-CA" sz="1867" kern="0">
              <a:solidFill>
                <a:srgbClr val="000000"/>
              </a:solidFill>
              <a:latin typeface="Arial"/>
              <a:cs typeface="Arial"/>
              <a:sym typeface="Arial"/>
            </a:endParaRPr>
          </a:p>
        </p:txBody>
      </p:sp>
      <p:sp>
        <p:nvSpPr>
          <p:cNvPr id="60" name="Text 49">
            <a:extLst>
              <a:ext uri="{FF2B5EF4-FFF2-40B4-BE49-F238E27FC236}">
                <a16:creationId xmlns:a16="http://schemas.microsoft.com/office/drawing/2014/main" id="{151057A2-2608-C745-2285-6AD85C8FFEF1}"/>
              </a:ext>
            </a:extLst>
          </p:cNvPr>
          <p:cNvSpPr/>
          <p:nvPr/>
        </p:nvSpPr>
        <p:spPr>
          <a:xfrm>
            <a:off x="10424160" y="3761232"/>
            <a:ext cx="792480" cy="792480"/>
          </a:xfrm>
          <a:prstGeom prst="rect">
            <a:avLst/>
          </a:prstGeom>
          <a:noFill/>
          <a:ln/>
        </p:spPr>
        <p:txBody>
          <a:bodyPr wrap="square" lIns="0" tIns="0" rIns="0" bIns="0" rtlCol="0" anchor="ctr"/>
          <a:lstStyle/>
          <a:p>
            <a:pPr algn="ctr" defTabSz="1219170">
              <a:buClr>
                <a:srgbClr val="000000"/>
              </a:buClr>
            </a:pPr>
            <a:r>
              <a:rPr lang="en-US" sz="2133" b="1" kern="0" dirty="0">
                <a:solidFill>
                  <a:srgbClr val="FFFFFF"/>
                </a:solidFill>
                <a:latin typeface="Georgia" pitchFamily="34" charset="0"/>
                <a:ea typeface="Georgia" pitchFamily="34" charset="-122"/>
                <a:cs typeface="Georgia" pitchFamily="34" charset="-120"/>
                <a:sym typeface="Arial"/>
              </a:rPr>
              <a:t>10</a:t>
            </a:r>
            <a:endParaRPr lang="en-US" sz="2133" kern="0" dirty="0">
              <a:solidFill>
                <a:srgbClr val="000000"/>
              </a:solidFill>
              <a:latin typeface="Arial"/>
              <a:cs typeface="Arial"/>
              <a:sym typeface="Arial"/>
            </a:endParaRPr>
          </a:p>
        </p:txBody>
      </p:sp>
      <p:sp>
        <p:nvSpPr>
          <p:cNvPr id="61" name="Text 50">
            <a:extLst>
              <a:ext uri="{FF2B5EF4-FFF2-40B4-BE49-F238E27FC236}">
                <a16:creationId xmlns:a16="http://schemas.microsoft.com/office/drawing/2014/main" id="{40F5D18A-6A40-C2F1-18E0-E15A5EE7C2EA}"/>
              </a:ext>
            </a:extLst>
          </p:cNvPr>
          <p:cNvSpPr/>
          <p:nvPr/>
        </p:nvSpPr>
        <p:spPr>
          <a:xfrm>
            <a:off x="9875520" y="4675632"/>
            <a:ext cx="1889760" cy="609600"/>
          </a:xfrm>
          <a:prstGeom prst="rect">
            <a:avLst/>
          </a:prstGeom>
          <a:noFill/>
          <a:ln/>
        </p:spPr>
        <p:txBody>
          <a:bodyPr wrap="square" lIns="0" tIns="0" rIns="0" bIns="0" rtlCol="0" anchor="ctr"/>
          <a:lstStyle/>
          <a:p>
            <a:pPr algn="ctr" defTabSz="1219170">
              <a:buClr>
                <a:srgbClr val="000000"/>
              </a:buClr>
            </a:pPr>
            <a:r>
              <a:rPr lang="en-US" sz="1600" b="1" kern="0" dirty="0">
                <a:solidFill>
                  <a:srgbClr val="FFFFFF"/>
                </a:solidFill>
                <a:latin typeface="Calibri" pitchFamily="34" charset="0"/>
                <a:ea typeface="Calibri" pitchFamily="34" charset="-122"/>
                <a:cs typeface="Calibri" pitchFamily="34" charset="-120"/>
                <a:sym typeface="Arial"/>
              </a:rPr>
              <a:t>Weekly Exec Report</a:t>
            </a:r>
            <a:endParaRPr lang="en-US" sz="1600" kern="0" dirty="0">
              <a:solidFill>
                <a:srgbClr val="000000"/>
              </a:solidFill>
              <a:latin typeface="Arial"/>
              <a:cs typeface="Arial"/>
              <a:sym typeface="Arial"/>
            </a:endParaRPr>
          </a:p>
        </p:txBody>
      </p:sp>
      <p:sp>
        <p:nvSpPr>
          <p:cNvPr id="62" name="Text 51">
            <a:extLst>
              <a:ext uri="{FF2B5EF4-FFF2-40B4-BE49-F238E27FC236}">
                <a16:creationId xmlns:a16="http://schemas.microsoft.com/office/drawing/2014/main" id="{98A57646-D2F1-7945-9B7C-D134D202AB89}"/>
              </a:ext>
            </a:extLst>
          </p:cNvPr>
          <p:cNvSpPr/>
          <p:nvPr/>
        </p:nvSpPr>
        <p:spPr>
          <a:xfrm>
            <a:off x="9875520" y="5224272"/>
            <a:ext cx="1889760" cy="487680"/>
          </a:xfrm>
          <a:prstGeom prst="rect">
            <a:avLst/>
          </a:prstGeom>
          <a:noFill/>
          <a:ln/>
        </p:spPr>
        <p:txBody>
          <a:bodyPr wrap="square" lIns="0" tIns="0" rIns="0" bIns="0" rtlCol="0" anchor="t"/>
          <a:lstStyle/>
          <a:p>
            <a:pPr algn="ctr" defTabSz="1219170">
              <a:buClr>
                <a:srgbClr val="000000"/>
              </a:buClr>
            </a:pPr>
            <a:r>
              <a:rPr lang="en-US" sz="1333" kern="0" dirty="0">
                <a:solidFill>
                  <a:srgbClr val="9898B8"/>
                </a:solidFill>
                <a:latin typeface="Calibri" pitchFamily="34" charset="0"/>
                <a:ea typeface="Calibri" pitchFamily="34" charset="-122"/>
                <a:cs typeface="Calibri" pitchFamily="34" charset="-120"/>
                <a:sym typeface="Arial"/>
              </a:rPr>
              <a:t>Capstone rollup</a:t>
            </a:r>
            <a:endParaRPr lang="en-US" sz="1333" kern="0" dirty="0">
              <a:solidFill>
                <a:srgbClr val="000000"/>
              </a:solidFill>
              <a:latin typeface="Arial"/>
              <a:cs typeface="Arial"/>
              <a:sym typeface="Arial"/>
            </a:endParaRPr>
          </a:p>
        </p:txBody>
      </p:sp>
      <p:sp>
        <p:nvSpPr>
          <p:cNvPr id="63" name="Text 52">
            <a:extLst>
              <a:ext uri="{FF2B5EF4-FFF2-40B4-BE49-F238E27FC236}">
                <a16:creationId xmlns:a16="http://schemas.microsoft.com/office/drawing/2014/main" id="{B3C47644-7E44-AF65-C8E7-A20F0054D176}"/>
              </a:ext>
            </a:extLst>
          </p:cNvPr>
          <p:cNvSpPr/>
          <p:nvPr/>
        </p:nvSpPr>
        <p:spPr>
          <a:xfrm>
            <a:off x="889847" y="5894832"/>
            <a:ext cx="11387667" cy="426720"/>
          </a:xfrm>
          <a:prstGeom prst="rect">
            <a:avLst/>
          </a:prstGeom>
          <a:noFill/>
          <a:ln/>
        </p:spPr>
        <p:txBody>
          <a:bodyPr wrap="square" lIns="0" tIns="0" rIns="0" bIns="0" rtlCol="0" anchor="ctr"/>
          <a:lstStyle/>
          <a:p>
            <a:pPr algn="ctr" defTabSz="1219170">
              <a:buClr>
                <a:srgbClr val="000000"/>
              </a:buClr>
            </a:pPr>
            <a:r>
              <a:rPr lang="en-US" sz="1867" i="1" kern="0" dirty="0">
                <a:solidFill>
                  <a:srgbClr val="022911"/>
                </a:solidFill>
                <a:latin typeface="Montserrat" panose="00000500000000000000" pitchFamily="2" charset="0"/>
                <a:ea typeface="Calibri" pitchFamily="34" charset="-122"/>
                <a:cs typeface="Calibri" pitchFamily="34" charset="-120"/>
                <a:sym typeface="Arial"/>
              </a:rPr>
              <a:t>Each automation reads from the vault, does its job, and writes back. The system compounds.</a:t>
            </a:r>
            <a:endParaRPr lang="en-US" sz="1867" kern="0" dirty="0">
              <a:solidFill>
                <a:srgbClr val="022911"/>
              </a:solidFill>
              <a:latin typeface="Montserrat" panose="00000500000000000000" pitchFamily="2" charset="0"/>
              <a:cs typeface="Arial"/>
              <a:sym typeface="Arial"/>
            </a:endParaRPr>
          </a:p>
        </p:txBody>
      </p:sp>
      <p:pic>
        <p:nvPicPr>
          <p:cNvPr id="2" name="Picture 1">
            <a:extLst>
              <a:ext uri="{FF2B5EF4-FFF2-40B4-BE49-F238E27FC236}">
                <a16:creationId xmlns:a16="http://schemas.microsoft.com/office/drawing/2014/main" id="{0EB06F40-D096-5D9B-C3EB-1256CCB1E11B}"/>
              </a:ext>
            </a:extLst>
          </p:cNvPr>
          <p:cNvPicPr>
            <a:picLocks noChangeAspect="1"/>
          </p:cNvPicPr>
          <p:nvPr/>
        </p:nvPicPr>
        <p:blipFill>
          <a:blip r:embed="rId3"/>
          <a:srcRect l="2731" t="18967" r="5594" b="23672"/>
          <a:stretch/>
        </p:blipFill>
        <p:spPr>
          <a:xfrm>
            <a:off x="9428854" y="90489"/>
            <a:ext cx="2763146" cy="477788"/>
          </a:xfrm>
          <a:prstGeom prst="rect">
            <a:avLst/>
          </a:prstGeom>
        </p:spPr>
      </p:pic>
    </p:spTree>
    <p:extLst>
      <p:ext uri="{BB962C8B-B14F-4D97-AF65-F5344CB8AC3E}">
        <p14:creationId xmlns:p14="http://schemas.microsoft.com/office/powerpoint/2010/main" val="41183280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95381-A012-1AFF-FB50-003BC2A4E19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1FB1E92-BADC-F8E6-FCC9-49637B184770}"/>
              </a:ext>
            </a:extLst>
          </p:cNvPr>
          <p:cNvPicPr>
            <a:picLocks noChangeAspect="1"/>
          </p:cNvPicPr>
          <p:nvPr/>
        </p:nvPicPr>
        <p:blipFill>
          <a:blip r:embed="rId2"/>
          <a:stretch>
            <a:fillRect/>
          </a:stretch>
        </p:blipFill>
        <p:spPr>
          <a:xfrm>
            <a:off x="-6323" y="0"/>
            <a:ext cx="12224773" cy="6858000"/>
          </a:xfrm>
          <a:prstGeom prst="rect">
            <a:avLst/>
          </a:prstGeom>
        </p:spPr>
      </p:pic>
      <p:sp>
        <p:nvSpPr>
          <p:cNvPr id="7" name="Прямоугольник 9">
            <a:extLst>
              <a:ext uri="{FF2B5EF4-FFF2-40B4-BE49-F238E27FC236}">
                <a16:creationId xmlns:a16="http://schemas.microsoft.com/office/drawing/2014/main" id="{9CE1EDB5-3AE8-99C9-881B-627CD2B6E236}"/>
              </a:ext>
            </a:extLst>
          </p:cNvPr>
          <p:cNvSpPr/>
          <p:nvPr/>
        </p:nvSpPr>
        <p:spPr>
          <a:xfrm>
            <a:off x="154722" y="90489"/>
            <a:ext cx="9827492" cy="461665"/>
          </a:xfrm>
          <a:prstGeom prst="rect">
            <a:avLst/>
          </a:prstGeom>
        </p:spPr>
        <p:txBody>
          <a:bodyPr wrap="square">
            <a:spAutoFit/>
          </a:bodyPr>
          <a:lstStyle/>
          <a:p>
            <a:r>
              <a:rPr lang="en-US" sz="2400" dirty="0">
                <a:solidFill>
                  <a:schemeClr val="bg1"/>
                </a:solidFill>
                <a:latin typeface="Montserrat" charset="0"/>
                <a:ea typeface="Montserrat" charset="0"/>
                <a:cs typeface="Montserrat" charset="0"/>
              </a:rPr>
              <a:t>10 Automations. All Connected.</a:t>
            </a:r>
          </a:p>
        </p:txBody>
      </p:sp>
      <p:sp>
        <p:nvSpPr>
          <p:cNvPr id="9" name="TextBox 8">
            <a:extLst>
              <a:ext uri="{FF2B5EF4-FFF2-40B4-BE49-F238E27FC236}">
                <a16:creationId xmlns:a16="http://schemas.microsoft.com/office/drawing/2014/main" id="{91CBE012-C079-0B86-75A9-9C873BC61890}"/>
              </a:ext>
            </a:extLst>
          </p:cNvPr>
          <p:cNvSpPr txBox="1"/>
          <p:nvPr/>
        </p:nvSpPr>
        <p:spPr>
          <a:xfrm rot="5400000">
            <a:off x="9505627" y="3291463"/>
            <a:ext cx="5106141" cy="338554"/>
          </a:xfrm>
          <a:prstGeom prst="rect">
            <a:avLst/>
          </a:prstGeom>
          <a:noFill/>
        </p:spPr>
        <p:txBody>
          <a:bodyPr wrap="none" rtlCol="0">
            <a:spAutoFit/>
          </a:bodyPr>
          <a:lstStyle/>
          <a:p>
            <a:r>
              <a:rPr lang="en-US" sz="1600" dirty="0">
                <a:solidFill>
                  <a:schemeClr val="accent3"/>
                </a:solidFill>
              </a:rPr>
              <a:t>© All rights reserved for Dr. Ryan Ahmed @Stemplicity Inc. </a:t>
            </a:r>
          </a:p>
        </p:txBody>
      </p:sp>
      <p:sp>
        <p:nvSpPr>
          <p:cNvPr id="3" name="Rectangle 1">
            <a:extLst>
              <a:ext uri="{FF2B5EF4-FFF2-40B4-BE49-F238E27FC236}">
                <a16:creationId xmlns:a16="http://schemas.microsoft.com/office/drawing/2014/main" id="{E5DA0B8A-D79A-C072-4CC6-E6D47482C05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A"/>
          </a:p>
        </p:txBody>
      </p:sp>
      <p:pic>
        <p:nvPicPr>
          <p:cNvPr id="2" name="Picture 1">
            <a:extLst>
              <a:ext uri="{FF2B5EF4-FFF2-40B4-BE49-F238E27FC236}">
                <a16:creationId xmlns:a16="http://schemas.microsoft.com/office/drawing/2014/main" id="{36FFAC86-D95B-769D-C4AA-7F475812762B}"/>
              </a:ext>
            </a:extLst>
          </p:cNvPr>
          <p:cNvPicPr>
            <a:picLocks noChangeAspect="1"/>
          </p:cNvPicPr>
          <p:nvPr/>
        </p:nvPicPr>
        <p:blipFill>
          <a:blip r:embed="rId3"/>
          <a:stretch>
            <a:fillRect/>
          </a:stretch>
        </p:blipFill>
        <p:spPr>
          <a:xfrm>
            <a:off x="1333268" y="717805"/>
            <a:ext cx="9287352" cy="5787769"/>
          </a:xfrm>
          <a:prstGeom prst="rect">
            <a:avLst/>
          </a:prstGeom>
        </p:spPr>
      </p:pic>
      <p:pic>
        <p:nvPicPr>
          <p:cNvPr id="4" name="Picture 3">
            <a:extLst>
              <a:ext uri="{FF2B5EF4-FFF2-40B4-BE49-F238E27FC236}">
                <a16:creationId xmlns:a16="http://schemas.microsoft.com/office/drawing/2014/main" id="{D947F73C-9D8B-A00C-7DCC-1756FAC64F2A}"/>
              </a:ext>
            </a:extLst>
          </p:cNvPr>
          <p:cNvPicPr>
            <a:picLocks noChangeAspect="1"/>
          </p:cNvPicPr>
          <p:nvPr/>
        </p:nvPicPr>
        <p:blipFill>
          <a:blip r:embed="rId4"/>
          <a:srcRect l="2731" t="18967" r="5594" b="23672"/>
          <a:stretch/>
        </p:blipFill>
        <p:spPr>
          <a:xfrm>
            <a:off x="9428854" y="90489"/>
            <a:ext cx="2763146" cy="477788"/>
          </a:xfrm>
          <a:prstGeom prst="rect">
            <a:avLst/>
          </a:prstGeom>
        </p:spPr>
      </p:pic>
    </p:spTree>
    <p:extLst>
      <p:ext uri="{BB962C8B-B14F-4D97-AF65-F5344CB8AC3E}">
        <p14:creationId xmlns:p14="http://schemas.microsoft.com/office/powerpoint/2010/main" val="32167141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D874B-D750-07E0-2C47-090EA76967A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E374BA7-E646-6166-896C-70492CA1A028}"/>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A7CF963A-84E7-3B40-783F-EDA7BDA135B5}"/>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408284CF-2063-9B74-18D7-4C54D132B4A4}"/>
              </a:ext>
            </a:extLst>
          </p:cNvPr>
          <p:cNvSpPr/>
          <p:nvPr/>
        </p:nvSpPr>
        <p:spPr>
          <a:xfrm>
            <a:off x="293914" y="793804"/>
            <a:ext cx="5578566" cy="707886"/>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SPRINT TRACKER</a:t>
            </a:r>
          </a:p>
        </p:txBody>
      </p:sp>
      <p:pic>
        <p:nvPicPr>
          <p:cNvPr id="5" name="Picture 4">
            <a:extLst>
              <a:ext uri="{FF2B5EF4-FFF2-40B4-BE49-F238E27FC236}">
                <a16:creationId xmlns:a16="http://schemas.microsoft.com/office/drawing/2014/main" id="{009D099B-067A-0F17-0A9B-2F20F29FCE88}"/>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1883201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63C616-D82A-A4D3-797E-BC6B19530A78}"/>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07FD739B-5D75-AB81-7E3D-52D11C639F73}"/>
              </a:ext>
            </a:extLst>
          </p:cNvPr>
          <p:cNvPicPr>
            <a:picLocks noChangeAspect="1"/>
          </p:cNvPicPr>
          <p:nvPr/>
        </p:nvPicPr>
        <p:blipFill>
          <a:blip r:embed="rId3"/>
          <a:stretch>
            <a:fillRect/>
          </a:stretch>
        </p:blipFill>
        <p:spPr>
          <a:xfrm>
            <a:off x="-6096" y="0"/>
            <a:ext cx="12216384" cy="6858000"/>
          </a:xfrm>
          <a:prstGeom prst="rect">
            <a:avLst/>
          </a:prstGeom>
        </p:spPr>
      </p:pic>
      <p:sp>
        <p:nvSpPr>
          <p:cNvPr id="3" name="Shape 0">
            <a:extLst>
              <a:ext uri="{FF2B5EF4-FFF2-40B4-BE49-F238E27FC236}">
                <a16:creationId xmlns:a16="http://schemas.microsoft.com/office/drawing/2014/main" id="{58C44EFB-71C2-4EB2-67C1-062B080D77FF}"/>
              </a:ext>
            </a:extLst>
          </p:cNvPr>
          <p:cNvSpPr/>
          <p:nvPr/>
        </p:nvSpPr>
        <p:spPr>
          <a:xfrm>
            <a:off x="158496" y="91440"/>
            <a:ext cx="9875520" cy="463296"/>
          </a:xfrm>
          <a:prstGeom prst="rect">
            <a:avLst/>
          </a:prstGeom>
          <a:solidFill>
            <a:srgbClr val="0C1752"/>
          </a:solidFill>
          <a:ln/>
        </p:spPr>
        <p:txBody>
          <a:bodyPr/>
          <a:lstStyle/>
          <a:p>
            <a:endParaRPr lang="en-CA" sz="2400"/>
          </a:p>
        </p:txBody>
      </p:sp>
      <p:sp>
        <p:nvSpPr>
          <p:cNvPr id="4" name="Text 1">
            <a:extLst>
              <a:ext uri="{FF2B5EF4-FFF2-40B4-BE49-F238E27FC236}">
                <a16:creationId xmlns:a16="http://schemas.microsoft.com/office/drawing/2014/main" id="{5B02D3BF-C6BD-5BEF-9494-906A2DD89DE5}"/>
              </a:ext>
            </a:extLst>
          </p:cNvPr>
          <p:cNvSpPr/>
          <p:nvPr/>
        </p:nvSpPr>
        <p:spPr>
          <a:xfrm>
            <a:off x="304800" y="91440"/>
            <a:ext cx="9509760" cy="463296"/>
          </a:xfrm>
          <a:prstGeom prst="rect">
            <a:avLst/>
          </a:prstGeom>
        </p:spPr>
        <p:txBody>
          <a:bodyPr wrap="square">
            <a:spAutoFit/>
          </a:bodyPr>
          <a:lstStyle/>
          <a:p>
            <a:r>
              <a:rPr lang="en-US" sz="2400" dirty="0">
                <a:solidFill>
                  <a:schemeClr val="bg1"/>
                </a:solidFill>
                <a:latin typeface="Montserrat" charset="0"/>
              </a:rPr>
              <a:t>Prompt 1: Sprint Tracker</a:t>
            </a:r>
          </a:p>
        </p:txBody>
      </p:sp>
      <p:pic>
        <p:nvPicPr>
          <p:cNvPr id="47" name="Picture 46">
            <a:extLst>
              <a:ext uri="{FF2B5EF4-FFF2-40B4-BE49-F238E27FC236}">
                <a16:creationId xmlns:a16="http://schemas.microsoft.com/office/drawing/2014/main" id="{4AAFAD09-3876-B086-E7DF-8E275DE5AB6C}"/>
              </a:ext>
            </a:extLst>
          </p:cNvPr>
          <p:cNvPicPr>
            <a:picLocks noChangeAspect="1"/>
          </p:cNvPicPr>
          <p:nvPr/>
        </p:nvPicPr>
        <p:blipFill>
          <a:blip r:embed="rId4"/>
          <a:srcRect l="2731" t="18967" r="5594" b="23672"/>
          <a:stretch/>
        </p:blipFill>
        <p:spPr>
          <a:xfrm>
            <a:off x="9428854" y="90489"/>
            <a:ext cx="2763146" cy="477788"/>
          </a:xfrm>
          <a:prstGeom prst="rect">
            <a:avLst/>
          </a:prstGeom>
        </p:spPr>
      </p:pic>
      <p:sp>
        <p:nvSpPr>
          <p:cNvPr id="48" name="TextBox 47">
            <a:extLst>
              <a:ext uri="{FF2B5EF4-FFF2-40B4-BE49-F238E27FC236}">
                <a16:creationId xmlns:a16="http://schemas.microsoft.com/office/drawing/2014/main" id="{20EAECD5-63E9-41A1-EF2E-6CC16893425B}"/>
              </a:ext>
            </a:extLst>
          </p:cNvPr>
          <p:cNvSpPr txBox="1"/>
          <p:nvPr/>
        </p:nvSpPr>
        <p:spPr>
          <a:xfrm rot="5400000">
            <a:off x="9319806" y="3306851"/>
            <a:ext cx="5477782" cy="307777"/>
          </a:xfrm>
          <a:prstGeom prst="rect">
            <a:avLst/>
          </a:prstGeom>
          <a:noFill/>
        </p:spPr>
        <p:txBody>
          <a:bodyPr wrap="none" rtlCol="0">
            <a:spAutoFit/>
          </a:bodyPr>
          <a:lstStyle/>
          <a:p>
            <a:r>
              <a:rPr lang="en-US" sz="1400" dirty="0">
                <a:solidFill>
                  <a:schemeClr val="accent3"/>
                </a:solidFill>
                <a:latin typeface="Montserrat" panose="00000500000000000000" pitchFamily="2" charset="0"/>
              </a:rPr>
              <a:t>© All rights reserved for Dr. Ryan Ahmed @Stemplicity Inc. </a:t>
            </a:r>
          </a:p>
        </p:txBody>
      </p:sp>
      <p:sp>
        <p:nvSpPr>
          <p:cNvPr id="6" name="Text 3">
            <a:extLst>
              <a:ext uri="{FF2B5EF4-FFF2-40B4-BE49-F238E27FC236}">
                <a16:creationId xmlns:a16="http://schemas.microsoft.com/office/drawing/2014/main" id="{4F197DA5-CD88-D511-83DD-47D8C302F6A4}"/>
              </a:ext>
            </a:extLst>
          </p:cNvPr>
          <p:cNvSpPr/>
          <p:nvPr/>
        </p:nvSpPr>
        <p:spPr>
          <a:xfrm>
            <a:off x="242651" y="1265498"/>
            <a:ext cx="11216640" cy="977270"/>
          </a:xfrm>
          <a:prstGeom prst="rect">
            <a:avLst/>
          </a:prstGeom>
          <a:noFill/>
          <a:ln/>
        </p:spPr>
        <p:txBody>
          <a:bodyPr wrap="square" lIns="0" tIns="0" rIns="0" bIns="0" rtlCol="0" anchor="ctr"/>
          <a:lstStyle/>
          <a:p>
            <a:pPr marL="285750" indent="-285750">
              <a:buFont typeface="Arial" panose="020B0604020202020204" pitchFamily="34" charset="0"/>
              <a:buChar char="•"/>
            </a:pPr>
            <a:r>
              <a:rPr lang="en-US" sz="1600" dirty="0">
                <a:solidFill>
                  <a:srgbClr val="666666"/>
                </a:solidFill>
                <a:latin typeface="Montserrat" pitchFamily="34" charset="0"/>
              </a:rPr>
              <a:t>After running the sprint tracker, a Claude.md file is created under the work folder</a:t>
            </a:r>
          </a:p>
          <a:p>
            <a:pPr marL="285750" indent="-285750">
              <a:buFont typeface="Arial" panose="020B0604020202020204" pitchFamily="34" charset="0"/>
              <a:buChar char="•"/>
            </a:pPr>
            <a:r>
              <a:rPr lang="en-US" sz="1600" dirty="0">
                <a:solidFill>
                  <a:srgbClr val="666666"/>
                </a:solidFill>
                <a:latin typeface="Montserrat" pitchFamily="34" charset="0"/>
              </a:rPr>
              <a:t>Check the Notion page, and you should see this task highlighted in green and marked as Done!</a:t>
            </a:r>
          </a:p>
          <a:p>
            <a:pPr marL="285750" indent="-285750">
              <a:buFont typeface="Arial" panose="020B0604020202020204" pitchFamily="34" charset="0"/>
              <a:buChar char="•"/>
            </a:pPr>
            <a:r>
              <a:rPr lang="en-US" sz="1600" dirty="0">
                <a:solidFill>
                  <a:srgbClr val="666666"/>
                </a:solidFill>
                <a:latin typeface="Montserrat" pitchFamily="34" charset="0"/>
              </a:rPr>
              <a:t>What does the automation do? </a:t>
            </a:r>
          </a:p>
          <a:p>
            <a:pPr marL="742950" lvl="1" indent="-285750">
              <a:buFont typeface="Courier New" panose="02070309020205020404" pitchFamily="49" charset="0"/>
              <a:buChar char="o"/>
            </a:pPr>
            <a:r>
              <a:rPr lang="en-US" sz="1600" dirty="0">
                <a:solidFill>
                  <a:srgbClr val="666666"/>
                </a:solidFill>
                <a:latin typeface="Montserrat" pitchFamily="34" charset="0"/>
              </a:rPr>
              <a:t>It looks at your Notion “Progress Tracker” board</a:t>
            </a:r>
          </a:p>
          <a:p>
            <a:pPr marL="742950" lvl="1" indent="-285750">
              <a:buFont typeface="Courier New" panose="02070309020205020404" pitchFamily="49" charset="0"/>
              <a:buChar char="o"/>
            </a:pPr>
            <a:r>
              <a:rPr lang="en-US" sz="1600" dirty="0">
                <a:solidFill>
                  <a:srgbClr val="666666"/>
                </a:solidFill>
                <a:latin typeface="Montserrat" pitchFamily="34" charset="0"/>
              </a:rPr>
              <a:t>It checks all your tasks and their status: To Do, In Progress, Done</a:t>
            </a:r>
          </a:p>
          <a:p>
            <a:pPr marL="742950" lvl="1" indent="-285750">
              <a:buFont typeface="Courier New" panose="02070309020205020404" pitchFamily="49" charset="0"/>
              <a:buChar char="o"/>
            </a:pPr>
            <a:r>
              <a:rPr lang="en-US" sz="1600" dirty="0">
                <a:solidFill>
                  <a:srgbClr val="666666"/>
                </a:solidFill>
                <a:latin typeface="Montserrat" pitchFamily="34" charset="0"/>
              </a:rPr>
              <a:t>Then it creates a summary report (like a daily standup)</a:t>
            </a:r>
          </a:p>
          <a:p>
            <a:pPr marL="285750" indent="-285750">
              <a:buFont typeface="Arial" panose="020B0604020202020204" pitchFamily="34" charset="0"/>
              <a:buChar char="•"/>
            </a:pPr>
            <a:endParaRPr lang="en-US" sz="1600" dirty="0">
              <a:solidFill>
                <a:srgbClr val="666666"/>
              </a:solidFill>
              <a:latin typeface="Montserrat" pitchFamily="34" charset="0"/>
            </a:endParaRPr>
          </a:p>
        </p:txBody>
      </p:sp>
      <p:pic>
        <p:nvPicPr>
          <p:cNvPr id="7" name="Picture 6">
            <a:extLst>
              <a:ext uri="{FF2B5EF4-FFF2-40B4-BE49-F238E27FC236}">
                <a16:creationId xmlns:a16="http://schemas.microsoft.com/office/drawing/2014/main" id="{3905A8CF-0D0E-6446-4B7F-8ACE7FA36718}"/>
              </a:ext>
            </a:extLst>
          </p:cNvPr>
          <p:cNvPicPr>
            <a:picLocks noChangeAspect="1"/>
          </p:cNvPicPr>
          <p:nvPr/>
        </p:nvPicPr>
        <p:blipFill>
          <a:blip r:embed="rId5"/>
          <a:stretch>
            <a:fillRect/>
          </a:stretch>
        </p:blipFill>
        <p:spPr>
          <a:xfrm>
            <a:off x="8246585" y="2242768"/>
            <a:ext cx="3574861" cy="3731955"/>
          </a:xfrm>
          <a:prstGeom prst="rect">
            <a:avLst/>
          </a:prstGeom>
        </p:spPr>
      </p:pic>
      <p:pic>
        <p:nvPicPr>
          <p:cNvPr id="10" name="Picture 9">
            <a:extLst>
              <a:ext uri="{FF2B5EF4-FFF2-40B4-BE49-F238E27FC236}">
                <a16:creationId xmlns:a16="http://schemas.microsoft.com/office/drawing/2014/main" id="{A55AC63E-FD67-EF8D-DC69-0AC40758AC24}"/>
              </a:ext>
            </a:extLst>
          </p:cNvPr>
          <p:cNvPicPr>
            <a:picLocks noChangeAspect="1"/>
          </p:cNvPicPr>
          <p:nvPr/>
        </p:nvPicPr>
        <p:blipFill>
          <a:blip r:embed="rId6"/>
          <a:srcRect r="26105"/>
          <a:stretch>
            <a:fillRect/>
          </a:stretch>
        </p:blipFill>
        <p:spPr>
          <a:xfrm>
            <a:off x="3606601" y="2702555"/>
            <a:ext cx="4488739" cy="2614330"/>
          </a:xfrm>
          <a:prstGeom prst="rect">
            <a:avLst/>
          </a:prstGeom>
        </p:spPr>
      </p:pic>
      <p:pic>
        <p:nvPicPr>
          <p:cNvPr id="12" name="Picture 11">
            <a:extLst>
              <a:ext uri="{FF2B5EF4-FFF2-40B4-BE49-F238E27FC236}">
                <a16:creationId xmlns:a16="http://schemas.microsoft.com/office/drawing/2014/main" id="{C2B9585B-21A5-1CF3-FC12-6C4D9ADF700E}"/>
              </a:ext>
            </a:extLst>
          </p:cNvPr>
          <p:cNvPicPr>
            <a:picLocks noChangeAspect="1"/>
          </p:cNvPicPr>
          <p:nvPr/>
        </p:nvPicPr>
        <p:blipFill>
          <a:blip r:embed="rId7"/>
          <a:srcRect r="23734"/>
          <a:stretch>
            <a:fillRect/>
          </a:stretch>
        </p:blipFill>
        <p:spPr>
          <a:xfrm>
            <a:off x="61055" y="2674362"/>
            <a:ext cx="3729655" cy="2670716"/>
          </a:xfrm>
          <a:prstGeom prst="rect">
            <a:avLst/>
          </a:prstGeom>
        </p:spPr>
      </p:pic>
    </p:spTree>
    <p:extLst>
      <p:ext uri="{BB962C8B-B14F-4D97-AF65-F5344CB8AC3E}">
        <p14:creationId xmlns:p14="http://schemas.microsoft.com/office/powerpoint/2010/main" val="4129287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0CB93-B1CE-F653-48E1-43942ADA15F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7709CCA-D7BC-EC06-21B4-2E958E0F4256}"/>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B7164E7F-CA4E-BE90-8951-8521230D60EB}"/>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B2F4127C-0C4C-3ED7-55F9-36D70ACEAE78}"/>
              </a:ext>
            </a:extLst>
          </p:cNvPr>
          <p:cNvSpPr/>
          <p:nvPr/>
        </p:nvSpPr>
        <p:spPr>
          <a:xfrm>
            <a:off x="293914" y="793804"/>
            <a:ext cx="5578566" cy="707886"/>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MORNING BRIEF</a:t>
            </a:r>
          </a:p>
        </p:txBody>
      </p:sp>
      <p:pic>
        <p:nvPicPr>
          <p:cNvPr id="5" name="Picture 4">
            <a:extLst>
              <a:ext uri="{FF2B5EF4-FFF2-40B4-BE49-F238E27FC236}">
                <a16:creationId xmlns:a16="http://schemas.microsoft.com/office/drawing/2014/main" id="{BF6C6ED2-B0EC-9607-4E15-500528B3FA17}"/>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28290580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39085-38CF-A91E-F797-74051F8C4C08}"/>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AD059353-7C79-5D96-57EA-96335D4AD786}"/>
              </a:ext>
            </a:extLst>
          </p:cNvPr>
          <p:cNvPicPr>
            <a:picLocks noChangeAspect="1"/>
          </p:cNvPicPr>
          <p:nvPr/>
        </p:nvPicPr>
        <p:blipFill>
          <a:blip r:embed="rId3"/>
          <a:stretch>
            <a:fillRect/>
          </a:stretch>
        </p:blipFill>
        <p:spPr>
          <a:xfrm>
            <a:off x="-6096" y="0"/>
            <a:ext cx="12216384" cy="6858000"/>
          </a:xfrm>
          <a:prstGeom prst="rect">
            <a:avLst/>
          </a:prstGeom>
        </p:spPr>
      </p:pic>
      <p:sp>
        <p:nvSpPr>
          <p:cNvPr id="3" name="Shape 0">
            <a:extLst>
              <a:ext uri="{FF2B5EF4-FFF2-40B4-BE49-F238E27FC236}">
                <a16:creationId xmlns:a16="http://schemas.microsoft.com/office/drawing/2014/main" id="{66E03F2E-44EF-8EA7-3EF1-00CBD60A8437}"/>
              </a:ext>
            </a:extLst>
          </p:cNvPr>
          <p:cNvSpPr/>
          <p:nvPr/>
        </p:nvSpPr>
        <p:spPr>
          <a:xfrm>
            <a:off x="158496" y="91440"/>
            <a:ext cx="9875520" cy="463296"/>
          </a:xfrm>
          <a:prstGeom prst="rect">
            <a:avLst/>
          </a:prstGeom>
          <a:solidFill>
            <a:srgbClr val="0C1752"/>
          </a:solidFill>
          <a:ln/>
        </p:spPr>
        <p:txBody>
          <a:bodyPr/>
          <a:lstStyle/>
          <a:p>
            <a:endParaRPr lang="en-CA" sz="2400"/>
          </a:p>
        </p:txBody>
      </p:sp>
      <p:sp>
        <p:nvSpPr>
          <p:cNvPr id="4" name="Text 1">
            <a:extLst>
              <a:ext uri="{FF2B5EF4-FFF2-40B4-BE49-F238E27FC236}">
                <a16:creationId xmlns:a16="http://schemas.microsoft.com/office/drawing/2014/main" id="{758C6D0B-AA89-2AB7-7224-A33D8DFB2A2E}"/>
              </a:ext>
            </a:extLst>
          </p:cNvPr>
          <p:cNvSpPr/>
          <p:nvPr/>
        </p:nvSpPr>
        <p:spPr>
          <a:xfrm>
            <a:off x="304800" y="91440"/>
            <a:ext cx="9509760" cy="463296"/>
          </a:xfrm>
          <a:prstGeom prst="rect">
            <a:avLst/>
          </a:prstGeom>
        </p:spPr>
        <p:txBody>
          <a:bodyPr wrap="square">
            <a:spAutoFit/>
          </a:bodyPr>
          <a:lstStyle/>
          <a:p>
            <a:r>
              <a:rPr lang="en-US" sz="2400" dirty="0">
                <a:solidFill>
                  <a:schemeClr val="bg1"/>
                </a:solidFill>
                <a:latin typeface="Montserrat" charset="0"/>
              </a:rPr>
              <a:t>Prompt 2: Morning Brief</a:t>
            </a:r>
          </a:p>
        </p:txBody>
      </p:sp>
      <p:pic>
        <p:nvPicPr>
          <p:cNvPr id="47" name="Picture 46">
            <a:extLst>
              <a:ext uri="{FF2B5EF4-FFF2-40B4-BE49-F238E27FC236}">
                <a16:creationId xmlns:a16="http://schemas.microsoft.com/office/drawing/2014/main" id="{57799381-4F29-1062-1CE8-D3A5630A0974}"/>
              </a:ext>
            </a:extLst>
          </p:cNvPr>
          <p:cNvPicPr>
            <a:picLocks noChangeAspect="1"/>
          </p:cNvPicPr>
          <p:nvPr/>
        </p:nvPicPr>
        <p:blipFill>
          <a:blip r:embed="rId4"/>
          <a:srcRect l="2731" t="18967" r="5594" b="23672"/>
          <a:stretch/>
        </p:blipFill>
        <p:spPr>
          <a:xfrm>
            <a:off x="9428854" y="90489"/>
            <a:ext cx="2763146" cy="477788"/>
          </a:xfrm>
          <a:prstGeom prst="rect">
            <a:avLst/>
          </a:prstGeom>
        </p:spPr>
      </p:pic>
      <p:sp>
        <p:nvSpPr>
          <p:cNvPr id="48" name="TextBox 47">
            <a:extLst>
              <a:ext uri="{FF2B5EF4-FFF2-40B4-BE49-F238E27FC236}">
                <a16:creationId xmlns:a16="http://schemas.microsoft.com/office/drawing/2014/main" id="{27BD0462-9A93-24BB-83DD-7A4007CAA683}"/>
              </a:ext>
            </a:extLst>
          </p:cNvPr>
          <p:cNvSpPr txBox="1"/>
          <p:nvPr/>
        </p:nvSpPr>
        <p:spPr>
          <a:xfrm rot="5400000">
            <a:off x="9319806" y="3306851"/>
            <a:ext cx="5477782" cy="307777"/>
          </a:xfrm>
          <a:prstGeom prst="rect">
            <a:avLst/>
          </a:prstGeom>
          <a:noFill/>
        </p:spPr>
        <p:txBody>
          <a:bodyPr wrap="none" rtlCol="0">
            <a:spAutoFit/>
          </a:bodyPr>
          <a:lstStyle/>
          <a:p>
            <a:r>
              <a:rPr lang="en-US" sz="1400" dirty="0">
                <a:solidFill>
                  <a:schemeClr val="accent3"/>
                </a:solidFill>
                <a:latin typeface="Montserrat" panose="00000500000000000000" pitchFamily="2" charset="0"/>
              </a:rPr>
              <a:t>© All rights reserved for Dr. Ryan Ahmed @Stemplicity Inc. </a:t>
            </a:r>
          </a:p>
        </p:txBody>
      </p:sp>
      <p:sp>
        <p:nvSpPr>
          <p:cNvPr id="6" name="Text 3">
            <a:extLst>
              <a:ext uri="{FF2B5EF4-FFF2-40B4-BE49-F238E27FC236}">
                <a16:creationId xmlns:a16="http://schemas.microsoft.com/office/drawing/2014/main" id="{046BBE19-6A2F-5343-EC54-74AD3B0FC633}"/>
              </a:ext>
            </a:extLst>
          </p:cNvPr>
          <p:cNvSpPr/>
          <p:nvPr/>
        </p:nvSpPr>
        <p:spPr>
          <a:xfrm>
            <a:off x="242651" y="776863"/>
            <a:ext cx="11216640" cy="977270"/>
          </a:xfrm>
          <a:prstGeom prst="rect">
            <a:avLst/>
          </a:prstGeom>
          <a:noFill/>
          <a:ln/>
        </p:spPr>
        <p:txBody>
          <a:bodyPr wrap="square" lIns="0" tIns="0" rIns="0" bIns="0" rtlCol="0" anchor="ctr"/>
          <a:lstStyle/>
          <a:p>
            <a:pPr marL="285750" indent="-285750">
              <a:buFont typeface="Arial" panose="020B0604020202020204" pitchFamily="34" charset="0"/>
              <a:buChar char="•"/>
            </a:pPr>
            <a:r>
              <a:rPr lang="en-US" sz="1600" dirty="0">
                <a:solidFill>
                  <a:srgbClr val="666666"/>
                </a:solidFill>
                <a:latin typeface="Montserrat" pitchFamily="34" charset="0"/>
              </a:rPr>
              <a:t>After running the morning brief, a Claude.md file is created under the work folder along with a new slash command.</a:t>
            </a:r>
          </a:p>
          <a:p>
            <a:pPr marL="285750" indent="-285750">
              <a:buFont typeface="Arial" panose="020B0604020202020204" pitchFamily="34" charset="0"/>
              <a:buChar char="•"/>
            </a:pPr>
            <a:r>
              <a:rPr lang="en-US" sz="1600" dirty="0">
                <a:solidFill>
                  <a:srgbClr val="666666"/>
                </a:solidFill>
                <a:latin typeface="Montserrat" pitchFamily="34" charset="0"/>
              </a:rPr>
              <a:t>Note that the notion board has also been updated. </a:t>
            </a:r>
          </a:p>
          <a:p>
            <a:pPr marL="285750" indent="-285750">
              <a:buFont typeface="Arial" panose="020B0604020202020204" pitchFamily="34" charset="0"/>
              <a:buChar char="•"/>
            </a:pPr>
            <a:endParaRPr lang="en-US" sz="1600" dirty="0">
              <a:solidFill>
                <a:srgbClr val="666666"/>
              </a:solidFill>
              <a:latin typeface="Montserrat" pitchFamily="34" charset="0"/>
            </a:endParaRPr>
          </a:p>
        </p:txBody>
      </p:sp>
      <p:pic>
        <p:nvPicPr>
          <p:cNvPr id="8" name="Picture 7">
            <a:extLst>
              <a:ext uri="{FF2B5EF4-FFF2-40B4-BE49-F238E27FC236}">
                <a16:creationId xmlns:a16="http://schemas.microsoft.com/office/drawing/2014/main" id="{FF1D2064-61AF-37B7-3B22-0756CAE51DB2}"/>
              </a:ext>
            </a:extLst>
          </p:cNvPr>
          <p:cNvPicPr>
            <a:picLocks noChangeAspect="1"/>
          </p:cNvPicPr>
          <p:nvPr/>
        </p:nvPicPr>
        <p:blipFill>
          <a:blip r:embed="rId5"/>
          <a:stretch>
            <a:fillRect/>
          </a:stretch>
        </p:blipFill>
        <p:spPr>
          <a:xfrm>
            <a:off x="6748501" y="1430024"/>
            <a:ext cx="5008729" cy="4566228"/>
          </a:xfrm>
          <a:prstGeom prst="rect">
            <a:avLst/>
          </a:prstGeom>
        </p:spPr>
      </p:pic>
      <p:pic>
        <p:nvPicPr>
          <p:cNvPr id="11" name="Picture 10">
            <a:extLst>
              <a:ext uri="{FF2B5EF4-FFF2-40B4-BE49-F238E27FC236}">
                <a16:creationId xmlns:a16="http://schemas.microsoft.com/office/drawing/2014/main" id="{68AFEFAE-8EDD-A1B4-B40D-BA650B5BBDE1}"/>
              </a:ext>
            </a:extLst>
          </p:cNvPr>
          <p:cNvPicPr>
            <a:picLocks noChangeAspect="1"/>
          </p:cNvPicPr>
          <p:nvPr/>
        </p:nvPicPr>
        <p:blipFill>
          <a:blip r:embed="rId6"/>
          <a:stretch>
            <a:fillRect/>
          </a:stretch>
        </p:blipFill>
        <p:spPr>
          <a:xfrm>
            <a:off x="98385" y="1976260"/>
            <a:ext cx="6502539" cy="3177517"/>
          </a:xfrm>
          <a:prstGeom prst="rect">
            <a:avLst/>
          </a:prstGeom>
        </p:spPr>
      </p:pic>
    </p:spTree>
    <p:extLst>
      <p:ext uri="{BB962C8B-B14F-4D97-AF65-F5344CB8AC3E}">
        <p14:creationId xmlns:p14="http://schemas.microsoft.com/office/powerpoint/2010/main" val="3752742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C67D5-F72C-15E2-061B-3744554610D6}"/>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0900379F-D020-DC67-010E-890EC6DDC521}"/>
              </a:ext>
            </a:extLst>
          </p:cNvPr>
          <p:cNvPicPr>
            <a:picLocks noChangeAspect="1"/>
          </p:cNvPicPr>
          <p:nvPr/>
        </p:nvPicPr>
        <p:blipFill>
          <a:blip r:embed="rId3"/>
          <a:stretch>
            <a:fillRect/>
          </a:stretch>
        </p:blipFill>
        <p:spPr>
          <a:xfrm>
            <a:off x="-6096" y="0"/>
            <a:ext cx="12216384" cy="6858000"/>
          </a:xfrm>
          <a:prstGeom prst="rect">
            <a:avLst/>
          </a:prstGeom>
        </p:spPr>
      </p:pic>
      <p:sp>
        <p:nvSpPr>
          <p:cNvPr id="3" name="Shape 0">
            <a:extLst>
              <a:ext uri="{FF2B5EF4-FFF2-40B4-BE49-F238E27FC236}">
                <a16:creationId xmlns:a16="http://schemas.microsoft.com/office/drawing/2014/main" id="{6E9CF95D-FA77-A866-7C72-29A6B1F92A6A}"/>
              </a:ext>
            </a:extLst>
          </p:cNvPr>
          <p:cNvSpPr/>
          <p:nvPr/>
        </p:nvSpPr>
        <p:spPr>
          <a:xfrm>
            <a:off x="158496" y="91440"/>
            <a:ext cx="9875520" cy="463296"/>
          </a:xfrm>
          <a:prstGeom prst="rect">
            <a:avLst/>
          </a:prstGeom>
          <a:solidFill>
            <a:srgbClr val="0C1752"/>
          </a:solidFill>
          <a:ln/>
        </p:spPr>
        <p:txBody>
          <a:bodyPr/>
          <a:lstStyle/>
          <a:p>
            <a:endParaRPr lang="en-CA" sz="2400"/>
          </a:p>
        </p:txBody>
      </p:sp>
      <p:sp>
        <p:nvSpPr>
          <p:cNvPr id="4" name="Text 1">
            <a:extLst>
              <a:ext uri="{FF2B5EF4-FFF2-40B4-BE49-F238E27FC236}">
                <a16:creationId xmlns:a16="http://schemas.microsoft.com/office/drawing/2014/main" id="{DC2EEE1F-6969-DAE4-5E78-5A9D93AE8E38}"/>
              </a:ext>
            </a:extLst>
          </p:cNvPr>
          <p:cNvSpPr/>
          <p:nvPr/>
        </p:nvSpPr>
        <p:spPr>
          <a:xfrm>
            <a:off x="304800" y="91440"/>
            <a:ext cx="9509760" cy="463296"/>
          </a:xfrm>
          <a:prstGeom prst="rect">
            <a:avLst/>
          </a:prstGeom>
        </p:spPr>
        <p:txBody>
          <a:bodyPr wrap="square">
            <a:spAutoFit/>
          </a:bodyPr>
          <a:lstStyle/>
          <a:p>
            <a:r>
              <a:rPr lang="en-US" sz="2400" dirty="0">
                <a:solidFill>
                  <a:schemeClr val="bg1"/>
                </a:solidFill>
                <a:latin typeface="Montserrat" charset="0"/>
              </a:rPr>
              <a:t>Let’s test the Morning Brief</a:t>
            </a:r>
          </a:p>
        </p:txBody>
      </p:sp>
      <p:pic>
        <p:nvPicPr>
          <p:cNvPr id="47" name="Picture 46">
            <a:extLst>
              <a:ext uri="{FF2B5EF4-FFF2-40B4-BE49-F238E27FC236}">
                <a16:creationId xmlns:a16="http://schemas.microsoft.com/office/drawing/2014/main" id="{5C34858C-8CC5-6539-A461-3ED9BCD9C60C}"/>
              </a:ext>
            </a:extLst>
          </p:cNvPr>
          <p:cNvPicPr>
            <a:picLocks noChangeAspect="1"/>
          </p:cNvPicPr>
          <p:nvPr/>
        </p:nvPicPr>
        <p:blipFill>
          <a:blip r:embed="rId4"/>
          <a:srcRect l="2731" t="18967" r="5594" b="23672"/>
          <a:stretch/>
        </p:blipFill>
        <p:spPr>
          <a:xfrm>
            <a:off x="9428854" y="90489"/>
            <a:ext cx="2763146" cy="477788"/>
          </a:xfrm>
          <a:prstGeom prst="rect">
            <a:avLst/>
          </a:prstGeom>
        </p:spPr>
      </p:pic>
      <p:sp>
        <p:nvSpPr>
          <p:cNvPr id="48" name="TextBox 47">
            <a:extLst>
              <a:ext uri="{FF2B5EF4-FFF2-40B4-BE49-F238E27FC236}">
                <a16:creationId xmlns:a16="http://schemas.microsoft.com/office/drawing/2014/main" id="{1D2BCAF8-CA8C-9170-987F-A2814CB03D46}"/>
              </a:ext>
            </a:extLst>
          </p:cNvPr>
          <p:cNvSpPr txBox="1"/>
          <p:nvPr/>
        </p:nvSpPr>
        <p:spPr>
          <a:xfrm rot="5400000">
            <a:off x="9319806" y="3306851"/>
            <a:ext cx="5477782" cy="307777"/>
          </a:xfrm>
          <a:prstGeom prst="rect">
            <a:avLst/>
          </a:prstGeom>
          <a:noFill/>
        </p:spPr>
        <p:txBody>
          <a:bodyPr wrap="none" rtlCol="0">
            <a:spAutoFit/>
          </a:bodyPr>
          <a:lstStyle/>
          <a:p>
            <a:r>
              <a:rPr lang="en-US" sz="1400" dirty="0">
                <a:solidFill>
                  <a:schemeClr val="accent3"/>
                </a:solidFill>
                <a:latin typeface="Montserrat" panose="00000500000000000000" pitchFamily="2" charset="0"/>
              </a:rPr>
              <a:t>© All rights reserved for Dr. Ryan Ahmed @Stemplicity Inc. </a:t>
            </a:r>
          </a:p>
        </p:txBody>
      </p:sp>
      <p:sp>
        <p:nvSpPr>
          <p:cNvPr id="6" name="Text 3">
            <a:extLst>
              <a:ext uri="{FF2B5EF4-FFF2-40B4-BE49-F238E27FC236}">
                <a16:creationId xmlns:a16="http://schemas.microsoft.com/office/drawing/2014/main" id="{5F376843-6BF0-1D39-8753-38BB485292AE}"/>
              </a:ext>
            </a:extLst>
          </p:cNvPr>
          <p:cNvSpPr/>
          <p:nvPr/>
        </p:nvSpPr>
        <p:spPr>
          <a:xfrm>
            <a:off x="304800" y="875248"/>
            <a:ext cx="11216640" cy="977270"/>
          </a:xfrm>
          <a:prstGeom prst="rect">
            <a:avLst/>
          </a:prstGeom>
          <a:noFill/>
          <a:ln/>
        </p:spPr>
        <p:txBody>
          <a:bodyPr wrap="square" lIns="0" tIns="0" rIns="0" bIns="0" rtlCol="0" anchor="ctr"/>
          <a:lstStyle/>
          <a:p>
            <a:pPr marL="285750" indent="-285750">
              <a:buFont typeface="Arial" panose="020B0604020202020204" pitchFamily="34" charset="0"/>
              <a:buChar char="•"/>
            </a:pPr>
            <a:r>
              <a:rPr lang="en-US" sz="1600" dirty="0">
                <a:solidFill>
                  <a:srgbClr val="666666"/>
                </a:solidFill>
                <a:latin typeface="Montserrat" pitchFamily="34" charset="0"/>
              </a:rPr>
              <a:t>Assume that David Chen sent this email to me. </a:t>
            </a:r>
          </a:p>
          <a:p>
            <a:pPr marL="285750" indent="-285750">
              <a:buFont typeface="Arial" panose="020B0604020202020204" pitchFamily="34" charset="0"/>
              <a:buChar char="•"/>
            </a:pPr>
            <a:r>
              <a:rPr lang="en-US" sz="1600" dirty="0">
                <a:solidFill>
                  <a:srgbClr val="666666"/>
                </a:solidFill>
                <a:latin typeface="Montserrat" pitchFamily="34" charset="0"/>
              </a:rPr>
              <a:t>Now run /morning-brief and check out the Notion page.</a:t>
            </a:r>
          </a:p>
          <a:p>
            <a:pPr marL="285750" indent="-285750">
              <a:buFont typeface="Arial" panose="020B0604020202020204" pitchFamily="34" charset="0"/>
              <a:buChar char="•"/>
            </a:pPr>
            <a:endParaRPr lang="en-US" sz="1600" dirty="0">
              <a:solidFill>
                <a:srgbClr val="666666"/>
              </a:solidFill>
              <a:latin typeface="Montserrat" pitchFamily="34" charset="0"/>
            </a:endParaRPr>
          </a:p>
        </p:txBody>
      </p:sp>
      <p:pic>
        <p:nvPicPr>
          <p:cNvPr id="8" name="Picture 7">
            <a:extLst>
              <a:ext uri="{FF2B5EF4-FFF2-40B4-BE49-F238E27FC236}">
                <a16:creationId xmlns:a16="http://schemas.microsoft.com/office/drawing/2014/main" id="{BC10ED29-074A-6B78-5D17-CF9B15F0D0BA}"/>
              </a:ext>
            </a:extLst>
          </p:cNvPr>
          <p:cNvPicPr>
            <a:picLocks noChangeAspect="1"/>
          </p:cNvPicPr>
          <p:nvPr/>
        </p:nvPicPr>
        <p:blipFill>
          <a:blip r:embed="rId5"/>
          <a:stretch>
            <a:fillRect/>
          </a:stretch>
        </p:blipFill>
        <p:spPr>
          <a:xfrm>
            <a:off x="784788" y="1760765"/>
            <a:ext cx="4118634" cy="4221987"/>
          </a:xfrm>
          <a:prstGeom prst="rect">
            <a:avLst/>
          </a:prstGeom>
        </p:spPr>
      </p:pic>
      <p:pic>
        <p:nvPicPr>
          <p:cNvPr id="10" name="Picture 9">
            <a:extLst>
              <a:ext uri="{FF2B5EF4-FFF2-40B4-BE49-F238E27FC236}">
                <a16:creationId xmlns:a16="http://schemas.microsoft.com/office/drawing/2014/main" id="{5E0FB89B-1C69-E4AC-769D-9B4070C7F9DA}"/>
              </a:ext>
            </a:extLst>
          </p:cNvPr>
          <p:cNvPicPr>
            <a:picLocks noChangeAspect="1"/>
          </p:cNvPicPr>
          <p:nvPr/>
        </p:nvPicPr>
        <p:blipFill>
          <a:blip r:embed="rId6"/>
          <a:stretch>
            <a:fillRect/>
          </a:stretch>
        </p:blipFill>
        <p:spPr>
          <a:xfrm>
            <a:off x="5694306" y="1692066"/>
            <a:ext cx="5611016" cy="4743457"/>
          </a:xfrm>
          <a:prstGeom prst="rect">
            <a:avLst/>
          </a:prstGeom>
        </p:spPr>
      </p:pic>
    </p:spTree>
    <p:extLst>
      <p:ext uri="{BB962C8B-B14F-4D97-AF65-F5344CB8AC3E}">
        <p14:creationId xmlns:p14="http://schemas.microsoft.com/office/powerpoint/2010/main" val="17140274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0B0E5-C422-AFA9-C42F-F58A879D7B7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1D07CE7-FF69-445C-672E-43580C5A7B5B}"/>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14CE4EB8-922E-B276-7D50-3D646726B7CE}"/>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66E6C896-53E4-85DA-94D2-1E9AE474EFD6}"/>
              </a:ext>
            </a:extLst>
          </p:cNvPr>
          <p:cNvSpPr/>
          <p:nvPr/>
        </p:nvSpPr>
        <p:spPr>
          <a:xfrm>
            <a:off x="293914" y="793804"/>
            <a:ext cx="5578566" cy="707886"/>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DISPATCH</a:t>
            </a:r>
          </a:p>
        </p:txBody>
      </p:sp>
      <p:pic>
        <p:nvPicPr>
          <p:cNvPr id="5" name="Picture 4">
            <a:extLst>
              <a:ext uri="{FF2B5EF4-FFF2-40B4-BE49-F238E27FC236}">
                <a16:creationId xmlns:a16="http://schemas.microsoft.com/office/drawing/2014/main" id="{5ED5D538-FE81-131C-441B-6B958CFF8048}"/>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25078269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D47E4-B817-3435-3DB6-3306A7CD09BE}"/>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419EF04E-C402-C85F-0355-824F0B09B141}"/>
              </a:ext>
            </a:extLst>
          </p:cNvPr>
          <p:cNvPicPr>
            <a:picLocks noChangeAspect="1"/>
          </p:cNvPicPr>
          <p:nvPr/>
        </p:nvPicPr>
        <p:blipFill>
          <a:blip r:embed="rId3"/>
          <a:stretch>
            <a:fillRect/>
          </a:stretch>
        </p:blipFill>
        <p:spPr>
          <a:xfrm>
            <a:off x="-6096" y="0"/>
            <a:ext cx="12216384" cy="6858000"/>
          </a:xfrm>
          <a:prstGeom prst="rect">
            <a:avLst/>
          </a:prstGeom>
        </p:spPr>
      </p:pic>
      <p:sp>
        <p:nvSpPr>
          <p:cNvPr id="3" name="Shape 0">
            <a:extLst>
              <a:ext uri="{FF2B5EF4-FFF2-40B4-BE49-F238E27FC236}">
                <a16:creationId xmlns:a16="http://schemas.microsoft.com/office/drawing/2014/main" id="{54DD37D4-2648-BB1C-C073-7AD672A638A1}"/>
              </a:ext>
            </a:extLst>
          </p:cNvPr>
          <p:cNvSpPr/>
          <p:nvPr/>
        </p:nvSpPr>
        <p:spPr>
          <a:xfrm>
            <a:off x="158496" y="91440"/>
            <a:ext cx="9875520" cy="463296"/>
          </a:xfrm>
          <a:prstGeom prst="rect">
            <a:avLst/>
          </a:prstGeom>
          <a:solidFill>
            <a:srgbClr val="0C1752"/>
          </a:solidFill>
          <a:ln/>
        </p:spPr>
        <p:txBody>
          <a:bodyPr/>
          <a:lstStyle/>
          <a:p>
            <a:endParaRPr lang="en-CA" sz="2400"/>
          </a:p>
        </p:txBody>
      </p:sp>
      <p:sp>
        <p:nvSpPr>
          <p:cNvPr id="4" name="Text 1">
            <a:extLst>
              <a:ext uri="{FF2B5EF4-FFF2-40B4-BE49-F238E27FC236}">
                <a16:creationId xmlns:a16="http://schemas.microsoft.com/office/drawing/2014/main" id="{57A43CE8-BEA8-1585-57AA-9FFD051A39A5}"/>
              </a:ext>
            </a:extLst>
          </p:cNvPr>
          <p:cNvSpPr/>
          <p:nvPr/>
        </p:nvSpPr>
        <p:spPr>
          <a:xfrm>
            <a:off x="304800" y="91440"/>
            <a:ext cx="9509760" cy="463296"/>
          </a:xfrm>
          <a:prstGeom prst="rect">
            <a:avLst/>
          </a:prstGeom>
        </p:spPr>
        <p:txBody>
          <a:bodyPr wrap="square">
            <a:spAutoFit/>
          </a:bodyPr>
          <a:lstStyle/>
          <a:p>
            <a:r>
              <a:rPr lang="en-US" sz="2400" dirty="0">
                <a:solidFill>
                  <a:schemeClr val="bg1"/>
                </a:solidFill>
                <a:latin typeface="Montserrat" charset="0"/>
              </a:rPr>
              <a:t>Dispatch</a:t>
            </a:r>
          </a:p>
        </p:txBody>
      </p:sp>
      <p:pic>
        <p:nvPicPr>
          <p:cNvPr id="47" name="Picture 46">
            <a:extLst>
              <a:ext uri="{FF2B5EF4-FFF2-40B4-BE49-F238E27FC236}">
                <a16:creationId xmlns:a16="http://schemas.microsoft.com/office/drawing/2014/main" id="{85E07E7D-2B50-3C44-7415-C1318ECD7C56}"/>
              </a:ext>
            </a:extLst>
          </p:cNvPr>
          <p:cNvPicPr>
            <a:picLocks noChangeAspect="1"/>
          </p:cNvPicPr>
          <p:nvPr/>
        </p:nvPicPr>
        <p:blipFill>
          <a:blip r:embed="rId4"/>
          <a:srcRect l="2731" t="18967" r="5594" b="23672"/>
          <a:stretch/>
        </p:blipFill>
        <p:spPr>
          <a:xfrm>
            <a:off x="9428854" y="90489"/>
            <a:ext cx="2763146" cy="477788"/>
          </a:xfrm>
          <a:prstGeom prst="rect">
            <a:avLst/>
          </a:prstGeom>
        </p:spPr>
      </p:pic>
      <p:sp>
        <p:nvSpPr>
          <p:cNvPr id="48" name="TextBox 47">
            <a:extLst>
              <a:ext uri="{FF2B5EF4-FFF2-40B4-BE49-F238E27FC236}">
                <a16:creationId xmlns:a16="http://schemas.microsoft.com/office/drawing/2014/main" id="{6FB25929-F147-ED14-94C2-543FAD0A9750}"/>
              </a:ext>
            </a:extLst>
          </p:cNvPr>
          <p:cNvSpPr txBox="1"/>
          <p:nvPr/>
        </p:nvSpPr>
        <p:spPr>
          <a:xfrm rot="5400000">
            <a:off x="9319806" y="3306851"/>
            <a:ext cx="5477782" cy="307777"/>
          </a:xfrm>
          <a:prstGeom prst="rect">
            <a:avLst/>
          </a:prstGeom>
          <a:noFill/>
        </p:spPr>
        <p:txBody>
          <a:bodyPr wrap="none" rtlCol="0">
            <a:spAutoFit/>
          </a:bodyPr>
          <a:lstStyle/>
          <a:p>
            <a:r>
              <a:rPr lang="en-US" sz="1400" dirty="0">
                <a:solidFill>
                  <a:schemeClr val="accent3"/>
                </a:solidFill>
                <a:latin typeface="Montserrat" panose="00000500000000000000" pitchFamily="2" charset="0"/>
              </a:rPr>
              <a:t>© All rights reserved for Dr. Ryan Ahmed @Stemplicity Inc. </a:t>
            </a:r>
          </a:p>
        </p:txBody>
      </p:sp>
      <p:sp>
        <p:nvSpPr>
          <p:cNvPr id="6" name="Text 3">
            <a:extLst>
              <a:ext uri="{FF2B5EF4-FFF2-40B4-BE49-F238E27FC236}">
                <a16:creationId xmlns:a16="http://schemas.microsoft.com/office/drawing/2014/main" id="{C619BF63-1F99-0B73-18DB-4EA5F67BA63B}"/>
              </a:ext>
            </a:extLst>
          </p:cNvPr>
          <p:cNvSpPr/>
          <p:nvPr/>
        </p:nvSpPr>
        <p:spPr>
          <a:xfrm>
            <a:off x="242651" y="926332"/>
            <a:ext cx="11216640" cy="977270"/>
          </a:xfrm>
          <a:prstGeom prst="rect">
            <a:avLst/>
          </a:prstGeom>
          <a:noFill/>
          <a:ln/>
        </p:spPr>
        <p:txBody>
          <a:bodyPr wrap="square" lIns="0" tIns="0" rIns="0" bIns="0" rtlCol="0" anchor="ctr"/>
          <a:lstStyle/>
          <a:p>
            <a:pPr marL="285750" indent="-285750">
              <a:buFont typeface="Arial" panose="020B0604020202020204" pitchFamily="34" charset="0"/>
              <a:buChar char="•"/>
            </a:pPr>
            <a:r>
              <a:rPr lang="en-US" sz="1600" dirty="0">
                <a:solidFill>
                  <a:srgbClr val="666666"/>
                </a:solidFill>
                <a:latin typeface="Montserrat" pitchFamily="34" charset="0"/>
              </a:rPr>
              <a:t>Claude Dispatch model allow you to message Claude from your phone on the way to work, then follow up from your desktop when you sit down. It's the same conversation, same context, wherever you reach it.</a:t>
            </a:r>
          </a:p>
          <a:p>
            <a:pPr marL="285750" indent="-285750">
              <a:buFont typeface="Arial" panose="020B0604020202020204" pitchFamily="34" charset="0"/>
              <a:buChar char="•"/>
            </a:pPr>
            <a:r>
              <a:rPr lang="en-US" sz="1600" dirty="0">
                <a:solidFill>
                  <a:srgbClr val="666666"/>
                </a:solidFill>
                <a:latin typeface="Montserrat" pitchFamily="34" charset="0"/>
              </a:rPr>
              <a:t>When you assign a task, Claude figures out what kind of work is needed and spins up the right session. Development tasks run in Claude Code; knowledge work runs in </a:t>
            </a:r>
            <a:r>
              <a:rPr lang="en-US" sz="1600" dirty="0" err="1">
                <a:solidFill>
                  <a:srgbClr val="666666"/>
                </a:solidFill>
                <a:latin typeface="Montserrat" pitchFamily="34" charset="0"/>
              </a:rPr>
              <a:t>Cowork</a:t>
            </a:r>
            <a:r>
              <a:rPr lang="en-US" sz="1600" dirty="0">
                <a:solidFill>
                  <a:srgbClr val="666666"/>
                </a:solidFill>
                <a:latin typeface="Montserrat" pitchFamily="34" charset="0"/>
              </a:rPr>
              <a:t>. These sessions appear in their respective sidebars. You can click into any session for details, or wait for the result in the thread.</a:t>
            </a:r>
          </a:p>
        </p:txBody>
      </p:sp>
      <p:pic>
        <p:nvPicPr>
          <p:cNvPr id="8" name="Picture 7">
            <a:extLst>
              <a:ext uri="{FF2B5EF4-FFF2-40B4-BE49-F238E27FC236}">
                <a16:creationId xmlns:a16="http://schemas.microsoft.com/office/drawing/2014/main" id="{B8003A1C-6575-C917-2F44-996848690701}"/>
              </a:ext>
            </a:extLst>
          </p:cNvPr>
          <p:cNvPicPr>
            <a:picLocks noChangeAspect="1"/>
          </p:cNvPicPr>
          <p:nvPr/>
        </p:nvPicPr>
        <p:blipFill>
          <a:blip r:embed="rId5"/>
          <a:stretch>
            <a:fillRect/>
          </a:stretch>
        </p:blipFill>
        <p:spPr>
          <a:xfrm>
            <a:off x="3098995" y="2333663"/>
            <a:ext cx="4462343" cy="3865968"/>
          </a:xfrm>
          <a:prstGeom prst="rect">
            <a:avLst/>
          </a:prstGeom>
        </p:spPr>
      </p:pic>
      <p:sp>
        <p:nvSpPr>
          <p:cNvPr id="11" name="TextBox 10">
            <a:extLst>
              <a:ext uri="{FF2B5EF4-FFF2-40B4-BE49-F238E27FC236}">
                <a16:creationId xmlns:a16="http://schemas.microsoft.com/office/drawing/2014/main" id="{15DDD2AB-8164-2854-BB15-18AA0A59E69B}"/>
              </a:ext>
            </a:extLst>
          </p:cNvPr>
          <p:cNvSpPr txBox="1"/>
          <p:nvPr/>
        </p:nvSpPr>
        <p:spPr>
          <a:xfrm>
            <a:off x="1036407" y="6280399"/>
            <a:ext cx="9863779" cy="646331"/>
          </a:xfrm>
          <a:prstGeom prst="rect">
            <a:avLst/>
          </a:prstGeom>
          <a:noFill/>
        </p:spPr>
        <p:txBody>
          <a:bodyPr wrap="square">
            <a:spAutoFit/>
          </a:bodyPr>
          <a:lstStyle/>
          <a:p>
            <a:r>
              <a:rPr lang="en-CA" dirty="0">
                <a:hlinkClick r:id="rId6"/>
              </a:rPr>
              <a:t>https://support.claude.com/en/articles/13947068-assign-tasks-from-anywhere-in-claude-cowork</a:t>
            </a:r>
            <a:endParaRPr lang="en-CA" dirty="0"/>
          </a:p>
          <a:p>
            <a:endParaRPr lang="en-CA" dirty="0"/>
          </a:p>
        </p:txBody>
      </p:sp>
    </p:spTree>
    <p:extLst>
      <p:ext uri="{BB962C8B-B14F-4D97-AF65-F5344CB8AC3E}">
        <p14:creationId xmlns:p14="http://schemas.microsoft.com/office/powerpoint/2010/main" val="5604457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FBC85-5BAE-754A-634C-518CBE8A06E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5766EB1-8098-D092-BC0D-CC1FF1EDF964}"/>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DC2AA1F7-09C9-ED33-B418-F9310D922D5B}"/>
              </a:ext>
            </a:extLst>
          </p:cNvPr>
          <p:cNvPicPr>
            <a:picLocks noChangeAspect="1"/>
          </p:cNvPicPr>
          <p:nvPr/>
        </p:nvPicPr>
        <p:blipFill>
          <a:blip r:embed="rId2"/>
          <a:stretch>
            <a:fillRect/>
          </a:stretch>
        </p:blipFill>
        <p:spPr>
          <a:xfrm>
            <a:off x="4608279" y="2590801"/>
            <a:ext cx="7583721" cy="4263612"/>
          </a:xfrm>
          <a:prstGeom prst="rect">
            <a:avLst/>
          </a:prstGeom>
        </p:spPr>
      </p:pic>
      <p:sp>
        <p:nvSpPr>
          <p:cNvPr id="4" name="Rectangle 3">
            <a:extLst>
              <a:ext uri="{FF2B5EF4-FFF2-40B4-BE49-F238E27FC236}">
                <a16:creationId xmlns:a16="http://schemas.microsoft.com/office/drawing/2014/main" id="{839C062C-00CD-6710-2CB1-74D7DB34EA1E}"/>
              </a:ext>
            </a:extLst>
          </p:cNvPr>
          <p:cNvSpPr/>
          <p:nvPr/>
        </p:nvSpPr>
        <p:spPr>
          <a:xfrm>
            <a:off x="293914" y="793804"/>
            <a:ext cx="5578566" cy="707886"/>
          </a:xfrm>
          <a:prstGeom prst="rect">
            <a:avLst/>
          </a:prstGeom>
        </p:spPr>
        <p:txBody>
          <a:bodyPr wrap="square">
            <a:spAutoFit/>
          </a:bodyPr>
          <a:lstStyle/>
          <a:p>
            <a:r>
              <a:rPr lang="en-US" sz="4000" b="1" dirty="0">
                <a:solidFill>
                  <a:schemeClr val="bg1"/>
                </a:solidFill>
                <a:latin typeface="Montserrat" charset="0"/>
                <a:ea typeface="Montserrat" charset="0"/>
                <a:cs typeface="Montserrat" charset="0"/>
              </a:rPr>
              <a:t>MARKET PULSE</a:t>
            </a:r>
          </a:p>
        </p:txBody>
      </p:sp>
      <p:pic>
        <p:nvPicPr>
          <p:cNvPr id="5" name="Picture 4">
            <a:extLst>
              <a:ext uri="{FF2B5EF4-FFF2-40B4-BE49-F238E27FC236}">
                <a16:creationId xmlns:a16="http://schemas.microsoft.com/office/drawing/2014/main" id="{3C945094-CDF1-E7D1-0CE5-22A72D731885}"/>
              </a:ext>
            </a:extLst>
          </p:cNvPr>
          <p:cNvPicPr>
            <a:picLocks noChangeAspect="1"/>
          </p:cNvPicPr>
          <p:nvPr/>
        </p:nvPicPr>
        <p:blipFill>
          <a:blip r:embed="rId3"/>
          <a:stretch>
            <a:fillRect/>
          </a:stretch>
        </p:blipFill>
        <p:spPr>
          <a:xfrm>
            <a:off x="134842" y="5586363"/>
            <a:ext cx="3856133" cy="1065672"/>
          </a:xfrm>
          <a:prstGeom prst="rect">
            <a:avLst/>
          </a:prstGeom>
        </p:spPr>
      </p:pic>
    </p:spTree>
    <p:extLst>
      <p:ext uri="{BB962C8B-B14F-4D97-AF65-F5344CB8AC3E}">
        <p14:creationId xmlns:p14="http://schemas.microsoft.com/office/powerpoint/2010/main" val="24545358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D09F6-8150-4E66-D104-3D943834E1EC}"/>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DEACA5C4-4C6E-0D6A-CC0E-150E6583731F}"/>
              </a:ext>
            </a:extLst>
          </p:cNvPr>
          <p:cNvPicPr>
            <a:picLocks noChangeAspect="1"/>
          </p:cNvPicPr>
          <p:nvPr/>
        </p:nvPicPr>
        <p:blipFill>
          <a:blip r:embed="rId3"/>
          <a:stretch>
            <a:fillRect/>
          </a:stretch>
        </p:blipFill>
        <p:spPr>
          <a:xfrm>
            <a:off x="-6096" y="0"/>
            <a:ext cx="12216384" cy="6858000"/>
          </a:xfrm>
          <a:prstGeom prst="rect">
            <a:avLst/>
          </a:prstGeom>
        </p:spPr>
      </p:pic>
      <p:sp>
        <p:nvSpPr>
          <p:cNvPr id="3" name="Shape 0">
            <a:extLst>
              <a:ext uri="{FF2B5EF4-FFF2-40B4-BE49-F238E27FC236}">
                <a16:creationId xmlns:a16="http://schemas.microsoft.com/office/drawing/2014/main" id="{E0254DA5-7F9D-003E-BEAE-60C72A0236CA}"/>
              </a:ext>
            </a:extLst>
          </p:cNvPr>
          <p:cNvSpPr/>
          <p:nvPr/>
        </p:nvSpPr>
        <p:spPr>
          <a:xfrm>
            <a:off x="158496" y="91440"/>
            <a:ext cx="9875520" cy="463296"/>
          </a:xfrm>
          <a:prstGeom prst="rect">
            <a:avLst/>
          </a:prstGeom>
          <a:solidFill>
            <a:srgbClr val="0C1752"/>
          </a:solidFill>
          <a:ln/>
        </p:spPr>
        <p:txBody>
          <a:bodyPr/>
          <a:lstStyle/>
          <a:p>
            <a:endParaRPr lang="en-CA" sz="2400"/>
          </a:p>
        </p:txBody>
      </p:sp>
      <p:sp>
        <p:nvSpPr>
          <p:cNvPr id="4" name="Text 1">
            <a:extLst>
              <a:ext uri="{FF2B5EF4-FFF2-40B4-BE49-F238E27FC236}">
                <a16:creationId xmlns:a16="http://schemas.microsoft.com/office/drawing/2014/main" id="{5CC4EF2E-B34F-C746-464A-D1CC49A8854C}"/>
              </a:ext>
            </a:extLst>
          </p:cNvPr>
          <p:cNvSpPr/>
          <p:nvPr/>
        </p:nvSpPr>
        <p:spPr>
          <a:xfrm>
            <a:off x="304800" y="91440"/>
            <a:ext cx="9509760" cy="463296"/>
          </a:xfrm>
          <a:prstGeom prst="rect">
            <a:avLst/>
          </a:prstGeom>
        </p:spPr>
        <p:txBody>
          <a:bodyPr wrap="square">
            <a:spAutoFit/>
          </a:bodyPr>
          <a:lstStyle/>
          <a:p>
            <a:r>
              <a:rPr lang="en-US" sz="2400" dirty="0">
                <a:solidFill>
                  <a:schemeClr val="bg1"/>
                </a:solidFill>
                <a:latin typeface="Montserrat" charset="0"/>
              </a:rPr>
              <a:t>Prompt 3: Market Pulse</a:t>
            </a:r>
          </a:p>
        </p:txBody>
      </p:sp>
      <p:pic>
        <p:nvPicPr>
          <p:cNvPr id="47" name="Picture 46">
            <a:extLst>
              <a:ext uri="{FF2B5EF4-FFF2-40B4-BE49-F238E27FC236}">
                <a16:creationId xmlns:a16="http://schemas.microsoft.com/office/drawing/2014/main" id="{48221D6B-26A1-A8D8-0216-C9560D2E22D6}"/>
              </a:ext>
            </a:extLst>
          </p:cNvPr>
          <p:cNvPicPr>
            <a:picLocks noChangeAspect="1"/>
          </p:cNvPicPr>
          <p:nvPr/>
        </p:nvPicPr>
        <p:blipFill>
          <a:blip r:embed="rId4"/>
          <a:srcRect l="2731" t="18967" r="5594" b="23672"/>
          <a:stretch/>
        </p:blipFill>
        <p:spPr>
          <a:xfrm>
            <a:off x="9428854" y="90489"/>
            <a:ext cx="2763146" cy="477788"/>
          </a:xfrm>
          <a:prstGeom prst="rect">
            <a:avLst/>
          </a:prstGeom>
        </p:spPr>
      </p:pic>
      <p:sp>
        <p:nvSpPr>
          <p:cNvPr id="48" name="TextBox 47">
            <a:extLst>
              <a:ext uri="{FF2B5EF4-FFF2-40B4-BE49-F238E27FC236}">
                <a16:creationId xmlns:a16="http://schemas.microsoft.com/office/drawing/2014/main" id="{9B017263-33CC-4AEC-18E1-69B1C1D705DA}"/>
              </a:ext>
            </a:extLst>
          </p:cNvPr>
          <p:cNvSpPr txBox="1"/>
          <p:nvPr/>
        </p:nvSpPr>
        <p:spPr>
          <a:xfrm rot="5400000">
            <a:off x="9319806" y="3306851"/>
            <a:ext cx="5477782" cy="307777"/>
          </a:xfrm>
          <a:prstGeom prst="rect">
            <a:avLst/>
          </a:prstGeom>
          <a:noFill/>
        </p:spPr>
        <p:txBody>
          <a:bodyPr wrap="none" rtlCol="0">
            <a:spAutoFit/>
          </a:bodyPr>
          <a:lstStyle/>
          <a:p>
            <a:r>
              <a:rPr lang="en-US" sz="1400" dirty="0">
                <a:solidFill>
                  <a:schemeClr val="accent3"/>
                </a:solidFill>
                <a:latin typeface="Montserrat" panose="00000500000000000000" pitchFamily="2" charset="0"/>
              </a:rPr>
              <a:t>© All rights reserved for Dr. Ryan Ahmed @Stemplicity Inc. </a:t>
            </a:r>
          </a:p>
        </p:txBody>
      </p:sp>
      <p:sp>
        <p:nvSpPr>
          <p:cNvPr id="6" name="Text 3">
            <a:extLst>
              <a:ext uri="{FF2B5EF4-FFF2-40B4-BE49-F238E27FC236}">
                <a16:creationId xmlns:a16="http://schemas.microsoft.com/office/drawing/2014/main" id="{40F716FE-03D8-2E62-D344-6E1DA6791BB8}"/>
              </a:ext>
            </a:extLst>
          </p:cNvPr>
          <p:cNvSpPr/>
          <p:nvPr/>
        </p:nvSpPr>
        <p:spPr>
          <a:xfrm>
            <a:off x="242651" y="776863"/>
            <a:ext cx="11216640" cy="977270"/>
          </a:xfrm>
          <a:prstGeom prst="rect">
            <a:avLst/>
          </a:prstGeom>
          <a:noFill/>
          <a:ln/>
        </p:spPr>
        <p:txBody>
          <a:bodyPr wrap="square" lIns="0" tIns="0" rIns="0" bIns="0" rtlCol="0" anchor="ctr"/>
          <a:lstStyle/>
          <a:p>
            <a:pPr marL="285750" indent="-285750">
              <a:buFont typeface="Arial" panose="020B0604020202020204" pitchFamily="34" charset="0"/>
              <a:buChar char="•"/>
            </a:pPr>
            <a:r>
              <a:rPr lang="en-US" sz="1600" dirty="0">
                <a:solidFill>
                  <a:srgbClr val="666666"/>
                </a:solidFill>
                <a:latin typeface="Montserrat" pitchFamily="34" charset="0"/>
              </a:rPr>
              <a:t>After running the Market pulse, a Claude.md file is created under the work folder along with a new slash command. </a:t>
            </a:r>
          </a:p>
          <a:p>
            <a:pPr marL="285750" indent="-285750">
              <a:buFont typeface="Arial" panose="020B0604020202020204" pitchFamily="34" charset="0"/>
              <a:buChar char="•"/>
            </a:pPr>
            <a:endParaRPr lang="en-US" sz="1600" dirty="0">
              <a:solidFill>
                <a:srgbClr val="666666"/>
              </a:solidFill>
              <a:latin typeface="Montserrat" pitchFamily="34" charset="0"/>
            </a:endParaRPr>
          </a:p>
        </p:txBody>
      </p:sp>
      <p:pic>
        <p:nvPicPr>
          <p:cNvPr id="7" name="Picture 6">
            <a:extLst>
              <a:ext uri="{FF2B5EF4-FFF2-40B4-BE49-F238E27FC236}">
                <a16:creationId xmlns:a16="http://schemas.microsoft.com/office/drawing/2014/main" id="{B23C0FED-6271-A374-A1BB-DD8FA6B9AE73}"/>
              </a:ext>
            </a:extLst>
          </p:cNvPr>
          <p:cNvPicPr>
            <a:picLocks noChangeAspect="1"/>
          </p:cNvPicPr>
          <p:nvPr/>
        </p:nvPicPr>
        <p:blipFill>
          <a:blip r:embed="rId5"/>
          <a:stretch>
            <a:fillRect/>
          </a:stretch>
        </p:blipFill>
        <p:spPr>
          <a:xfrm>
            <a:off x="6289407" y="1439735"/>
            <a:ext cx="5571291" cy="4546807"/>
          </a:xfrm>
          <a:prstGeom prst="rect">
            <a:avLst/>
          </a:prstGeom>
        </p:spPr>
      </p:pic>
      <p:pic>
        <p:nvPicPr>
          <p:cNvPr id="10" name="Picture 9">
            <a:extLst>
              <a:ext uri="{FF2B5EF4-FFF2-40B4-BE49-F238E27FC236}">
                <a16:creationId xmlns:a16="http://schemas.microsoft.com/office/drawing/2014/main" id="{13E47D3E-BA50-75AA-635C-6BAF292C646B}"/>
              </a:ext>
            </a:extLst>
          </p:cNvPr>
          <p:cNvPicPr>
            <a:picLocks noChangeAspect="1"/>
          </p:cNvPicPr>
          <p:nvPr/>
        </p:nvPicPr>
        <p:blipFill>
          <a:blip r:embed="rId6"/>
          <a:stretch>
            <a:fillRect/>
          </a:stretch>
        </p:blipFill>
        <p:spPr>
          <a:xfrm>
            <a:off x="93353" y="2075443"/>
            <a:ext cx="6151945" cy="3085331"/>
          </a:xfrm>
          <a:prstGeom prst="rect">
            <a:avLst/>
          </a:prstGeom>
        </p:spPr>
      </p:pic>
    </p:spTree>
    <p:extLst>
      <p:ext uri="{BB962C8B-B14F-4D97-AF65-F5344CB8AC3E}">
        <p14:creationId xmlns:p14="http://schemas.microsoft.com/office/powerpoint/2010/main" val="23649534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AFFD3-8671-5743-4E96-EDC5EB099D67}"/>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7ED3AF86-FD1A-FE28-9690-9107EC002631}"/>
              </a:ext>
            </a:extLst>
          </p:cNvPr>
          <p:cNvPicPr>
            <a:picLocks noChangeAspect="1"/>
          </p:cNvPicPr>
          <p:nvPr/>
        </p:nvPicPr>
        <p:blipFill>
          <a:blip r:embed="rId3"/>
          <a:stretch>
            <a:fillRect/>
          </a:stretch>
        </p:blipFill>
        <p:spPr>
          <a:xfrm>
            <a:off x="-6096" y="0"/>
            <a:ext cx="12216384" cy="6858000"/>
          </a:xfrm>
          <a:prstGeom prst="rect">
            <a:avLst/>
          </a:prstGeom>
        </p:spPr>
      </p:pic>
      <p:sp>
        <p:nvSpPr>
          <p:cNvPr id="3" name="Shape 0">
            <a:extLst>
              <a:ext uri="{FF2B5EF4-FFF2-40B4-BE49-F238E27FC236}">
                <a16:creationId xmlns:a16="http://schemas.microsoft.com/office/drawing/2014/main" id="{9095F58A-35A3-5E10-3458-632C8448A4B9}"/>
              </a:ext>
            </a:extLst>
          </p:cNvPr>
          <p:cNvSpPr/>
          <p:nvPr/>
        </p:nvSpPr>
        <p:spPr>
          <a:xfrm>
            <a:off x="158496" y="91440"/>
            <a:ext cx="9875520" cy="463296"/>
          </a:xfrm>
          <a:prstGeom prst="rect">
            <a:avLst/>
          </a:prstGeom>
          <a:solidFill>
            <a:srgbClr val="0C1752"/>
          </a:solidFill>
          <a:ln/>
        </p:spPr>
        <p:txBody>
          <a:bodyPr/>
          <a:lstStyle/>
          <a:p>
            <a:endParaRPr lang="en-CA" sz="2400"/>
          </a:p>
        </p:txBody>
      </p:sp>
      <p:sp>
        <p:nvSpPr>
          <p:cNvPr id="4" name="Text 1">
            <a:extLst>
              <a:ext uri="{FF2B5EF4-FFF2-40B4-BE49-F238E27FC236}">
                <a16:creationId xmlns:a16="http://schemas.microsoft.com/office/drawing/2014/main" id="{6C07D176-D447-C978-312B-A199043CA08F}"/>
              </a:ext>
            </a:extLst>
          </p:cNvPr>
          <p:cNvSpPr/>
          <p:nvPr/>
        </p:nvSpPr>
        <p:spPr>
          <a:xfrm>
            <a:off x="304800" y="91440"/>
            <a:ext cx="9509760" cy="463296"/>
          </a:xfrm>
          <a:prstGeom prst="rect">
            <a:avLst/>
          </a:prstGeom>
        </p:spPr>
        <p:txBody>
          <a:bodyPr wrap="square">
            <a:spAutoFit/>
          </a:bodyPr>
          <a:lstStyle/>
          <a:p>
            <a:r>
              <a:rPr lang="en-US" sz="2400" dirty="0">
                <a:solidFill>
                  <a:schemeClr val="bg1"/>
                </a:solidFill>
                <a:latin typeface="Montserrat" charset="0"/>
              </a:rPr>
              <a:t>Let’s Test the market pulse slash command</a:t>
            </a:r>
          </a:p>
        </p:txBody>
      </p:sp>
      <p:pic>
        <p:nvPicPr>
          <p:cNvPr id="47" name="Picture 46">
            <a:extLst>
              <a:ext uri="{FF2B5EF4-FFF2-40B4-BE49-F238E27FC236}">
                <a16:creationId xmlns:a16="http://schemas.microsoft.com/office/drawing/2014/main" id="{E207A7A1-4F42-0C52-4426-8BE680AEC6CF}"/>
              </a:ext>
            </a:extLst>
          </p:cNvPr>
          <p:cNvPicPr>
            <a:picLocks noChangeAspect="1"/>
          </p:cNvPicPr>
          <p:nvPr/>
        </p:nvPicPr>
        <p:blipFill>
          <a:blip r:embed="rId4"/>
          <a:srcRect l="2731" t="18967" r="5594" b="23672"/>
          <a:stretch/>
        </p:blipFill>
        <p:spPr>
          <a:xfrm>
            <a:off x="9428854" y="90489"/>
            <a:ext cx="2763146" cy="477788"/>
          </a:xfrm>
          <a:prstGeom prst="rect">
            <a:avLst/>
          </a:prstGeom>
        </p:spPr>
      </p:pic>
      <p:sp>
        <p:nvSpPr>
          <p:cNvPr id="48" name="TextBox 47">
            <a:extLst>
              <a:ext uri="{FF2B5EF4-FFF2-40B4-BE49-F238E27FC236}">
                <a16:creationId xmlns:a16="http://schemas.microsoft.com/office/drawing/2014/main" id="{FA94214F-15AE-9173-9BF2-2BC7A1357B85}"/>
              </a:ext>
            </a:extLst>
          </p:cNvPr>
          <p:cNvSpPr txBox="1"/>
          <p:nvPr/>
        </p:nvSpPr>
        <p:spPr>
          <a:xfrm rot="5400000">
            <a:off x="9319806" y="3306851"/>
            <a:ext cx="5477782" cy="307777"/>
          </a:xfrm>
          <a:prstGeom prst="rect">
            <a:avLst/>
          </a:prstGeom>
          <a:noFill/>
        </p:spPr>
        <p:txBody>
          <a:bodyPr wrap="none" rtlCol="0">
            <a:spAutoFit/>
          </a:bodyPr>
          <a:lstStyle/>
          <a:p>
            <a:r>
              <a:rPr lang="en-US" sz="1400" dirty="0">
                <a:solidFill>
                  <a:schemeClr val="accent3"/>
                </a:solidFill>
                <a:latin typeface="Montserrat" panose="00000500000000000000" pitchFamily="2" charset="0"/>
              </a:rPr>
              <a:t>© All rights reserved for Dr. Ryan Ahmed @Stemplicity Inc. </a:t>
            </a:r>
          </a:p>
        </p:txBody>
      </p:sp>
      <p:pic>
        <p:nvPicPr>
          <p:cNvPr id="8" name="Picture 7">
            <a:extLst>
              <a:ext uri="{FF2B5EF4-FFF2-40B4-BE49-F238E27FC236}">
                <a16:creationId xmlns:a16="http://schemas.microsoft.com/office/drawing/2014/main" id="{E5B2E3A1-399E-EC54-CC7D-44C1F65038A7}"/>
              </a:ext>
            </a:extLst>
          </p:cNvPr>
          <p:cNvPicPr>
            <a:picLocks noChangeAspect="1"/>
          </p:cNvPicPr>
          <p:nvPr/>
        </p:nvPicPr>
        <p:blipFill>
          <a:blip r:embed="rId5"/>
          <a:stretch>
            <a:fillRect/>
          </a:stretch>
        </p:blipFill>
        <p:spPr>
          <a:xfrm>
            <a:off x="2365938" y="2428176"/>
            <a:ext cx="5460636" cy="3881511"/>
          </a:xfrm>
          <a:prstGeom prst="rect">
            <a:avLst/>
          </a:prstGeom>
        </p:spPr>
      </p:pic>
      <p:sp>
        <p:nvSpPr>
          <p:cNvPr id="11" name="TextBox 10">
            <a:extLst>
              <a:ext uri="{FF2B5EF4-FFF2-40B4-BE49-F238E27FC236}">
                <a16:creationId xmlns:a16="http://schemas.microsoft.com/office/drawing/2014/main" id="{08A0E651-74B3-1377-1633-CE0480264FF9}"/>
              </a:ext>
            </a:extLst>
          </p:cNvPr>
          <p:cNvSpPr txBox="1"/>
          <p:nvPr/>
        </p:nvSpPr>
        <p:spPr>
          <a:xfrm>
            <a:off x="447196" y="919409"/>
            <a:ext cx="11387918" cy="1569660"/>
          </a:xfrm>
          <a:prstGeom prst="rect">
            <a:avLst/>
          </a:prstGeom>
          <a:noFill/>
          <a:ln/>
        </p:spPr>
        <p:txBody>
          <a:bodyPr wrap="square" lIns="0" tIns="0" rIns="0" bIns="0" rtlCol="0" anchor="ctr"/>
          <a:lstStyle>
            <a:defPPr>
              <a:defRPr lang="en-US"/>
            </a:defPPr>
            <a:lvl1pPr marL="285750" indent="-285750">
              <a:buFont typeface="Arial" panose="020B0604020202020204" pitchFamily="34" charset="0"/>
              <a:buChar char="•"/>
              <a:defRPr sz="1600">
                <a:solidFill>
                  <a:srgbClr val="666666"/>
                </a:solidFill>
                <a:latin typeface="Montserrat" pitchFamily="34" charset="0"/>
              </a:defRPr>
            </a:lvl1pPr>
            <a:lvl3pPr lvl="2">
              <a:defRPr sz="1600" i="1">
                <a:solidFill>
                  <a:srgbClr val="666666"/>
                </a:solidFill>
                <a:latin typeface="Montserrat" pitchFamily="34" charset="0"/>
              </a:defRPr>
            </a:lvl3pPr>
          </a:lstStyle>
          <a:p>
            <a:pPr marL="0" indent="0">
              <a:buNone/>
            </a:pPr>
            <a:r>
              <a:rPr lang="en-CA" dirty="0"/>
              <a:t>/market-pulse  </a:t>
            </a:r>
          </a:p>
          <a:p>
            <a:pPr marL="0" indent="0">
              <a:buNone/>
            </a:pPr>
            <a:endParaRPr lang="en-CA" dirty="0"/>
          </a:p>
          <a:p>
            <a:pPr marL="0" indent="0">
              <a:buNone/>
            </a:pPr>
            <a:r>
              <a:rPr lang="en-CA" dirty="0"/>
              <a:t>I am teaching a new cohort on Claude Code and Claude Cowork on Maven, I want you to search the top 3 competitors and state how I differentiate my bootcamp. </a:t>
            </a:r>
          </a:p>
          <a:p>
            <a:endParaRPr lang="en-CA" dirty="0"/>
          </a:p>
        </p:txBody>
      </p:sp>
    </p:spTree>
    <p:extLst>
      <p:ext uri="{BB962C8B-B14F-4D97-AF65-F5344CB8AC3E}">
        <p14:creationId xmlns:p14="http://schemas.microsoft.com/office/powerpoint/2010/main" val="27353622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909FB-E671-B17D-77BB-65311A51D4C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F45C378-4A8E-9187-A206-DB4730F91548}"/>
              </a:ext>
            </a:extLst>
          </p:cNvPr>
          <p:cNvSpPr/>
          <p:nvPr/>
        </p:nvSpPr>
        <p:spPr>
          <a:xfrm>
            <a:off x="0" y="0"/>
            <a:ext cx="12192000" cy="6858000"/>
          </a:xfrm>
          <a:prstGeom prst="rect">
            <a:avLst/>
          </a:prstGeom>
          <a:solidFill>
            <a:srgbClr val="0C17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A225B6F-0705-62E5-DF16-79898F062A86}"/>
              </a:ext>
            </a:extLst>
          </p:cNvPr>
          <p:cNvPicPr>
            <a:picLocks noChangeAspect="1"/>
          </p:cNvPicPr>
          <p:nvPr/>
        </p:nvPicPr>
        <p:blipFill>
          <a:blip r:embed="rId2"/>
          <a:stretch>
            <a:fillRect/>
          </a:stretch>
        </p:blipFill>
        <p:spPr>
          <a:xfrm>
            <a:off x="3496990" y="1992488"/>
            <a:ext cx="5198017" cy="1436512"/>
          </a:xfrm>
          <a:prstGeom prst="rect">
            <a:avLst/>
          </a:prstGeom>
        </p:spPr>
      </p:pic>
      <p:sp>
        <p:nvSpPr>
          <p:cNvPr id="6" name="Rectangle 5">
            <a:extLst>
              <a:ext uri="{FF2B5EF4-FFF2-40B4-BE49-F238E27FC236}">
                <a16:creationId xmlns:a16="http://schemas.microsoft.com/office/drawing/2014/main" id="{AEA9FA6F-A71D-92D5-9E16-A91F986E09CE}"/>
              </a:ext>
            </a:extLst>
          </p:cNvPr>
          <p:cNvSpPr/>
          <p:nvPr/>
        </p:nvSpPr>
        <p:spPr>
          <a:xfrm>
            <a:off x="3306715" y="3495040"/>
            <a:ext cx="5578566" cy="707886"/>
          </a:xfrm>
          <a:prstGeom prst="rect">
            <a:avLst/>
          </a:prstGeom>
        </p:spPr>
        <p:txBody>
          <a:bodyPr wrap="square">
            <a:spAutoFit/>
          </a:bodyPr>
          <a:lstStyle/>
          <a:p>
            <a:pPr algn="ctr"/>
            <a:r>
              <a:rPr lang="en-US" sz="4000" dirty="0">
                <a:solidFill>
                  <a:schemeClr val="bg1"/>
                </a:solidFill>
                <a:latin typeface="Montserrat" charset="0"/>
                <a:ea typeface="Montserrat" charset="0"/>
                <a:cs typeface="Montserrat" charset="0"/>
              </a:rPr>
              <a:t>Thank you!</a:t>
            </a:r>
          </a:p>
        </p:txBody>
      </p:sp>
    </p:spTree>
    <p:extLst>
      <p:ext uri="{BB962C8B-B14F-4D97-AF65-F5344CB8AC3E}">
        <p14:creationId xmlns:p14="http://schemas.microsoft.com/office/powerpoint/2010/main" val="25961540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7695</TotalTime>
  <Words>556</Words>
  <Application>Microsoft Office PowerPoint</Application>
  <PresentationFormat>Widescreen</PresentationFormat>
  <Paragraphs>77</Paragraphs>
  <Slides>15</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Calibri Light</vt:lpstr>
      <vt:lpstr>Courier New</vt:lpstr>
      <vt:lpstr>Georgia</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kukesh kodess</dc:creator>
  <cp:lastModifiedBy>Ryan Ahmed</cp:lastModifiedBy>
  <cp:revision>839</cp:revision>
  <dcterms:created xsi:type="dcterms:W3CDTF">2019-11-18T17:58:36Z</dcterms:created>
  <dcterms:modified xsi:type="dcterms:W3CDTF">2026-05-06T19:56:49Z</dcterms:modified>
</cp:coreProperties>
</file>