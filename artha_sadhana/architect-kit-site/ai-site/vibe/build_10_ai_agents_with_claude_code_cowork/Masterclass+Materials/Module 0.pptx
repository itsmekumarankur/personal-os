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565" r:id="rId2"/>
    <p:sldId id="568" r:id="rId3"/>
    <p:sldId id="4238" r:id="rId4"/>
    <p:sldId id="4297" r:id="rId5"/>
    <p:sldId id="4302" r:id="rId6"/>
    <p:sldId id="4301" r:id="rId7"/>
    <p:sldId id="4298" r:id="rId8"/>
    <p:sldId id="4239" r:id="rId9"/>
    <p:sldId id="4450" r:id="rId10"/>
    <p:sldId id="4240" r:id="rId11"/>
    <p:sldId id="4296" r:id="rId12"/>
    <p:sldId id="4293" r:id="rId13"/>
    <p:sldId id="4451" r:id="rId14"/>
    <p:sldId id="574" r:id="rId15"/>
    <p:sldId id="27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BBFD1"/>
    <a:srgbClr val="F9F9F9"/>
    <a:srgbClr val="11CCDD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9" autoAdjust="0"/>
    <p:restoredTop sz="94721"/>
  </p:normalViewPr>
  <p:slideViewPr>
    <p:cSldViewPr snapToGrid="0" snapToObjects="1">
      <p:cViewPr varScale="1">
        <p:scale>
          <a:sx n="109" d="100"/>
          <a:sy n="109" d="100"/>
        </p:scale>
        <p:origin x="13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50% Time Horizon (minutes)</c:v>
                </c:pt>
              </c:strCache>
            </c:strRef>
          </c:tx>
          <c:spPr>
            <a:solidFill>
              <a:srgbClr val="D56E4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8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GPT-2
(2019)</c:v>
                </c:pt>
                <c:pt idx="1">
                  <c:v>davinci
(2020)</c:v>
                </c:pt>
                <c:pt idx="2">
                  <c:v>GPT-3.5
(2022)</c:v>
                </c:pt>
                <c:pt idx="3">
                  <c:v>GPT-4
(2023)</c:v>
                </c:pt>
                <c:pt idx="4">
                  <c:v>Sonnet 3.5
(Oct 24)</c:v>
                </c:pt>
                <c:pt idx="5">
                  <c:v>Sonnet 3.7
(Feb 25)</c:v>
                </c:pt>
                <c:pt idx="6">
                  <c:v>o3
(Apr 25)</c:v>
                </c:pt>
                <c:pt idx="7">
                  <c:v>GPT-5
(Aug 25)</c:v>
                </c:pt>
                <c:pt idx="8">
                  <c:v>Opus 4.5
(Nov 25)</c:v>
                </c:pt>
                <c:pt idx="9">
                  <c:v>Opus 4.6
(Feb 26)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3</c:v>
                </c:pt>
                <c:pt idx="2">
                  <c:v>9</c:v>
                </c:pt>
                <c:pt idx="3">
                  <c:v>15</c:v>
                </c:pt>
                <c:pt idx="4">
                  <c:v>21</c:v>
                </c:pt>
                <c:pt idx="5">
                  <c:v>60</c:v>
                </c:pt>
                <c:pt idx="6">
                  <c:v>91</c:v>
                </c:pt>
                <c:pt idx="7">
                  <c:v>131</c:v>
                </c:pt>
                <c:pt idx="8">
                  <c:v>293</c:v>
                </c:pt>
                <c:pt idx="9">
                  <c:v>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45-40C5-B065-D7193D9EFB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898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5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898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C1752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BCFDA7-93D9-4AF7-8F6B-E93AF28C0D6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C098A8FC-C32E-498C-A7AA-C7F2FE5B67B4}">
      <dgm:prSet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500" dirty="0">
              <a:latin typeface="Montserrat" panose="00000500000000000000" pitchFamily="2" charset="0"/>
            </a:rPr>
            <a:t>Build and deploy a personal AI agent using Claude Code + </a:t>
          </a:r>
          <a:r>
            <a:rPr lang="en-CA" sz="1500" dirty="0" err="1">
              <a:latin typeface="Montserrat" panose="00000500000000000000" pitchFamily="2" charset="0"/>
            </a:rPr>
            <a:t>Cowork</a:t>
          </a:r>
          <a:endParaRPr lang="en-US" sz="1500" b="0" dirty="0">
            <a:latin typeface="Montserrat" panose="00000500000000000000" pitchFamily="2" charset="0"/>
          </a:endParaRPr>
        </a:p>
      </dgm:t>
    </dgm:pt>
    <dgm:pt modelId="{FCA394BC-3D6A-4FF8-A6EC-5422D7AE6F26}" type="parTrans" cxnId="{8DB885AC-A5F4-41F5-8061-8836F3E18D01}">
      <dgm:prSet/>
      <dgm:spPr/>
      <dgm:t>
        <a:bodyPr/>
        <a:lstStyle/>
        <a:p>
          <a:endParaRPr lang="en-CA"/>
        </a:p>
      </dgm:t>
    </dgm:pt>
    <dgm:pt modelId="{50F31847-0757-4DAB-868C-AE1D68ACB0AA}" type="sibTrans" cxnId="{8DB885AC-A5F4-41F5-8061-8836F3E18D01}">
      <dgm:prSet/>
      <dgm:spPr/>
      <dgm:t>
        <a:bodyPr/>
        <a:lstStyle/>
        <a:p>
          <a:endParaRPr lang="en-CA"/>
        </a:p>
      </dgm:t>
    </dgm:pt>
    <dgm:pt modelId="{94522888-17BD-40DF-BEB8-7C46B96F00EE}">
      <dgm:prSet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500">
              <a:latin typeface="Montserrat" panose="00000500000000000000" pitchFamily="2" charset="0"/>
            </a:rPr>
            <a:t>Design a persistent agent identity (“Soul.md”) aligned with your workflow and style</a:t>
          </a:r>
        </a:p>
      </dgm:t>
    </dgm:pt>
    <dgm:pt modelId="{DD7BBD6F-C0DD-4156-9368-5333D9F482FF}" type="parTrans" cxnId="{68697BE4-58D8-4F84-9C38-10B23D51BA5B}">
      <dgm:prSet/>
      <dgm:spPr/>
      <dgm:t>
        <a:bodyPr/>
        <a:lstStyle/>
        <a:p>
          <a:endParaRPr lang="en-CA"/>
        </a:p>
      </dgm:t>
    </dgm:pt>
    <dgm:pt modelId="{4967FD60-EEA6-40AE-8AB8-781BB5D16933}" type="sibTrans" cxnId="{68697BE4-58D8-4F84-9C38-10B23D51BA5B}">
      <dgm:prSet/>
      <dgm:spPr/>
      <dgm:t>
        <a:bodyPr/>
        <a:lstStyle/>
        <a:p>
          <a:endParaRPr lang="en-CA"/>
        </a:p>
      </dgm:t>
    </dgm:pt>
    <dgm:pt modelId="{C43146E9-80DA-42D5-931B-175BB563AEA5}">
      <dgm:prSet custT="1"/>
      <dgm:spPr>
        <a:solidFill>
          <a:srgbClr val="1BBFD1"/>
        </a:solidFill>
      </dgm:spPr>
      <dgm:t>
        <a:bodyPr/>
        <a:lstStyle/>
        <a:p>
          <a:pPr>
            <a:buNone/>
          </a:pPr>
          <a:r>
            <a:rPr lang="en-CA" sz="1500" dirty="0">
              <a:latin typeface="Montserrat" panose="00000500000000000000" pitchFamily="2" charset="0"/>
            </a:rPr>
            <a:t>Orchestrate multi-agent teams to research, write, and review in parallel</a:t>
          </a:r>
        </a:p>
      </dgm:t>
    </dgm:pt>
    <dgm:pt modelId="{1C509B05-A407-47D7-8FDF-2C88146D7171}" type="parTrans" cxnId="{6D5DA78B-FEC1-49A5-975A-BEC6180CBC3E}">
      <dgm:prSet/>
      <dgm:spPr/>
      <dgm:t>
        <a:bodyPr/>
        <a:lstStyle/>
        <a:p>
          <a:endParaRPr lang="en-CA"/>
        </a:p>
      </dgm:t>
    </dgm:pt>
    <dgm:pt modelId="{CB9FA222-CA5A-4859-9131-52468506284B}" type="sibTrans" cxnId="{6D5DA78B-FEC1-49A5-975A-BEC6180CBC3E}">
      <dgm:prSet/>
      <dgm:spPr/>
      <dgm:t>
        <a:bodyPr/>
        <a:lstStyle/>
        <a:p>
          <a:endParaRPr lang="en-CA"/>
        </a:p>
      </dgm:t>
    </dgm:pt>
    <dgm:pt modelId="{035BCE0A-A3B9-4F88-B9C2-10F5F65D3878}">
      <dgm:prSet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CA" sz="1500" dirty="0">
              <a:latin typeface="Montserrat" panose="00000500000000000000" pitchFamily="2" charset="0"/>
            </a:rPr>
            <a:t>Connect real-world tools (email, calendar, Notion) via MCP integrations</a:t>
          </a:r>
        </a:p>
      </dgm:t>
    </dgm:pt>
    <dgm:pt modelId="{2089116F-3B05-4848-9F90-D11472A63280}" type="parTrans" cxnId="{35FFD20B-F200-4C84-B2F0-E485EA504809}">
      <dgm:prSet/>
      <dgm:spPr/>
      <dgm:t>
        <a:bodyPr/>
        <a:lstStyle/>
        <a:p>
          <a:endParaRPr lang="en-CA"/>
        </a:p>
      </dgm:t>
    </dgm:pt>
    <dgm:pt modelId="{95A1C5A1-7726-47D7-96EE-1521B706E32A}" type="sibTrans" cxnId="{35FFD20B-F200-4C84-B2F0-E485EA504809}">
      <dgm:prSet/>
      <dgm:spPr/>
      <dgm:t>
        <a:bodyPr/>
        <a:lstStyle/>
        <a:p>
          <a:endParaRPr lang="en-CA"/>
        </a:p>
      </dgm:t>
    </dgm:pt>
    <dgm:pt modelId="{DA02A484-2C4F-4F3C-8BF0-383452E4D454}">
      <dgm:prSet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500">
              <a:latin typeface="Montserrat" panose="00000500000000000000" pitchFamily="2" charset="0"/>
            </a:rPr>
            <a:t>Implement ready-to-run automation blueprints for daily workflows</a:t>
          </a:r>
        </a:p>
      </dgm:t>
    </dgm:pt>
    <dgm:pt modelId="{D76201F0-EB6A-4538-9392-A87793D20113}" type="parTrans" cxnId="{15B155BC-5FF8-4197-BFC1-B7005B538891}">
      <dgm:prSet/>
      <dgm:spPr/>
      <dgm:t>
        <a:bodyPr/>
        <a:lstStyle/>
        <a:p>
          <a:endParaRPr lang="en-CA"/>
        </a:p>
      </dgm:t>
    </dgm:pt>
    <dgm:pt modelId="{CF6775A4-968A-4824-9027-C9BF3C9F06C8}" type="sibTrans" cxnId="{15B155BC-5FF8-4197-BFC1-B7005B538891}">
      <dgm:prSet/>
      <dgm:spPr/>
      <dgm:t>
        <a:bodyPr/>
        <a:lstStyle/>
        <a:p>
          <a:endParaRPr lang="en-CA"/>
        </a:p>
      </dgm:t>
    </dgm:pt>
    <dgm:pt modelId="{965A4739-F3E7-43BE-AD09-D46D6EB45017}">
      <dgm:prSet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500">
              <a:latin typeface="Montserrat" panose="00000500000000000000" pitchFamily="2" charset="0"/>
            </a:rPr>
            <a:t>Create custom skills, plugins, and slash commands for repeatable tasks</a:t>
          </a:r>
        </a:p>
      </dgm:t>
    </dgm:pt>
    <dgm:pt modelId="{3D3AB934-332E-40C6-A6D4-019B2694F92D}" type="parTrans" cxnId="{F459BFAC-6433-4595-A0A9-D9A0FFE403BA}">
      <dgm:prSet/>
      <dgm:spPr/>
      <dgm:t>
        <a:bodyPr/>
        <a:lstStyle/>
        <a:p>
          <a:endParaRPr lang="en-CA"/>
        </a:p>
      </dgm:t>
    </dgm:pt>
    <dgm:pt modelId="{9C27DFA5-1385-402D-987A-E37FD6657CE0}" type="sibTrans" cxnId="{F459BFAC-6433-4595-A0A9-D9A0FFE403BA}">
      <dgm:prSet/>
      <dgm:spPr/>
      <dgm:t>
        <a:bodyPr/>
        <a:lstStyle/>
        <a:p>
          <a:endParaRPr lang="en-CA"/>
        </a:p>
      </dgm:t>
    </dgm:pt>
    <dgm:pt modelId="{7FE4629E-C20E-4352-9764-706F121C2DC4}">
      <dgm:prSet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500">
              <a:latin typeface="Montserrat" panose="00000500000000000000" pitchFamily="2" charset="0"/>
            </a:rPr>
            <a:t>Enable autonomous execution with scheduling, triggers, and approval flows</a:t>
          </a:r>
        </a:p>
      </dgm:t>
    </dgm:pt>
    <dgm:pt modelId="{F203E1AD-E8E0-48BE-9F42-A3B3DDCF0E08}" type="parTrans" cxnId="{8375433B-5F7B-44E3-9BCA-18F2A00035D6}">
      <dgm:prSet/>
      <dgm:spPr/>
      <dgm:t>
        <a:bodyPr/>
        <a:lstStyle/>
        <a:p>
          <a:endParaRPr lang="en-CA"/>
        </a:p>
      </dgm:t>
    </dgm:pt>
    <dgm:pt modelId="{84992112-4792-4006-97AC-7EA5AA2A5F2E}" type="sibTrans" cxnId="{8375433B-5F7B-44E3-9BCA-18F2A00035D6}">
      <dgm:prSet/>
      <dgm:spPr/>
      <dgm:t>
        <a:bodyPr/>
        <a:lstStyle/>
        <a:p>
          <a:endParaRPr lang="en-CA"/>
        </a:p>
      </dgm:t>
    </dgm:pt>
    <dgm:pt modelId="{EC975B9C-8D7F-43C5-B939-888D6B8B5918}">
      <dgm:prSet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500">
              <a:latin typeface="Montserrat" panose="00000500000000000000" pitchFamily="2" charset="0"/>
            </a:rPr>
            <a:t>Set up persistent memory (e.g., Obsidian) so agents improve over time</a:t>
          </a:r>
        </a:p>
      </dgm:t>
    </dgm:pt>
    <dgm:pt modelId="{2C257783-0FBE-4335-8973-7A1D5E265B89}" type="parTrans" cxnId="{D113FB42-75BE-40F5-B6FA-383CB06626C0}">
      <dgm:prSet/>
      <dgm:spPr/>
      <dgm:t>
        <a:bodyPr/>
        <a:lstStyle/>
        <a:p>
          <a:endParaRPr lang="en-CA"/>
        </a:p>
      </dgm:t>
    </dgm:pt>
    <dgm:pt modelId="{7430544F-10D0-44B1-AF99-CEDB2A0D6194}" type="sibTrans" cxnId="{D113FB42-75BE-40F5-B6FA-383CB06626C0}">
      <dgm:prSet/>
      <dgm:spPr/>
      <dgm:t>
        <a:bodyPr/>
        <a:lstStyle/>
        <a:p>
          <a:endParaRPr lang="en-CA"/>
        </a:p>
      </dgm:t>
    </dgm:pt>
    <dgm:pt modelId="{9DB30954-E302-4A75-87D8-5C9A89FD15BE}">
      <dgm:prSet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CA" sz="1500" dirty="0">
              <a:latin typeface="Montserrat" panose="00000500000000000000" pitchFamily="2" charset="0"/>
            </a:rPr>
            <a:t>Operate and control agents from your phone (Dispatch) for real-time delegation</a:t>
          </a:r>
        </a:p>
      </dgm:t>
    </dgm:pt>
    <dgm:pt modelId="{042A3176-6013-4EB4-87F4-EB04ED83090E}" type="parTrans" cxnId="{9DB6F38B-0DB5-426E-949F-EFDD3AF1B552}">
      <dgm:prSet/>
      <dgm:spPr/>
      <dgm:t>
        <a:bodyPr/>
        <a:lstStyle/>
        <a:p>
          <a:endParaRPr lang="en-CA"/>
        </a:p>
      </dgm:t>
    </dgm:pt>
    <dgm:pt modelId="{8E880E97-3474-4CEE-830C-37A8B94EEA7E}" type="sibTrans" cxnId="{9DB6F38B-0DB5-426E-949F-EFDD3AF1B552}">
      <dgm:prSet/>
      <dgm:spPr/>
      <dgm:t>
        <a:bodyPr/>
        <a:lstStyle/>
        <a:p>
          <a:endParaRPr lang="en-CA"/>
        </a:p>
      </dgm:t>
    </dgm:pt>
    <dgm:pt modelId="{7ADA8973-FC52-4BE0-BA5F-3C26538A7173}" type="pres">
      <dgm:prSet presAssocID="{0EBCFDA7-93D9-4AF7-8F6B-E93AF28C0D66}" presName="diagram" presStyleCnt="0">
        <dgm:presLayoutVars>
          <dgm:dir/>
          <dgm:resizeHandles val="exact"/>
        </dgm:presLayoutVars>
      </dgm:prSet>
      <dgm:spPr/>
    </dgm:pt>
    <dgm:pt modelId="{9D878536-F003-45D6-8C0D-08DF5E743880}" type="pres">
      <dgm:prSet presAssocID="{C098A8FC-C32E-498C-A7AA-C7F2FE5B67B4}" presName="node" presStyleLbl="node1" presStyleIdx="0" presStyleCnt="9">
        <dgm:presLayoutVars>
          <dgm:bulletEnabled val="1"/>
        </dgm:presLayoutVars>
      </dgm:prSet>
      <dgm:spPr/>
    </dgm:pt>
    <dgm:pt modelId="{CA8CE36C-B889-4DBB-B82A-DBC6545E27D2}" type="pres">
      <dgm:prSet presAssocID="{50F31847-0757-4DAB-868C-AE1D68ACB0AA}" presName="sibTrans" presStyleCnt="0"/>
      <dgm:spPr/>
    </dgm:pt>
    <dgm:pt modelId="{04268A2F-6BF8-4E3A-9623-25271EA819EA}" type="pres">
      <dgm:prSet presAssocID="{94522888-17BD-40DF-BEB8-7C46B96F00EE}" presName="node" presStyleLbl="node1" presStyleIdx="1" presStyleCnt="9">
        <dgm:presLayoutVars>
          <dgm:bulletEnabled val="1"/>
        </dgm:presLayoutVars>
      </dgm:prSet>
      <dgm:spPr/>
    </dgm:pt>
    <dgm:pt modelId="{CCFC6052-E5A2-444D-BB36-E4E763BF6684}" type="pres">
      <dgm:prSet presAssocID="{4967FD60-EEA6-40AE-8AB8-781BB5D16933}" presName="sibTrans" presStyleCnt="0"/>
      <dgm:spPr/>
    </dgm:pt>
    <dgm:pt modelId="{9AC446E1-0776-4288-B31A-C4D992E43EDC}" type="pres">
      <dgm:prSet presAssocID="{C43146E9-80DA-42D5-931B-175BB563AEA5}" presName="node" presStyleLbl="node1" presStyleIdx="2" presStyleCnt="9">
        <dgm:presLayoutVars>
          <dgm:bulletEnabled val="1"/>
        </dgm:presLayoutVars>
      </dgm:prSet>
      <dgm:spPr/>
    </dgm:pt>
    <dgm:pt modelId="{FB5812BA-6546-4F61-BC25-6329555D5598}" type="pres">
      <dgm:prSet presAssocID="{CB9FA222-CA5A-4859-9131-52468506284B}" presName="sibTrans" presStyleCnt="0"/>
      <dgm:spPr/>
    </dgm:pt>
    <dgm:pt modelId="{4E6569B0-1426-4C20-AF79-81FFA2A8CE45}" type="pres">
      <dgm:prSet presAssocID="{035BCE0A-A3B9-4F88-B9C2-10F5F65D3878}" presName="node" presStyleLbl="node1" presStyleIdx="3" presStyleCnt="9">
        <dgm:presLayoutVars>
          <dgm:bulletEnabled val="1"/>
        </dgm:presLayoutVars>
      </dgm:prSet>
      <dgm:spPr/>
    </dgm:pt>
    <dgm:pt modelId="{BABD04F4-BBE6-4C93-802A-CD2020890AF2}" type="pres">
      <dgm:prSet presAssocID="{95A1C5A1-7726-47D7-96EE-1521B706E32A}" presName="sibTrans" presStyleCnt="0"/>
      <dgm:spPr/>
    </dgm:pt>
    <dgm:pt modelId="{692FC3AA-8768-4CB4-87CF-606E2DE83225}" type="pres">
      <dgm:prSet presAssocID="{DA02A484-2C4F-4F3C-8BF0-383452E4D454}" presName="node" presStyleLbl="node1" presStyleIdx="4" presStyleCnt="9">
        <dgm:presLayoutVars>
          <dgm:bulletEnabled val="1"/>
        </dgm:presLayoutVars>
      </dgm:prSet>
      <dgm:spPr/>
    </dgm:pt>
    <dgm:pt modelId="{D5C47A2C-93EC-4E3C-86BF-55C09EFAEF0C}" type="pres">
      <dgm:prSet presAssocID="{CF6775A4-968A-4824-9027-C9BF3C9F06C8}" presName="sibTrans" presStyleCnt="0"/>
      <dgm:spPr/>
    </dgm:pt>
    <dgm:pt modelId="{FADFE5E9-8326-4FA7-8DC2-2326B564A297}" type="pres">
      <dgm:prSet presAssocID="{965A4739-F3E7-43BE-AD09-D46D6EB45017}" presName="node" presStyleLbl="node1" presStyleIdx="5" presStyleCnt="9">
        <dgm:presLayoutVars>
          <dgm:bulletEnabled val="1"/>
        </dgm:presLayoutVars>
      </dgm:prSet>
      <dgm:spPr/>
    </dgm:pt>
    <dgm:pt modelId="{81163D15-3775-4588-917E-42D92644E362}" type="pres">
      <dgm:prSet presAssocID="{9C27DFA5-1385-402D-987A-E37FD6657CE0}" presName="sibTrans" presStyleCnt="0"/>
      <dgm:spPr/>
    </dgm:pt>
    <dgm:pt modelId="{51C17012-5DDA-44B9-925A-2403E572BD39}" type="pres">
      <dgm:prSet presAssocID="{7FE4629E-C20E-4352-9764-706F121C2DC4}" presName="node" presStyleLbl="node1" presStyleIdx="6" presStyleCnt="9">
        <dgm:presLayoutVars>
          <dgm:bulletEnabled val="1"/>
        </dgm:presLayoutVars>
      </dgm:prSet>
      <dgm:spPr/>
    </dgm:pt>
    <dgm:pt modelId="{FB959FD0-5D53-42F2-A63D-CB49FE5A890F}" type="pres">
      <dgm:prSet presAssocID="{84992112-4792-4006-97AC-7EA5AA2A5F2E}" presName="sibTrans" presStyleCnt="0"/>
      <dgm:spPr/>
    </dgm:pt>
    <dgm:pt modelId="{8F2FD895-2620-4A1F-AED2-D7FC74A9032B}" type="pres">
      <dgm:prSet presAssocID="{EC975B9C-8D7F-43C5-B939-888D6B8B5918}" presName="node" presStyleLbl="node1" presStyleIdx="7" presStyleCnt="9">
        <dgm:presLayoutVars>
          <dgm:bulletEnabled val="1"/>
        </dgm:presLayoutVars>
      </dgm:prSet>
      <dgm:spPr/>
    </dgm:pt>
    <dgm:pt modelId="{8BD32F40-7C54-4F78-B71B-4DCD89ACED4A}" type="pres">
      <dgm:prSet presAssocID="{7430544F-10D0-44B1-AF99-CEDB2A0D6194}" presName="sibTrans" presStyleCnt="0"/>
      <dgm:spPr/>
    </dgm:pt>
    <dgm:pt modelId="{7BADF1D1-F080-4C1F-8E0E-6E27339CD6FA}" type="pres">
      <dgm:prSet presAssocID="{9DB30954-E302-4A75-87D8-5C9A89FD15BE}" presName="node" presStyleLbl="node1" presStyleIdx="8" presStyleCnt="9">
        <dgm:presLayoutVars>
          <dgm:bulletEnabled val="1"/>
        </dgm:presLayoutVars>
      </dgm:prSet>
      <dgm:spPr/>
    </dgm:pt>
  </dgm:ptLst>
  <dgm:cxnLst>
    <dgm:cxn modelId="{10548D0A-E4DD-4049-BCF9-7C37478F48BE}" type="presOf" srcId="{EC975B9C-8D7F-43C5-B939-888D6B8B5918}" destId="{8F2FD895-2620-4A1F-AED2-D7FC74A9032B}" srcOrd="0" destOrd="0" presId="urn:microsoft.com/office/officeart/2005/8/layout/default"/>
    <dgm:cxn modelId="{35FFD20B-F200-4C84-B2F0-E485EA504809}" srcId="{0EBCFDA7-93D9-4AF7-8F6B-E93AF28C0D66}" destId="{035BCE0A-A3B9-4F88-B9C2-10F5F65D3878}" srcOrd="3" destOrd="0" parTransId="{2089116F-3B05-4848-9F90-D11472A63280}" sibTransId="{95A1C5A1-7726-47D7-96EE-1521B706E32A}"/>
    <dgm:cxn modelId="{FE3D8F14-7292-435F-BAA2-02D9DBFDCEE9}" type="presOf" srcId="{035BCE0A-A3B9-4F88-B9C2-10F5F65D3878}" destId="{4E6569B0-1426-4C20-AF79-81FFA2A8CE45}" srcOrd="0" destOrd="0" presId="urn:microsoft.com/office/officeart/2005/8/layout/default"/>
    <dgm:cxn modelId="{8375433B-5F7B-44E3-9BCA-18F2A00035D6}" srcId="{0EBCFDA7-93D9-4AF7-8F6B-E93AF28C0D66}" destId="{7FE4629E-C20E-4352-9764-706F121C2DC4}" srcOrd="6" destOrd="0" parTransId="{F203E1AD-E8E0-48BE-9F42-A3B3DDCF0E08}" sibTransId="{84992112-4792-4006-97AC-7EA5AA2A5F2E}"/>
    <dgm:cxn modelId="{D113FB42-75BE-40F5-B6FA-383CB06626C0}" srcId="{0EBCFDA7-93D9-4AF7-8F6B-E93AF28C0D66}" destId="{EC975B9C-8D7F-43C5-B939-888D6B8B5918}" srcOrd="7" destOrd="0" parTransId="{2C257783-0FBE-4335-8973-7A1D5E265B89}" sibTransId="{7430544F-10D0-44B1-AF99-CEDB2A0D6194}"/>
    <dgm:cxn modelId="{6D5DA78B-FEC1-49A5-975A-BEC6180CBC3E}" srcId="{0EBCFDA7-93D9-4AF7-8F6B-E93AF28C0D66}" destId="{C43146E9-80DA-42D5-931B-175BB563AEA5}" srcOrd="2" destOrd="0" parTransId="{1C509B05-A407-47D7-8FDF-2C88146D7171}" sibTransId="{CB9FA222-CA5A-4859-9131-52468506284B}"/>
    <dgm:cxn modelId="{9DB6F38B-0DB5-426E-949F-EFDD3AF1B552}" srcId="{0EBCFDA7-93D9-4AF7-8F6B-E93AF28C0D66}" destId="{9DB30954-E302-4A75-87D8-5C9A89FD15BE}" srcOrd="8" destOrd="0" parTransId="{042A3176-6013-4EB4-87F4-EB04ED83090E}" sibTransId="{8E880E97-3474-4CEE-830C-37A8B94EEA7E}"/>
    <dgm:cxn modelId="{01C0FB98-A2B7-4652-B900-ECD5FE5E8096}" type="presOf" srcId="{965A4739-F3E7-43BE-AD09-D46D6EB45017}" destId="{FADFE5E9-8326-4FA7-8DC2-2326B564A297}" srcOrd="0" destOrd="0" presId="urn:microsoft.com/office/officeart/2005/8/layout/default"/>
    <dgm:cxn modelId="{8E130D9A-8A96-43EC-AC91-AD0F949F7303}" type="presOf" srcId="{94522888-17BD-40DF-BEB8-7C46B96F00EE}" destId="{04268A2F-6BF8-4E3A-9623-25271EA819EA}" srcOrd="0" destOrd="0" presId="urn:microsoft.com/office/officeart/2005/8/layout/default"/>
    <dgm:cxn modelId="{1FAA24A1-F898-40AB-ABFB-A241265C6746}" type="presOf" srcId="{DA02A484-2C4F-4F3C-8BF0-383452E4D454}" destId="{692FC3AA-8768-4CB4-87CF-606E2DE83225}" srcOrd="0" destOrd="0" presId="urn:microsoft.com/office/officeart/2005/8/layout/default"/>
    <dgm:cxn modelId="{AE49D0A2-6D6C-46F8-954F-51216D34F59B}" type="presOf" srcId="{9DB30954-E302-4A75-87D8-5C9A89FD15BE}" destId="{7BADF1D1-F080-4C1F-8E0E-6E27339CD6FA}" srcOrd="0" destOrd="0" presId="urn:microsoft.com/office/officeart/2005/8/layout/default"/>
    <dgm:cxn modelId="{8DB885AC-A5F4-41F5-8061-8836F3E18D01}" srcId="{0EBCFDA7-93D9-4AF7-8F6B-E93AF28C0D66}" destId="{C098A8FC-C32E-498C-A7AA-C7F2FE5B67B4}" srcOrd="0" destOrd="0" parTransId="{FCA394BC-3D6A-4FF8-A6EC-5422D7AE6F26}" sibTransId="{50F31847-0757-4DAB-868C-AE1D68ACB0AA}"/>
    <dgm:cxn modelId="{F459BFAC-6433-4595-A0A9-D9A0FFE403BA}" srcId="{0EBCFDA7-93D9-4AF7-8F6B-E93AF28C0D66}" destId="{965A4739-F3E7-43BE-AD09-D46D6EB45017}" srcOrd="5" destOrd="0" parTransId="{3D3AB934-332E-40C6-A6D4-019B2694F92D}" sibTransId="{9C27DFA5-1385-402D-987A-E37FD6657CE0}"/>
    <dgm:cxn modelId="{1B4950AD-B51B-4E6D-A95F-B7B4BC3AEDDD}" type="presOf" srcId="{C098A8FC-C32E-498C-A7AA-C7F2FE5B67B4}" destId="{9D878536-F003-45D6-8C0D-08DF5E743880}" srcOrd="0" destOrd="0" presId="urn:microsoft.com/office/officeart/2005/8/layout/default"/>
    <dgm:cxn modelId="{03D651AE-725F-4D9F-81D2-1D6DB1CAC50A}" type="presOf" srcId="{7FE4629E-C20E-4352-9764-706F121C2DC4}" destId="{51C17012-5DDA-44B9-925A-2403E572BD39}" srcOrd="0" destOrd="0" presId="urn:microsoft.com/office/officeart/2005/8/layout/default"/>
    <dgm:cxn modelId="{15B155BC-5FF8-4197-BFC1-B7005B538891}" srcId="{0EBCFDA7-93D9-4AF7-8F6B-E93AF28C0D66}" destId="{DA02A484-2C4F-4F3C-8BF0-383452E4D454}" srcOrd="4" destOrd="0" parTransId="{D76201F0-EB6A-4538-9392-A87793D20113}" sibTransId="{CF6775A4-968A-4824-9027-C9BF3C9F06C8}"/>
    <dgm:cxn modelId="{FEDD78C9-F3CD-46B8-BC22-D9384916C64E}" type="presOf" srcId="{C43146E9-80DA-42D5-931B-175BB563AEA5}" destId="{9AC446E1-0776-4288-B31A-C4D992E43EDC}" srcOrd="0" destOrd="0" presId="urn:microsoft.com/office/officeart/2005/8/layout/default"/>
    <dgm:cxn modelId="{68697BE4-58D8-4F84-9C38-10B23D51BA5B}" srcId="{0EBCFDA7-93D9-4AF7-8F6B-E93AF28C0D66}" destId="{94522888-17BD-40DF-BEB8-7C46B96F00EE}" srcOrd="1" destOrd="0" parTransId="{DD7BBD6F-C0DD-4156-9368-5333D9F482FF}" sibTransId="{4967FD60-EEA6-40AE-8AB8-781BB5D16933}"/>
    <dgm:cxn modelId="{56E124FD-7FEF-4EEF-AE97-779F436C3615}" type="presOf" srcId="{0EBCFDA7-93D9-4AF7-8F6B-E93AF28C0D66}" destId="{7ADA8973-FC52-4BE0-BA5F-3C26538A7173}" srcOrd="0" destOrd="0" presId="urn:microsoft.com/office/officeart/2005/8/layout/default"/>
    <dgm:cxn modelId="{1BC04290-BA3B-4459-8178-725D5EF81EDC}" type="presParOf" srcId="{7ADA8973-FC52-4BE0-BA5F-3C26538A7173}" destId="{9D878536-F003-45D6-8C0D-08DF5E743880}" srcOrd="0" destOrd="0" presId="urn:microsoft.com/office/officeart/2005/8/layout/default"/>
    <dgm:cxn modelId="{BC7AE400-C34B-483C-89E8-9963EA694E79}" type="presParOf" srcId="{7ADA8973-FC52-4BE0-BA5F-3C26538A7173}" destId="{CA8CE36C-B889-4DBB-B82A-DBC6545E27D2}" srcOrd="1" destOrd="0" presId="urn:microsoft.com/office/officeart/2005/8/layout/default"/>
    <dgm:cxn modelId="{FA4567F2-C5EE-4E22-B1E9-54DB8BAFCBB4}" type="presParOf" srcId="{7ADA8973-FC52-4BE0-BA5F-3C26538A7173}" destId="{04268A2F-6BF8-4E3A-9623-25271EA819EA}" srcOrd="2" destOrd="0" presId="urn:microsoft.com/office/officeart/2005/8/layout/default"/>
    <dgm:cxn modelId="{CF4B869B-E219-4E60-9EA9-6EB012926D18}" type="presParOf" srcId="{7ADA8973-FC52-4BE0-BA5F-3C26538A7173}" destId="{CCFC6052-E5A2-444D-BB36-E4E763BF6684}" srcOrd="3" destOrd="0" presId="urn:microsoft.com/office/officeart/2005/8/layout/default"/>
    <dgm:cxn modelId="{5ADC3F0A-2E08-4A54-BDB4-123FFCB69210}" type="presParOf" srcId="{7ADA8973-FC52-4BE0-BA5F-3C26538A7173}" destId="{9AC446E1-0776-4288-B31A-C4D992E43EDC}" srcOrd="4" destOrd="0" presId="urn:microsoft.com/office/officeart/2005/8/layout/default"/>
    <dgm:cxn modelId="{94BB9452-46D7-4960-9AE4-D9012E90D121}" type="presParOf" srcId="{7ADA8973-FC52-4BE0-BA5F-3C26538A7173}" destId="{FB5812BA-6546-4F61-BC25-6329555D5598}" srcOrd="5" destOrd="0" presId="urn:microsoft.com/office/officeart/2005/8/layout/default"/>
    <dgm:cxn modelId="{6D135A99-AA52-4578-989B-67215058CA7F}" type="presParOf" srcId="{7ADA8973-FC52-4BE0-BA5F-3C26538A7173}" destId="{4E6569B0-1426-4C20-AF79-81FFA2A8CE45}" srcOrd="6" destOrd="0" presId="urn:microsoft.com/office/officeart/2005/8/layout/default"/>
    <dgm:cxn modelId="{4C8E61B0-E49C-4320-8B5B-47B73185F6C7}" type="presParOf" srcId="{7ADA8973-FC52-4BE0-BA5F-3C26538A7173}" destId="{BABD04F4-BBE6-4C93-802A-CD2020890AF2}" srcOrd="7" destOrd="0" presId="urn:microsoft.com/office/officeart/2005/8/layout/default"/>
    <dgm:cxn modelId="{BF8421EF-B2C8-4A5B-8C79-98B31E704607}" type="presParOf" srcId="{7ADA8973-FC52-4BE0-BA5F-3C26538A7173}" destId="{692FC3AA-8768-4CB4-87CF-606E2DE83225}" srcOrd="8" destOrd="0" presId="urn:microsoft.com/office/officeart/2005/8/layout/default"/>
    <dgm:cxn modelId="{80C34021-9D55-44B8-AF3A-9D9E4B88CDF6}" type="presParOf" srcId="{7ADA8973-FC52-4BE0-BA5F-3C26538A7173}" destId="{D5C47A2C-93EC-4E3C-86BF-55C09EFAEF0C}" srcOrd="9" destOrd="0" presId="urn:microsoft.com/office/officeart/2005/8/layout/default"/>
    <dgm:cxn modelId="{C2F07396-FBAD-4E87-B580-0CEF0DC054F6}" type="presParOf" srcId="{7ADA8973-FC52-4BE0-BA5F-3C26538A7173}" destId="{FADFE5E9-8326-4FA7-8DC2-2326B564A297}" srcOrd="10" destOrd="0" presId="urn:microsoft.com/office/officeart/2005/8/layout/default"/>
    <dgm:cxn modelId="{D4EBAA6C-3764-4584-8305-D7FBFC9E204C}" type="presParOf" srcId="{7ADA8973-FC52-4BE0-BA5F-3C26538A7173}" destId="{81163D15-3775-4588-917E-42D92644E362}" srcOrd="11" destOrd="0" presId="urn:microsoft.com/office/officeart/2005/8/layout/default"/>
    <dgm:cxn modelId="{B6CF4A40-1021-48D8-BAF8-DA862B36980C}" type="presParOf" srcId="{7ADA8973-FC52-4BE0-BA5F-3C26538A7173}" destId="{51C17012-5DDA-44B9-925A-2403E572BD39}" srcOrd="12" destOrd="0" presId="urn:microsoft.com/office/officeart/2005/8/layout/default"/>
    <dgm:cxn modelId="{3ED7C768-6203-46C4-917E-1381153C10C8}" type="presParOf" srcId="{7ADA8973-FC52-4BE0-BA5F-3C26538A7173}" destId="{FB959FD0-5D53-42F2-A63D-CB49FE5A890F}" srcOrd="13" destOrd="0" presId="urn:microsoft.com/office/officeart/2005/8/layout/default"/>
    <dgm:cxn modelId="{D9B247AD-8A92-4F6E-9F9F-2AD73CEEBA7E}" type="presParOf" srcId="{7ADA8973-FC52-4BE0-BA5F-3C26538A7173}" destId="{8F2FD895-2620-4A1F-AED2-D7FC74A9032B}" srcOrd="14" destOrd="0" presId="urn:microsoft.com/office/officeart/2005/8/layout/default"/>
    <dgm:cxn modelId="{F1675195-6AF0-49F1-BFC1-A14277F3FA1E}" type="presParOf" srcId="{7ADA8973-FC52-4BE0-BA5F-3C26538A7173}" destId="{8BD32F40-7C54-4F78-B71B-4DCD89ACED4A}" srcOrd="15" destOrd="0" presId="urn:microsoft.com/office/officeart/2005/8/layout/default"/>
    <dgm:cxn modelId="{D65FC13C-76F9-4F01-8619-685F21FE8B35}" type="presParOf" srcId="{7ADA8973-FC52-4BE0-BA5F-3C26538A7173}" destId="{7BADF1D1-F080-4C1F-8E0E-6E27339CD6FA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78536-F003-45D6-8C0D-08DF5E743880}">
      <dsp:nvSpPr>
        <dsp:cNvPr id="0" name=""/>
        <dsp:cNvSpPr/>
      </dsp:nvSpPr>
      <dsp:spPr>
        <a:xfrm>
          <a:off x="1379754" y="2266"/>
          <a:ext cx="2686861" cy="1612117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latin typeface="Montserrat" panose="00000500000000000000" pitchFamily="2" charset="0"/>
            </a:rPr>
            <a:t>Build and deploy a personal AI agent using Claude Code + </a:t>
          </a:r>
          <a:r>
            <a:rPr lang="en-CA" sz="1500" kern="1200" dirty="0" err="1">
              <a:latin typeface="Montserrat" panose="00000500000000000000" pitchFamily="2" charset="0"/>
            </a:rPr>
            <a:t>Cowork</a:t>
          </a:r>
          <a:endParaRPr lang="en-US" sz="1500" b="0" kern="1200" dirty="0">
            <a:latin typeface="Montserrat" panose="00000500000000000000" pitchFamily="2" charset="0"/>
          </a:endParaRPr>
        </a:p>
      </dsp:txBody>
      <dsp:txXfrm>
        <a:off x="1379754" y="2266"/>
        <a:ext cx="2686861" cy="1612117"/>
      </dsp:txXfrm>
    </dsp:sp>
    <dsp:sp modelId="{04268A2F-6BF8-4E3A-9623-25271EA819EA}">
      <dsp:nvSpPr>
        <dsp:cNvPr id="0" name=""/>
        <dsp:cNvSpPr/>
      </dsp:nvSpPr>
      <dsp:spPr>
        <a:xfrm>
          <a:off x="4335302" y="2266"/>
          <a:ext cx="2686861" cy="1612117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>
              <a:latin typeface="Montserrat" panose="00000500000000000000" pitchFamily="2" charset="0"/>
            </a:rPr>
            <a:t>Design a persistent agent identity (“Soul.md”) aligned with your workflow and style</a:t>
          </a:r>
        </a:p>
      </dsp:txBody>
      <dsp:txXfrm>
        <a:off x="4335302" y="2266"/>
        <a:ext cx="2686861" cy="1612117"/>
      </dsp:txXfrm>
    </dsp:sp>
    <dsp:sp modelId="{9AC446E1-0776-4288-B31A-C4D992E43EDC}">
      <dsp:nvSpPr>
        <dsp:cNvPr id="0" name=""/>
        <dsp:cNvSpPr/>
      </dsp:nvSpPr>
      <dsp:spPr>
        <a:xfrm>
          <a:off x="7290850" y="2266"/>
          <a:ext cx="2686861" cy="1612117"/>
        </a:xfrm>
        <a:prstGeom prst="rect">
          <a:avLst/>
        </a:prstGeom>
        <a:solidFill>
          <a:srgbClr val="1BBFD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latin typeface="Montserrat" panose="00000500000000000000" pitchFamily="2" charset="0"/>
            </a:rPr>
            <a:t>Orchestrate multi-agent teams to research, write, and review in parallel</a:t>
          </a:r>
        </a:p>
      </dsp:txBody>
      <dsp:txXfrm>
        <a:off x="7290850" y="2266"/>
        <a:ext cx="2686861" cy="1612117"/>
      </dsp:txXfrm>
    </dsp:sp>
    <dsp:sp modelId="{4E6569B0-1426-4C20-AF79-81FFA2A8CE45}">
      <dsp:nvSpPr>
        <dsp:cNvPr id="0" name=""/>
        <dsp:cNvSpPr/>
      </dsp:nvSpPr>
      <dsp:spPr>
        <a:xfrm>
          <a:off x="1379754" y="1883069"/>
          <a:ext cx="2686861" cy="1612117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latin typeface="Montserrat" panose="00000500000000000000" pitchFamily="2" charset="0"/>
            </a:rPr>
            <a:t>Connect real-world tools (email, calendar, Notion) via MCP integrations</a:t>
          </a:r>
        </a:p>
      </dsp:txBody>
      <dsp:txXfrm>
        <a:off x="1379754" y="1883069"/>
        <a:ext cx="2686861" cy="1612117"/>
      </dsp:txXfrm>
    </dsp:sp>
    <dsp:sp modelId="{692FC3AA-8768-4CB4-87CF-606E2DE83225}">
      <dsp:nvSpPr>
        <dsp:cNvPr id="0" name=""/>
        <dsp:cNvSpPr/>
      </dsp:nvSpPr>
      <dsp:spPr>
        <a:xfrm>
          <a:off x="4335302" y="1883069"/>
          <a:ext cx="2686861" cy="1612117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>
              <a:latin typeface="Montserrat" panose="00000500000000000000" pitchFamily="2" charset="0"/>
            </a:rPr>
            <a:t>Implement ready-to-run automation blueprints for daily workflows</a:t>
          </a:r>
        </a:p>
      </dsp:txBody>
      <dsp:txXfrm>
        <a:off x="4335302" y="1883069"/>
        <a:ext cx="2686861" cy="1612117"/>
      </dsp:txXfrm>
    </dsp:sp>
    <dsp:sp modelId="{FADFE5E9-8326-4FA7-8DC2-2326B564A297}">
      <dsp:nvSpPr>
        <dsp:cNvPr id="0" name=""/>
        <dsp:cNvSpPr/>
      </dsp:nvSpPr>
      <dsp:spPr>
        <a:xfrm>
          <a:off x="7290850" y="1883069"/>
          <a:ext cx="2686861" cy="1612117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>
              <a:latin typeface="Montserrat" panose="00000500000000000000" pitchFamily="2" charset="0"/>
            </a:rPr>
            <a:t>Create custom skills, plugins, and slash commands for repeatable tasks</a:t>
          </a:r>
        </a:p>
      </dsp:txBody>
      <dsp:txXfrm>
        <a:off x="7290850" y="1883069"/>
        <a:ext cx="2686861" cy="1612117"/>
      </dsp:txXfrm>
    </dsp:sp>
    <dsp:sp modelId="{51C17012-5DDA-44B9-925A-2403E572BD39}">
      <dsp:nvSpPr>
        <dsp:cNvPr id="0" name=""/>
        <dsp:cNvSpPr/>
      </dsp:nvSpPr>
      <dsp:spPr>
        <a:xfrm>
          <a:off x="1379754" y="3763873"/>
          <a:ext cx="2686861" cy="1612117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>
              <a:latin typeface="Montserrat" panose="00000500000000000000" pitchFamily="2" charset="0"/>
            </a:rPr>
            <a:t>Enable autonomous execution with scheduling, triggers, and approval flows</a:t>
          </a:r>
        </a:p>
      </dsp:txBody>
      <dsp:txXfrm>
        <a:off x="1379754" y="3763873"/>
        <a:ext cx="2686861" cy="1612117"/>
      </dsp:txXfrm>
    </dsp:sp>
    <dsp:sp modelId="{8F2FD895-2620-4A1F-AED2-D7FC74A9032B}">
      <dsp:nvSpPr>
        <dsp:cNvPr id="0" name=""/>
        <dsp:cNvSpPr/>
      </dsp:nvSpPr>
      <dsp:spPr>
        <a:xfrm>
          <a:off x="4335302" y="3763873"/>
          <a:ext cx="2686861" cy="1612117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>
              <a:latin typeface="Montserrat" panose="00000500000000000000" pitchFamily="2" charset="0"/>
            </a:rPr>
            <a:t>Set up persistent memory (e.g., Obsidian) so agents improve over time</a:t>
          </a:r>
        </a:p>
      </dsp:txBody>
      <dsp:txXfrm>
        <a:off x="4335302" y="3763873"/>
        <a:ext cx="2686861" cy="1612117"/>
      </dsp:txXfrm>
    </dsp:sp>
    <dsp:sp modelId="{7BADF1D1-F080-4C1F-8E0E-6E27339CD6FA}">
      <dsp:nvSpPr>
        <dsp:cNvPr id="0" name=""/>
        <dsp:cNvSpPr/>
      </dsp:nvSpPr>
      <dsp:spPr>
        <a:xfrm>
          <a:off x="7290850" y="3763873"/>
          <a:ext cx="2686861" cy="1612117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latin typeface="Montserrat" panose="00000500000000000000" pitchFamily="2" charset="0"/>
            </a:rPr>
            <a:t>Operate and control agents from your phone (Dispatch) for real-time delegation</a:t>
          </a:r>
        </a:p>
      </dsp:txBody>
      <dsp:txXfrm>
        <a:off x="7290850" y="3763873"/>
        <a:ext cx="2686861" cy="16121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hyperlink" Target="https://metr.org/blog/2025-03-19-measuring-ai-ability-to-complete-long-task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hyperlink" Target="https://code.claude.com/docs/en/chrom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dr-ryan-ahmed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1" y="70651"/>
            <a:ext cx="667040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BUILD YOUR PERSONAL AI AGENT WITH CLAUDE CODE &amp; COWORK</a:t>
            </a:r>
            <a:endParaRPr lang="en-US" sz="4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210BA7-83D5-BA28-4169-3E936CE31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5E0EF4-240B-8B5B-8335-CAC6327B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BEFE33B-7EE9-7BFB-A39F-0F81915A552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Instructor 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4BF6C-937D-3A93-9865-C5DE26F44C2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4" name="Google Shape;118;p3">
            <a:extLst>
              <a:ext uri="{FF2B5EF4-FFF2-40B4-BE49-F238E27FC236}">
                <a16:creationId xmlns:a16="http://schemas.microsoft.com/office/drawing/2014/main" id="{EC8C7A90-40F7-9861-CF42-D62ADF4ADBF9}"/>
              </a:ext>
            </a:extLst>
          </p:cNvPr>
          <p:cNvSpPr txBox="1"/>
          <p:nvPr/>
        </p:nvSpPr>
        <p:spPr>
          <a:xfrm>
            <a:off x="3539816" y="4099437"/>
            <a:ext cx="4309224" cy="96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3" rIns="0" bIns="81273" anchor="ctr" anchorCtr="0">
            <a:spAutoFit/>
          </a:bodyPr>
          <a:lstStyle/>
          <a:p>
            <a:pPr marL="0" lvl="4" algn="ctr" defTabSz="812820">
              <a:lnSpc>
                <a:spcPct val="130000"/>
              </a:lnSpc>
              <a:buClr>
                <a:srgbClr val="E7E6E6"/>
              </a:buClr>
              <a:buSzPts val="2700"/>
            </a:pPr>
            <a:r>
              <a:rPr lang="en-US" sz="2400" b="1" kern="0" dirty="0">
                <a:solidFill>
                  <a:srgbClr val="1E3D53"/>
                </a:solidFill>
                <a:latin typeface="Arial"/>
                <a:ea typeface="Arial"/>
                <a:cs typeface="Arial"/>
                <a:sym typeface="Arial"/>
              </a:rPr>
              <a:t>Dr. Ryan Ahmed</a:t>
            </a:r>
            <a:br>
              <a:rPr lang="en-US" sz="1400" b="1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kern="0" dirty="0">
                <a:solidFill>
                  <a:srgbClr val="0B8ECC"/>
                </a:solidFill>
                <a:latin typeface="Arial"/>
                <a:ea typeface="Arial"/>
                <a:cs typeface="Arial"/>
                <a:sym typeface="Arial"/>
              </a:rPr>
              <a:t>Professor &amp; Best-selling Instructor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5" name="Picture 24" descr="Online Courses - Learn Anything, On Your Schedule | Udemy">
            <a:extLst>
              <a:ext uri="{FF2B5EF4-FFF2-40B4-BE49-F238E27FC236}">
                <a16:creationId xmlns:a16="http://schemas.microsoft.com/office/drawing/2014/main" id="{88949542-EBD4-5744-1124-77AF60BF82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96" b="24378"/>
          <a:stretch/>
        </p:blipFill>
        <p:spPr bwMode="auto">
          <a:xfrm>
            <a:off x="8591802" y="891546"/>
            <a:ext cx="2935699" cy="849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Google Shape;122;p3">
            <a:extLst>
              <a:ext uri="{FF2B5EF4-FFF2-40B4-BE49-F238E27FC236}">
                <a16:creationId xmlns:a16="http://schemas.microsoft.com/office/drawing/2014/main" id="{530A72D7-D91F-CD34-AF4D-BFA810C0003D}"/>
              </a:ext>
            </a:extLst>
          </p:cNvPr>
          <p:cNvSpPr txBox="1"/>
          <p:nvPr/>
        </p:nvSpPr>
        <p:spPr>
          <a:xfrm>
            <a:off x="8802232" y="1505263"/>
            <a:ext cx="3238635" cy="50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371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pPr defTabSz="1219170"/>
            <a:r>
              <a:rPr lang="en-US" sz="2000" i="0" dirty="0">
                <a:latin typeface="Montserrat" panose="00000500000000000000" pitchFamily="2" charset="0"/>
                <a:sym typeface="Arial"/>
              </a:rPr>
              <a:t>580,000 Students</a:t>
            </a:r>
          </a:p>
        </p:txBody>
      </p:sp>
      <p:sp>
        <p:nvSpPr>
          <p:cNvPr id="27" name="Google Shape;122;p3">
            <a:extLst>
              <a:ext uri="{FF2B5EF4-FFF2-40B4-BE49-F238E27FC236}">
                <a16:creationId xmlns:a16="http://schemas.microsoft.com/office/drawing/2014/main" id="{37E98D07-77EB-A822-8851-F159B6FD12D5}"/>
              </a:ext>
            </a:extLst>
          </p:cNvPr>
          <p:cNvSpPr txBox="1"/>
          <p:nvPr/>
        </p:nvSpPr>
        <p:spPr>
          <a:xfrm>
            <a:off x="8248477" y="2967978"/>
            <a:ext cx="3915820" cy="50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371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defTabSz="1219170"/>
            <a:r>
              <a:rPr lang="en-US" sz="2000" i="0" dirty="0">
                <a:latin typeface="Montserrat" panose="00000500000000000000" pitchFamily="2" charset="0"/>
                <a:sym typeface="Arial"/>
              </a:rPr>
              <a:t>260,000+ Subs, 4M views</a:t>
            </a:r>
          </a:p>
        </p:txBody>
      </p:sp>
      <p:pic>
        <p:nvPicPr>
          <p:cNvPr id="28" name="Picture 12" descr="The YouTube logo: a history | Creative Bloq">
            <a:extLst>
              <a:ext uri="{FF2B5EF4-FFF2-40B4-BE49-F238E27FC236}">
                <a16:creationId xmlns:a16="http://schemas.microsoft.com/office/drawing/2014/main" id="{4C788107-FD8F-F801-24A1-A0E36A8F7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545" y="2091323"/>
            <a:ext cx="2636297" cy="148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65C000-1586-6F58-FB82-CA436DB56B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182" y="1313757"/>
            <a:ext cx="1732171" cy="957788"/>
          </a:xfrm>
          <a:prstGeom prst="rect">
            <a:avLst/>
          </a:prstGeom>
        </p:spPr>
      </p:pic>
      <p:sp>
        <p:nvSpPr>
          <p:cNvPr id="30" name="Google Shape;122;p3">
            <a:extLst>
              <a:ext uri="{FF2B5EF4-FFF2-40B4-BE49-F238E27FC236}">
                <a16:creationId xmlns:a16="http://schemas.microsoft.com/office/drawing/2014/main" id="{4FCE8BB1-55ED-F852-9065-526FFB9D7C65}"/>
              </a:ext>
            </a:extLst>
          </p:cNvPr>
          <p:cNvSpPr txBox="1"/>
          <p:nvPr/>
        </p:nvSpPr>
        <p:spPr>
          <a:xfrm>
            <a:off x="756158" y="2218298"/>
            <a:ext cx="3299179" cy="50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371" rIns="0" bIns="0" anchor="t" anchorCtr="0">
            <a:spAutoFit/>
          </a:bodyPr>
          <a:lstStyle/>
          <a:p>
            <a:pPr defTabSz="812820">
              <a:lnSpc>
                <a:spcPct val="130000"/>
              </a:lnSpc>
              <a:buClr>
                <a:srgbClr val="0B8ECC"/>
              </a:buClr>
              <a:buSzPts val="1600"/>
            </a:pPr>
            <a:r>
              <a:rPr lang="en-US" sz="2000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M.A.Sc., Ph.D., MBA</a:t>
            </a:r>
          </a:p>
        </p:txBody>
      </p:sp>
      <p:pic>
        <p:nvPicPr>
          <p:cNvPr id="31" name="Picture 16" descr="General Motors | Detroit MI">
            <a:extLst>
              <a:ext uri="{FF2B5EF4-FFF2-40B4-BE49-F238E27FC236}">
                <a16:creationId xmlns:a16="http://schemas.microsoft.com/office/drawing/2014/main" id="{8AD99D7B-174B-B0DC-3490-9A2D8A7B9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872" y="3823838"/>
            <a:ext cx="1022179" cy="102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0" descr="Logo | Brand Identity | About Us | Samsung Canada">
            <a:extLst>
              <a:ext uri="{FF2B5EF4-FFF2-40B4-BE49-F238E27FC236}">
                <a16:creationId xmlns:a16="http://schemas.microsoft.com/office/drawing/2014/main" id="{C6E5C73B-E1E6-6E8B-AF67-B273164E5E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83" b="29688"/>
          <a:stretch/>
        </p:blipFill>
        <p:spPr bwMode="auto">
          <a:xfrm>
            <a:off x="565103" y="4638656"/>
            <a:ext cx="3147211" cy="74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Google Shape;122;p3">
            <a:extLst>
              <a:ext uri="{FF2B5EF4-FFF2-40B4-BE49-F238E27FC236}">
                <a16:creationId xmlns:a16="http://schemas.microsoft.com/office/drawing/2014/main" id="{778AE7D0-1FED-D2D3-A6EA-F106FEDF6012}"/>
              </a:ext>
            </a:extLst>
          </p:cNvPr>
          <p:cNvSpPr txBox="1"/>
          <p:nvPr/>
        </p:nvSpPr>
        <p:spPr>
          <a:xfrm>
            <a:off x="414073" y="5217532"/>
            <a:ext cx="3298241" cy="50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371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pPr algn="ctr" defTabSz="1219170"/>
            <a:r>
              <a:rPr lang="en-US" sz="2000" i="0" dirty="0">
                <a:latin typeface="Montserrat" panose="00000500000000000000" pitchFamily="2" charset="0"/>
                <a:sym typeface="Arial"/>
              </a:rPr>
              <a:t>AI &amp; EV/AV</a:t>
            </a:r>
          </a:p>
        </p:txBody>
      </p:sp>
      <p:pic>
        <p:nvPicPr>
          <p:cNvPr id="34" name="Picture 2" descr="CF Markville | HSBC">
            <a:extLst>
              <a:ext uri="{FF2B5EF4-FFF2-40B4-BE49-F238E27FC236}">
                <a16:creationId xmlns:a16="http://schemas.microsoft.com/office/drawing/2014/main" id="{FC076D62-8C52-630B-4EC4-A8422C3FF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0802" y="3959408"/>
            <a:ext cx="1523340" cy="85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RBC">
            <a:extLst>
              <a:ext uri="{FF2B5EF4-FFF2-40B4-BE49-F238E27FC236}">
                <a16:creationId xmlns:a16="http://schemas.microsoft.com/office/drawing/2014/main" id="{8E0BB076-47EC-44EE-3C19-75159EDA0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341" y="5014304"/>
            <a:ext cx="629033" cy="62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 descr="Discover Bank Review">
            <a:extLst>
              <a:ext uri="{FF2B5EF4-FFF2-40B4-BE49-F238E27FC236}">
                <a16:creationId xmlns:a16="http://schemas.microsoft.com/office/drawing/2014/main" id="{FD97CBB3-166F-63A6-8E4F-3AE1F05DB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495" y="4001808"/>
            <a:ext cx="1705471" cy="85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LobbyMap Barclays">
            <a:extLst>
              <a:ext uri="{FF2B5EF4-FFF2-40B4-BE49-F238E27FC236}">
                <a16:creationId xmlns:a16="http://schemas.microsoft.com/office/drawing/2014/main" id="{6D92E9FC-10D1-8A38-E541-F9C39D17D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160" y="4874876"/>
            <a:ext cx="1815773" cy="90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 descr="CFA Institute">
            <a:extLst>
              <a:ext uri="{FF2B5EF4-FFF2-40B4-BE49-F238E27FC236}">
                <a16:creationId xmlns:a16="http://schemas.microsoft.com/office/drawing/2014/main" id="{A842CA16-0D87-F734-C56A-70A357D7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1041" y="4896944"/>
            <a:ext cx="1523340" cy="79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9BC3137-B63E-BD7A-D2EF-AF7908A8D6C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4989" t="-823" r="18763" b="-880"/>
          <a:stretch>
            <a:fillRect/>
          </a:stretch>
        </p:blipFill>
        <p:spPr>
          <a:xfrm>
            <a:off x="4349676" y="1827118"/>
            <a:ext cx="2636297" cy="2272319"/>
          </a:xfrm>
          <a:prstGeom prst="flowChartConnector">
            <a:avLst/>
          </a:prstGeom>
        </p:spPr>
      </p:pic>
      <p:pic>
        <p:nvPicPr>
          <p:cNvPr id="2" name="Picture 2" descr="Facebook rebrands to Meta and adopts infinity loop logo">
            <a:extLst>
              <a:ext uri="{FF2B5EF4-FFF2-40B4-BE49-F238E27FC236}">
                <a16:creationId xmlns:a16="http://schemas.microsoft.com/office/drawing/2014/main" id="{5CBD4FED-29BA-910C-0483-0DB89D12F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746" y="3981476"/>
            <a:ext cx="1818464" cy="78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92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CFA2-BD2E-F57F-DD51-64E5B97F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925F58-B47E-35F2-1DBC-DFBA0F57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25897-584C-BF0A-E016-C5F9FC574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918C1E-20E7-4595-F6EA-CD0425805354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1D7F6F-2188-D8B3-A493-C1E31DA1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Google Shape;94;p12">
            <a:extLst>
              <a:ext uri="{FF2B5EF4-FFF2-40B4-BE49-F238E27FC236}">
                <a16:creationId xmlns:a16="http://schemas.microsoft.com/office/drawing/2014/main" id="{02095646-A554-A6AF-A210-F0659AA9575C}"/>
              </a:ext>
            </a:extLst>
          </p:cNvPr>
          <p:cNvSpPr txBox="1"/>
          <p:nvPr/>
        </p:nvSpPr>
        <p:spPr>
          <a:xfrm>
            <a:off x="405350" y="2086042"/>
            <a:ext cx="11401425" cy="22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Font typeface="DM Sans"/>
              <a:buNone/>
              <a:defRPr sz="24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It's 7:47 AM. I pick up my phone and say: ‘Hey Jarvis, what do I need to know today?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   My personal AI agent replies: “3 urgent emails, a board meeting at 2 PM, and a competitor just raised $40M. Here's your morning brief. Here's the deck for your 2 PM.“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5E1C24-7DAB-A05D-E419-FE1CF12D3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50" y="3498840"/>
            <a:ext cx="325558" cy="32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3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6059-F4D2-5BC3-6651-86A52A25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4BEF21-4809-EC05-0D35-82152DD22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F42FFD-2C9F-6AD4-BDA7-0012CB9DB4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19D8380-4B59-6D58-0905-5D3F6D99255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Can Now Work a Full Shift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A0BF8-9F18-D9CB-DB86-8EA307B794D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9D354D-DC00-9BFB-ACD9-10A906BFC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FE296-4433-0F60-379C-D5F6BA953743}"/>
              </a:ext>
            </a:extLst>
          </p:cNvPr>
          <p:cNvSpPr txBox="1"/>
          <p:nvPr/>
        </p:nvSpPr>
        <p:spPr>
          <a:xfrm>
            <a:off x="1824949" y="6146600"/>
            <a:ext cx="9100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0C1752"/>
                </a:solidFill>
              </a:rPr>
              <a:t>Source: </a:t>
            </a:r>
            <a:r>
              <a:rPr lang="en-CA" dirty="0">
                <a:solidFill>
                  <a:srgbClr val="0C175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https://metr.org/blog/2025-03-19-measuring-ai-ability-to-complete-long-tasks/</a:t>
            </a:r>
            <a:endParaRPr lang="en-CA" dirty="0">
              <a:solidFill>
                <a:srgbClr val="0C1752"/>
              </a:solidFill>
            </a:endParaRPr>
          </a:p>
          <a:p>
            <a:endParaRPr lang="en-CA" dirty="0"/>
          </a:p>
        </p:txBody>
      </p:sp>
      <p:sp>
        <p:nvSpPr>
          <p:cNvPr id="8" name="Google Shape;95;p12">
            <a:extLst>
              <a:ext uri="{FF2B5EF4-FFF2-40B4-BE49-F238E27FC236}">
                <a16:creationId xmlns:a16="http://schemas.microsoft.com/office/drawing/2014/main" id="{01F2C0C0-72E1-8B62-B3EB-63DAFD9306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4" y="682225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graphicFrame>
        <p:nvGraphicFramePr>
          <p:cNvPr id="11" name="Chart 0">
            <a:extLst>
              <a:ext uri="{FF2B5EF4-FFF2-40B4-BE49-F238E27FC236}">
                <a16:creationId xmlns:a16="http://schemas.microsoft.com/office/drawing/2014/main" id="{CAD61D45-D837-652A-246A-25A14B492D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919600"/>
              </p:ext>
            </p:extLst>
          </p:nvPr>
        </p:nvGraphicFramePr>
        <p:xfrm>
          <a:off x="525171" y="1439291"/>
          <a:ext cx="7680960" cy="4511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3">
            <a:extLst>
              <a:ext uri="{FF2B5EF4-FFF2-40B4-BE49-F238E27FC236}">
                <a16:creationId xmlns:a16="http://schemas.microsoft.com/office/drawing/2014/main" id="{6CFF5CA2-61B5-9DB5-F7EB-87B6D0582965}"/>
              </a:ext>
            </a:extLst>
          </p:cNvPr>
          <p:cNvSpPr/>
          <p:nvPr/>
        </p:nvSpPr>
        <p:spPr>
          <a:xfrm>
            <a:off x="8510931" y="1439291"/>
            <a:ext cx="3413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What This Means:</a:t>
            </a:r>
            <a:endParaRPr lang="en-US" sz="1733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858CEAC-26A4-7DAA-9241-1845B9098246}"/>
              </a:ext>
            </a:extLst>
          </p:cNvPr>
          <p:cNvSpPr/>
          <p:nvPr/>
        </p:nvSpPr>
        <p:spPr>
          <a:xfrm>
            <a:off x="8510931" y="1987931"/>
            <a:ext cx="79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640C22F6-55DD-5A8B-2FEC-8D7CDDC9B69E}"/>
              </a:ext>
            </a:extLst>
          </p:cNvPr>
          <p:cNvSpPr/>
          <p:nvPr/>
        </p:nvSpPr>
        <p:spPr>
          <a:xfrm>
            <a:off x="9303411" y="1987931"/>
            <a:ext cx="115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Georgia" pitchFamily="34" charset="-122"/>
                <a:cs typeface="Georgia" pitchFamily="34" charset="-120"/>
              </a:rPr>
              <a:t>~1 min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F19CCD8-434A-DBD0-7B38-CDC2B04DC776}"/>
              </a:ext>
            </a:extLst>
          </p:cNvPr>
          <p:cNvSpPr/>
          <p:nvPr/>
        </p:nvSpPr>
        <p:spPr>
          <a:xfrm>
            <a:off x="10400691" y="1987931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 single function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94D5E182-7CE6-D4B2-BD14-46B108F55D42}"/>
              </a:ext>
            </a:extLst>
          </p:cNvPr>
          <p:cNvSpPr/>
          <p:nvPr/>
        </p:nvSpPr>
        <p:spPr>
          <a:xfrm>
            <a:off x="8510931" y="2719451"/>
            <a:ext cx="79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DBFD5BD6-95BC-1736-7ED3-A11A52AA92D9}"/>
              </a:ext>
            </a:extLst>
          </p:cNvPr>
          <p:cNvSpPr/>
          <p:nvPr/>
        </p:nvSpPr>
        <p:spPr>
          <a:xfrm>
            <a:off x="9303411" y="2719451"/>
            <a:ext cx="115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Georgia" pitchFamily="34" charset="-122"/>
                <a:cs typeface="Georgia" pitchFamily="34" charset="-120"/>
              </a:rPr>
              <a:t>~15 min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E998D10C-F87B-EAB7-CAB4-D2B605963425}"/>
              </a:ext>
            </a:extLst>
          </p:cNvPr>
          <p:cNvSpPr/>
          <p:nvPr/>
        </p:nvSpPr>
        <p:spPr>
          <a:xfrm>
            <a:off x="10400691" y="2719451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 small coding task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AE68FCB-0B3B-60C1-9603-869B52388D01}"/>
              </a:ext>
            </a:extLst>
          </p:cNvPr>
          <p:cNvSpPr/>
          <p:nvPr/>
        </p:nvSpPr>
        <p:spPr>
          <a:xfrm>
            <a:off x="8510931" y="3450971"/>
            <a:ext cx="79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2ABE9A4F-FD4C-F924-A7C9-94385C0EF50C}"/>
              </a:ext>
            </a:extLst>
          </p:cNvPr>
          <p:cNvSpPr/>
          <p:nvPr/>
        </p:nvSpPr>
        <p:spPr>
          <a:xfrm>
            <a:off x="9303411" y="3450971"/>
            <a:ext cx="115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Georgia" pitchFamily="34" charset="-122"/>
                <a:cs typeface="Georgia" pitchFamily="34" charset="-120"/>
              </a:rPr>
              <a:t>~21 min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ED11DD64-A69A-E617-6F5E-A21BBDC7B9A2}"/>
              </a:ext>
            </a:extLst>
          </p:cNvPr>
          <p:cNvSpPr/>
          <p:nvPr/>
        </p:nvSpPr>
        <p:spPr>
          <a:xfrm>
            <a:off x="10400691" y="3450971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 short assignment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2286F4DF-65E8-5D93-394A-1C5E352116D5}"/>
              </a:ext>
            </a:extLst>
          </p:cNvPr>
          <p:cNvSpPr/>
          <p:nvPr/>
        </p:nvSpPr>
        <p:spPr>
          <a:xfrm>
            <a:off x="8510931" y="4182491"/>
            <a:ext cx="79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B3251EF4-99B9-BF4F-1322-9B63512D91E3}"/>
              </a:ext>
            </a:extLst>
          </p:cNvPr>
          <p:cNvSpPr/>
          <p:nvPr/>
        </p:nvSpPr>
        <p:spPr>
          <a:xfrm>
            <a:off x="9303411" y="4182491"/>
            <a:ext cx="115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Georgia" pitchFamily="34" charset="-122"/>
                <a:cs typeface="Georgia" pitchFamily="34" charset="-120"/>
              </a:rPr>
              <a:t>~2 hrs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855469DF-624E-0A82-C341-453422F3E23F}"/>
              </a:ext>
            </a:extLst>
          </p:cNvPr>
          <p:cNvSpPr/>
          <p:nvPr/>
        </p:nvSpPr>
        <p:spPr>
          <a:xfrm>
            <a:off x="10400691" y="4182491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 serious work block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87D7D055-7A79-618B-9135-56D2C4AA6557}"/>
              </a:ext>
            </a:extLst>
          </p:cNvPr>
          <p:cNvSpPr/>
          <p:nvPr/>
        </p:nvSpPr>
        <p:spPr>
          <a:xfrm>
            <a:off x="8510931" y="4914011"/>
            <a:ext cx="79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DC4C9817-58C0-CCFA-A62C-6B156BD9D9A5}"/>
              </a:ext>
            </a:extLst>
          </p:cNvPr>
          <p:cNvSpPr/>
          <p:nvPr/>
        </p:nvSpPr>
        <p:spPr>
          <a:xfrm>
            <a:off x="9303411" y="4914011"/>
            <a:ext cx="115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Georgia" pitchFamily="34" charset="-122"/>
                <a:cs typeface="Georgia" pitchFamily="34" charset="-120"/>
              </a:rPr>
              <a:t>~12 hrs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018C8420-53DB-0F89-0D22-1254A12E1A6A}"/>
              </a:ext>
            </a:extLst>
          </p:cNvPr>
          <p:cNvSpPr/>
          <p:nvPr/>
        </p:nvSpPr>
        <p:spPr>
          <a:xfrm>
            <a:off x="10400691" y="4914011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 full work shift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3A2F7D6E-27D2-1172-9B26-D41DEF8D394B}"/>
              </a:ext>
            </a:extLst>
          </p:cNvPr>
          <p:cNvSpPr/>
          <p:nvPr/>
        </p:nvSpPr>
        <p:spPr>
          <a:xfrm rot="16200000">
            <a:off x="-6364003" y="3324452"/>
            <a:ext cx="13262620" cy="74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Task Completion Time Horizon (minutes)</a:t>
            </a:r>
          </a:p>
        </p:txBody>
      </p:sp>
    </p:spTree>
    <p:extLst>
      <p:ext uri="{BB962C8B-B14F-4D97-AF65-F5344CB8AC3E}">
        <p14:creationId xmlns:p14="http://schemas.microsoft.com/office/powerpoint/2010/main" val="353356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E4134-A431-AEED-B616-6D414DA1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94A31F-130F-C539-0604-46168168F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2198CE-7CA9-14FB-E1E6-587A63771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C2730E-184E-AF7B-91D6-AD9F067BFE6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84FB489-C322-E445-FC90-9384F9DC8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Google Shape;94;p12">
            <a:extLst>
              <a:ext uri="{FF2B5EF4-FFF2-40B4-BE49-F238E27FC236}">
                <a16:creationId xmlns:a16="http://schemas.microsoft.com/office/drawing/2014/main" id="{CFD76A3B-2DFC-E9F7-DC3E-59F0782EBA70}"/>
              </a:ext>
            </a:extLst>
          </p:cNvPr>
          <p:cNvSpPr txBox="1"/>
          <p:nvPr/>
        </p:nvSpPr>
        <p:spPr>
          <a:xfrm>
            <a:off x="405350" y="2221214"/>
            <a:ext cx="11401425" cy="22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Font typeface="DM Sans"/>
              <a:buNone/>
              <a:defRPr sz="24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If AI is that capable, what if you design a personal AI agent that actually knew you? Your goals, business, and your brand.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endParaRPr kumimoji="0" lang="en-US" sz="2800" b="1" i="1" u="none" strike="noStrike" kern="0" cap="none" spc="0" normalizeH="0" baseline="0" noProof="0" dirty="0">
              <a:ln>
                <a:noFill/>
              </a:ln>
              <a:solidFill>
                <a:srgbClr val="0C1752"/>
              </a:solidFill>
              <a:effectLst/>
              <a:uLnTx/>
              <a:uFillTx/>
              <a:latin typeface="DM Sans"/>
              <a:sym typeface="DM San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How you write. What "urgent" means to you. How you make decisions. Today, you can build a personal Agent with Claude Code &amp; </a:t>
            </a:r>
            <a:r>
              <a:rPr kumimoji="0" lang="en-US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Cowork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857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905EC-265A-69FF-9F53-C0BB64A1D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D9486E-56D3-521A-6101-0A2D046CD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7E2F86-8859-B805-5C48-06EA587E36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65F318CE-BD6A-A3FE-F3DB-2242CE2D88E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Work Is Being Rewritten by Personal AI Agents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977D6-3316-FB5A-CC00-824132D4D97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C4855F-78F2-EF20-1D69-024BF4FDF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3BFE726-5282-68D5-C546-C88B1176A8DD}"/>
              </a:ext>
            </a:extLst>
          </p:cNvPr>
          <p:cNvSpPr/>
          <p:nvPr/>
        </p:nvSpPr>
        <p:spPr>
          <a:xfrm>
            <a:off x="195362" y="907669"/>
            <a:ext cx="11213345" cy="932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0990" indent="-380990">
              <a:lnSpc>
                <a:spcPct val="90000"/>
              </a:lnSpc>
              <a:spcBef>
                <a:spcPts val="1333"/>
              </a:spcBef>
              <a:buClr>
                <a:srgbClr val="02291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“We’re moving from doing work manually to AI-assisting tasks to personal agents executing entire workflows.”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A0FAA848-70FC-AC3F-4831-18C3D2B864BA}"/>
              </a:ext>
            </a:extLst>
          </p:cNvPr>
          <p:cNvSpPr/>
          <p:nvPr/>
        </p:nvSpPr>
        <p:spPr>
          <a:xfrm>
            <a:off x="620733" y="1818665"/>
            <a:ext cx="3169920" cy="4470816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BCFB828-34EC-35A9-BEC3-F64409F3924F}"/>
              </a:ext>
            </a:extLst>
          </p:cNvPr>
          <p:cNvSpPr/>
          <p:nvPr/>
        </p:nvSpPr>
        <p:spPr>
          <a:xfrm>
            <a:off x="620733" y="1818665"/>
            <a:ext cx="3169920" cy="73152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653C276B-EE2F-5922-BB3B-F8E4CC5E5B4A}"/>
              </a:ext>
            </a:extLst>
          </p:cNvPr>
          <p:cNvSpPr/>
          <p:nvPr/>
        </p:nvSpPr>
        <p:spPr>
          <a:xfrm>
            <a:off x="864573" y="2062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888888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4800" dirty="0">
              <a:latin typeface="Montserrat" panose="00000500000000000000" pitchFamily="2" charset="0"/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D142A30C-3527-E75E-EB9D-417660BB7D56}"/>
              </a:ext>
            </a:extLst>
          </p:cNvPr>
          <p:cNvSpPr/>
          <p:nvPr/>
        </p:nvSpPr>
        <p:spPr>
          <a:xfrm>
            <a:off x="864573" y="2733065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Manual Era</a:t>
            </a:r>
            <a:endParaRPr lang="en-US" sz="18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8E1BF1AF-8DDD-3209-DF46-4704887B0E51}"/>
              </a:ext>
            </a:extLst>
          </p:cNvPr>
          <p:cNvSpPr/>
          <p:nvPr/>
        </p:nvSpPr>
        <p:spPr>
          <a:xfrm>
            <a:off x="864573" y="3281705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7DC4B8E7-C893-D6EC-9409-5865961929FA}"/>
              </a:ext>
            </a:extLst>
          </p:cNvPr>
          <p:cNvSpPr/>
          <p:nvPr/>
        </p:nvSpPr>
        <p:spPr>
          <a:xfrm>
            <a:off x="864573" y="352554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 deliverable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C4B7506E-E9EC-A735-05C1-92E9B77481EA}"/>
              </a:ext>
            </a:extLst>
          </p:cNvPr>
          <p:cNvSpPr/>
          <p:nvPr/>
        </p:nvSpPr>
        <p:spPr>
          <a:xfrm>
            <a:off x="841713" y="4196105"/>
            <a:ext cx="29260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You do everything yourself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emails, meetings, scheduling, docs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FF7E031-1847-0AC9-8849-E507D930436D}"/>
              </a:ext>
            </a:extLst>
          </p:cNvPr>
          <p:cNvSpPr/>
          <p:nvPr/>
        </p:nvSpPr>
        <p:spPr>
          <a:xfrm>
            <a:off x="864573" y="5283250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Work is fragmented</a:t>
            </a:r>
          </a:p>
          <a:p>
            <a:r>
              <a:rPr lang="en-US" sz="14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switching between tools, manual follow-ups</a:t>
            </a:r>
            <a:endParaRPr lang="en-US" sz="14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CD97F6E2-D89B-DA4C-995B-93E96A4FE4E9}"/>
              </a:ext>
            </a:extLst>
          </p:cNvPr>
          <p:cNvSpPr/>
          <p:nvPr/>
        </p:nvSpPr>
        <p:spPr>
          <a:xfrm>
            <a:off x="4476453" y="1818665"/>
            <a:ext cx="3169920" cy="4470816"/>
          </a:xfrm>
          <a:prstGeom prst="roundRect">
            <a:avLst>
              <a:gd name="adj" fmla="val 3846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F00A7E4A-E4FC-A21C-B7FF-A7E0457F3D6F}"/>
              </a:ext>
            </a:extLst>
          </p:cNvPr>
          <p:cNvSpPr/>
          <p:nvPr/>
        </p:nvSpPr>
        <p:spPr>
          <a:xfrm>
            <a:off x="4476453" y="1818665"/>
            <a:ext cx="3169920" cy="73152"/>
          </a:xfrm>
          <a:prstGeom prst="rect">
            <a:avLst/>
          </a:prstGeom>
          <a:solidFill>
            <a:srgbClr val="4A9E4A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6F20E79D-06D0-4286-4B9A-63F869560DC8}"/>
              </a:ext>
            </a:extLst>
          </p:cNvPr>
          <p:cNvSpPr/>
          <p:nvPr/>
        </p:nvSpPr>
        <p:spPr>
          <a:xfrm>
            <a:off x="4720293" y="2062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4A9E4A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4800" dirty="0">
              <a:latin typeface="Montserrat" panose="00000500000000000000" pitchFamily="2" charset="0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683A9F41-637D-E445-CA19-A89AB3B83F09}"/>
              </a:ext>
            </a:extLst>
          </p:cNvPr>
          <p:cNvSpPr/>
          <p:nvPr/>
        </p:nvSpPr>
        <p:spPr>
          <a:xfrm>
            <a:off x="4720293" y="2733065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AI-Assisted Era</a:t>
            </a:r>
            <a:endParaRPr lang="en-US" sz="18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6F7B6EA4-8829-DBB0-3CB7-4B33CC9382F9}"/>
              </a:ext>
            </a:extLst>
          </p:cNvPr>
          <p:cNvSpPr/>
          <p:nvPr/>
        </p:nvSpPr>
        <p:spPr>
          <a:xfrm>
            <a:off x="4720293" y="3281705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634752B9-1A80-93AC-7857-4F16F8339D23}"/>
              </a:ext>
            </a:extLst>
          </p:cNvPr>
          <p:cNvSpPr/>
          <p:nvPr/>
        </p:nvSpPr>
        <p:spPr>
          <a:xfrm>
            <a:off x="4720293" y="352554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 deliverable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EC0B2A10-9826-BAD2-7AAE-8D1F5F9446B6}"/>
              </a:ext>
            </a:extLst>
          </p:cNvPr>
          <p:cNvSpPr/>
          <p:nvPr/>
        </p:nvSpPr>
        <p:spPr>
          <a:xfrm>
            <a:off x="4720293" y="4318025"/>
            <a:ext cx="30251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You use AI tools</a:t>
            </a: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Copilot, ChatGPT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897184EA-BBE1-F6D5-7B52-C9918C5556B9}"/>
              </a:ext>
            </a:extLst>
          </p:cNvPr>
          <p:cNvSpPr/>
          <p:nvPr/>
        </p:nvSpPr>
        <p:spPr>
          <a:xfrm>
            <a:off x="4720293" y="5110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AI helps with tasks</a:t>
            </a:r>
          </a:p>
          <a:p>
            <a:r>
              <a:rPr lang="en-US" sz="14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meeting summaries, email drafts, scheduling help</a:t>
            </a:r>
            <a:endParaRPr lang="en-US" sz="14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8A31B40F-0B20-0588-F2BA-20606B4B31B5}"/>
              </a:ext>
            </a:extLst>
          </p:cNvPr>
          <p:cNvSpPr/>
          <p:nvPr/>
        </p:nvSpPr>
        <p:spPr>
          <a:xfrm>
            <a:off x="8482627" y="1818664"/>
            <a:ext cx="3229644" cy="4470817"/>
          </a:xfrm>
          <a:prstGeom prst="roundRect">
            <a:avLst>
              <a:gd name="adj" fmla="val 3846"/>
            </a:avLst>
          </a:prstGeom>
          <a:solidFill>
            <a:schemeClr val="bg1">
              <a:lumMod val="75000"/>
            </a:schemeClr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C5FA032C-8FD1-4453-97A5-1CB1DF730351}"/>
              </a:ext>
            </a:extLst>
          </p:cNvPr>
          <p:cNvSpPr/>
          <p:nvPr/>
        </p:nvSpPr>
        <p:spPr>
          <a:xfrm>
            <a:off x="8482627" y="1818665"/>
            <a:ext cx="3169920" cy="73152"/>
          </a:xfrm>
          <a:prstGeom prst="rect">
            <a:avLst/>
          </a:prstGeom>
          <a:solidFill>
            <a:srgbClr val="7FFF00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0B8BF30E-4082-6B21-DCF9-D8BD00F83FE1}"/>
              </a:ext>
            </a:extLst>
          </p:cNvPr>
          <p:cNvSpPr/>
          <p:nvPr/>
        </p:nvSpPr>
        <p:spPr>
          <a:xfrm>
            <a:off x="8726467" y="2062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7FFF00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4800" dirty="0">
              <a:latin typeface="Montserrat" panose="00000500000000000000" pitchFamily="2" charset="0"/>
            </a:endParaRPr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0976B25D-8C17-FE20-3306-D5AAA3C03439}"/>
              </a:ext>
            </a:extLst>
          </p:cNvPr>
          <p:cNvSpPr/>
          <p:nvPr/>
        </p:nvSpPr>
        <p:spPr>
          <a:xfrm>
            <a:off x="8726466" y="2733065"/>
            <a:ext cx="291911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Personal AI Agents Era</a:t>
            </a:r>
            <a:endParaRPr lang="en-US" sz="18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4EC72423-F9D0-084D-08EB-A836384D78B0}"/>
              </a:ext>
            </a:extLst>
          </p:cNvPr>
          <p:cNvSpPr/>
          <p:nvPr/>
        </p:nvSpPr>
        <p:spPr>
          <a:xfrm>
            <a:off x="8726467" y="3281705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42F6DEEA-7696-1660-51E2-5B4C072731DD}"/>
              </a:ext>
            </a:extLst>
          </p:cNvPr>
          <p:cNvSpPr/>
          <p:nvPr/>
        </p:nvSpPr>
        <p:spPr>
          <a:xfrm>
            <a:off x="8726467" y="352554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 deliverable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28189EF7-11D4-48CA-15F0-9D52FAAAC402}"/>
              </a:ext>
            </a:extLst>
          </p:cNvPr>
          <p:cNvSpPr/>
          <p:nvPr/>
        </p:nvSpPr>
        <p:spPr>
          <a:xfrm>
            <a:off x="8702663" y="4196105"/>
            <a:ext cx="29260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You delegate to personal AI agents</a:t>
            </a:r>
          </a:p>
          <a:p>
            <a:r>
              <a:rPr lang="en-US" sz="14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built and orchestrated in Claude Code</a:t>
            </a:r>
            <a:endParaRPr lang="en-US" sz="14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701E06AC-93FB-C844-68A8-73CA85B06E42}"/>
              </a:ext>
            </a:extLst>
          </p:cNvPr>
          <p:cNvSpPr/>
          <p:nvPr/>
        </p:nvSpPr>
        <p:spPr>
          <a:xfrm>
            <a:off x="8645187" y="5267790"/>
            <a:ext cx="2682240" cy="640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Agents execute workflows</a:t>
            </a: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emails, organized calendars, decision-ready summaries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93ED23F1-99DD-E943-0299-7D735EE98D42}"/>
              </a:ext>
            </a:extLst>
          </p:cNvPr>
          <p:cNvSpPr/>
          <p:nvPr/>
        </p:nvSpPr>
        <p:spPr>
          <a:xfrm>
            <a:off x="3889713" y="3703684"/>
            <a:ext cx="487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0C1752"/>
                </a:solidFill>
                <a:latin typeface="Montserrat" panose="00000500000000000000" pitchFamily="2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021D192F-742A-1019-5ECF-5DE46FA5A1DC}"/>
              </a:ext>
            </a:extLst>
          </p:cNvPr>
          <p:cNvSpPr/>
          <p:nvPr/>
        </p:nvSpPr>
        <p:spPr>
          <a:xfrm>
            <a:off x="7820660" y="3703684"/>
            <a:ext cx="487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0C1752"/>
                </a:solidFill>
                <a:latin typeface="Montserrat" panose="00000500000000000000" pitchFamily="2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65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1CC9-FB9D-6FC3-C61C-513CDA35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ECDA58-D4F5-0CE1-4835-3D28EB9D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139372-5869-D3B1-9AE0-18059771F7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C6763A81-713F-9A4A-0303-7BCE0EC3EE5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Agents 101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95503-64C3-E266-8582-2143C9765B9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1ADC8A6-45F3-91F8-965F-F35D2F730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BE8815-26C2-C969-2D49-662B6A98CCCC}"/>
              </a:ext>
            </a:extLst>
          </p:cNvPr>
          <p:cNvSpPr txBox="1"/>
          <p:nvPr/>
        </p:nvSpPr>
        <p:spPr>
          <a:xfrm>
            <a:off x="191887" y="749823"/>
            <a:ext cx="12026564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04792" indent="-304792" defTabSz="1219170">
              <a:spcBef>
                <a:spcPts val="1333"/>
              </a:spcBef>
            </a:pPr>
            <a:r>
              <a:rPr lang="en-US" kern="0" dirty="0">
                <a:solidFill>
                  <a:srgbClr val="000000"/>
                </a:solidFill>
                <a:cs typeface="Arial"/>
                <a:sym typeface="Arial"/>
              </a:rPr>
              <a:t>AI agents are intelligent systems that take a goal, plan the steps, and autonomously execute them using tools &amp; knowledge with minimal human input. </a:t>
            </a:r>
            <a:endParaRPr lang="en-CA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F27E01-89A0-9F81-68CB-5EEA750B8780}"/>
              </a:ext>
            </a:extLst>
          </p:cNvPr>
          <p:cNvCxnSpPr>
            <a:cxnSpLocks/>
          </p:cNvCxnSpPr>
          <p:nvPr/>
        </p:nvCxnSpPr>
        <p:spPr>
          <a:xfrm>
            <a:off x="1762175" y="4170632"/>
            <a:ext cx="621707" cy="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35FA943-F350-BDF9-095C-3657B578E202}"/>
              </a:ext>
            </a:extLst>
          </p:cNvPr>
          <p:cNvSpPr txBox="1"/>
          <p:nvPr/>
        </p:nvSpPr>
        <p:spPr>
          <a:xfrm>
            <a:off x="407188" y="3376736"/>
            <a:ext cx="2031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i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“Plan my 3-day trip to Paris”</a:t>
            </a:r>
            <a:endParaRPr lang="en-CA" sz="1400" i="1" kern="0" dirty="0">
              <a:solidFill>
                <a:srgbClr val="000000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AC69E0-581B-5B96-D6FA-8994235D9D3E}"/>
              </a:ext>
            </a:extLst>
          </p:cNvPr>
          <p:cNvSpPr txBox="1"/>
          <p:nvPr/>
        </p:nvSpPr>
        <p:spPr>
          <a:xfrm>
            <a:off x="2456086" y="4743730"/>
            <a:ext cx="161775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Planning</a:t>
            </a:r>
            <a:endParaRPr lang="en-CA" sz="1400" i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A2BB70-D739-13A1-BCDB-498B7EBA08C6}"/>
              </a:ext>
            </a:extLst>
          </p:cNvPr>
          <p:cNvSpPr txBox="1"/>
          <p:nvPr/>
        </p:nvSpPr>
        <p:spPr>
          <a:xfrm>
            <a:off x="4613045" y="5119768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Memory</a:t>
            </a:r>
            <a:endParaRPr lang="en-CA" sz="1400" i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84AB07AF-5EFD-9FE2-508C-BE23B84DF4E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78154" y="3883000"/>
            <a:ext cx="1834309" cy="995507"/>
          </a:xfrm>
          <a:prstGeom prst="curvedConnector2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A8CEF1FB-6394-8444-2BB3-3D25C0BE60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09545" y="3057565"/>
            <a:ext cx="1226688" cy="2475960"/>
          </a:xfrm>
          <a:prstGeom prst="curvedConnector2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0F8261-62B5-CC6C-94E3-FD50DE395D8B}"/>
              </a:ext>
            </a:extLst>
          </p:cNvPr>
          <p:cNvCxnSpPr>
            <a:cxnSpLocks/>
          </p:cNvCxnSpPr>
          <p:nvPr/>
        </p:nvCxnSpPr>
        <p:spPr>
          <a:xfrm>
            <a:off x="5288212" y="4462613"/>
            <a:ext cx="0" cy="720919"/>
          </a:xfrm>
          <a:prstGeom prst="line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6" descr="Generated image">
            <a:extLst>
              <a:ext uri="{FF2B5EF4-FFF2-40B4-BE49-F238E27FC236}">
                <a16:creationId xmlns:a16="http://schemas.microsoft.com/office/drawing/2014/main" id="{7932EF47-DF60-2B38-AF0D-80389754C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DFC"/>
              </a:clrFrom>
              <a:clrTo>
                <a:srgbClr val="FEFD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321" y="5104394"/>
            <a:ext cx="1464969" cy="146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Generated image">
            <a:extLst>
              <a:ext uri="{FF2B5EF4-FFF2-40B4-BE49-F238E27FC236}">
                <a16:creationId xmlns:a16="http://schemas.microsoft.com/office/drawing/2014/main" id="{D690A5C7-CBFF-EEAB-1E2E-25E372583D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DFDFC"/>
              </a:clrFrom>
              <a:clrTo>
                <a:srgbClr val="FDFD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3"/>
          <a:stretch>
            <a:fillRect/>
          </a:stretch>
        </p:blipFill>
        <p:spPr bwMode="auto">
          <a:xfrm>
            <a:off x="4543816" y="5478425"/>
            <a:ext cx="1611419" cy="139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C122A47-1A81-1519-5E88-2B98BF125B49}"/>
              </a:ext>
            </a:extLst>
          </p:cNvPr>
          <p:cNvSpPr/>
          <p:nvPr/>
        </p:nvSpPr>
        <p:spPr>
          <a:xfrm>
            <a:off x="4142333" y="3640887"/>
            <a:ext cx="2219851" cy="1057127"/>
          </a:xfrm>
          <a:prstGeom prst="roundRect">
            <a:avLst/>
          </a:prstGeom>
          <a:solidFill>
            <a:srgbClr val="0C1752"/>
          </a:solidFill>
          <a:ln>
            <a:solidFill>
              <a:srgbClr val="022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CA" sz="2133" i="1" kern="0" dirty="0">
                <a:solidFill>
                  <a:srgbClr val="EBEBE6"/>
                </a:solidFill>
                <a:latin typeface="Montserrat" panose="00000500000000000000" pitchFamily="2" charset="0"/>
                <a:sym typeface="Arial"/>
              </a:rPr>
              <a:t>Large Language Model</a:t>
            </a:r>
            <a:endParaRPr lang="en-CA" sz="1467" i="1" kern="0" dirty="0">
              <a:solidFill>
                <a:srgbClr val="EBEBE6"/>
              </a:solidFill>
              <a:latin typeface="Montserrat" panose="00000500000000000000" pitchFamily="2" charset="0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B07AB8-FB8D-5CAC-C0E3-23BEA7B3C039}"/>
              </a:ext>
            </a:extLst>
          </p:cNvPr>
          <p:cNvSpPr txBox="1"/>
          <p:nvPr/>
        </p:nvSpPr>
        <p:spPr>
          <a:xfrm>
            <a:off x="6826151" y="4888934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Tools</a:t>
            </a:r>
            <a:endParaRPr lang="en-CA" sz="1400" i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33" name="Picture 12">
            <a:extLst>
              <a:ext uri="{FF2B5EF4-FFF2-40B4-BE49-F238E27FC236}">
                <a16:creationId xmlns:a16="http://schemas.microsoft.com/office/drawing/2014/main" id="{0F0A8F29-19BC-C413-6BFC-2D7934448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852" y="5108164"/>
            <a:ext cx="1309568" cy="130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7200CB9-F226-BA29-7C8B-9440ACFC29E2}"/>
              </a:ext>
            </a:extLst>
          </p:cNvPr>
          <p:cNvSpPr/>
          <p:nvPr/>
        </p:nvSpPr>
        <p:spPr>
          <a:xfrm>
            <a:off x="2462948" y="2635431"/>
            <a:ext cx="5974567" cy="4073656"/>
          </a:xfrm>
          <a:prstGeom prst="roundRect">
            <a:avLst/>
          </a:prstGeom>
          <a:noFill/>
          <a:ln w="38100">
            <a:solidFill>
              <a:srgbClr val="022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CA" sz="1867" kern="0" dirty="0">
              <a:solidFill>
                <a:srgbClr val="022911"/>
              </a:solidFill>
              <a:latin typeface="Arial"/>
              <a:sym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7F278D-07D6-4975-58AF-0670265B3DBE}"/>
              </a:ext>
            </a:extLst>
          </p:cNvPr>
          <p:cNvSpPr txBox="1"/>
          <p:nvPr/>
        </p:nvSpPr>
        <p:spPr>
          <a:xfrm>
            <a:off x="2790694" y="2161527"/>
            <a:ext cx="1684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b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AI </a:t>
            </a:r>
            <a:r>
              <a:rPr lang="en-CA" sz="2400" b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Agent</a:t>
            </a:r>
            <a:endParaRPr lang="en-CA" sz="1400" b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80E9F6-FB73-8BEE-E22A-47BF9782864C}"/>
              </a:ext>
            </a:extLst>
          </p:cNvPr>
          <p:cNvCxnSpPr>
            <a:cxnSpLocks/>
          </p:cNvCxnSpPr>
          <p:nvPr/>
        </p:nvCxnSpPr>
        <p:spPr>
          <a:xfrm>
            <a:off x="8568075" y="4236649"/>
            <a:ext cx="540151" cy="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3" descr="Claude Logo Free Download SVG, PNG a... · LobeHub">
            <a:extLst>
              <a:ext uri="{FF2B5EF4-FFF2-40B4-BE49-F238E27FC236}">
                <a16:creationId xmlns:a16="http://schemas.microsoft.com/office/drawing/2014/main" id="{8B5E42EB-A4DF-AA36-41A3-170833A27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805" y="2766073"/>
            <a:ext cx="808364" cy="80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How Much Power Will Deep Seek Suck? Can US Grid Handle Data Demand? – This  is Not Cool">
            <a:extLst>
              <a:ext uri="{FF2B5EF4-FFF2-40B4-BE49-F238E27FC236}">
                <a16:creationId xmlns:a16="http://schemas.microsoft.com/office/drawing/2014/main" id="{7E4ED608-E806-741B-2CEB-0CDBB474E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6" t="2270" r="23974" b="42788"/>
          <a:stretch>
            <a:fillRect/>
          </a:stretch>
        </p:blipFill>
        <p:spPr bwMode="auto">
          <a:xfrm>
            <a:off x="3632901" y="2849364"/>
            <a:ext cx="1210796" cy="68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049B843-340E-4ADA-8AF4-DF34761CF000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9931" y="3957393"/>
            <a:ext cx="1242621" cy="186393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5F040BD-65CD-432B-1FC2-1C3C14386F8F}"/>
              </a:ext>
            </a:extLst>
          </p:cNvPr>
          <p:cNvSpPr txBox="1"/>
          <p:nvPr/>
        </p:nvSpPr>
        <p:spPr>
          <a:xfrm>
            <a:off x="5890832" y="1248886"/>
            <a:ext cx="61868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 defTabSz="914377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Planning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schedule sightseeing, check weather</a:t>
            </a:r>
          </a:p>
          <a:p>
            <a:pPr marL="285744" indent="-285744" defTabSz="914377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Memory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recalls that user likes museums</a:t>
            </a:r>
          </a:p>
          <a:p>
            <a:pPr marL="285744" indent="-285744" defTabSz="121917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Tools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maps, hotel, weather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BD2C2E3-3F69-1018-4E62-2BF0F7534C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7625" y="2940500"/>
            <a:ext cx="1728199" cy="2592297"/>
          </a:xfrm>
          <a:prstGeom prst="rect">
            <a:avLst/>
          </a:prstGeom>
        </p:spPr>
      </p:pic>
      <p:pic>
        <p:nvPicPr>
          <p:cNvPr id="46" name="Picture 2" descr="OpenAI (ChatGPT) Free SVG, PNG, and ... · LobeHub">
            <a:extLst>
              <a:ext uri="{FF2B5EF4-FFF2-40B4-BE49-F238E27FC236}">
                <a16:creationId xmlns:a16="http://schemas.microsoft.com/office/drawing/2014/main" id="{F0148534-CB10-8664-5C1B-D7436433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545" y="2724148"/>
            <a:ext cx="904171" cy="90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1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 animBg="1"/>
      <p:bldP spid="22" grpId="0"/>
      <p:bldP spid="31" grpId="0" animBg="1"/>
      <p:bldP spid="32" grpId="0"/>
      <p:bldP spid="34" grpId="0" animBg="1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C216-1076-8B9E-4EBA-42983FA7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6C403-6391-D567-C085-2CA37BCB5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56EB66-936B-8628-6C85-CBFD1CE6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4B67642-69A2-E57E-DAB7-3B8A716F06D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Agents in 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0F6B9-BC69-8F9A-3181-2C17B0E264E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D04DDE-3319-801D-24D6-C7B470612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76D71C-8B68-9E62-3358-0F398C08BB9C}"/>
              </a:ext>
            </a:extLst>
          </p:cNvPr>
          <p:cNvSpPr txBox="1"/>
          <p:nvPr/>
        </p:nvSpPr>
        <p:spPr>
          <a:xfrm>
            <a:off x="4382303" y="1120403"/>
            <a:ext cx="2512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hlinkClick r:id="rId4"/>
              </a:rPr>
              <a:t>Claude Agent in Chrome</a:t>
            </a:r>
            <a:endParaRPr lang="en-CA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4590E9-F8A6-AFE2-F89C-6FF2E040F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148" y="1583719"/>
            <a:ext cx="8140614" cy="503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3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0484-4B44-125A-54B2-E603DDCE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E72E3A-CC95-C1FF-EC87-156E2214E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35E6CE-852E-4311-0251-A04DE211D9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4401588-846A-037E-AC80-EAAF64AB2836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you’ll build today!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49CC92-5132-3067-F443-0DB9C482CB5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624D3ED-6F3B-CFE2-461E-5F74AE4DD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FFEE57-C850-2872-DF58-51240C949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21" y="907669"/>
            <a:ext cx="2480359" cy="5376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E04168-187C-2445-7267-820D14119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671" y="1925848"/>
            <a:ext cx="7291346" cy="328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5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A26F-F209-2742-BFC8-EC55BCB3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4DA34E-14D1-B608-A240-6915C4D635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F75944-14D6-A4EB-F8E4-4BE76C08B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B0ED9F-6FEE-651A-36E7-6430E9FE1737}"/>
              </a:ext>
            </a:extLst>
          </p:cNvPr>
          <p:cNvSpPr/>
          <p:nvPr/>
        </p:nvSpPr>
        <p:spPr>
          <a:xfrm>
            <a:off x="293914" y="793804"/>
            <a:ext cx="48235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MASTERCLASS OUTLINE &amp; LEARNING OBJECTIVES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2020E6-1611-117B-A724-513015082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12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9C323-4BF7-FB7D-0BC0-7700A93C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DAD5EB-6BAA-CF88-5F13-3939BFEB9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A94D1D-4248-3BF2-9278-186ADB6C03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2CEE571-24B1-8013-504D-8A75F402C52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Learning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D887A-1723-9DA4-0AEB-43CC6399AF1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26B0D77-E852-3364-AE60-6BE91C6DAD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8382950"/>
              </p:ext>
            </p:extLst>
          </p:nvPr>
        </p:nvGraphicFramePr>
        <p:xfrm>
          <a:off x="-32773" y="1032071"/>
          <a:ext cx="11357467" cy="537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5710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D878536-F003-45D6-8C0D-08DF5E7438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9D878536-F003-45D6-8C0D-08DF5E7438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4268A2F-6BF8-4E3A-9623-25271EA81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dgm id="{04268A2F-6BF8-4E3A-9623-25271EA819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AC446E1-0776-4288-B31A-C4D992E43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graphicEl>
                                              <a:dgm id="{9AC446E1-0776-4288-B31A-C4D992E43E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E6569B0-1426-4C20-AF79-81FFA2A8CE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graphicEl>
                                              <a:dgm id="{4E6569B0-1426-4C20-AF79-81FFA2A8CE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92FC3AA-8768-4CB4-87CF-606E2DE832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692FC3AA-8768-4CB4-87CF-606E2DE832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ADFE5E9-8326-4FA7-8DC2-2326B564A2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graphicEl>
                                              <a:dgm id="{FADFE5E9-8326-4FA7-8DC2-2326B564A2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1C17012-5DDA-44B9-925A-2403E572BD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graphicEl>
                                              <a:dgm id="{51C17012-5DDA-44B9-925A-2403E572BD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F2FD895-2620-4A1F-AED2-D7FC74A903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graphicEl>
                                              <a:dgm id="{8F2FD895-2620-4A1F-AED2-D7FC74A903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BADF1D1-F080-4C1F-8E0E-6E27339CD6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7BADF1D1-F080-4C1F-8E0E-6E27339CD6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EBD4-5CAB-36F7-EFF7-26F80A26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F1F424-C56B-3FAE-D21E-7083EDB5E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0FBF69-65E3-CCD5-073D-C5E6C99B0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8AE543C-817A-D868-AD0B-9BCB5BD620A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Workshop Outline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F07F0-BC33-3FF2-20D8-84E973A69B1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0AB03-FE02-E84C-0F01-AB9A6C70C483}"/>
              </a:ext>
            </a:extLst>
          </p:cNvPr>
          <p:cNvSpPr txBox="1"/>
          <p:nvPr/>
        </p:nvSpPr>
        <p:spPr>
          <a:xfrm>
            <a:off x="612260" y="765180"/>
            <a:ext cx="9531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Montserrat" panose="00000500000000000000" pitchFamily="2" charset="0"/>
              </a:rPr>
              <a:t>Open this Excel sheet in the workshop package titled: “</a:t>
            </a:r>
            <a:r>
              <a:rPr lang="en-US" b="1" i="1" dirty="0">
                <a:latin typeface="Montserrat" panose="00000500000000000000" pitchFamily="2" charset="0"/>
              </a:rPr>
              <a:t>Personal AI Agent Workshop - Outline.xlsx”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4D9BBC-F0F0-9F22-D6A4-CC3D87D446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80"/>
          <a:stretch>
            <a:fillRect/>
          </a:stretch>
        </p:blipFill>
        <p:spPr>
          <a:xfrm>
            <a:off x="3876201" y="1247987"/>
            <a:ext cx="4968861" cy="526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0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662E-BFB5-1F26-EB6B-D7112312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DA581C-6EE6-C55E-4FA1-A92B8BC6C2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87F9FB-5DB6-C2F5-30C8-A4FED2835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3FA59D-CD3D-0DC1-3FE8-DDA7C298E1DD}"/>
              </a:ext>
            </a:extLst>
          </p:cNvPr>
          <p:cNvSpPr/>
          <p:nvPr/>
        </p:nvSpPr>
        <p:spPr>
          <a:xfrm>
            <a:off x="293914" y="793804"/>
            <a:ext cx="48235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SUCCESS TIPS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36BBC-5744-7D7B-7F51-45247698D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97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8E27-A80D-818C-955E-A5A00A20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F2B9FF-24ED-DAAA-A36E-2BA7A95FB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780880-0DF2-FEE1-909F-F7F65133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54D7286-0A87-4B7B-5516-986D35980AF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Success Tips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A659F-23B5-5FE0-6B6E-82FADE60CDF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5FB9B-CB34-259C-4385-0D7A194617B8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8" name="Shape 288">
            <a:extLst>
              <a:ext uri="{FF2B5EF4-FFF2-40B4-BE49-F238E27FC236}">
                <a16:creationId xmlns:a16="http://schemas.microsoft.com/office/drawing/2014/main" id="{38C6C87D-6697-104A-7E1E-8BD1CCCDB9ED}"/>
              </a:ext>
            </a:extLst>
          </p:cNvPr>
          <p:cNvSpPr/>
          <p:nvPr/>
        </p:nvSpPr>
        <p:spPr>
          <a:xfrm>
            <a:off x="248230" y="961877"/>
            <a:ext cx="2743200" cy="2743200"/>
          </a:xfrm>
          <a:prstGeom prst="ellipse">
            <a:avLst/>
          </a:prstGeom>
          <a:solidFill>
            <a:srgbClr val="D56E48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Build Live (Hands-On)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Don’t just watch, build alongside.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Complete at least 1 working agent + 1 automation by the end of the masterclass.</a:t>
            </a:r>
            <a:endParaRPr kumimoji="0" lang="en-US" sz="140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0"/>
                  </a:srgbClr>
                </a:outerShdw>
              </a:effectLst>
              <a:uLnTx/>
              <a:uFillTx/>
              <a:latin typeface="Montserrat" panose="00000500000000000000" pitchFamily="2" charset="0"/>
              <a:ea typeface="Arial"/>
              <a:cs typeface="Arial"/>
              <a:sym typeface="Helvetica Neue UltraLight"/>
            </a:endParaRPr>
          </a:p>
        </p:txBody>
      </p:sp>
      <p:sp>
        <p:nvSpPr>
          <p:cNvPr id="19" name="Shape 288">
            <a:extLst>
              <a:ext uri="{FF2B5EF4-FFF2-40B4-BE49-F238E27FC236}">
                <a16:creationId xmlns:a16="http://schemas.microsoft.com/office/drawing/2014/main" id="{37D1F6F3-F113-7358-9AAC-6BC15EA0DAE1}"/>
              </a:ext>
            </a:extLst>
          </p:cNvPr>
          <p:cNvSpPr/>
          <p:nvPr/>
        </p:nvSpPr>
        <p:spPr>
          <a:xfrm>
            <a:off x="3162796" y="2603704"/>
            <a:ext cx="2743200" cy="2743200"/>
          </a:xfrm>
          <a:prstGeom prst="ellipse">
            <a:avLst/>
          </a:prstGeom>
          <a:solidFill>
            <a:srgbClr val="0C175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Ask Questions in Real Time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Drop your errors. 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Share your blockers. Debugging in public accelerates mastery.</a:t>
            </a:r>
            <a:endParaRPr kumimoji="0" lang="en-US" sz="140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0"/>
                  </a:srgbClr>
                </a:outerShdw>
              </a:effectLst>
              <a:uLnTx/>
              <a:uFillTx/>
              <a:latin typeface="Montserrat" panose="00000500000000000000" pitchFamily="2" charset="0"/>
              <a:ea typeface="Arial"/>
              <a:cs typeface="Arial"/>
              <a:sym typeface="Helvetica Neue UltraLight"/>
            </a:endParaRPr>
          </a:p>
        </p:txBody>
      </p:sp>
      <p:sp>
        <p:nvSpPr>
          <p:cNvPr id="20" name="Shape 288">
            <a:extLst>
              <a:ext uri="{FF2B5EF4-FFF2-40B4-BE49-F238E27FC236}">
                <a16:creationId xmlns:a16="http://schemas.microsoft.com/office/drawing/2014/main" id="{397AE90D-D0E2-12A6-2FA1-5A72AC921DA2}"/>
              </a:ext>
            </a:extLst>
          </p:cNvPr>
          <p:cNvSpPr/>
          <p:nvPr/>
        </p:nvSpPr>
        <p:spPr>
          <a:xfrm>
            <a:off x="6057661" y="961877"/>
            <a:ext cx="2743200" cy="2743200"/>
          </a:xfrm>
          <a:prstGeom prst="ellipse">
            <a:avLst/>
          </a:prstGeom>
          <a:solidFill>
            <a:srgbClr val="11CCDD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77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Focused Deep Work (No Multitasking)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No multitasking. Deep work only.</a:t>
            </a:r>
          </a:p>
        </p:txBody>
      </p:sp>
      <p:sp>
        <p:nvSpPr>
          <p:cNvPr id="27" name="Shape 288">
            <a:extLst>
              <a:ext uri="{FF2B5EF4-FFF2-40B4-BE49-F238E27FC236}">
                <a16:creationId xmlns:a16="http://schemas.microsoft.com/office/drawing/2014/main" id="{294752F2-A63F-A72D-E1E8-1DEA8E26DD80}"/>
              </a:ext>
            </a:extLst>
          </p:cNvPr>
          <p:cNvSpPr/>
          <p:nvPr/>
        </p:nvSpPr>
        <p:spPr>
          <a:xfrm>
            <a:off x="9101565" y="2438328"/>
            <a:ext cx="2743200" cy="27432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Share &amp; Demo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</a:rPr>
              <a:t>Post your builds.</a:t>
            </a:r>
            <a:b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</a:rPr>
            </a:b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</a:rPr>
              <a:t>Demo in Q&amp;A.</a:t>
            </a:r>
            <a:b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</a:rPr>
            </a:b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</a:rPr>
              <a:t>Momentum compounds socially.</a:t>
            </a:r>
            <a:endParaRPr lang="en-US" sz="1400" i="1" kern="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0"/>
                  </a:srgbClr>
                </a:outerShdw>
              </a:effectLst>
              <a:latin typeface="Montserrat" panose="00000500000000000000" pitchFamily="2" charset="0"/>
              <a:ea typeface="Arial"/>
              <a:cs typeface="Arial"/>
              <a:sym typeface="Helvetica Neue Ultra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13606-B8F9-21D7-C4F0-E440ED9B3B16}"/>
              </a:ext>
            </a:extLst>
          </p:cNvPr>
          <p:cNvSpPr txBox="1"/>
          <p:nvPr/>
        </p:nvSpPr>
        <p:spPr>
          <a:xfrm>
            <a:off x="1807223" y="5681677"/>
            <a:ext cx="803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LinkedIn Link: </a:t>
            </a:r>
            <a:r>
              <a:rPr lang="en-CA" sz="2400" dirty="0">
                <a:hlinkClick r:id="rId4"/>
              </a:rPr>
              <a:t>https://www.linkedin.com/in/dr-ryan-ahmed/</a:t>
            </a:r>
            <a:endParaRPr lang="en-CA" sz="2400" dirty="0"/>
          </a:p>
          <a:p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651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7" grpId="0" animBg="1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7794</TotalTime>
  <Words>813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DM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839</cp:revision>
  <dcterms:created xsi:type="dcterms:W3CDTF">2019-11-18T17:58:36Z</dcterms:created>
  <dcterms:modified xsi:type="dcterms:W3CDTF">2026-05-08T20:20:27Z</dcterms:modified>
</cp:coreProperties>
</file>