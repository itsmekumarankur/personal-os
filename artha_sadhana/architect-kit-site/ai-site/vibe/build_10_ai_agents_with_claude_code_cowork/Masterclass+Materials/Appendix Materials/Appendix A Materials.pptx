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565" r:id="rId2"/>
    <p:sldId id="4241" r:id="rId3"/>
    <p:sldId id="4118" r:id="rId4"/>
    <p:sldId id="4249" r:id="rId5"/>
    <p:sldId id="4248" r:id="rId6"/>
    <p:sldId id="4242" r:id="rId7"/>
    <p:sldId id="4280" r:id="rId8"/>
    <p:sldId id="4230" r:id="rId9"/>
    <p:sldId id="4277" r:id="rId10"/>
    <p:sldId id="4281" r:id="rId11"/>
    <p:sldId id="4282" r:id="rId12"/>
    <p:sldId id="4278" r:id="rId13"/>
    <p:sldId id="277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C1752"/>
    <a:srgbClr val="D56E48"/>
    <a:srgbClr val="1BBFD1"/>
    <a:srgbClr val="F9F9F9"/>
    <a:srgbClr val="11CCDD"/>
    <a:srgbClr val="E7C24C"/>
    <a:srgbClr val="FF0909"/>
    <a:srgbClr val="4472C4"/>
    <a:srgbClr val="D1C3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60" autoAdjust="0"/>
    <p:restoredTop sz="94721"/>
  </p:normalViewPr>
  <p:slideViewPr>
    <p:cSldViewPr snapToGrid="0" snapToObjects="1">
      <p:cViewPr varScale="1">
        <p:scale>
          <a:sx n="120" d="100"/>
          <a:sy n="120" d="100"/>
        </p:scale>
        <p:origin x="114" y="2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9E133A9-7D45-45CD-A3DC-2774D97681C7}"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CA"/>
        </a:p>
      </dgm:t>
    </dgm:pt>
    <dgm:pt modelId="{C377708F-9617-449E-9C75-F2E30BB25EF1}">
      <dgm:prSet phldrT="[Text]" custT="1"/>
      <dgm:spPr>
        <a:solidFill>
          <a:srgbClr val="0C1752"/>
        </a:solidFill>
      </dgm:spPr>
      <dgm:t>
        <a:bodyPr/>
        <a:lstStyle/>
        <a:p>
          <a:pPr>
            <a:buNone/>
          </a:pPr>
          <a:r>
            <a:rPr lang="en-CA" sz="1200" b="1" dirty="0">
              <a:latin typeface="Montserrat" panose="00000500000000000000" pitchFamily="2" charset="0"/>
            </a:rPr>
            <a:t>Guide behaviour with System Prompt </a:t>
          </a:r>
        </a:p>
        <a:p>
          <a:pPr>
            <a:buNone/>
          </a:pPr>
          <a:r>
            <a:rPr lang="en-CA" sz="1200" i="1" dirty="0">
              <a:latin typeface="Montserrat" panose="00000500000000000000" pitchFamily="2" charset="0"/>
            </a:rPr>
            <a:t>Set the persona, rules, constraints and output format</a:t>
          </a:r>
        </a:p>
      </dgm:t>
    </dgm:pt>
    <dgm:pt modelId="{38C8BA5D-BC51-4631-B9B9-45C1F475B179}" type="parTrans" cxnId="{DC6224D7-428A-4605-BDF5-F3D49FE16A9B}">
      <dgm:prSet/>
      <dgm:spPr/>
      <dgm:t>
        <a:bodyPr/>
        <a:lstStyle/>
        <a:p>
          <a:endParaRPr lang="en-CA" sz="1800"/>
        </a:p>
      </dgm:t>
    </dgm:pt>
    <dgm:pt modelId="{78D7DD6B-9583-455E-B820-160EF9925347}" type="sibTrans" cxnId="{DC6224D7-428A-4605-BDF5-F3D49FE16A9B}">
      <dgm:prSet/>
      <dgm:spPr/>
      <dgm:t>
        <a:bodyPr/>
        <a:lstStyle/>
        <a:p>
          <a:endParaRPr lang="en-CA" sz="1800"/>
        </a:p>
      </dgm:t>
    </dgm:pt>
    <dgm:pt modelId="{DFADFC1F-4DCE-48E0-8B20-B38798AEB70E}">
      <dgm:prSet phldrT="[Text]" custT="1"/>
      <dgm:spPr>
        <a:solidFill>
          <a:schemeClr val="bg1">
            <a:lumMod val="65000"/>
          </a:schemeClr>
        </a:solidFill>
      </dgm:spPr>
      <dgm:t>
        <a:bodyPr/>
        <a:lstStyle/>
        <a:p>
          <a:pPr>
            <a:buNone/>
          </a:pPr>
          <a:r>
            <a:rPr lang="en-CA" sz="1200" b="1" dirty="0">
              <a:latin typeface="Montserrat" panose="00000500000000000000" pitchFamily="2" charset="0"/>
            </a:rPr>
            <a:t>Ask for reasoning (Chain of thought):</a:t>
          </a:r>
        </a:p>
        <a:p>
          <a:pPr>
            <a:buNone/>
          </a:pPr>
          <a:r>
            <a:rPr lang="en-CA" sz="1200" i="1" dirty="0">
              <a:latin typeface="Montserrat" panose="00000500000000000000" pitchFamily="2" charset="0"/>
            </a:rPr>
            <a:t>“explain your steps” or “show the calculation before the result” to build trust and transparency.</a:t>
          </a:r>
          <a:endParaRPr lang="en-CA" sz="1200" b="1" i="1" dirty="0">
            <a:latin typeface="Montserrat" panose="00000500000000000000" pitchFamily="2" charset="0"/>
          </a:endParaRPr>
        </a:p>
      </dgm:t>
    </dgm:pt>
    <dgm:pt modelId="{0E4A02D9-5C07-4C4B-81DB-BAD6CF75123C}" type="parTrans" cxnId="{8DFE8A23-4949-4D8E-8C9F-14DD6F33C9EB}">
      <dgm:prSet/>
      <dgm:spPr/>
      <dgm:t>
        <a:bodyPr/>
        <a:lstStyle/>
        <a:p>
          <a:endParaRPr lang="en-CA" sz="1800"/>
        </a:p>
      </dgm:t>
    </dgm:pt>
    <dgm:pt modelId="{106C6D3A-33A1-4913-976A-58B57DCC7952}" type="sibTrans" cxnId="{8DFE8A23-4949-4D8E-8C9F-14DD6F33C9EB}">
      <dgm:prSet/>
      <dgm:spPr/>
      <dgm:t>
        <a:bodyPr/>
        <a:lstStyle/>
        <a:p>
          <a:endParaRPr lang="en-CA" sz="1800"/>
        </a:p>
      </dgm:t>
    </dgm:pt>
    <dgm:pt modelId="{B91A964C-6172-485A-86B7-4B25EADEC528}">
      <dgm:prSet phldrT="[Text]" custT="1"/>
      <dgm:spPr>
        <a:solidFill>
          <a:srgbClr val="1BBFD1"/>
        </a:solidFill>
      </dgm:spPr>
      <dgm:t>
        <a:bodyPr/>
        <a:lstStyle/>
        <a:p>
          <a:pPr>
            <a:buNone/>
          </a:pPr>
          <a:r>
            <a:rPr lang="en-CA" sz="1200" b="1" dirty="0">
              <a:latin typeface="Montserrat" panose="00000500000000000000" pitchFamily="2" charset="0"/>
            </a:rPr>
            <a:t>Add constraints &amp; boundaries:</a:t>
          </a:r>
        </a:p>
        <a:p>
          <a:pPr>
            <a:buNone/>
          </a:pPr>
          <a:r>
            <a:rPr lang="en-CA" sz="1200" i="1" dirty="0">
              <a:latin typeface="Montserrat" panose="00000500000000000000" pitchFamily="2" charset="0"/>
            </a:rPr>
            <a:t>Word limits, style guides, or examples help the model aim correctly. “Explain in 3 bullet points, max 15 words each.”</a:t>
          </a:r>
        </a:p>
      </dgm:t>
    </dgm:pt>
    <dgm:pt modelId="{B1295144-BA29-4E62-828C-01C9F0C06B3A}" type="parTrans" cxnId="{BA57CB58-F18D-4AE8-AD4B-9E4278371107}">
      <dgm:prSet/>
      <dgm:spPr/>
      <dgm:t>
        <a:bodyPr/>
        <a:lstStyle/>
        <a:p>
          <a:endParaRPr lang="en-CA" sz="1800"/>
        </a:p>
      </dgm:t>
    </dgm:pt>
    <dgm:pt modelId="{930AD882-C193-468F-9041-E70A1E3D350F}" type="sibTrans" cxnId="{BA57CB58-F18D-4AE8-AD4B-9E4278371107}">
      <dgm:prSet/>
      <dgm:spPr/>
      <dgm:t>
        <a:bodyPr/>
        <a:lstStyle/>
        <a:p>
          <a:endParaRPr lang="en-CA" sz="1800"/>
        </a:p>
      </dgm:t>
    </dgm:pt>
    <dgm:pt modelId="{E255C582-217A-4F0E-BC96-74D1C2C63503}">
      <dgm:prSet phldrT="[Text]" custT="1"/>
      <dgm:spPr>
        <a:solidFill>
          <a:schemeClr val="bg1">
            <a:lumMod val="65000"/>
          </a:schemeClr>
        </a:solidFill>
      </dgm:spPr>
      <dgm:t>
        <a:bodyPr/>
        <a:lstStyle/>
        <a:p>
          <a:pPr>
            <a:buNone/>
          </a:pPr>
          <a:r>
            <a:rPr lang="en-CA" sz="1200" b="1" dirty="0">
              <a:latin typeface="Montserrat" panose="00000500000000000000" pitchFamily="2" charset="0"/>
            </a:rPr>
            <a:t>Iterate and refine</a:t>
          </a:r>
        </a:p>
        <a:p>
          <a:pPr>
            <a:buNone/>
          </a:pPr>
          <a:r>
            <a:rPr lang="en-CA" sz="1200" i="1" dirty="0">
              <a:latin typeface="Montserrat" panose="00000500000000000000" pitchFamily="2" charset="0"/>
            </a:rPr>
            <a:t>The first draft is rarely the final. Treat prompts like a conversation; tweak wording, add detail, narrow scope until the output clicks.</a:t>
          </a:r>
        </a:p>
      </dgm:t>
    </dgm:pt>
    <dgm:pt modelId="{9731069B-26F2-45D9-A531-87749F2925E9}" type="parTrans" cxnId="{BD866F3E-CD9D-4B46-9597-7DDA595D9029}">
      <dgm:prSet/>
      <dgm:spPr/>
      <dgm:t>
        <a:bodyPr/>
        <a:lstStyle/>
        <a:p>
          <a:endParaRPr lang="en-CA" sz="1800"/>
        </a:p>
      </dgm:t>
    </dgm:pt>
    <dgm:pt modelId="{EE7A146E-B8A7-4923-A9C6-812026F41285}" type="sibTrans" cxnId="{BD866F3E-CD9D-4B46-9597-7DDA595D9029}">
      <dgm:prSet/>
      <dgm:spPr/>
      <dgm:t>
        <a:bodyPr/>
        <a:lstStyle/>
        <a:p>
          <a:endParaRPr lang="en-CA" sz="1800"/>
        </a:p>
      </dgm:t>
    </dgm:pt>
    <dgm:pt modelId="{F70BCC85-1453-41C7-A706-BE87F4D7E851}">
      <dgm:prSet phldrT="[Text]" custT="1"/>
      <dgm:spPr>
        <a:solidFill>
          <a:srgbClr val="0C1752"/>
        </a:solidFill>
      </dgm:spPr>
      <dgm:t>
        <a:bodyPr/>
        <a:lstStyle/>
        <a:p>
          <a:pPr>
            <a:buNone/>
          </a:pPr>
          <a:r>
            <a:rPr lang="en-CA" sz="1200" b="1" dirty="0">
              <a:latin typeface="Montserrat" panose="00000500000000000000" pitchFamily="2" charset="0"/>
            </a:rPr>
            <a:t>Anchor with examples (Few Shot Prompting): </a:t>
          </a:r>
        </a:p>
        <a:p>
          <a:pPr>
            <a:buNone/>
          </a:pPr>
          <a:r>
            <a:rPr lang="en-CA" sz="1200" i="1" dirty="0">
              <a:latin typeface="Montserrat" panose="00000500000000000000" pitchFamily="2" charset="0"/>
            </a:rPr>
            <a:t>Show the AI what “good” looks like. A sample answer, tone, or structure is worth paragraphs of instructions.</a:t>
          </a:r>
        </a:p>
      </dgm:t>
    </dgm:pt>
    <dgm:pt modelId="{880C7D08-56C8-4EA7-BFCA-B5F6EC6E161E}" type="parTrans" cxnId="{329A5C90-7F6C-4A11-949A-E0320759C099}">
      <dgm:prSet/>
      <dgm:spPr/>
      <dgm:t>
        <a:bodyPr/>
        <a:lstStyle/>
        <a:p>
          <a:endParaRPr lang="en-CA" sz="1400"/>
        </a:p>
      </dgm:t>
    </dgm:pt>
    <dgm:pt modelId="{C6A798C3-4EE7-4A7E-93DA-8B281CE55C74}" type="sibTrans" cxnId="{329A5C90-7F6C-4A11-949A-E0320759C099}">
      <dgm:prSet/>
      <dgm:spPr/>
      <dgm:t>
        <a:bodyPr/>
        <a:lstStyle/>
        <a:p>
          <a:endParaRPr lang="en-CA" sz="1400"/>
        </a:p>
      </dgm:t>
    </dgm:pt>
    <dgm:pt modelId="{1906BCDF-CF9F-4BDC-A432-9E31F12DC198}">
      <dgm:prSet phldrT="[Text]" custT="1"/>
      <dgm:spPr>
        <a:solidFill>
          <a:srgbClr val="D56E48"/>
        </a:solidFill>
      </dgm:spPr>
      <dgm:t>
        <a:bodyPr/>
        <a:lstStyle/>
        <a:p>
          <a:pPr>
            <a:buNone/>
          </a:pPr>
          <a:r>
            <a:rPr lang="en-CA" sz="1200" b="1" kern="1200" dirty="0">
              <a:solidFill>
                <a:prstClr val="white"/>
              </a:solidFill>
              <a:latin typeface="Montserrat" panose="00000500000000000000" pitchFamily="2" charset="0"/>
              <a:ea typeface="+mn-ea"/>
              <a:cs typeface="+mn-cs"/>
            </a:rPr>
            <a:t>Structured Output </a:t>
          </a:r>
        </a:p>
        <a:p>
          <a:pPr>
            <a:buNone/>
          </a:pPr>
          <a:r>
            <a:rPr lang="en-US" sz="1200" i="1" kern="1200" dirty="0">
              <a:solidFill>
                <a:prstClr val="white"/>
              </a:solidFill>
              <a:latin typeface="Montserrat" panose="00000500000000000000" pitchFamily="2" charset="0"/>
              <a:ea typeface="+mn-ea"/>
              <a:cs typeface="+mn-cs"/>
            </a:rPr>
            <a:t>Request JSON, XML, or specific formats</a:t>
          </a:r>
          <a:endParaRPr lang="en-CA" sz="1200" i="1" kern="1200" dirty="0">
            <a:solidFill>
              <a:prstClr val="white"/>
            </a:solidFill>
            <a:latin typeface="Montserrat" panose="00000500000000000000" pitchFamily="2" charset="0"/>
            <a:ea typeface="+mn-ea"/>
            <a:cs typeface="+mn-cs"/>
          </a:endParaRPr>
        </a:p>
      </dgm:t>
    </dgm:pt>
    <dgm:pt modelId="{AFAE71FE-4603-4EE5-80AA-E8B20FE275EE}" type="parTrans" cxnId="{D8C6FBF2-E556-4885-A210-1C7F67D2D872}">
      <dgm:prSet/>
      <dgm:spPr/>
      <dgm:t>
        <a:bodyPr/>
        <a:lstStyle/>
        <a:p>
          <a:endParaRPr lang="en-CA" sz="1400"/>
        </a:p>
      </dgm:t>
    </dgm:pt>
    <dgm:pt modelId="{BA686162-0039-4DE0-967F-E3B87E90010A}" type="sibTrans" cxnId="{D8C6FBF2-E556-4885-A210-1C7F67D2D872}">
      <dgm:prSet/>
      <dgm:spPr/>
      <dgm:t>
        <a:bodyPr/>
        <a:lstStyle/>
        <a:p>
          <a:endParaRPr lang="en-CA" sz="1400"/>
        </a:p>
      </dgm:t>
    </dgm:pt>
    <dgm:pt modelId="{D49B722A-D75F-44E7-B776-BAD41CD30F3D}">
      <dgm:prSet phldrT="[Text]" custT="1"/>
      <dgm:spPr>
        <a:solidFill>
          <a:srgbClr val="D56E48"/>
        </a:solidFill>
      </dgm:spPr>
      <dgm:t>
        <a:bodyPr/>
        <a:lstStyle/>
        <a:p>
          <a:pPr>
            <a:buNone/>
          </a:pPr>
          <a:r>
            <a:rPr lang="en-CA" sz="1200" b="1" dirty="0">
              <a:latin typeface="Montserrat" panose="00000500000000000000" pitchFamily="2" charset="0"/>
            </a:rPr>
            <a:t>Force Model to Avoid Hallucination </a:t>
          </a:r>
        </a:p>
        <a:p>
          <a:pPr>
            <a:buNone/>
          </a:pPr>
          <a:r>
            <a:rPr lang="en-CA" sz="1200" dirty="0">
              <a:latin typeface="Montserrat" panose="00000500000000000000" pitchFamily="2" charset="0"/>
            </a:rPr>
            <a:t>“</a:t>
          </a:r>
          <a:r>
            <a:rPr lang="en-CA" sz="1200" i="1" dirty="0">
              <a:latin typeface="Montserrat" panose="00000500000000000000" pitchFamily="2" charset="0"/>
            </a:rPr>
            <a:t>Don’t hallucinate, ground your results in the provided data. If data is missing, say ‘not enough info’ instead of guessing</a:t>
          </a:r>
          <a:r>
            <a:rPr lang="en-CA" sz="1200" dirty="0">
              <a:latin typeface="Montserrat" panose="00000500000000000000" pitchFamily="2" charset="0"/>
            </a:rPr>
            <a:t>.”</a:t>
          </a:r>
        </a:p>
      </dgm:t>
    </dgm:pt>
    <dgm:pt modelId="{AD6B76DE-FEB8-4D99-8F2C-23A996809738}" type="parTrans" cxnId="{A68EFC81-83CC-4B78-A246-BD94857F31DD}">
      <dgm:prSet/>
      <dgm:spPr/>
      <dgm:t>
        <a:bodyPr/>
        <a:lstStyle/>
        <a:p>
          <a:endParaRPr lang="en-CA" sz="1400"/>
        </a:p>
      </dgm:t>
    </dgm:pt>
    <dgm:pt modelId="{051250BB-D059-4623-8530-0FF7916EDA37}" type="sibTrans" cxnId="{A68EFC81-83CC-4B78-A246-BD94857F31DD}">
      <dgm:prSet/>
      <dgm:spPr/>
      <dgm:t>
        <a:bodyPr/>
        <a:lstStyle/>
        <a:p>
          <a:endParaRPr lang="en-CA" sz="1400"/>
        </a:p>
      </dgm:t>
    </dgm:pt>
    <dgm:pt modelId="{359F2AF5-E699-404E-AC6A-F6650BFB7A36}" type="pres">
      <dgm:prSet presAssocID="{E9E133A9-7D45-45CD-A3DC-2774D97681C7}" presName="diagram" presStyleCnt="0">
        <dgm:presLayoutVars>
          <dgm:dir/>
          <dgm:resizeHandles val="exact"/>
        </dgm:presLayoutVars>
      </dgm:prSet>
      <dgm:spPr/>
    </dgm:pt>
    <dgm:pt modelId="{C990541E-9525-4B2C-8234-06662E7CEDC6}" type="pres">
      <dgm:prSet presAssocID="{C377708F-9617-449E-9C75-F2E30BB25EF1}" presName="node" presStyleLbl="node1" presStyleIdx="0" presStyleCnt="7">
        <dgm:presLayoutVars>
          <dgm:bulletEnabled val="1"/>
        </dgm:presLayoutVars>
      </dgm:prSet>
      <dgm:spPr/>
    </dgm:pt>
    <dgm:pt modelId="{DD84BE75-F9A2-4BF3-81E5-71C1E95A6B76}" type="pres">
      <dgm:prSet presAssocID="{78D7DD6B-9583-455E-B820-160EF9925347}" presName="sibTrans" presStyleCnt="0"/>
      <dgm:spPr/>
    </dgm:pt>
    <dgm:pt modelId="{657AFCB1-7251-4BA4-9D06-5F2257B5DE2A}" type="pres">
      <dgm:prSet presAssocID="{D49B722A-D75F-44E7-B776-BAD41CD30F3D}" presName="node" presStyleLbl="node1" presStyleIdx="1" presStyleCnt="7">
        <dgm:presLayoutVars>
          <dgm:bulletEnabled val="1"/>
        </dgm:presLayoutVars>
      </dgm:prSet>
      <dgm:spPr/>
    </dgm:pt>
    <dgm:pt modelId="{2F29E5DF-F65E-4A62-9FDF-CA43FF4931E8}" type="pres">
      <dgm:prSet presAssocID="{051250BB-D059-4623-8530-0FF7916EDA37}" presName="sibTrans" presStyleCnt="0"/>
      <dgm:spPr/>
    </dgm:pt>
    <dgm:pt modelId="{4992DE3B-5367-48F3-A222-767B0D598C85}" type="pres">
      <dgm:prSet presAssocID="{DFADFC1F-4DCE-48E0-8B20-B38798AEB70E}" presName="node" presStyleLbl="node1" presStyleIdx="2" presStyleCnt="7">
        <dgm:presLayoutVars>
          <dgm:bulletEnabled val="1"/>
        </dgm:presLayoutVars>
      </dgm:prSet>
      <dgm:spPr/>
    </dgm:pt>
    <dgm:pt modelId="{ACFE14F9-802B-44C6-BFAF-A395FE6A8896}" type="pres">
      <dgm:prSet presAssocID="{106C6D3A-33A1-4913-976A-58B57DCC7952}" presName="sibTrans" presStyleCnt="0"/>
      <dgm:spPr/>
    </dgm:pt>
    <dgm:pt modelId="{319D02D5-205D-48D9-91D0-F518019683EA}" type="pres">
      <dgm:prSet presAssocID="{B91A964C-6172-485A-86B7-4B25EADEC528}" presName="node" presStyleLbl="node1" presStyleIdx="3" presStyleCnt="7">
        <dgm:presLayoutVars>
          <dgm:bulletEnabled val="1"/>
        </dgm:presLayoutVars>
      </dgm:prSet>
      <dgm:spPr/>
    </dgm:pt>
    <dgm:pt modelId="{0885A1B5-08EE-4C66-807F-2D74C4B2870A}" type="pres">
      <dgm:prSet presAssocID="{930AD882-C193-468F-9041-E70A1E3D350F}" presName="sibTrans" presStyleCnt="0"/>
      <dgm:spPr/>
    </dgm:pt>
    <dgm:pt modelId="{70B3777D-9AB4-4C20-A928-FB7A9E2B8412}" type="pres">
      <dgm:prSet presAssocID="{E255C582-217A-4F0E-BC96-74D1C2C63503}" presName="node" presStyleLbl="node1" presStyleIdx="4" presStyleCnt="7">
        <dgm:presLayoutVars>
          <dgm:bulletEnabled val="1"/>
        </dgm:presLayoutVars>
      </dgm:prSet>
      <dgm:spPr/>
    </dgm:pt>
    <dgm:pt modelId="{61685C48-D859-48BE-9281-B243243DD422}" type="pres">
      <dgm:prSet presAssocID="{EE7A146E-B8A7-4923-A9C6-812026F41285}" presName="sibTrans" presStyleCnt="0"/>
      <dgm:spPr/>
    </dgm:pt>
    <dgm:pt modelId="{F9129A72-9A16-4BF9-8A53-1E4B13A9BCA3}" type="pres">
      <dgm:prSet presAssocID="{F70BCC85-1453-41C7-A706-BE87F4D7E851}" presName="node" presStyleLbl="node1" presStyleIdx="5" presStyleCnt="7">
        <dgm:presLayoutVars>
          <dgm:bulletEnabled val="1"/>
        </dgm:presLayoutVars>
      </dgm:prSet>
      <dgm:spPr/>
    </dgm:pt>
    <dgm:pt modelId="{4F8EE3A9-55D0-42DE-9CC2-D8C3FD878D1B}" type="pres">
      <dgm:prSet presAssocID="{C6A798C3-4EE7-4A7E-93DA-8B281CE55C74}" presName="sibTrans" presStyleCnt="0"/>
      <dgm:spPr/>
    </dgm:pt>
    <dgm:pt modelId="{6052F529-2232-4925-A816-29D992A53351}" type="pres">
      <dgm:prSet presAssocID="{1906BCDF-CF9F-4BDC-A432-9E31F12DC198}" presName="node" presStyleLbl="node1" presStyleIdx="6" presStyleCnt="7">
        <dgm:presLayoutVars>
          <dgm:bulletEnabled val="1"/>
        </dgm:presLayoutVars>
      </dgm:prSet>
      <dgm:spPr/>
    </dgm:pt>
  </dgm:ptLst>
  <dgm:cxnLst>
    <dgm:cxn modelId="{2C743A1B-2E1D-4539-89FC-002D7B269977}" type="presOf" srcId="{F70BCC85-1453-41C7-A706-BE87F4D7E851}" destId="{F9129A72-9A16-4BF9-8A53-1E4B13A9BCA3}" srcOrd="0" destOrd="0" presId="urn:microsoft.com/office/officeart/2005/8/layout/default"/>
    <dgm:cxn modelId="{8DFE8A23-4949-4D8E-8C9F-14DD6F33C9EB}" srcId="{E9E133A9-7D45-45CD-A3DC-2774D97681C7}" destId="{DFADFC1F-4DCE-48E0-8B20-B38798AEB70E}" srcOrd="2" destOrd="0" parTransId="{0E4A02D9-5C07-4C4B-81DB-BAD6CF75123C}" sibTransId="{106C6D3A-33A1-4913-976A-58B57DCC7952}"/>
    <dgm:cxn modelId="{BC23BA25-4B3F-443B-85CB-0215CCC86294}" type="presOf" srcId="{E255C582-217A-4F0E-BC96-74D1C2C63503}" destId="{70B3777D-9AB4-4C20-A928-FB7A9E2B8412}" srcOrd="0" destOrd="0" presId="urn:microsoft.com/office/officeart/2005/8/layout/default"/>
    <dgm:cxn modelId="{BD866F3E-CD9D-4B46-9597-7DDA595D9029}" srcId="{E9E133A9-7D45-45CD-A3DC-2774D97681C7}" destId="{E255C582-217A-4F0E-BC96-74D1C2C63503}" srcOrd="4" destOrd="0" parTransId="{9731069B-26F2-45D9-A531-87749F2925E9}" sibTransId="{EE7A146E-B8A7-4923-A9C6-812026F41285}"/>
    <dgm:cxn modelId="{42C02048-5B19-4FD4-8790-2E15CDAE90BA}" type="presOf" srcId="{DFADFC1F-4DCE-48E0-8B20-B38798AEB70E}" destId="{4992DE3B-5367-48F3-A222-767B0D598C85}" srcOrd="0" destOrd="0" presId="urn:microsoft.com/office/officeart/2005/8/layout/default"/>
    <dgm:cxn modelId="{19A7A578-50C6-4B6C-9D90-C6269743C64A}" type="presOf" srcId="{1906BCDF-CF9F-4BDC-A432-9E31F12DC198}" destId="{6052F529-2232-4925-A816-29D992A53351}" srcOrd="0" destOrd="0" presId="urn:microsoft.com/office/officeart/2005/8/layout/default"/>
    <dgm:cxn modelId="{BA57CB58-F18D-4AE8-AD4B-9E4278371107}" srcId="{E9E133A9-7D45-45CD-A3DC-2774D97681C7}" destId="{B91A964C-6172-485A-86B7-4B25EADEC528}" srcOrd="3" destOrd="0" parTransId="{B1295144-BA29-4E62-828C-01C9F0C06B3A}" sibTransId="{930AD882-C193-468F-9041-E70A1E3D350F}"/>
    <dgm:cxn modelId="{A68EFC81-83CC-4B78-A246-BD94857F31DD}" srcId="{E9E133A9-7D45-45CD-A3DC-2774D97681C7}" destId="{D49B722A-D75F-44E7-B776-BAD41CD30F3D}" srcOrd="1" destOrd="0" parTransId="{AD6B76DE-FEB8-4D99-8F2C-23A996809738}" sibTransId="{051250BB-D059-4623-8530-0FF7916EDA37}"/>
    <dgm:cxn modelId="{329A5C90-7F6C-4A11-949A-E0320759C099}" srcId="{E9E133A9-7D45-45CD-A3DC-2774D97681C7}" destId="{F70BCC85-1453-41C7-A706-BE87F4D7E851}" srcOrd="5" destOrd="0" parTransId="{880C7D08-56C8-4EA7-BFCA-B5F6EC6E161E}" sibTransId="{C6A798C3-4EE7-4A7E-93DA-8B281CE55C74}"/>
    <dgm:cxn modelId="{2C65C991-3D98-4821-81A0-90AA73D23A27}" type="presOf" srcId="{D49B722A-D75F-44E7-B776-BAD41CD30F3D}" destId="{657AFCB1-7251-4BA4-9D06-5F2257B5DE2A}" srcOrd="0" destOrd="0" presId="urn:microsoft.com/office/officeart/2005/8/layout/default"/>
    <dgm:cxn modelId="{EB387CBE-CA18-4740-8E93-F7BBB612CB41}" type="presOf" srcId="{C377708F-9617-449E-9C75-F2E30BB25EF1}" destId="{C990541E-9525-4B2C-8234-06662E7CEDC6}" srcOrd="0" destOrd="0" presId="urn:microsoft.com/office/officeart/2005/8/layout/default"/>
    <dgm:cxn modelId="{DC6224D7-428A-4605-BDF5-F3D49FE16A9B}" srcId="{E9E133A9-7D45-45CD-A3DC-2774D97681C7}" destId="{C377708F-9617-449E-9C75-F2E30BB25EF1}" srcOrd="0" destOrd="0" parTransId="{38C8BA5D-BC51-4631-B9B9-45C1F475B179}" sibTransId="{78D7DD6B-9583-455E-B820-160EF9925347}"/>
    <dgm:cxn modelId="{C761A5DC-6883-4BD8-AB52-86E1DB5CF425}" type="presOf" srcId="{B91A964C-6172-485A-86B7-4B25EADEC528}" destId="{319D02D5-205D-48D9-91D0-F518019683EA}" srcOrd="0" destOrd="0" presId="urn:microsoft.com/office/officeart/2005/8/layout/default"/>
    <dgm:cxn modelId="{D8C6FBF2-E556-4885-A210-1C7F67D2D872}" srcId="{E9E133A9-7D45-45CD-A3DC-2774D97681C7}" destId="{1906BCDF-CF9F-4BDC-A432-9E31F12DC198}" srcOrd="6" destOrd="0" parTransId="{AFAE71FE-4603-4EE5-80AA-E8B20FE275EE}" sibTransId="{BA686162-0039-4DE0-967F-E3B87E90010A}"/>
    <dgm:cxn modelId="{ED0109F3-CDB8-41C4-9FA7-34427C3B2956}" type="presOf" srcId="{E9E133A9-7D45-45CD-A3DC-2774D97681C7}" destId="{359F2AF5-E699-404E-AC6A-F6650BFB7A36}" srcOrd="0" destOrd="0" presId="urn:microsoft.com/office/officeart/2005/8/layout/default"/>
    <dgm:cxn modelId="{0D368FC0-26A3-43CC-8EFF-4DF1DFB80A71}" type="presParOf" srcId="{359F2AF5-E699-404E-AC6A-F6650BFB7A36}" destId="{C990541E-9525-4B2C-8234-06662E7CEDC6}" srcOrd="0" destOrd="0" presId="urn:microsoft.com/office/officeart/2005/8/layout/default"/>
    <dgm:cxn modelId="{BDD76070-5507-4FE8-A082-C46E2DED0A7D}" type="presParOf" srcId="{359F2AF5-E699-404E-AC6A-F6650BFB7A36}" destId="{DD84BE75-F9A2-4BF3-81E5-71C1E95A6B76}" srcOrd="1" destOrd="0" presId="urn:microsoft.com/office/officeart/2005/8/layout/default"/>
    <dgm:cxn modelId="{0CACE3D8-4554-49A3-A36D-697A5D955514}" type="presParOf" srcId="{359F2AF5-E699-404E-AC6A-F6650BFB7A36}" destId="{657AFCB1-7251-4BA4-9D06-5F2257B5DE2A}" srcOrd="2" destOrd="0" presId="urn:microsoft.com/office/officeart/2005/8/layout/default"/>
    <dgm:cxn modelId="{319646DF-C065-48D0-9789-C276FB797832}" type="presParOf" srcId="{359F2AF5-E699-404E-AC6A-F6650BFB7A36}" destId="{2F29E5DF-F65E-4A62-9FDF-CA43FF4931E8}" srcOrd="3" destOrd="0" presId="urn:microsoft.com/office/officeart/2005/8/layout/default"/>
    <dgm:cxn modelId="{D15B3FC6-5745-4567-B306-3F9510007D84}" type="presParOf" srcId="{359F2AF5-E699-404E-AC6A-F6650BFB7A36}" destId="{4992DE3B-5367-48F3-A222-767B0D598C85}" srcOrd="4" destOrd="0" presId="urn:microsoft.com/office/officeart/2005/8/layout/default"/>
    <dgm:cxn modelId="{F1103A5E-79D2-4B31-B698-237247AC294C}" type="presParOf" srcId="{359F2AF5-E699-404E-AC6A-F6650BFB7A36}" destId="{ACFE14F9-802B-44C6-BFAF-A395FE6A8896}" srcOrd="5" destOrd="0" presId="urn:microsoft.com/office/officeart/2005/8/layout/default"/>
    <dgm:cxn modelId="{4B1BB82F-2CD7-4F9E-9F60-55C2FA1D2986}" type="presParOf" srcId="{359F2AF5-E699-404E-AC6A-F6650BFB7A36}" destId="{319D02D5-205D-48D9-91D0-F518019683EA}" srcOrd="6" destOrd="0" presId="urn:microsoft.com/office/officeart/2005/8/layout/default"/>
    <dgm:cxn modelId="{39FA3CCD-06AD-4F03-8E1A-26C24CEFAA94}" type="presParOf" srcId="{359F2AF5-E699-404E-AC6A-F6650BFB7A36}" destId="{0885A1B5-08EE-4C66-807F-2D74C4B2870A}" srcOrd="7" destOrd="0" presId="urn:microsoft.com/office/officeart/2005/8/layout/default"/>
    <dgm:cxn modelId="{74E0E002-7C45-45F3-AF48-EFBD66451D7D}" type="presParOf" srcId="{359F2AF5-E699-404E-AC6A-F6650BFB7A36}" destId="{70B3777D-9AB4-4C20-A928-FB7A9E2B8412}" srcOrd="8" destOrd="0" presId="urn:microsoft.com/office/officeart/2005/8/layout/default"/>
    <dgm:cxn modelId="{A477B477-6F8D-499E-852A-07D24F7445CB}" type="presParOf" srcId="{359F2AF5-E699-404E-AC6A-F6650BFB7A36}" destId="{61685C48-D859-48BE-9281-B243243DD422}" srcOrd="9" destOrd="0" presId="urn:microsoft.com/office/officeart/2005/8/layout/default"/>
    <dgm:cxn modelId="{2CE5CB43-74E4-40E0-B134-34C7FE4B2FE6}" type="presParOf" srcId="{359F2AF5-E699-404E-AC6A-F6650BFB7A36}" destId="{F9129A72-9A16-4BF9-8A53-1E4B13A9BCA3}" srcOrd="10" destOrd="0" presId="urn:microsoft.com/office/officeart/2005/8/layout/default"/>
    <dgm:cxn modelId="{367FA12B-82AB-4850-B544-0552964F7D0A}" type="presParOf" srcId="{359F2AF5-E699-404E-AC6A-F6650BFB7A36}" destId="{4F8EE3A9-55D0-42DE-9CC2-D8C3FD878D1B}" srcOrd="11" destOrd="0" presId="urn:microsoft.com/office/officeart/2005/8/layout/default"/>
    <dgm:cxn modelId="{E9276B71-ED6E-41DF-914D-A7A60A77A852}" type="presParOf" srcId="{359F2AF5-E699-404E-AC6A-F6650BFB7A36}" destId="{6052F529-2232-4925-A816-29D992A53351}" srcOrd="12"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90541E-9525-4B2C-8234-06662E7CEDC6}">
      <dsp:nvSpPr>
        <dsp:cNvPr id="0" name=""/>
        <dsp:cNvSpPr/>
      </dsp:nvSpPr>
      <dsp:spPr>
        <a:xfrm>
          <a:off x="3539" y="977395"/>
          <a:ext cx="2807865" cy="1684719"/>
        </a:xfrm>
        <a:prstGeom prst="rect">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CA" sz="1200" b="1" kern="1200" dirty="0">
              <a:latin typeface="Montserrat" panose="00000500000000000000" pitchFamily="2" charset="0"/>
            </a:rPr>
            <a:t>Guide behaviour with System Prompt </a:t>
          </a:r>
        </a:p>
        <a:p>
          <a:pPr marL="0" lvl="0" indent="0" algn="ctr" defTabSz="533400">
            <a:lnSpc>
              <a:spcPct val="90000"/>
            </a:lnSpc>
            <a:spcBef>
              <a:spcPct val="0"/>
            </a:spcBef>
            <a:spcAft>
              <a:spcPct val="35000"/>
            </a:spcAft>
            <a:buNone/>
          </a:pPr>
          <a:r>
            <a:rPr lang="en-CA" sz="1200" i="1" kern="1200" dirty="0">
              <a:latin typeface="Montserrat" panose="00000500000000000000" pitchFamily="2" charset="0"/>
            </a:rPr>
            <a:t>Set the persona, rules, constraints and output format</a:t>
          </a:r>
        </a:p>
      </dsp:txBody>
      <dsp:txXfrm>
        <a:off x="3539" y="977395"/>
        <a:ext cx="2807865" cy="1684719"/>
      </dsp:txXfrm>
    </dsp:sp>
    <dsp:sp modelId="{657AFCB1-7251-4BA4-9D06-5F2257B5DE2A}">
      <dsp:nvSpPr>
        <dsp:cNvPr id="0" name=""/>
        <dsp:cNvSpPr/>
      </dsp:nvSpPr>
      <dsp:spPr>
        <a:xfrm>
          <a:off x="3092191" y="977395"/>
          <a:ext cx="2807865" cy="1684719"/>
        </a:xfrm>
        <a:prstGeom prst="rect">
          <a:avLst/>
        </a:prstGeom>
        <a:solidFill>
          <a:srgbClr val="D56E4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CA" sz="1200" b="1" kern="1200" dirty="0">
              <a:latin typeface="Montserrat" panose="00000500000000000000" pitchFamily="2" charset="0"/>
            </a:rPr>
            <a:t>Force Model to Avoid Hallucination </a:t>
          </a:r>
        </a:p>
        <a:p>
          <a:pPr marL="0" lvl="0" indent="0" algn="ctr" defTabSz="533400">
            <a:lnSpc>
              <a:spcPct val="90000"/>
            </a:lnSpc>
            <a:spcBef>
              <a:spcPct val="0"/>
            </a:spcBef>
            <a:spcAft>
              <a:spcPct val="35000"/>
            </a:spcAft>
            <a:buNone/>
          </a:pPr>
          <a:r>
            <a:rPr lang="en-CA" sz="1200" kern="1200" dirty="0">
              <a:latin typeface="Montserrat" panose="00000500000000000000" pitchFamily="2" charset="0"/>
            </a:rPr>
            <a:t>“</a:t>
          </a:r>
          <a:r>
            <a:rPr lang="en-CA" sz="1200" i="1" kern="1200" dirty="0">
              <a:latin typeface="Montserrat" panose="00000500000000000000" pitchFamily="2" charset="0"/>
            </a:rPr>
            <a:t>Don’t hallucinate, ground your results in the provided data. If data is missing, say ‘not enough info’ instead of guessing</a:t>
          </a:r>
          <a:r>
            <a:rPr lang="en-CA" sz="1200" kern="1200" dirty="0">
              <a:latin typeface="Montserrat" panose="00000500000000000000" pitchFamily="2" charset="0"/>
            </a:rPr>
            <a:t>.”</a:t>
          </a:r>
        </a:p>
      </dsp:txBody>
      <dsp:txXfrm>
        <a:off x="3092191" y="977395"/>
        <a:ext cx="2807865" cy="1684719"/>
      </dsp:txXfrm>
    </dsp:sp>
    <dsp:sp modelId="{4992DE3B-5367-48F3-A222-767B0D598C85}">
      <dsp:nvSpPr>
        <dsp:cNvPr id="0" name=""/>
        <dsp:cNvSpPr/>
      </dsp:nvSpPr>
      <dsp:spPr>
        <a:xfrm>
          <a:off x="6180844" y="977395"/>
          <a:ext cx="2807865" cy="1684719"/>
        </a:xfrm>
        <a:prstGeom prst="rect">
          <a:avLst/>
        </a:prstGeom>
        <a:solidFill>
          <a:schemeClr val="bg1">
            <a:lumMod val="6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CA" sz="1200" b="1" kern="1200" dirty="0">
              <a:latin typeface="Montserrat" panose="00000500000000000000" pitchFamily="2" charset="0"/>
            </a:rPr>
            <a:t>Ask for reasoning (Chain of thought):</a:t>
          </a:r>
        </a:p>
        <a:p>
          <a:pPr marL="0" lvl="0" indent="0" algn="ctr" defTabSz="533400">
            <a:lnSpc>
              <a:spcPct val="90000"/>
            </a:lnSpc>
            <a:spcBef>
              <a:spcPct val="0"/>
            </a:spcBef>
            <a:spcAft>
              <a:spcPct val="35000"/>
            </a:spcAft>
            <a:buNone/>
          </a:pPr>
          <a:r>
            <a:rPr lang="en-CA" sz="1200" i="1" kern="1200" dirty="0">
              <a:latin typeface="Montserrat" panose="00000500000000000000" pitchFamily="2" charset="0"/>
            </a:rPr>
            <a:t>“explain your steps” or “show the calculation before the result” to build trust and transparency.</a:t>
          </a:r>
          <a:endParaRPr lang="en-CA" sz="1200" b="1" i="1" kern="1200" dirty="0">
            <a:latin typeface="Montserrat" panose="00000500000000000000" pitchFamily="2" charset="0"/>
          </a:endParaRPr>
        </a:p>
      </dsp:txBody>
      <dsp:txXfrm>
        <a:off x="6180844" y="977395"/>
        <a:ext cx="2807865" cy="1684719"/>
      </dsp:txXfrm>
    </dsp:sp>
    <dsp:sp modelId="{319D02D5-205D-48D9-91D0-F518019683EA}">
      <dsp:nvSpPr>
        <dsp:cNvPr id="0" name=""/>
        <dsp:cNvSpPr/>
      </dsp:nvSpPr>
      <dsp:spPr>
        <a:xfrm>
          <a:off x="9269496" y="977395"/>
          <a:ext cx="2807865" cy="1684719"/>
        </a:xfrm>
        <a:prstGeom prst="rect">
          <a:avLst/>
        </a:prstGeom>
        <a:solidFill>
          <a:srgbClr val="1BBFD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CA" sz="1200" b="1" kern="1200" dirty="0">
              <a:latin typeface="Montserrat" panose="00000500000000000000" pitchFamily="2" charset="0"/>
            </a:rPr>
            <a:t>Add constraints &amp; boundaries:</a:t>
          </a:r>
        </a:p>
        <a:p>
          <a:pPr marL="0" lvl="0" indent="0" algn="ctr" defTabSz="533400">
            <a:lnSpc>
              <a:spcPct val="90000"/>
            </a:lnSpc>
            <a:spcBef>
              <a:spcPct val="0"/>
            </a:spcBef>
            <a:spcAft>
              <a:spcPct val="35000"/>
            </a:spcAft>
            <a:buNone/>
          </a:pPr>
          <a:r>
            <a:rPr lang="en-CA" sz="1200" i="1" kern="1200" dirty="0">
              <a:latin typeface="Montserrat" panose="00000500000000000000" pitchFamily="2" charset="0"/>
            </a:rPr>
            <a:t>Word limits, style guides, or examples help the model aim correctly. “Explain in 3 bullet points, max 15 words each.”</a:t>
          </a:r>
        </a:p>
      </dsp:txBody>
      <dsp:txXfrm>
        <a:off x="9269496" y="977395"/>
        <a:ext cx="2807865" cy="1684719"/>
      </dsp:txXfrm>
    </dsp:sp>
    <dsp:sp modelId="{70B3777D-9AB4-4C20-A928-FB7A9E2B8412}">
      <dsp:nvSpPr>
        <dsp:cNvPr id="0" name=""/>
        <dsp:cNvSpPr/>
      </dsp:nvSpPr>
      <dsp:spPr>
        <a:xfrm>
          <a:off x="1547865" y="2942901"/>
          <a:ext cx="2807865" cy="1684719"/>
        </a:xfrm>
        <a:prstGeom prst="rect">
          <a:avLst/>
        </a:prstGeom>
        <a:solidFill>
          <a:schemeClr val="bg1">
            <a:lumMod val="6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CA" sz="1200" b="1" kern="1200" dirty="0">
              <a:latin typeface="Montserrat" panose="00000500000000000000" pitchFamily="2" charset="0"/>
            </a:rPr>
            <a:t>Iterate and refine</a:t>
          </a:r>
        </a:p>
        <a:p>
          <a:pPr marL="0" lvl="0" indent="0" algn="ctr" defTabSz="533400">
            <a:lnSpc>
              <a:spcPct val="90000"/>
            </a:lnSpc>
            <a:spcBef>
              <a:spcPct val="0"/>
            </a:spcBef>
            <a:spcAft>
              <a:spcPct val="35000"/>
            </a:spcAft>
            <a:buNone/>
          </a:pPr>
          <a:r>
            <a:rPr lang="en-CA" sz="1200" i="1" kern="1200" dirty="0">
              <a:latin typeface="Montserrat" panose="00000500000000000000" pitchFamily="2" charset="0"/>
            </a:rPr>
            <a:t>The first draft is rarely the final. Treat prompts like a conversation; tweak wording, add detail, narrow scope until the output clicks.</a:t>
          </a:r>
        </a:p>
      </dsp:txBody>
      <dsp:txXfrm>
        <a:off x="1547865" y="2942901"/>
        <a:ext cx="2807865" cy="1684719"/>
      </dsp:txXfrm>
    </dsp:sp>
    <dsp:sp modelId="{F9129A72-9A16-4BF9-8A53-1E4B13A9BCA3}">
      <dsp:nvSpPr>
        <dsp:cNvPr id="0" name=""/>
        <dsp:cNvSpPr/>
      </dsp:nvSpPr>
      <dsp:spPr>
        <a:xfrm>
          <a:off x="4636518" y="2942901"/>
          <a:ext cx="2807865" cy="1684719"/>
        </a:xfrm>
        <a:prstGeom prst="rect">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CA" sz="1200" b="1" kern="1200" dirty="0">
              <a:latin typeface="Montserrat" panose="00000500000000000000" pitchFamily="2" charset="0"/>
            </a:rPr>
            <a:t>Anchor with examples (Few Shot Prompting): </a:t>
          </a:r>
        </a:p>
        <a:p>
          <a:pPr marL="0" lvl="0" indent="0" algn="ctr" defTabSz="533400">
            <a:lnSpc>
              <a:spcPct val="90000"/>
            </a:lnSpc>
            <a:spcBef>
              <a:spcPct val="0"/>
            </a:spcBef>
            <a:spcAft>
              <a:spcPct val="35000"/>
            </a:spcAft>
            <a:buNone/>
          </a:pPr>
          <a:r>
            <a:rPr lang="en-CA" sz="1200" i="1" kern="1200" dirty="0">
              <a:latin typeface="Montserrat" panose="00000500000000000000" pitchFamily="2" charset="0"/>
            </a:rPr>
            <a:t>Show the AI what “good” looks like. A sample answer, tone, or structure is worth paragraphs of instructions.</a:t>
          </a:r>
        </a:p>
      </dsp:txBody>
      <dsp:txXfrm>
        <a:off x="4636518" y="2942901"/>
        <a:ext cx="2807865" cy="1684719"/>
      </dsp:txXfrm>
    </dsp:sp>
    <dsp:sp modelId="{6052F529-2232-4925-A816-29D992A53351}">
      <dsp:nvSpPr>
        <dsp:cNvPr id="0" name=""/>
        <dsp:cNvSpPr/>
      </dsp:nvSpPr>
      <dsp:spPr>
        <a:xfrm>
          <a:off x="7725170" y="2942901"/>
          <a:ext cx="2807865" cy="1684719"/>
        </a:xfrm>
        <a:prstGeom prst="rect">
          <a:avLst/>
        </a:prstGeom>
        <a:solidFill>
          <a:srgbClr val="D56E4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CA" sz="1200" b="1" kern="1200" dirty="0">
              <a:solidFill>
                <a:prstClr val="white"/>
              </a:solidFill>
              <a:latin typeface="Montserrat" panose="00000500000000000000" pitchFamily="2" charset="0"/>
              <a:ea typeface="+mn-ea"/>
              <a:cs typeface="+mn-cs"/>
            </a:rPr>
            <a:t>Structured Output </a:t>
          </a:r>
        </a:p>
        <a:p>
          <a:pPr marL="0" lvl="0" indent="0" algn="ctr" defTabSz="533400">
            <a:lnSpc>
              <a:spcPct val="90000"/>
            </a:lnSpc>
            <a:spcBef>
              <a:spcPct val="0"/>
            </a:spcBef>
            <a:spcAft>
              <a:spcPct val="35000"/>
            </a:spcAft>
            <a:buNone/>
          </a:pPr>
          <a:r>
            <a:rPr lang="en-US" sz="1200" i="1" kern="1200" dirty="0">
              <a:solidFill>
                <a:prstClr val="white"/>
              </a:solidFill>
              <a:latin typeface="Montserrat" panose="00000500000000000000" pitchFamily="2" charset="0"/>
              <a:ea typeface="+mn-ea"/>
              <a:cs typeface="+mn-cs"/>
            </a:rPr>
            <a:t>Request JSON, XML, or specific formats</a:t>
          </a:r>
          <a:endParaRPr lang="en-CA" sz="1200" i="1" kern="1200" dirty="0">
            <a:solidFill>
              <a:prstClr val="white"/>
            </a:solidFill>
            <a:latin typeface="Montserrat" panose="00000500000000000000" pitchFamily="2" charset="0"/>
            <a:ea typeface="+mn-ea"/>
            <a:cs typeface="+mn-cs"/>
          </a:endParaRPr>
        </a:p>
      </dsp:txBody>
      <dsp:txXfrm>
        <a:off x="7725170" y="2942901"/>
        <a:ext cx="2807865" cy="1684719"/>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C911D1-6589-4D4A-810A-D1CB24D30600}" type="datetimeFigureOut">
              <a:rPr lang="en-US" smtClean="0"/>
              <a:t>5/12/2026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234E27-21C0-AB42-9720-9468F68AD70E}" type="slidenum">
              <a:rPr lang="en-US" smtClean="0"/>
              <a:t>‹#›</a:t>
            </a:fld>
            <a:endParaRPr lang="en-US"/>
          </a:p>
        </p:txBody>
      </p:sp>
    </p:spTree>
    <p:extLst>
      <p:ext uri="{BB962C8B-B14F-4D97-AF65-F5344CB8AC3E}">
        <p14:creationId xmlns:p14="http://schemas.microsoft.com/office/powerpoint/2010/main" val="33151572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6ED6F-859A-B746-837E-C5D978EC306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46CAE93-A6A2-054F-8C31-54E8ABF6AE8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C8ADB13-4A11-2643-B65C-065BE17739F2}"/>
              </a:ext>
            </a:extLst>
          </p:cNvPr>
          <p:cNvSpPr>
            <a:spLocks noGrp="1"/>
          </p:cNvSpPr>
          <p:nvPr>
            <p:ph type="dt" sz="half" idx="10"/>
          </p:nvPr>
        </p:nvSpPr>
        <p:spPr/>
        <p:txBody>
          <a:bodyPr/>
          <a:lstStyle/>
          <a:p>
            <a:fld id="{FD8C779B-2DF9-41ED-BDF6-094A96BB5831}" type="datetime1">
              <a:rPr lang="en-US" smtClean="0"/>
              <a:t>5/12/2026</a:t>
            </a:fld>
            <a:endParaRPr lang="en-US"/>
          </a:p>
        </p:txBody>
      </p:sp>
      <p:sp>
        <p:nvSpPr>
          <p:cNvPr id="5" name="Footer Placeholder 4">
            <a:extLst>
              <a:ext uri="{FF2B5EF4-FFF2-40B4-BE49-F238E27FC236}">
                <a16:creationId xmlns:a16="http://schemas.microsoft.com/office/drawing/2014/main" id="{3F68DD79-905B-054B-B597-6AB72529A68D}"/>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3FDD4DF4-5AD9-8C41-9C38-63470B32845E}"/>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105137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F93AB-04A1-834E-A498-C252C11131D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8534D4-4817-FF44-8044-9A872518BEF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EB8C4A-8264-ED4C-B758-FA62E7CC38F6}"/>
              </a:ext>
            </a:extLst>
          </p:cNvPr>
          <p:cNvSpPr>
            <a:spLocks noGrp="1"/>
          </p:cNvSpPr>
          <p:nvPr>
            <p:ph type="dt" sz="half" idx="10"/>
          </p:nvPr>
        </p:nvSpPr>
        <p:spPr/>
        <p:txBody>
          <a:bodyPr/>
          <a:lstStyle/>
          <a:p>
            <a:fld id="{CEC83053-3D74-4D22-89B3-9024BA4F287F}" type="datetime1">
              <a:rPr lang="en-US" smtClean="0"/>
              <a:t>5/12/2026</a:t>
            </a:fld>
            <a:endParaRPr lang="en-US"/>
          </a:p>
        </p:txBody>
      </p:sp>
      <p:sp>
        <p:nvSpPr>
          <p:cNvPr id="5" name="Footer Placeholder 4">
            <a:extLst>
              <a:ext uri="{FF2B5EF4-FFF2-40B4-BE49-F238E27FC236}">
                <a16:creationId xmlns:a16="http://schemas.microsoft.com/office/drawing/2014/main" id="{878AE0D2-BE66-FF45-B7B1-F69E22F06CE9}"/>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49FB4184-A60F-6246-8A9A-79DD6FECEA19}"/>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17151044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A2D0B-A98C-6E4C-9A34-47981F0C23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655EE8E-C392-5E47-ADCB-A446128CAD2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6B14B18-53C2-D548-8CFF-5D7097F07978}"/>
              </a:ext>
            </a:extLst>
          </p:cNvPr>
          <p:cNvSpPr>
            <a:spLocks noGrp="1"/>
          </p:cNvSpPr>
          <p:nvPr>
            <p:ph type="dt" sz="half" idx="10"/>
          </p:nvPr>
        </p:nvSpPr>
        <p:spPr/>
        <p:txBody>
          <a:bodyPr/>
          <a:lstStyle/>
          <a:p>
            <a:fld id="{37A6BCF6-84B7-49AA-A69F-35D95B9487C2}" type="datetime1">
              <a:rPr lang="en-US" smtClean="0"/>
              <a:t>5/12/2026</a:t>
            </a:fld>
            <a:endParaRPr lang="en-US"/>
          </a:p>
        </p:txBody>
      </p:sp>
      <p:sp>
        <p:nvSpPr>
          <p:cNvPr id="5" name="Footer Placeholder 4">
            <a:extLst>
              <a:ext uri="{FF2B5EF4-FFF2-40B4-BE49-F238E27FC236}">
                <a16:creationId xmlns:a16="http://schemas.microsoft.com/office/drawing/2014/main" id="{1710654B-C8C3-F647-BDFC-BE54D2B2895E}"/>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BCD63980-622B-334C-9137-9A86615196EB}"/>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40065804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92288-ED8B-E34E-BAB6-1D26157B90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86AE68A-CA3F-9948-9F78-46C13FEE829F}"/>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11E62E7-8BD2-264E-A470-F8E73C9D6FE5}"/>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E423621-D1A0-D241-B666-A457ACCAB3EB}"/>
              </a:ext>
            </a:extLst>
          </p:cNvPr>
          <p:cNvSpPr>
            <a:spLocks noGrp="1"/>
          </p:cNvSpPr>
          <p:nvPr>
            <p:ph type="dt" sz="half" idx="10"/>
          </p:nvPr>
        </p:nvSpPr>
        <p:spPr/>
        <p:txBody>
          <a:bodyPr/>
          <a:lstStyle/>
          <a:p>
            <a:fld id="{DFF119D7-9FF6-460F-A484-0C02884C819E}" type="datetime1">
              <a:rPr lang="en-US" smtClean="0"/>
              <a:t>5/12/2026</a:t>
            </a:fld>
            <a:endParaRPr lang="en-US"/>
          </a:p>
        </p:txBody>
      </p:sp>
      <p:sp>
        <p:nvSpPr>
          <p:cNvPr id="6" name="Footer Placeholder 5">
            <a:extLst>
              <a:ext uri="{FF2B5EF4-FFF2-40B4-BE49-F238E27FC236}">
                <a16:creationId xmlns:a16="http://schemas.microsoft.com/office/drawing/2014/main" id="{D5769F7B-BD42-C44E-AA35-681E6A1C40A4}"/>
              </a:ext>
            </a:extLst>
          </p:cNvPr>
          <p:cNvSpPr>
            <a:spLocks noGrp="1"/>
          </p:cNvSpPr>
          <p:nvPr>
            <p:ph type="ftr" sz="quarter" idx="11"/>
          </p:nvPr>
        </p:nvSpPr>
        <p:spPr/>
        <p:txBody>
          <a:bodyPr/>
          <a:lstStyle/>
          <a:p>
            <a:r>
              <a:rPr lang="en-US"/>
              <a:t>Dr. Ryan Ahmed @Stemplicity</a:t>
            </a:r>
          </a:p>
        </p:txBody>
      </p:sp>
      <p:sp>
        <p:nvSpPr>
          <p:cNvPr id="7" name="Slide Number Placeholder 6">
            <a:extLst>
              <a:ext uri="{FF2B5EF4-FFF2-40B4-BE49-F238E27FC236}">
                <a16:creationId xmlns:a16="http://schemas.microsoft.com/office/drawing/2014/main" id="{BA17368C-62E4-C243-98AE-B5BC9B4F3F09}"/>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32881024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8A85E-7345-A641-A78E-CFCE6B479C3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BEA13C7-3C24-DC40-8DAD-E16482E601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CF90715-8982-4245-AC34-4AFC280BDFC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C4CC337-7A68-B44F-A75F-2EAED4C8CC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24BF17B-E9E2-5A4F-9564-4E8671A7A27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6DA4340-16C5-D64A-954E-D207165B5D6E}"/>
              </a:ext>
            </a:extLst>
          </p:cNvPr>
          <p:cNvSpPr>
            <a:spLocks noGrp="1"/>
          </p:cNvSpPr>
          <p:nvPr>
            <p:ph type="dt" sz="half" idx="10"/>
          </p:nvPr>
        </p:nvSpPr>
        <p:spPr/>
        <p:txBody>
          <a:bodyPr/>
          <a:lstStyle/>
          <a:p>
            <a:fld id="{00D3F2F9-9F59-4926-81E1-5AE7B5F13616}" type="datetime1">
              <a:rPr lang="en-US" smtClean="0"/>
              <a:t>5/12/2026</a:t>
            </a:fld>
            <a:endParaRPr lang="en-US"/>
          </a:p>
        </p:txBody>
      </p:sp>
      <p:sp>
        <p:nvSpPr>
          <p:cNvPr id="8" name="Footer Placeholder 7">
            <a:extLst>
              <a:ext uri="{FF2B5EF4-FFF2-40B4-BE49-F238E27FC236}">
                <a16:creationId xmlns:a16="http://schemas.microsoft.com/office/drawing/2014/main" id="{5B44C0C9-507A-DC40-9896-CAA4CCBF98F5}"/>
              </a:ext>
            </a:extLst>
          </p:cNvPr>
          <p:cNvSpPr>
            <a:spLocks noGrp="1"/>
          </p:cNvSpPr>
          <p:nvPr>
            <p:ph type="ftr" sz="quarter" idx="11"/>
          </p:nvPr>
        </p:nvSpPr>
        <p:spPr/>
        <p:txBody>
          <a:bodyPr/>
          <a:lstStyle/>
          <a:p>
            <a:r>
              <a:rPr lang="en-US"/>
              <a:t>Dr. Ryan Ahmed @Stemplicity</a:t>
            </a:r>
          </a:p>
        </p:txBody>
      </p:sp>
      <p:sp>
        <p:nvSpPr>
          <p:cNvPr id="9" name="Slide Number Placeholder 8">
            <a:extLst>
              <a:ext uri="{FF2B5EF4-FFF2-40B4-BE49-F238E27FC236}">
                <a16:creationId xmlns:a16="http://schemas.microsoft.com/office/drawing/2014/main" id="{B4C3C304-57C8-6848-8E40-051A6BFA3F85}"/>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7709954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31005-2F0C-3F41-8F0D-B94FF1E86A0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76EC46B-9591-7147-B23E-808DFCDBEEE0}"/>
              </a:ext>
            </a:extLst>
          </p:cNvPr>
          <p:cNvSpPr>
            <a:spLocks noGrp="1"/>
          </p:cNvSpPr>
          <p:nvPr>
            <p:ph type="dt" sz="half" idx="10"/>
          </p:nvPr>
        </p:nvSpPr>
        <p:spPr/>
        <p:txBody>
          <a:bodyPr/>
          <a:lstStyle/>
          <a:p>
            <a:fld id="{2425E9FE-B00F-4787-941B-81F5C60BF956}" type="datetime1">
              <a:rPr lang="en-US" smtClean="0"/>
              <a:t>5/12/2026</a:t>
            </a:fld>
            <a:endParaRPr lang="en-US"/>
          </a:p>
        </p:txBody>
      </p:sp>
      <p:sp>
        <p:nvSpPr>
          <p:cNvPr id="4" name="Footer Placeholder 3">
            <a:extLst>
              <a:ext uri="{FF2B5EF4-FFF2-40B4-BE49-F238E27FC236}">
                <a16:creationId xmlns:a16="http://schemas.microsoft.com/office/drawing/2014/main" id="{41A8438C-4B28-CC47-9F0D-D243C05972C5}"/>
              </a:ext>
            </a:extLst>
          </p:cNvPr>
          <p:cNvSpPr>
            <a:spLocks noGrp="1"/>
          </p:cNvSpPr>
          <p:nvPr>
            <p:ph type="ftr" sz="quarter" idx="11"/>
          </p:nvPr>
        </p:nvSpPr>
        <p:spPr/>
        <p:txBody>
          <a:bodyPr/>
          <a:lstStyle/>
          <a:p>
            <a:r>
              <a:rPr lang="en-US"/>
              <a:t>Dr. Ryan Ahmed @Stemplicity</a:t>
            </a:r>
          </a:p>
        </p:txBody>
      </p:sp>
      <p:sp>
        <p:nvSpPr>
          <p:cNvPr id="5" name="Slide Number Placeholder 4">
            <a:extLst>
              <a:ext uri="{FF2B5EF4-FFF2-40B4-BE49-F238E27FC236}">
                <a16:creationId xmlns:a16="http://schemas.microsoft.com/office/drawing/2014/main" id="{55C64186-1092-3244-AA0C-4F8C98ECF008}"/>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3357577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81ABCA-C9B4-2C4E-A11A-21473A2C36B2}"/>
              </a:ext>
            </a:extLst>
          </p:cNvPr>
          <p:cNvSpPr>
            <a:spLocks noGrp="1"/>
          </p:cNvSpPr>
          <p:nvPr>
            <p:ph type="dt" sz="half" idx="10"/>
          </p:nvPr>
        </p:nvSpPr>
        <p:spPr/>
        <p:txBody>
          <a:bodyPr/>
          <a:lstStyle/>
          <a:p>
            <a:fld id="{A83063A8-27AB-4485-9BAB-385A926DB554}" type="datetime1">
              <a:rPr lang="en-US" smtClean="0"/>
              <a:t>5/12/2026</a:t>
            </a:fld>
            <a:endParaRPr lang="en-US"/>
          </a:p>
        </p:txBody>
      </p:sp>
      <p:sp>
        <p:nvSpPr>
          <p:cNvPr id="3" name="Footer Placeholder 2">
            <a:extLst>
              <a:ext uri="{FF2B5EF4-FFF2-40B4-BE49-F238E27FC236}">
                <a16:creationId xmlns:a16="http://schemas.microsoft.com/office/drawing/2014/main" id="{C628B611-5E83-0843-977C-16E1A2E894CA}"/>
              </a:ext>
            </a:extLst>
          </p:cNvPr>
          <p:cNvSpPr>
            <a:spLocks noGrp="1"/>
          </p:cNvSpPr>
          <p:nvPr>
            <p:ph type="ftr" sz="quarter" idx="11"/>
          </p:nvPr>
        </p:nvSpPr>
        <p:spPr/>
        <p:txBody>
          <a:bodyPr/>
          <a:lstStyle/>
          <a:p>
            <a:r>
              <a:rPr lang="en-US"/>
              <a:t>Dr. Ryan Ahmed @Stemplicity</a:t>
            </a:r>
          </a:p>
        </p:txBody>
      </p:sp>
      <p:sp>
        <p:nvSpPr>
          <p:cNvPr id="4" name="Slide Number Placeholder 3">
            <a:extLst>
              <a:ext uri="{FF2B5EF4-FFF2-40B4-BE49-F238E27FC236}">
                <a16:creationId xmlns:a16="http://schemas.microsoft.com/office/drawing/2014/main" id="{1A6D3613-5124-BA4D-9CAB-52053A73DB72}"/>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13273423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D5775-3C65-984A-BA3D-74F6AA5404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0876B8A-7DF2-254A-A58A-3F781F1A70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17C9F2F-598A-9444-B48C-6BA9400EF9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EFA619B-B04E-A94F-B294-EE523AB822EB}"/>
              </a:ext>
            </a:extLst>
          </p:cNvPr>
          <p:cNvSpPr>
            <a:spLocks noGrp="1"/>
          </p:cNvSpPr>
          <p:nvPr>
            <p:ph type="dt" sz="half" idx="10"/>
          </p:nvPr>
        </p:nvSpPr>
        <p:spPr/>
        <p:txBody>
          <a:bodyPr/>
          <a:lstStyle/>
          <a:p>
            <a:fld id="{B91EE9DF-0ED6-4B61-A1FD-8DD75280FE01}" type="datetime1">
              <a:rPr lang="en-US" smtClean="0"/>
              <a:t>5/12/2026</a:t>
            </a:fld>
            <a:endParaRPr lang="en-US"/>
          </a:p>
        </p:txBody>
      </p:sp>
      <p:sp>
        <p:nvSpPr>
          <p:cNvPr id="6" name="Footer Placeholder 5">
            <a:extLst>
              <a:ext uri="{FF2B5EF4-FFF2-40B4-BE49-F238E27FC236}">
                <a16:creationId xmlns:a16="http://schemas.microsoft.com/office/drawing/2014/main" id="{F218418F-6D05-564F-ACAC-0CE18B415C47}"/>
              </a:ext>
            </a:extLst>
          </p:cNvPr>
          <p:cNvSpPr>
            <a:spLocks noGrp="1"/>
          </p:cNvSpPr>
          <p:nvPr>
            <p:ph type="ftr" sz="quarter" idx="11"/>
          </p:nvPr>
        </p:nvSpPr>
        <p:spPr/>
        <p:txBody>
          <a:bodyPr/>
          <a:lstStyle/>
          <a:p>
            <a:r>
              <a:rPr lang="en-US"/>
              <a:t>Dr. Ryan Ahmed @Stemplicity</a:t>
            </a:r>
          </a:p>
        </p:txBody>
      </p:sp>
      <p:sp>
        <p:nvSpPr>
          <p:cNvPr id="7" name="Slide Number Placeholder 6">
            <a:extLst>
              <a:ext uri="{FF2B5EF4-FFF2-40B4-BE49-F238E27FC236}">
                <a16:creationId xmlns:a16="http://schemas.microsoft.com/office/drawing/2014/main" id="{2652FA7B-E334-F841-9F55-8FE3994F6708}"/>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547199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20FD-C21B-F942-933E-C7F1539AEB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50509F0-CB84-8346-88EC-B60FAB2391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C2B07D7-B626-4245-8DB7-641F9BE45C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9192CF3-BF8E-CC45-AFD1-29BF788849AD}"/>
              </a:ext>
            </a:extLst>
          </p:cNvPr>
          <p:cNvSpPr>
            <a:spLocks noGrp="1"/>
          </p:cNvSpPr>
          <p:nvPr>
            <p:ph type="dt" sz="half" idx="10"/>
          </p:nvPr>
        </p:nvSpPr>
        <p:spPr/>
        <p:txBody>
          <a:bodyPr/>
          <a:lstStyle/>
          <a:p>
            <a:fld id="{0C6B4C01-5047-4D04-A79D-6D96B1DB76E2}" type="datetime1">
              <a:rPr lang="en-US" smtClean="0"/>
              <a:t>5/12/2026</a:t>
            </a:fld>
            <a:endParaRPr lang="en-US"/>
          </a:p>
        </p:txBody>
      </p:sp>
      <p:sp>
        <p:nvSpPr>
          <p:cNvPr id="6" name="Footer Placeholder 5">
            <a:extLst>
              <a:ext uri="{FF2B5EF4-FFF2-40B4-BE49-F238E27FC236}">
                <a16:creationId xmlns:a16="http://schemas.microsoft.com/office/drawing/2014/main" id="{91BEEA5E-B447-2945-A61F-23F43D1BAE5F}"/>
              </a:ext>
            </a:extLst>
          </p:cNvPr>
          <p:cNvSpPr>
            <a:spLocks noGrp="1"/>
          </p:cNvSpPr>
          <p:nvPr>
            <p:ph type="ftr" sz="quarter" idx="11"/>
          </p:nvPr>
        </p:nvSpPr>
        <p:spPr/>
        <p:txBody>
          <a:bodyPr/>
          <a:lstStyle/>
          <a:p>
            <a:r>
              <a:rPr lang="en-US"/>
              <a:t>Dr. Ryan Ahmed @Stemplicity</a:t>
            </a:r>
          </a:p>
        </p:txBody>
      </p:sp>
      <p:sp>
        <p:nvSpPr>
          <p:cNvPr id="7" name="Slide Number Placeholder 6">
            <a:extLst>
              <a:ext uri="{FF2B5EF4-FFF2-40B4-BE49-F238E27FC236}">
                <a16:creationId xmlns:a16="http://schemas.microsoft.com/office/drawing/2014/main" id="{4E03110A-1EF4-4E47-BC27-95CCC22DB031}"/>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40415639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94858-278B-D14B-9123-9451D8F7BB9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B98E07C-511F-3A43-84A6-1011012918C1}"/>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B27FEB-35FC-E245-9B8A-12B959651942}"/>
              </a:ext>
            </a:extLst>
          </p:cNvPr>
          <p:cNvSpPr>
            <a:spLocks noGrp="1"/>
          </p:cNvSpPr>
          <p:nvPr>
            <p:ph type="dt" sz="half" idx="10"/>
          </p:nvPr>
        </p:nvSpPr>
        <p:spPr/>
        <p:txBody>
          <a:bodyPr/>
          <a:lstStyle/>
          <a:p>
            <a:fld id="{2050BBC8-E478-43C9-A4F1-EDD4F72015DC}" type="datetime1">
              <a:rPr lang="en-US" smtClean="0"/>
              <a:t>5/12/2026</a:t>
            </a:fld>
            <a:endParaRPr lang="en-US"/>
          </a:p>
        </p:txBody>
      </p:sp>
      <p:sp>
        <p:nvSpPr>
          <p:cNvPr id="5" name="Footer Placeholder 4">
            <a:extLst>
              <a:ext uri="{FF2B5EF4-FFF2-40B4-BE49-F238E27FC236}">
                <a16:creationId xmlns:a16="http://schemas.microsoft.com/office/drawing/2014/main" id="{06777081-9459-C64F-895D-A9A37C0D0BB7}"/>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1FAC1E24-D886-5444-8983-468379B78FD8}"/>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1663703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7F08AD-56F2-8141-B3EC-B0792780C20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C7A58ED-0A7F-F541-B86D-470505704EBC}"/>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82861A-7351-3846-BCB0-C5618DA092CE}"/>
              </a:ext>
            </a:extLst>
          </p:cNvPr>
          <p:cNvSpPr>
            <a:spLocks noGrp="1"/>
          </p:cNvSpPr>
          <p:nvPr>
            <p:ph type="dt" sz="half" idx="10"/>
          </p:nvPr>
        </p:nvSpPr>
        <p:spPr/>
        <p:txBody>
          <a:bodyPr/>
          <a:lstStyle/>
          <a:p>
            <a:fld id="{04321BB6-29D9-437A-B4EB-C48447ACC5C8}" type="datetime1">
              <a:rPr lang="en-US" smtClean="0"/>
              <a:t>5/12/2026</a:t>
            </a:fld>
            <a:endParaRPr lang="en-US"/>
          </a:p>
        </p:txBody>
      </p:sp>
      <p:sp>
        <p:nvSpPr>
          <p:cNvPr id="5" name="Footer Placeholder 4">
            <a:extLst>
              <a:ext uri="{FF2B5EF4-FFF2-40B4-BE49-F238E27FC236}">
                <a16:creationId xmlns:a16="http://schemas.microsoft.com/office/drawing/2014/main" id="{BAA1FD98-D553-4C46-941B-9CF2C56A19FE}"/>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BABD676D-8472-4F4A-A337-CF5E8C495173}"/>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9773032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B070BF-9A90-A245-B77A-28DCF3E4E9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19F1332-889D-FA43-A51D-33C48B35BB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27FC81-D9EE-0347-B9BA-8E603587AC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729903-C382-4170-95C6-7F2CD4702B84}" type="datetime1">
              <a:rPr lang="en-US" smtClean="0"/>
              <a:t>5/12/2026</a:t>
            </a:fld>
            <a:endParaRPr lang="en-US"/>
          </a:p>
        </p:txBody>
      </p:sp>
      <p:sp>
        <p:nvSpPr>
          <p:cNvPr id="5" name="Footer Placeholder 4">
            <a:extLst>
              <a:ext uri="{FF2B5EF4-FFF2-40B4-BE49-F238E27FC236}">
                <a16:creationId xmlns:a16="http://schemas.microsoft.com/office/drawing/2014/main" id="{F7CC4954-DDAB-064F-B985-8986B1132B8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Dr. Ryan Ahmed @Stemplicity</a:t>
            </a:r>
          </a:p>
        </p:txBody>
      </p:sp>
      <p:sp>
        <p:nvSpPr>
          <p:cNvPr id="6" name="Slide Number Placeholder 5">
            <a:extLst>
              <a:ext uri="{FF2B5EF4-FFF2-40B4-BE49-F238E27FC236}">
                <a16:creationId xmlns:a16="http://schemas.microsoft.com/office/drawing/2014/main" id="{E670476A-2C89-5D4A-A893-BDE0768995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AA372C-9768-B740-91C6-444FA6615483}" type="slidenum">
              <a:rPr lang="en-US" smtClean="0"/>
              <a:t>‹#›</a:t>
            </a:fld>
            <a:endParaRPr lang="en-US"/>
          </a:p>
        </p:txBody>
      </p:sp>
    </p:spTree>
    <p:extLst>
      <p:ext uri="{BB962C8B-B14F-4D97-AF65-F5344CB8AC3E}">
        <p14:creationId xmlns:p14="http://schemas.microsoft.com/office/powerpoint/2010/main" val="2598711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png"/><Relationship Id="rId7" Type="http://schemas.openxmlformats.org/officeDocument/2006/relationships/diagramColors" Target="../diagrams/colors1.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hyperlink" Target="https://platform.openai.com/tokenizer"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hyperlink" Target="https://futurism.com/altman-please-thanks-chatgpt" TargetMode="External"/><Relationship Id="rId4" Type="http://schemas.openxmlformats.org/officeDocument/2006/relationships/hyperlink" Target="https://platform.openai.com/tokenizer"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AF529F-B86A-83C8-478E-307AC30917EC}"/>
              </a:ext>
            </a:extLst>
          </p:cNvPr>
          <p:cNvPicPr>
            <a:picLocks noChangeAspect="1"/>
          </p:cNvPicPr>
          <p:nvPr/>
        </p:nvPicPr>
        <p:blipFill>
          <a:blip r:embed="rId2"/>
          <a:stretch>
            <a:fillRect/>
          </a:stretch>
        </p:blipFill>
        <p:spPr>
          <a:xfrm>
            <a:off x="-6382" y="-1"/>
            <a:ext cx="12198382" cy="6858001"/>
          </a:xfrm>
          <a:prstGeom prst="rect">
            <a:avLst/>
          </a:prstGeom>
        </p:spPr>
      </p:pic>
      <p:sp>
        <p:nvSpPr>
          <p:cNvPr id="4" name="Rectangle 3">
            <a:extLst>
              <a:ext uri="{FF2B5EF4-FFF2-40B4-BE49-F238E27FC236}">
                <a16:creationId xmlns:a16="http://schemas.microsoft.com/office/drawing/2014/main" id="{8C403872-6FAD-0F11-5844-575593A583D8}"/>
              </a:ext>
            </a:extLst>
          </p:cNvPr>
          <p:cNvSpPr/>
          <p:nvPr/>
        </p:nvSpPr>
        <p:spPr>
          <a:xfrm>
            <a:off x="134841" y="70651"/>
            <a:ext cx="5256143" cy="2554545"/>
          </a:xfrm>
          <a:prstGeom prst="rect">
            <a:avLst/>
          </a:prstGeom>
        </p:spPr>
        <p:txBody>
          <a:bodyPr wrap="square">
            <a:spAutoFit/>
          </a:bodyPr>
          <a:lstStyle/>
          <a:p>
            <a:r>
              <a:rPr lang="en-US" sz="4000" b="1" dirty="0">
                <a:solidFill>
                  <a:schemeClr val="bg1"/>
                </a:solidFill>
                <a:latin typeface="Montserrat" charset="0"/>
              </a:rPr>
              <a:t>BUILD YOUR PERSONAL AI AGENT WITH CLAUDE CODE</a:t>
            </a:r>
            <a:endParaRPr lang="en-US" sz="4000" b="1" dirty="0">
              <a:solidFill>
                <a:schemeClr val="bg1"/>
              </a:solidFill>
              <a:latin typeface="Montserrat" charset="0"/>
              <a:ea typeface="Montserrat" charset="0"/>
              <a:cs typeface="Montserrat" charset="0"/>
            </a:endParaRPr>
          </a:p>
        </p:txBody>
      </p:sp>
      <p:pic>
        <p:nvPicPr>
          <p:cNvPr id="6" name="Picture 5">
            <a:extLst>
              <a:ext uri="{FF2B5EF4-FFF2-40B4-BE49-F238E27FC236}">
                <a16:creationId xmlns:a16="http://schemas.microsoft.com/office/drawing/2014/main" id="{8F922CCA-AE82-A418-52D1-CBC82BEC14DD}"/>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22707112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D8119-7316-DCCD-8529-89E696261DB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DF8B20D-38DE-5853-3A46-478AAC00AA86}"/>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A2590D81-BD50-189A-6CC1-2F60C37A78AF}"/>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4B9C261F-2FE1-3933-13ED-22A8DEA29FED}"/>
              </a:ext>
            </a:extLst>
          </p:cNvPr>
          <p:cNvSpPr/>
          <p:nvPr/>
        </p:nvSpPr>
        <p:spPr>
          <a:xfrm>
            <a:off x="293914" y="793804"/>
            <a:ext cx="5578566" cy="1323439"/>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PROMPT ENGINEERING</a:t>
            </a:r>
          </a:p>
        </p:txBody>
      </p:sp>
      <p:pic>
        <p:nvPicPr>
          <p:cNvPr id="5" name="Picture 4">
            <a:extLst>
              <a:ext uri="{FF2B5EF4-FFF2-40B4-BE49-F238E27FC236}">
                <a16:creationId xmlns:a16="http://schemas.microsoft.com/office/drawing/2014/main" id="{9CFF56D5-8E7B-B4BF-143C-DBAB3836B1F0}"/>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3934868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A0AF0-F86C-94D4-AAA6-5E8436A2245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CB30408-F074-D832-A3A0-E25D3D34DADB}"/>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C21935F2-0703-162F-14BA-812C94212932}"/>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BE4C690D-E529-18C5-5690-87D18FE71422}"/>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What is Prompt Engineering?</a:t>
            </a:r>
          </a:p>
        </p:txBody>
      </p:sp>
      <p:sp>
        <p:nvSpPr>
          <p:cNvPr id="9" name="TextBox 8">
            <a:extLst>
              <a:ext uri="{FF2B5EF4-FFF2-40B4-BE49-F238E27FC236}">
                <a16:creationId xmlns:a16="http://schemas.microsoft.com/office/drawing/2014/main" id="{CA4FB8CB-C147-4A2E-3D2C-9C3F6CCE7DA3}"/>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2" name="Text Placeholder 2">
            <a:extLst>
              <a:ext uri="{FF2B5EF4-FFF2-40B4-BE49-F238E27FC236}">
                <a16:creationId xmlns:a16="http://schemas.microsoft.com/office/drawing/2014/main" id="{01796F8B-9DA9-613E-7780-54E66F3E50A9}"/>
              </a:ext>
            </a:extLst>
          </p:cNvPr>
          <p:cNvSpPr txBox="1">
            <a:spLocks/>
          </p:cNvSpPr>
          <p:nvPr/>
        </p:nvSpPr>
        <p:spPr>
          <a:xfrm>
            <a:off x="154722" y="843061"/>
            <a:ext cx="11926147" cy="1656067"/>
          </a:xfrm>
          <a:prstGeom prst="rect">
            <a:avLst/>
          </a:prstGeom>
        </p:spPr>
        <p:txBody>
          <a:bodyPr vert="horz" lIns="60960" tIns="30480" rIns="60960" bIns="30480" rtlCol="0">
            <a:noAutofit/>
          </a:bodyPr>
          <a:lstStyle>
            <a:defPPr>
              <a:defRPr lang="en-US"/>
            </a:defPPr>
            <a:lvl1pPr defTabSz="914446">
              <a:lnSpc>
                <a:spcPct val="120000"/>
              </a:lnSpc>
              <a:spcBef>
                <a:spcPts val="1000"/>
              </a:spcBef>
              <a:spcAft>
                <a:spcPts val="333"/>
              </a:spcAft>
              <a:defRPr sz="2000">
                <a:solidFill>
                  <a:srgbClr val="000000"/>
                </a:solidFill>
                <a:latin typeface="Montserrat" panose="00000500000000000000" pitchFamily="2" charset="0"/>
                <a:ea typeface="Tahoma" panose="020B0604030504040204" pitchFamily="34" charset="0"/>
                <a:cs typeface="Tahoma" panose="020B0604030504040204" pitchFamily="34" charset="0"/>
              </a:defRPr>
            </a:lvl1pPr>
            <a:lvl2pPr marL="800140" lvl="1" indent="-342917" defTabSz="914446">
              <a:lnSpc>
                <a:spcPct val="120000"/>
              </a:lnSpc>
              <a:spcBef>
                <a:spcPts val="1000"/>
              </a:spcBef>
              <a:spcAft>
                <a:spcPts val="333"/>
              </a:spcAft>
              <a:buFont typeface="+mj-lt"/>
              <a:buAutoNum type="arabicPeriod"/>
              <a:defRPr sz="2000">
                <a:solidFill>
                  <a:srgbClr val="000000"/>
                </a:solidFill>
                <a:latin typeface="Montserrat" panose="00000500000000000000" pitchFamily="2" charset="0"/>
                <a:ea typeface="Tahoma" panose="020B0604030504040204" pitchFamily="34" charset="0"/>
                <a:cs typeface="Tahoma" panose="020B0604030504040204" pitchFamily="34"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buClr>
                <a:srgbClr val="11CCDD"/>
              </a:buClr>
              <a:buFont typeface="Arial" panose="020B0604020202020204" pitchFamily="34" charset="0"/>
              <a:buChar char="•"/>
            </a:pPr>
            <a:r>
              <a:rPr lang="en-US" dirty="0"/>
              <a:t>Prompt engineering is the practice of designing and optimizing text input to generative AI models to obtain desired responses.</a:t>
            </a:r>
          </a:p>
          <a:p>
            <a:pPr marL="342900" indent="-342900">
              <a:buClr>
                <a:srgbClr val="11CCDD"/>
              </a:buClr>
              <a:buFont typeface="Arial" panose="020B0604020202020204" pitchFamily="34" charset="0"/>
              <a:buChar char="•"/>
            </a:pPr>
            <a:r>
              <a:rPr lang="en-US" dirty="0"/>
              <a:t>It is the art of communicating with a generative AI model.</a:t>
            </a:r>
          </a:p>
        </p:txBody>
      </p:sp>
      <p:sp>
        <p:nvSpPr>
          <p:cNvPr id="3" name="TextBox 2">
            <a:extLst>
              <a:ext uri="{FF2B5EF4-FFF2-40B4-BE49-F238E27FC236}">
                <a16:creationId xmlns:a16="http://schemas.microsoft.com/office/drawing/2014/main" id="{0881566C-5DE7-6203-E3A4-44648661F3FF}"/>
              </a:ext>
            </a:extLst>
          </p:cNvPr>
          <p:cNvSpPr txBox="1"/>
          <p:nvPr/>
        </p:nvSpPr>
        <p:spPr>
          <a:xfrm>
            <a:off x="3634989" y="2014200"/>
            <a:ext cx="5835146" cy="1200329"/>
          </a:xfrm>
          <a:prstGeom prst="rect">
            <a:avLst/>
          </a:prstGeom>
          <a:noFill/>
        </p:spPr>
        <p:txBody>
          <a:bodyPr wrap="square">
            <a:spAutoFit/>
          </a:bodyPr>
          <a:lstStyle>
            <a:defPPr>
              <a:defRPr lang="en-US"/>
            </a:defPPr>
            <a:lvl1pPr>
              <a:defRPr sz="2000" b="1" i="0">
                <a:solidFill>
                  <a:srgbClr val="16191F"/>
                </a:solidFill>
                <a:effectLst/>
                <a:latin typeface="Montserrat" panose="00000500000000000000" pitchFamily="2" charset="0"/>
              </a:defRPr>
            </a:lvl1pPr>
          </a:lstStyle>
          <a:p>
            <a:pPr defTabSz="914446"/>
            <a:endParaRPr lang="en-US" sz="2400" i="1" dirty="0">
              <a:solidFill>
                <a:srgbClr val="0C1752"/>
              </a:solidFill>
              <a:latin typeface="Cambria" panose="02040503050406030204"/>
            </a:endParaRPr>
          </a:p>
          <a:p>
            <a:pPr defTabSz="914446"/>
            <a:r>
              <a:rPr lang="en-US" sz="2400" i="1" dirty="0">
                <a:solidFill>
                  <a:srgbClr val="0C1752"/>
                </a:solidFill>
                <a:latin typeface="Cambria" panose="02040503050406030204"/>
              </a:rPr>
              <a:t>“Recommend a book.”</a:t>
            </a:r>
          </a:p>
          <a:p>
            <a:pPr defTabSz="914446"/>
            <a:endParaRPr lang="en-US" sz="2400" i="1" dirty="0">
              <a:solidFill>
                <a:srgbClr val="0C1752"/>
              </a:solidFill>
              <a:latin typeface="Cambria" panose="02040503050406030204"/>
            </a:endParaRPr>
          </a:p>
        </p:txBody>
      </p:sp>
      <p:cxnSp>
        <p:nvCxnSpPr>
          <p:cNvPr id="4" name="Straight Arrow Connector 3">
            <a:extLst>
              <a:ext uri="{FF2B5EF4-FFF2-40B4-BE49-F238E27FC236}">
                <a16:creationId xmlns:a16="http://schemas.microsoft.com/office/drawing/2014/main" id="{A0BDB679-5B33-11DC-645E-A1D5C8331D51}"/>
              </a:ext>
            </a:extLst>
          </p:cNvPr>
          <p:cNvCxnSpPr>
            <a:cxnSpLocks/>
          </p:cNvCxnSpPr>
          <p:nvPr/>
        </p:nvCxnSpPr>
        <p:spPr>
          <a:xfrm>
            <a:off x="3437938" y="2435839"/>
            <a:ext cx="0" cy="2189480"/>
          </a:xfrm>
          <a:prstGeom prst="straightConnector1">
            <a:avLst/>
          </a:prstGeom>
          <a:ln w="76200">
            <a:solidFill>
              <a:srgbClr val="11CCDD"/>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3EF05BC-C16E-D505-C9E5-58DB52BB443C}"/>
              </a:ext>
            </a:extLst>
          </p:cNvPr>
          <p:cNvSpPr txBox="1"/>
          <p:nvPr/>
        </p:nvSpPr>
        <p:spPr>
          <a:xfrm>
            <a:off x="307900" y="2492773"/>
            <a:ext cx="2932989" cy="1569660"/>
          </a:xfrm>
          <a:prstGeom prst="rect">
            <a:avLst/>
          </a:prstGeom>
          <a:noFill/>
        </p:spPr>
        <p:txBody>
          <a:bodyPr wrap="square">
            <a:spAutoFit/>
          </a:bodyPr>
          <a:lstStyle/>
          <a:p>
            <a:pPr defTabSz="914446"/>
            <a:r>
              <a:rPr lang="en-US" sz="2400" dirty="0">
                <a:solidFill>
                  <a:srgbClr val="D56E48"/>
                </a:solidFill>
                <a:latin typeface="Cambria" panose="02040503050406030204"/>
              </a:rPr>
              <a:t>High-quality prompts guide the AI model to generate better outputs.</a:t>
            </a:r>
          </a:p>
        </p:txBody>
      </p:sp>
      <p:sp>
        <p:nvSpPr>
          <p:cNvPr id="10" name="TextBox 9">
            <a:extLst>
              <a:ext uri="{FF2B5EF4-FFF2-40B4-BE49-F238E27FC236}">
                <a16:creationId xmlns:a16="http://schemas.microsoft.com/office/drawing/2014/main" id="{17608CE1-C802-3AD4-9BD3-5EF82ABC1F39}"/>
              </a:ext>
            </a:extLst>
          </p:cNvPr>
          <p:cNvSpPr txBox="1"/>
          <p:nvPr/>
        </p:nvSpPr>
        <p:spPr>
          <a:xfrm>
            <a:off x="3634989" y="3258204"/>
            <a:ext cx="4267965" cy="461665"/>
          </a:xfrm>
          <a:prstGeom prst="rect">
            <a:avLst/>
          </a:prstGeom>
          <a:noFill/>
        </p:spPr>
        <p:txBody>
          <a:bodyPr wrap="square">
            <a:spAutoFit/>
          </a:bodyPr>
          <a:lstStyle>
            <a:defPPr>
              <a:defRPr lang="en-US"/>
            </a:defPPr>
            <a:lvl1pPr>
              <a:defRPr sz="3600" b="1" i="1">
                <a:solidFill>
                  <a:srgbClr val="16191F"/>
                </a:solidFill>
                <a:effectLst/>
                <a:latin typeface="+mj-lt"/>
              </a:defRPr>
            </a:lvl1pPr>
          </a:lstStyle>
          <a:p>
            <a:pPr defTabSz="914446"/>
            <a:r>
              <a:rPr lang="en-US" sz="2400" dirty="0">
                <a:solidFill>
                  <a:srgbClr val="0C1752"/>
                </a:solidFill>
                <a:latin typeface="Cambria" panose="02040503050406030204"/>
              </a:rPr>
              <a:t>“Recommend a fiction book.”</a:t>
            </a:r>
          </a:p>
        </p:txBody>
      </p:sp>
      <p:sp>
        <p:nvSpPr>
          <p:cNvPr id="11" name="TextBox 10">
            <a:extLst>
              <a:ext uri="{FF2B5EF4-FFF2-40B4-BE49-F238E27FC236}">
                <a16:creationId xmlns:a16="http://schemas.microsoft.com/office/drawing/2014/main" id="{49F17129-31C3-811D-9CED-725667C877AE}"/>
              </a:ext>
            </a:extLst>
          </p:cNvPr>
          <p:cNvSpPr txBox="1"/>
          <p:nvPr/>
        </p:nvSpPr>
        <p:spPr>
          <a:xfrm>
            <a:off x="3634989" y="4194432"/>
            <a:ext cx="8434387" cy="461665"/>
          </a:xfrm>
          <a:prstGeom prst="rect">
            <a:avLst/>
          </a:prstGeom>
          <a:noFill/>
        </p:spPr>
        <p:txBody>
          <a:bodyPr wrap="square">
            <a:spAutoFit/>
          </a:bodyPr>
          <a:lstStyle>
            <a:defPPr>
              <a:defRPr lang="en-US"/>
            </a:defPPr>
            <a:lvl1pPr>
              <a:defRPr sz="3600" b="1" i="1">
                <a:solidFill>
                  <a:srgbClr val="16191F"/>
                </a:solidFill>
                <a:effectLst/>
                <a:latin typeface="+mj-lt"/>
              </a:defRPr>
            </a:lvl1pPr>
          </a:lstStyle>
          <a:p>
            <a:pPr defTabSz="914446"/>
            <a:r>
              <a:rPr lang="en-US" sz="2400" dirty="0">
                <a:solidFill>
                  <a:srgbClr val="0C1752"/>
                </a:solidFill>
                <a:latin typeface="Cambria" panose="02040503050406030204"/>
              </a:rPr>
              <a:t>“Recommend a historical fiction book set in World War II.” </a:t>
            </a:r>
          </a:p>
        </p:txBody>
      </p:sp>
    </p:spTree>
    <p:extLst>
      <p:ext uri="{BB962C8B-B14F-4D97-AF65-F5344CB8AC3E}">
        <p14:creationId xmlns:p14="http://schemas.microsoft.com/office/powerpoint/2010/main" val="1329889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10" grpId="0"/>
      <p:bldP spid="1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D6971-7BD5-6E22-DF3D-E7EDCCF0DD2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7831AE2-B350-CC8D-E298-1AAA611C5231}"/>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74F8267A-B817-F697-7E5E-229925F7BCAF}"/>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5C517F12-E9DE-419F-4FC4-2B20CE54B453}"/>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Prompt Components </a:t>
            </a:r>
          </a:p>
        </p:txBody>
      </p:sp>
      <p:sp>
        <p:nvSpPr>
          <p:cNvPr id="9" name="TextBox 8">
            <a:extLst>
              <a:ext uri="{FF2B5EF4-FFF2-40B4-BE49-F238E27FC236}">
                <a16:creationId xmlns:a16="http://schemas.microsoft.com/office/drawing/2014/main" id="{FA456E24-AAF7-E9CF-040B-E405D8ED1616}"/>
              </a:ext>
            </a:extLst>
          </p:cNvPr>
          <p:cNvSpPr txBox="1"/>
          <p:nvPr/>
        </p:nvSpPr>
        <p:spPr>
          <a:xfrm rot="5400000">
            <a:off x="9505627" y="3450945"/>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32" name="TextBox 31">
            <a:extLst>
              <a:ext uri="{FF2B5EF4-FFF2-40B4-BE49-F238E27FC236}">
                <a16:creationId xmlns:a16="http://schemas.microsoft.com/office/drawing/2014/main" id="{AD9EBC69-DF22-0171-2DC8-CE15CA8C7CF2}"/>
              </a:ext>
            </a:extLst>
          </p:cNvPr>
          <p:cNvSpPr txBox="1"/>
          <p:nvPr/>
        </p:nvSpPr>
        <p:spPr>
          <a:xfrm>
            <a:off x="5578437" y="843386"/>
            <a:ext cx="6391313" cy="4801314"/>
          </a:xfrm>
          <a:prstGeom prst="rect">
            <a:avLst/>
          </a:prstGeom>
          <a:noFill/>
        </p:spPr>
        <p:txBody>
          <a:bodyPr wrap="square" rtlCol="0">
            <a:spAutoFit/>
          </a:bodyPr>
          <a:lstStyle/>
          <a:p>
            <a:pPr defTabSz="914446"/>
            <a:r>
              <a:rPr lang="en-US" sz="1700" b="1" dirty="0">
                <a:solidFill>
                  <a:srgbClr val="0C1752"/>
                </a:solidFill>
                <a:latin typeface="Montserrat" panose="00000500000000000000" pitchFamily="2" charset="0"/>
              </a:rPr>
              <a:t>Context: </a:t>
            </a:r>
          </a:p>
          <a:p>
            <a:pPr defTabSz="914446"/>
            <a:r>
              <a:rPr lang="en-US" sz="1700" dirty="0">
                <a:solidFill>
                  <a:srgbClr val="0C1752"/>
                </a:solidFill>
                <a:latin typeface="Montserrat" panose="00000500000000000000" pitchFamily="2" charset="0"/>
              </a:rPr>
              <a:t>You are an expert financial analyst.</a:t>
            </a:r>
          </a:p>
          <a:p>
            <a:pPr defTabSz="914446"/>
            <a:endParaRPr lang="en-US" sz="1700" b="1" dirty="0">
              <a:solidFill>
                <a:srgbClr val="0C1752"/>
              </a:solidFill>
              <a:latin typeface="Montserrat" panose="00000500000000000000" pitchFamily="2" charset="0"/>
            </a:endParaRPr>
          </a:p>
          <a:p>
            <a:pPr defTabSz="914446"/>
            <a:endParaRPr lang="en-US" sz="1700" b="1" dirty="0">
              <a:solidFill>
                <a:srgbClr val="0C1752"/>
              </a:solidFill>
              <a:latin typeface="Montserrat" panose="00000500000000000000" pitchFamily="2" charset="0"/>
            </a:endParaRPr>
          </a:p>
          <a:p>
            <a:pPr defTabSz="914446"/>
            <a:r>
              <a:rPr lang="en-US" sz="1700" b="1" dirty="0">
                <a:solidFill>
                  <a:srgbClr val="0C1752"/>
                </a:solidFill>
                <a:latin typeface="Montserrat" panose="00000500000000000000" pitchFamily="2" charset="0"/>
              </a:rPr>
              <a:t>Instruction: </a:t>
            </a:r>
            <a:r>
              <a:rPr lang="en-US" sz="1700" dirty="0">
                <a:solidFill>
                  <a:srgbClr val="0C1752"/>
                </a:solidFill>
                <a:latin typeface="Montserrat" panose="00000500000000000000" pitchFamily="2" charset="0"/>
              </a:rPr>
              <a:t>When given a news article, indicate if it’s positive, neural or negative.</a:t>
            </a:r>
          </a:p>
          <a:p>
            <a:pPr defTabSz="914446"/>
            <a:endParaRPr lang="en-US" sz="1700" b="1" dirty="0">
              <a:solidFill>
                <a:srgbClr val="0C1752"/>
              </a:solidFill>
              <a:latin typeface="Montserrat" panose="00000500000000000000" pitchFamily="2" charset="0"/>
            </a:endParaRPr>
          </a:p>
          <a:p>
            <a:pPr defTabSz="914446"/>
            <a:endParaRPr lang="en-US" sz="1700" b="1" dirty="0">
              <a:solidFill>
                <a:srgbClr val="0C1752"/>
              </a:solidFill>
              <a:latin typeface="Montserrat" panose="00000500000000000000" pitchFamily="2" charset="0"/>
            </a:endParaRPr>
          </a:p>
          <a:p>
            <a:pPr defTabSz="914446"/>
            <a:endParaRPr lang="en-US" sz="1700" b="1" dirty="0">
              <a:solidFill>
                <a:srgbClr val="0C1752"/>
              </a:solidFill>
              <a:latin typeface="Montserrat" panose="00000500000000000000" pitchFamily="2" charset="0"/>
            </a:endParaRPr>
          </a:p>
          <a:p>
            <a:pPr defTabSz="914446"/>
            <a:r>
              <a:rPr lang="en-US" sz="1700" b="1" dirty="0">
                <a:solidFill>
                  <a:srgbClr val="0C1752"/>
                </a:solidFill>
                <a:latin typeface="Montserrat" panose="00000500000000000000" pitchFamily="2" charset="0"/>
              </a:rPr>
              <a:t>Input: </a:t>
            </a:r>
            <a:r>
              <a:rPr lang="en-US" sz="1700" dirty="0">
                <a:solidFill>
                  <a:srgbClr val="0C1752"/>
                </a:solidFill>
                <a:latin typeface="Montserrat" panose="00000500000000000000" pitchFamily="2" charset="0"/>
              </a:rPr>
              <a:t>“Tesla stock increased today after a successful self driving demo.”</a:t>
            </a:r>
          </a:p>
          <a:p>
            <a:pPr defTabSz="914446"/>
            <a:endParaRPr lang="en-US" sz="1700" b="1" dirty="0">
              <a:solidFill>
                <a:srgbClr val="0C1752"/>
              </a:solidFill>
              <a:latin typeface="Montserrat" panose="00000500000000000000" pitchFamily="2" charset="0"/>
            </a:endParaRPr>
          </a:p>
          <a:p>
            <a:pPr defTabSz="914446"/>
            <a:endParaRPr lang="en-US" sz="1700" b="1" dirty="0">
              <a:solidFill>
                <a:srgbClr val="0C1752"/>
              </a:solidFill>
              <a:latin typeface="Montserrat" panose="00000500000000000000" pitchFamily="2" charset="0"/>
            </a:endParaRPr>
          </a:p>
          <a:p>
            <a:pPr defTabSz="914446"/>
            <a:r>
              <a:rPr lang="en-US" sz="1700" b="1" dirty="0">
                <a:solidFill>
                  <a:srgbClr val="0C1752"/>
                </a:solidFill>
                <a:latin typeface="Montserrat" panose="00000500000000000000" pitchFamily="2" charset="0"/>
              </a:rPr>
              <a:t>Output: </a:t>
            </a:r>
            <a:r>
              <a:rPr lang="en-US" sz="1700" dirty="0">
                <a:solidFill>
                  <a:srgbClr val="0C1752"/>
                </a:solidFill>
                <a:latin typeface="Montserrat" panose="00000500000000000000" pitchFamily="2" charset="0"/>
              </a:rPr>
              <a:t>Respond with (1) Sentiment, (2) explanation of why you chose this sentiment.</a:t>
            </a:r>
            <a:endParaRPr lang="en-US" sz="1700" b="1" dirty="0">
              <a:solidFill>
                <a:srgbClr val="0C1752"/>
              </a:solidFill>
              <a:latin typeface="Montserrat" panose="00000500000000000000" pitchFamily="2" charset="0"/>
            </a:endParaRPr>
          </a:p>
          <a:p>
            <a:pPr defTabSz="914446"/>
            <a:endParaRPr lang="en-US" sz="1700" b="1" dirty="0">
              <a:solidFill>
                <a:srgbClr val="0C1752"/>
              </a:solidFill>
              <a:latin typeface="Montserrat" panose="00000500000000000000" pitchFamily="2" charset="0"/>
            </a:endParaRPr>
          </a:p>
          <a:p>
            <a:pPr defTabSz="914446"/>
            <a:r>
              <a:rPr lang="en-US" sz="1700" b="1" dirty="0">
                <a:solidFill>
                  <a:srgbClr val="0C1752"/>
                </a:solidFill>
                <a:latin typeface="Montserrat" panose="00000500000000000000" pitchFamily="2" charset="0"/>
              </a:rPr>
              <a:t> </a:t>
            </a:r>
          </a:p>
          <a:p>
            <a:pPr defTabSz="914446"/>
            <a:endParaRPr lang="en-US" sz="1700" dirty="0">
              <a:solidFill>
                <a:srgbClr val="0C1752"/>
              </a:solidFill>
              <a:latin typeface="Montserrat" panose="00000500000000000000" pitchFamily="2" charset="0"/>
            </a:endParaRPr>
          </a:p>
        </p:txBody>
      </p:sp>
      <p:sp>
        <p:nvSpPr>
          <p:cNvPr id="33" name="TextBox 32">
            <a:extLst>
              <a:ext uri="{FF2B5EF4-FFF2-40B4-BE49-F238E27FC236}">
                <a16:creationId xmlns:a16="http://schemas.microsoft.com/office/drawing/2014/main" id="{DD9BB976-F224-F9BD-464A-597AA196D487}"/>
              </a:ext>
            </a:extLst>
          </p:cNvPr>
          <p:cNvSpPr txBox="1"/>
          <p:nvPr/>
        </p:nvSpPr>
        <p:spPr>
          <a:xfrm>
            <a:off x="7342667" y="2744777"/>
            <a:ext cx="4446811" cy="471924"/>
          </a:xfrm>
          <a:prstGeom prst="rect">
            <a:avLst/>
          </a:prstGeom>
        </p:spPr>
        <p:txBody>
          <a:bodyPr/>
          <a:lstStyle>
            <a:defPPr>
              <a:defRPr lang="en-US"/>
            </a:defPPr>
            <a:lvl1pPr indent="0" algn="ctr" defTabSz="609585">
              <a:spcBef>
                <a:spcPct val="20000"/>
              </a:spcBef>
              <a:buFont typeface="Arial"/>
              <a:buNone/>
              <a:defRPr sz="1600" b="1">
                <a:solidFill>
                  <a:srgbClr val="062E6D"/>
                </a:solidFill>
                <a:latin typeface="Cambria Math" panose="02040503050406030204" pitchFamily="18" charset="0"/>
              </a:defRPr>
            </a:lvl1pPr>
            <a:lvl2pPr marL="990575" indent="-380990" defTabSz="609585">
              <a:spcBef>
                <a:spcPct val="20000"/>
              </a:spcBef>
              <a:buFont typeface="Arial"/>
              <a:buChar char="–"/>
              <a:defRPr sz="2133"/>
            </a:lvl2pPr>
            <a:lvl3pPr marL="1523962" indent="-304792" defTabSz="609585">
              <a:spcBef>
                <a:spcPct val="20000"/>
              </a:spcBef>
              <a:buFont typeface="Arial"/>
              <a:buChar char="•"/>
              <a:defRPr sz="2133"/>
            </a:lvl3pPr>
            <a:lvl4pPr marL="2133547" indent="-304792" defTabSz="609585">
              <a:spcBef>
                <a:spcPct val="20000"/>
              </a:spcBef>
              <a:buFont typeface="Arial"/>
              <a:buChar char="–"/>
              <a:defRPr sz="2133"/>
            </a:lvl4pPr>
            <a:lvl5pPr marL="2743131" indent="-304792" defTabSz="609585">
              <a:spcBef>
                <a:spcPct val="20000"/>
              </a:spcBef>
              <a:buFont typeface="Arial"/>
              <a:buChar char="»"/>
              <a:defRPr sz="2133"/>
            </a:lvl5pPr>
            <a:lvl6pPr marL="3352716" indent="-304792" defTabSz="609585">
              <a:spcBef>
                <a:spcPct val="20000"/>
              </a:spcBef>
              <a:buFont typeface="Arial"/>
              <a:buChar char="•"/>
              <a:defRPr sz="2667"/>
            </a:lvl6pPr>
            <a:lvl7pPr marL="3962301" indent="-304792" defTabSz="609585">
              <a:spcBef>
                <a:spcPct val="20000"/>
              </a:spcBef>
              <a:buFont typeface="Arial"/>
              <a:buChar char="•"/>
              <a:defRPr sz="2667"/>
            </a:lvl7pPr>
            <a:lvl8pPr marL="4571886" indent="-304792" defTabSz="609585">
              <a:spcBef>
                <a:spcPct val="20000"/>
              </a:spcBef>
              <a:buFont typeface="Arial"/>
              <a:buChar char="•"/>
              <a:defRPr sz="2667"/>
            </a:lvl8pPr>
            <a:lvl9pPr marL="5181470" indent="-304792" defTabSz="609585">
              <a:spcBef>
                <a:spcPct val="20000"/>
              </a:spcBef>
              <a:buFont typeface="Arial"/>
              <a:buChar char="•"/>
              <a:defRPr sz="2667"/>
            </a:lvl9pPr>
          </a:lstStyle>
          <a:p>
            <a:pPr defTabSz="406410"/>
            <a:endParaRPr lang="en-US" dirty="0">
              <a:solidFill>
                <a:srgbClr val="017ACD"/>
              </a:solidFill>
              <a:latin typeface="Montserrat" panose="00000500000000000000" pitchFamily="2" charset="0"/>
            </a:endParaRPr>
          </a:p>
        </p:txBody>
      </p:sp>
      <p:sp>
        <p:nvSpPr>
          <p:cNvPr id="34" name="TextBox 33">
            <a:extLst>
              <a:ext uri="{FF2B5EF4-FFF2-40B4-BE49-F238E27FC236}">
                <a16:creationId xmlns:a16="http://schemas.microsoft.com/office/drawing/2014/main" id="{67922287-A721-7CA9-BA44-C8D32C8A4CD6}"/>
              </a:ext>
            </a:extLst>
          </p:cNvPr>
          <p:cNvSpPr txBox="1"/>
          <p:nvPr/>
        </p:nvSpPr>
        <p:spPr>
          <a:xfrm>
            <a:off x="8845364" y="1583720"/>
            <a:ext cx="1136850" cy="379656"/>
          </a:xfrm>
          <a:prstGeom prst="rect">
            <a:avLst/>
          </a:prstGeom>
          <a:noFill/>
        </p:spPr>
        <p:txBody>
          <a:bodyPr wrap="none" rtlCol="0">
            <a:spAutoFit/>
          </a:bodyPr>
          <a:lstStyle/>
          <a:p>
            <a:pPr defTabSz="914446"/>
            <a:r>
              <a:rPr lang="en-US" sz="1867" i="1" dirty="0">
                <a:solidFill>
                  <a:srgbClr val="D56E48"/>
                </a:solidFill>
                <a:latin typeface="Montserrat" panose="00000500000000000000" pitchFamily="2" charset="0"/>
              </a:rPr>
              <a:t>Context</a:t>
            </a:r>
          </a:p>
        </p:txBody>
      </p:sp>
      <p:sp>
        <p:nvSpPr>
          <p:cNvPr id="35" name="TextBox 34">
            <a:extLst>
              <a:ext uri="{FF2B5EF4-FFF2-40B4-BE49-F238E27FC236}">
                <a16:creationId xmlns:a16="http://schemas.microsoft.com/office/drawing/2014/main" id="{005F6A14-67E8-65F2-5116-71FCFB5B8971}"/>
              </a:ext>
            </a:extLst>
          </p:cNvPr>
          <p:cNvSpPr txBox="1"/>
          <p:nvPr/>
        </p:nvSpPr>
        <p:spPr>
          <a:xfrm>
            <a:off x="7121189" y="2714092"/>
            <a:ext cx="1500732" cy="379656"/>
          </a:xfrm>
          <a:prstGeom prst="rect">
            <a:avLst/>
          </a:prstGeom>
          <a:noFill/>
        </p:spPr>
        <p:txBody>
          <a:bodyPr wrap="none" rtlCol="0">
            <a:spAutoFit/>
          </a:bodyPr>
          <a:lstStyle/>
          <a:p>
            <a:pPr defTabSz="914446"/>
            <a:r>
              <a:rPr lang="en-US" sz="1867" i="1" dirty="0">
                <a:solidFill>
                  <a:srgbClr val="D56E48"/>
                </a:solidFill>
                <a:latin typeface="Montserrat" panose="00000500000000000000" pitchFamily="2" charset="0"/>
              </a:rPr>
              <a:t>Instruction</a:t>
            </a:r>
          </a:p>
        </p:txBody>
      </p:sp>
      <p:sp>
        <p:nvSpPr>
          <p:cNvPr id="36" name="TextBox 35">
            <a:extLst>
              <a:ext uri="{FF2B5EF4-FFF2-40B4-BE49-F238E27FC236}">
                <a16:creationId xmlns:a16="http://schemas.microsoft.com/office/drawing/2014/main" id="{E929A758-964D-6060-8C21-9CB048C9D375}"/>
              </a:ext>
            </a:extLst>
          </p:cNvPr>
          <p:cNvSpPr txBox="1"/>
          <p:nvPr/>
        </p:nvSpPr>
        <p:spPr>
          <a:xfrm>
            <a:off x="9022035" y="3768748"/>
            <a:ext cx="1521570" cy="379656"/>
          </a:xfrm>
          <a:prstGeom prst="rect">
            <a:avLst/>
          </a:prstGeom>
          <a:noFill/>
        </p:spPr>
        <p:txBody>
          <a:bodyPr wrap="none" rtlCol="0">
            <a:spAutoFit/>
          </a:bodyPr>
          <a:lstStyle/>
          <a:p>
            <a:pPr defTabSz="914446"/>
            <a:r>
              <a:rPr lang="en-US" sz="1867" i="1" dirty="0">
                <a:solidFill>
                  <a:srgbClr val="D56E48"/>
                </a:solidFill>
                <a:latin typeface="Montserrat" panose="00000500000000000000" pitchFamily="2" charset="0"/>
              </a:rPr>
              <a:t>Input Data</a:t>
            </a:r>
          </a:p>
        </p:txBody>
      </p:sp>
      <p:sp>
        <p:nvSpPr>
          <p:cNvPr id="37" name="TextBox 36">
            <a:extLst>
              <a:ext uri="{FF2B5EF4-FFF2-40B4-BE49-F238E27FC236}">
                <a16:creationId xmlns:a16="http://schemas.microsoft.com/office/drawing/2014/main" id="{75104FBC-2960-2EAC-66A7-ACE43CD75800}"/>
              </a:ext>
            </a:extLst>
          </p:cNvPr>
          <p:cNvSpPr txBox="1"/>
          <p:nvPr/>
        </p:nvSpPr>
        <p:spPr>
          <a:xfrm>
            <a:off x="7169102" y="5167799"/>
            <a:ext cx="2230098" cy="379656"/>
          </a:xfrm>
          <a:prstGeom prst="rect">
            <a:avLst/>
          </a:prstGeom>
          <a:noFill/>
        </p:spPr>
        <p:txBody>
          <a:bodyPr wrap="none" rtlCol="0">
            <a:spAutoFit/>
          </a:bodyPr>
          <a:lstStyle/>
          <a:p>
            <a:pPr defTabSz="914446"/>
            <a:r>
              <a:rPr lang="en-US" sz="1867" i="1" dirty="0">
                <a:solidFill>
                  <a:srgbClr val="D56E48"/>
                </a:solidFill>
                <a:latin typeface="Montserrat" panose="00000500000000000000" pitchFamily="2" charset="0"/>
              </a:rPr>
              <a:t>Output Indicator</a:t>
            </a:r>
          </a:p>
        </p:txBody>
      </p:sp>
      <p:sp>
        <p:nvSpPr>
          <p:cNvPr id="38" name="Text Placeholder 19">
            <a:extLst>
              <a:ext uri="{FF2B5EF4-FFF2-40B4-BE49-F238E27FC236}">
                <a16:creationId xmlns:a16="http://schemas.microsoft.com/office/drawing/2014/main" id="{FD92B5FB-3D78-856A-A558-416DA8F1866A}"/>
              </a:ext>
            </a:extLst>
          </p:cNvPr>
          <p:cNvSpPr txBox="1">
            <a:spLocks/>
          </p:cNvSpPr>
          <p:nvPr/>
        </p:nvSpPr>
        <p:spPr>
          <a:xfrm>
            <a:off x="96074" y="844237"/>
            <a:ext cx="4891221" cy="1263679"/>
          </a:xfrm>
          <a:prstGeom prst="rect">
            <a:avLst/>
          </a:prstGeom>
          <a:solidFill>
            <a:schemeClr val="bg1"/>
          </a:solidFill>
          <a:ln>
            <a:solidFill>
              <a:schemeClr val="tx2">
                <a:lumMod val="20000"/>
                <a:lumOff val="80000"/>
              </a:schemeClr>
            </a:solidFill>
          </a:ln>
          <a:effectLst>
            <a:glow rad="50800">
              <a:schemeClr val="tx1">
                <a:alpha val="5000"/>
              </a:schemeClr>
            </a:glow>
            <a:innerShdw dist="50800" dir="10800000">
              <a:schemeClr val="accent2"/>
            </a:innerShdw>
          </a:effectLst>
        </p:spPr>
        <p:txBody>
          <a:bodyPr vert="horz" wrap="square" lIns="365760" tIns="274320" rIns="182880" bIns="274320" rtlCol="0">
            <a:spAutoFit/>
          </a:bodyPr>
          <a:lstStyle>
            <a:lvl1pPr marL="228600" indent="-228600" algn="l" defTabSz="914400" rtl="0" eaLnBrk="1" latinLnBrk="0" hangingPunct="1">
              <a:lnSpc>
                <a:spcPct val="100000"/>
              </a:lnSpc>
              <a:spcBef>
                <a:spcPts val="400"/>
              </a:spcBef>
              <a:spcAft>
                <a:spcPts val="1200"/>
              </a:spcAft>
              <a:buClr>
                <a:srgbClr val="0B8ECC"/>
              </a:buClr>
              <a:buFont typeface="Arial" panose="020B0604020202020204" pitchFamily="34" charset="0"/>
              <a:buChar char="•"/>
              <a:defRPr sz="1800" kern="1200">
                <a:solidFill>
                  <a:schemeClr val="tx1"/>
                </a:solidFill>
                <a:latin typeface="+mn-lt"/>
                <a:ea typeface="Tahoma" panose="020B0604030504040204" pitchFamily="34" charset="0"/>
                <a:cs typeface="Tahoma" panose="020B0604030504040204" pitchFamily="34" charset="0"/>
              </a:defRPr>
            </a:lvl1pPr>
            <a:lvl2pPr marL="457200" indent="-228600" algn="l" defTabSz="914400" rtl="0" eaLnBrk="1" latinLnBrk="0" hangingPunct="1">
              <a:lnSpc>
                <a:spcPct val="100000"/>
              </a:lnSpc>
              <a:spcBef>
                <a:spcPts val="400"/>
              </a:spcBef>
              <a:spcAft>
                <a:spcPts val="1200"/>
              </a:spcAft>
              <a:buClr>
                <a:srgbClr val="0B8ECC"/>
              </a:buClr>
              <a:buSzPct val="90000"/>
              <a:buFont typeface="Arial" panose="020B0604020202020204" pitchFamily="34" charset="0"/>
              <a:buChar char="•"/>
              <a:defRPr sz="1800" kern="1200">
                <a:solidFill>
                  <a:schemeClr val="tx1"/>
                </a:solidFill>
                <a:latin typeface="+mn-lt"/>
                <a:ea typeface="Tahoma" panose="020B0604030504040204" pitchFamily="34" charset="0"/>
                <a:cs typeface="Tahoma" panose="020B0604030504040204" pitchFamily="34" charset="0"/>
              </a:defRPr>
            </a:lvl2pPr>
            <a:lvl3pPr marL="685800" indent="-228600" algn="l" defTabSz="914400" rtl="0" eaLnBrk="1" latinLnBrk="0" hangingPunct="1">
              <a:lnSpc>
                <a:spcPct val="100000"/>
              </a:lnSpc>
              <a:spcBef>
                <a:spcPts val="400"/>
              </a:spcBef>
              <a:spcAft>
                <a:spcPts val="1200"/>
              </a:spcAft>
              <a:buClr>
                <a:srgbClr val="0B8ECC"/>
              </a:buClr>
              <a:buSzPct val="100000"/>
              <a:buFont typeface="Arial" panose="020B0604020202020204" pitchFamily="34" charset="0"/>
              <a:buChar char="•"/>
              <a:defRPr sz="1800" kern="1200">
                <a:solidFill>
                  <a:schemeClr val="tx1"/>
                </a:solidFill>
                <a:latin typeface="+mn-lt"/>
                <a:ea typeface="Tahoma" panose="020B0604030504040204" pitchFamily="34" charset="0"/>
                <a:cs typeface="Tahoma" panose="020B0604030504040204" pitchFamily="34" charset="0"/>
              </a:defRPr>
            </a:lvl3pPr>
            <a:lvl4pPr marL="1600200" indent="-228600" algn="l" defTabSz="914400" rtl="0" eaLnBrk="1" latinLnBrk="0" hangingPunct="1">
              <a:lnSpc>
                <a:spcPct val="100000"/>
              </a:lnSpc>
              <a:spcBef>
                <a:spcPts val="400"/>
              </a:spcBef>
              <a:spcAft>
                <a:spcPts val="1200"/>
              </a:spcAft>
              <a:buClr>
                <a:srgbClr val="0B8ECC"/>
              </a:buClr>
              <a:buFont typeface="Arial" panose="020B0604020202020204" pitchFamily="34" charset="0"/>
              <a:buChar char="•"/>
              <a:defRPr sz="1800" kern="1200">
                <a:solidFill>
                  <a:schemeClr val="tx1"/>
                </a:solidFill>
                <a:latin typeface="+mn-lt"/>
                <a:ea typeface="Tahoma" panose="020B0604030504040204" pitchFamily="34" charset="0"/>
                <a:cs typeface="Tahoma" panose="020B0604030504040204" pitchFamily="34" charset="0"/>
              </a:defRPr>
            </a:lvl4pPr>
            <a:lvl5pPr marL="2057400" indent="-228600" algn="l" defTabSz="914400" rtl="0" eaLnBrk="1" latinLnBrk="0" hangingPunct="1">
              <a:lnSpc>
                <a:spcPct val="100000"/>
              </a:lnSpc>
              <a:spcBef>
                <a:spcPts val="400"/>
              </a:spcBef>
              <a:spcAft>
                <a:spcPts val="1200"/>
              </a:spcAft>
              <a:buClr>
                <a:srgbClr val="0B8ECC"/>
              </a:buClr>
              <a:buFont typeface="Arial" panose="020B0604020202020204" pitchFamily="34" charset="0"/>
              <a:buChar char="•"/>
              <a:defRPr sz="1800" kern="1200">
                <a:solidFill>
                  <a:schemeClr val="tx1"/>
                </a:solidFill>
                <a:latin typeface="+mn-lt"/>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609630">
              <a:lnSpc>
                <a:spcPct val="120000"/>
              </a:lnSpc>
              <a:spcBef>
                <a:spcPts val="333"/>
              </a:spcBef>
              <a:spcAft>
                <a:spcPts val="333"/>
              </a:spcAft>
              <a:buNone/>
            </a:pPr>
            <a:r>
              <a:rPr lang="en-US" sz="2000" b="1" dirty="0">
                <a:solidFill>
                  <a:srgbClr val="000000"/>
                </a:solidFill>
                <a:latin typeface="Montserrat" panose="00000500000000000000" pitchFamily="2" charset="0"/>
              </a:rPr>
              <a:t>Context: </a:t>
            </a:r>
            <a:r>
              <a:rPr lang="en-US" sz="2000" dirty="0">
                <a:solidFill>
                  <a:srgbClr val="000000"/>
                </a:solidFill>
                <a:latin typeface="Montserrat" panose="00000500000000000000" pitchFamily="2" charset="0"/>
              </a:rPr>
              <a:t> Set the scene, who is the AI, what's the situation?</a:t>
            </a:r>
          </a:p>
        </p:txBody>
      </p:sp>
      <p:sp>
        <p:nvSpPr>
          <p:cNvPr id="39" name="Text Placeholder 19">
            <a:extLst>
              <a:ext uri="{FF2B5EF4-FFF2-40B4-BE49-F238E27FC236}">
                <a16:creationId xmlns:a16="http://schemas.microsoft.com/office/drawing/2014/main" id="{5A657087-C8C0-0CD7-73B2-9CB892A1121E}"/>
              </a:ext>
            </a:extLst>
          </p:cNvPr>
          <p:cNvSpPr txBox="1">
            <a:spLocks/>
          </p:cNvSpPr>
          <p:nvPr/>
        </p:nvSpPr>
        <p:spPr>
          <a:xfrm>
            <a:off x="94700" y="1918567"/>
            <a:ext cx="4891221" cy="1169551"/>
          </a:xfrm>
          <a:prstGeom prst="rect">
            <a:avLst/>
          </a:prstGeom>
          <a:solidFill>
            <a:schemeClr val="bg1"/>
          </a:solidFill>
          <a:ln>
            <a:solidFill>
              <a:schemeClr val="tx2">
                <a:lumMod val="20000"/>
                <a:lumOff val="80000"/>
              </a:schemeClr>
            </a:solidFill>
          </a:ln>
          <a:effectLst>
            <a:glow rad="50800">
              <a:schemeClr val="tx1">
                <a:alpha val="5000"/>
              </a:schemeClr>
            </a:glow>
            <a:innerShdw dist="50800" dir="10800000">
              <a:schemeClr val="accent3"/>
            </a:innerShdw>
          </a:effectLst>
        </p:spPr>
        <p:txBody>
          <a:bodyPr vert="horz" wrap="square" lIns="365760" tIns="274320" rIns="182880" bIns="274320" rtlCol="0">
            <a:spAutoFit/>
          </a:bodyPr>
          <a:lstStyle>
            <a:lvl1pPr marL="228600" indent="-228600" algn="l" defTabSz="914400" rtl="0" eaLnBrk="1" latinLnBrk="0" hangingPunct="1">
              <a:lnSpc>
                <a:spcPct val="100000"/>
              </a:lnSpc>
              <a:spcBef>
                <a:spcPts val="400"/>
              </a:spcBef>
              <a:spcAft>
                <a:spcPts val="1200"/>
              </a:spcAft>
              <a:buClr>
                <a:srgbClr val="0B8ECC"/>
              </a:buClr>
              <a:buFont typeface="Arial" panose="020B0604020202020204" pitchFamily="34" charset="0"/>
              <a:buChar char="•"/>
              <a:defRPr sz="1800" kern="1200">
                <a:solidFill>
                  <a:schemeClr val="tx1"/>
                </a:solidFill>
                <a:latin typeface="+mn-lt"/>
                <a:ea typeface="Tahoma" panose="020B0604030504040204" pitchFamily="34" charset="0"/>
                <a:cs typeface="Tahoma" panose="020B0604030504040204" pitchFamily="34" charset="0"/>
              </a:defRPr>
            </a:lvl1pPr>
            <a:lvl2pPr marL="457200" indent="-228600" algn="l" defTabSz="914400" rtl="0" eaLnBrk="1" latinLnBrk="0" hangingPunct="1">
              <a:lnSpc>
                <a:spcPct val="100000"/>
              </a:lnSpc>
              <a:spcBef>
                <a:spcPts val="400"/>
              </a:spcBef>
              <a:spcAft>
                <a:spcPts val="1200"/>
              </a:spcAft>
              <a:buClr>
                <a:srgbClr val="0B8ECC"/>
              </a:buClr>
              <a:buSzPct val="90000"/>
              <a:buFont typeface="Arial" panose="020B0604020202020204" pitchFamily="34" charset="0"/>
              <a:buChar char="•"/>
              <a:defRPr sz="1800" kern="1200">
                <a:solidFill>
                  <a:schemeClr val="tx1"/>
                </a:solidFill>
                <a:latin typeface="+mn-lt"/>
                <a:ea typeface="Tahoma" panose="020B0604030504040204" pitchFamily="34" charset="0"/>
                <a:cs typeface="Tahoma" panose="020B0604030504040204" pitchFamily="34" charset="0"/>
              </a:defRPr>
            </a:lvl2pPr>
            <a:lvl3pPr marL="685800" indent="-228600" algn="l" defTabSz="914400" rtl="0" eaLnBrk="1" latinLnBrk="0" hangingPunct="1">
              <a:lnSpc>
                <a:spcPct val="100000"/>
              </a:lnSpc>
              <a:spcBef>
                <a:spcPts val="400"/>
              </a:spcBef>
              <a:spcAft>
                <a:spcPts val="1200"/>
              </a:spcAft>
              <a:buClr>
                <a:srgbClr val="0B8ECC"/>
              </a:buClr>
              <a:buSzPct val="100000"/>
              <a:buFont typeface="Arial" panose="020B0604020202020204" pitchFamily="34" charset="0"/>
              <a:buChar char="•"/>
              <a:defRPr sz="1800" kern="1200">
                <a:solidFill>
                  <a:schemeClr val="tx1"/>
                </a:solidFill>
                <a:latin typeface="+mn-lt"/>
                <a:ea typeface="Tahoma" panose="020B0604030504040204" pitchFamily="34" charset="0"/>
                <a:cs typeface="Tahoma" panose="020B0604030504040204" pitchFamily="34" charset="0"/>
              </a:defRPr>
            </a:lvl3pPr>
            <a:lvl4pPr marL="1600200" indent="-228600" algn="l" defTabSz="914400" rtl="0" eaLnBrk="1" latinLnBrk="0" hangingPunct="1">
              <a:lnSpc>
                <a:spcPct val="100000"/>
              </a:lnSpc>
              <a:spcBef>
                <a:spcPts val="400"/>
              </a:spcBef>
              <a:spcAft>
                <a:spcPts val="1200"/>
              </a:spcAft>
              <a:buClr>
                <a:srgbClr val="0B8ECC"/>
              </a:buClr>
              <a:buFont typeface="Arial" panose="020B0604020202020204" pitchFamily="34" charset="0"/>
              <a:buChar char="•"/>
              <a:defRPr sz="1800" kern="1200">
                <a:solidFill>
                  <a:schemeClr val="tx1"/>
                </a:solidFill>
                <a:latin typeface="+mn-lt"/>
                <a:ea typeface="Tahoma" panose="020B0604030504040204" pitchFamily="34" charset="0"/>
                <a:cs typeface="Tahoma" panose="020B0604030504040204" pitchFamily="34" charset="0"/>
              </a:defRPr>
            </a:lvl4pPr>
            <a:lvl5pPr marL="2057400" indent="-228600" algn="l" defTabSz="914400" rtl="0" eaLnBrk="1" latinLnBrk="0" hangingPunct="1">
              <a:lnSpc>
                <a:spcPct val="100000"/>
              </a:lnSpc>
              <a:spcBef>
                <a:spcPts val="400"/>
              </a:spcBef>
              <a:spcAft>
                <a:spcPts val="1200"/>
              </a:spcAft>
              <a:buClr>
                <a:srgbClr val="0B8ECC"/>
              </a:buClr>
              <a:buFont typeface="Arial" panose="020B0604020202020204" pitchFamily="34" charset="0"/>
              <a:buChar char="•"/>
              <a:defRPr sz="1800" kern="1200">
                <a:solidFill>
                  <a:schemeClr val="tx1"/>
                </a:solidFill>
                <a:latin typeface="+mn-lt"/>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609630">
              <a:spcBef>
                <a:spcPts val="267"/>
              </a:spcBef>
              <a:spcAft>
                <a:spcPts val="800"/>
              </a:spcAft>
              <a:buNone/>
            </a:pPr>
            <a:r>
              <a:rPr lang="en-US" sz="2000" b="1" dirty="0">
                <a:solidFill>
                  <a:srgbClr val="000000"/>
                </a:solidFill>
                <a:latin typeface="Montserrat" panose="00000500000000000000" pitchFamily="2" charset="0"/>
              </a:rPr>
              <a:t>Instruction: </a:t>
            </a:r>
            <a:r>
              <a:rPr lang="en-US" sz="2000" dirty="0">
                <a:solidFill>
                  <a:srgbClr val="000000"/>
                </a:solidFill>
                <a:latin typeface="Montserrat" panose="00000500000000000000" pitchFamily="2" charset="0"/>
              </a:rPr>
              <a:t>A clear statement of the desired goal.</a:t>
            </a:r>
          </a:p>
        </p:txBody>
      </p:sp>
      <p:sp>
        <p:nvSpPr>
          <p:cNvPr id="40" name="Text Placeholder 19">
            <a:extLst>
              <a:ext uri="{FF2B5EF4-FFF2-40B4-BE49-F238E27FC236}">
                <a16:creationId xmlns:a16="http://schemas.microsoft.com/office/drawing/2014/main" id="{35ABA1B7-19E2-A145-44A4-3D6EC9C7D3C4}"/>
              </a:ext>
            </a:extLst>
          </p:cNvPr>
          <p:cNvSpPr txBox="1">
            <a:spLocks/>
          </p:cNvSpPr>
          <p:nvPr/>
        </p:nvSpPr>
        <p:spPr>
          <a:xfrm>
            <a:off x="92402" y="2987818"/>
            <a:ext cx="4891221" cy="1263679"/>
          </a:xfrm>
          <a:prstGeom prst="rect">
            <a:avLst/>
          </a:prstGeom>
          <a:solidFill>
            <a:schemeClr val="bg1"/>
          </a:solidFill>
          <a:ln>
            <a:solidFill>
              <a:schemeClr val="tx2">
                <a:lumMod val="20000"/>
                <a:lumOff val="80000"/>
              </a:schemeClr>
            </a:solidFill>
          </a:ln>
          <a:effectLst>
            <a:glow rad="50800">
              <a:schemeClr val="tx1">
                <a:alpha val="5000"/>
              </a:schemeClr>
            </a:glow>
            <a:innerShdw dist="50800" dir="10800000">
              <a:schemeClr val="accent4"/>
            </a:innerShdw>
          </a:effectLst>
        </p:spPr>
        <p:txBody>
          <a:bodyPr vert="horz" wrap="square" lIns="365760" tIns="274320" rIns="182880" bIns="274320" rtlCol="0">
            <a:spAutoFit/>
          </a:bodyPr>
          <a:lstStyle>
            <a:lvl1pPr marL="228600" indent="-228600" algn="l" defTabSz="914400" rtl="0" eaLnBrk="1" latinLnBrk="0" hangingPunct="1">
              <a:lnSpc>
                <a:spcPct val="100000"/>
              </a:lnSpc>
              <a:spcBef>
                <a:spcPts val="400"/>
              </a:spcBef>
              <a:spcAft>
                <a:spcPts val="1200"/>
              </a:spcAft>
              <a:buClr>
                <a:srgbClr val="0B8ECC"/>
              </a:buClr>
              <a:buFont typeface="Arial" panose="020B0604020202020204" pitchFamily="34" charset="0"/>
              <a:buChar char="•"/>
              <a:defRPr sz="1800" kern="1200">
                <a:solidFill>
                  <a:schemeClr val="tx1"/>
                </a:solidFill>
                <a:latin typeface="+mn-lt"/>
                <a:ea typeface="Tahoma" panose="020B0604030504040204" pitchFamily="34" charset="0"/>
                <a:cs typeface="Tahoma" panose="020B0604030504040204" pitchFamily="34" charset="0"/>
              </a:defRPr>
            </a:lvl1pPr>
            <a:lvl2pPr marL="457200" indent="-228600" algn="l" defTabSz="914400" rtl="0" eaLnBrk="1" latinLnBrk="0" hangingPunct="1">
              <a:lnSpc>
                <a:spcPct val="100000"/>
              </a:lnSpc>
              <a:spcBef>
                <a:spcPts val="400"/>
              </a:spcBef>
              <a:spcAft>
                <a:spcPts val="1200"/>
              </a:spcAft>
              <a:buClr>
                <a:srgbClr val="0B8ECC"/>
              </a:buClr>
              <a:buSzPct val="90000"/>
              <a:buFont typeface="Arial" panose="020B0604020202020204" pitchFamily="34" charset="0"/>
              <a:buChar char="•"/>
              <a:defRPr sz="1800" kern="1200">
                <a:solidFill>
                  <a:schemeClr val="tx1"/>
                </a:solidFill>
                <a:latin typeface="+mn-lt"/>
                <a:ea typeface="Tahoma" panose="020B0604030504040204" pitchFamily="34" charset="0"/>
                <a:cs typeface="Tahoma" panose="020B0604030504040204" pitchFamily="34" charset="0"/>
              </a:defRPr>
            </a:lvl2pPr>
            <a:lvl3pPr marL="685800" indent="-228600" algn="l" defTabSz="914400" rtl="0" eaLnBrk="1" latinLnBrk="0" hangingPunct="1">
              <a:lnSpc>
                <a:spcPct val="100000"/>
              </a:lnSpc>
              <a:spcBef>
                <a:spcPts val="400"/>
              </a:spcBef>
              <a:spcAft>
                <a:spcPts val="1200"/>
              </a:spcAft>
              <a:buClr>
                <a:srgbClr val="0B8ECC"/>
              </a:buClr>
              <a:buSzPct val="100000"/>
              <a:buFont typeface="Arial" panose="020B0604020202020204" pitchFamily="34" charset="0"/>
              <a:buChar char="•"/>
              <a:defRPr sz="1800" kern="1200">
                <a:solidFill>
                  <a:schemeClr val="tx1"/>
                </a:solidFill>
                <a:latin typeface="+mn-lt"/>
                <a:ea typeface="Tahoma" panose="020B0604030504040204" pitchFamily="34" charset="0"/>
                <a:cs typeface="Tahoma" panose="020B0604030504040204" pitchFamily="34" charset="0"/>
              </a:defRPr>
            </a:lvl3pPr>
            <a:lvl4pPr marL="1600200" indent="-228600" algn="l" defTabSz="914400" rtl="0" eaLnBrk="1" latinLnBrk="0" hangingPunct="1">
              <a:lnSpc>
                <a:spcPct val="100000"/>
              </a:lnSpc>
              <a:spcBef>
                <a:spcPts val="400"/>
              </a:spcBef>
              <a:spcAft>
                <a:spcPts val="1200"/>
              </a:spcAft>
              <a:buClr>
                <a:srgbClr val="0B8ECC"/>
              </a:buClr>
              <a:buFont typeface="Arial" panose="020B0604020202020204" pitchFamily="34" charset="0"/>
              <a:buChar char="•"/>
              <a:defRPr sz="1800" kern="1200">
                <a:solidFill>
                  <a:schemeClr val="tx1"/>
                </a:solidFill>
                <a:latin typeface="+mn-lt"/>
                <a:ea typeface="Tahoma" panose="020B0604030504040204" pitchFamily="34" charset="0"/>
                <a:cs typeface="Tahoma" panose="020B0604030504040204" pitchFamily="34" charset="0"/>
              </a:defRPr>
            </a:lvl4pPr>
            <a:lvl5pPr marL="2057400" indent="-228600" algn="l" defTabSz="914400" rtl="0" eaLnBrk="1" latinLnBrk="0" hangingPunct="1">
              <a:lnSpc>
                <a:spcPct val="100000"/>
              </a:lnSpc>
              <a:spcBef>
                <a:spcPts val="400"/>
              </a:spcBef>
              <a:spcAft>
                <a:spcPts val="1200"/>
              </a:spcAft>
              <a:buClr>
                <a:srgbClr val="0B8ECC"/>
              </a:buClr>
              <a:buFont typeface="Arial" panose="020B0604020202020204" pitchFamily="34" charset="0"/>
              <a:buChar char="•"/>
              <a:defRPr sz="1800" kern="1200">
                <a:solidFill>
                  <a:schemeClr val="tx1"/>
                </a:solidFill>
                <a:latin typeface="+mn-lt"/>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609630">
              <a:lnSpc>
                <a:spcPct val="120000"/>
              </a:lnSpc>
              <a:spcBef>
                <a:spcPts val="333"/>
              </a:spcBef>
              <a:spcAft>
                <a:spcPts val="333"/>
              </a:spcAft>
              <a:buNone/>
            </a:pPr>
            <a:r>
              <a:rPr lang="en-US" sz="2000" b="1" dirty="0">
                <a:solidFill>
                  <a:srgbClr val="000000"/>
                </a:solidFill>
                <a:latin typeface="Montserrat" panose="00000500000000000000" pitchFamily="2" charset="0"/>
              </a:rPr>
              <a:t>Input Data: </a:t>
            </a:r>
            <a:r>
              <a:rPr lang="en-US" sz="2000" dirty="0">
                <a:solidFill>
                  <a:srgbClr val="000000"/>
                </a:solidFill>
                <a:latin typeface="Montserrat" panose="00000500000000000000" pitchFamily="2" charset="0"/>
              </a:rPr>
              <a:t>The data or content to analyze.</a:t>
            </a:r>
          </a:p>
        </p:txBody>
      </p:sp>
      <p:sp>
        <p:nvSpPr>
          <p:cNvPr id="41" name="Text Placeholder 19">
            <a:extLst>
              <a:ext uri="{FF2B5EF4-FFF2-40B4-BE49-F238E27FC236}">
                <a16:creationId xmlns:a16="http://schemas.microsoft.com/office/drawing/2014/main" id="{979358D0-B32D-3DD2-9EA1-5051625EDE8B}"/>
              </a:ext>
            </a:extLst>
          </p:cNvPr>
          <p:cNvSpPr txBox="1">
            <a:spLocks/>
          </p:cNvSpPr>
          <p:nvPr/>
        </p:nvSpPr>
        <p:spPr>
          <a:xfrm>
            <a:off x="92401" y="4057069"/>
            <a:ext cx="4891221" cy="1258678"/>
          </a:xfrm>
          <a:prstGeom prst="rect">
            <a:avLst/>
          </a:prstGeom>
          <a:solidFill>
            <a:schemeClr val="bg1"/>
          </a:solidFill>
          <a:ln>
            <a:solidFill>
              <a:schemeClr val="tx2">
                <a:lumMod val="20000"/>
                <a:lumOff val="80000"/>
              </a:schemeClr>
            </a:solidFill>
          </a:ln>
          <a:effectLst>
            <a:glow rad="50800">
              <a:schemeClr val="tx1">
                <a:alpha val="5000"/>
              </a:schemeClr>
            </a:glow>
            <a:innerShdw dist="50800" dir="10800000">
              <a:schemeClr val="tx2"/>
            </a:innerShdw>
          </a:effectLst>
        </p:spPr>
        <p:txBody>
          <a:bodyPr vert="horz" wrap="square" lIns="365760" tIns="274320" rIns="182880" bIns="274320" rtlCol="0">
            <a:spAutoFit/>
          </a:bodyPr>
          <a:lstStyle>
            <a:lvl1pPr marL="228600" indent="-228600" algn="l" defTabSz="914400" rtl="0" eaLnBrk="1" latinLnBrk="0" hangingPunct="1">
              <a:lnSpc>
                <a:spcPct val="100000"/>
              </a:lnSpc>
              <a:spcBef>
                <a:spcPts val="400"/>
              </a:spcBef>
              <a:spcAft>
                <a:spcPts val="1200"/>
              </a:spcAft>
              <a:buClr>
                <a:srgbClr val="0B8ECC"/>
              </a:buClr>
              <a:buFont typeface="Arial" panose="020B0604020202020204" pitchFamily="34" charset="0"/>
              <a:buChar char="•"/>
              <a:defRPr sz="1800" kern="1200">
                <a:solidFill>
                  <a:schemeClr val="tx1"/>
                </a:solidFill>
                <a:latin typeface="+mn-lt"/>
                <a:ea typeface="Tahoma" panose="020B0604030504040204" pitchFamily="34" charset="0"/>
                <a:cs typeface="Tahoma" panose="020B0604030504040204" pitchFamily="34" charset="0"/>
              </a:defRPr>
            </a:lvl1pPr>
            <a:lvl2pPr marL="457200" indent="-228600" algn="l" defTabSz="914400" rtl="0" eaLnBrk="1" latinLnBrk="0" hangingPunct="1">
              <a:lnSpc>
                <a:spcPct val="100000"/>
              </a:lnSpc>
              <a:spcBef>
                <a:spcPts val="400"/>
              </a:spcBef>
              <a:spcAft>
                <a:spcPts val="1200"/>
              </a:spcAft>
              <a:buClr>
                <a:srgbClr val="0B8ECC"/>
              </a:buClr>
              <a:buSzPct val="90000"/>
              <a:buFont typeface="Arial" panose="020B0604020202020204" pitchFamily="34" charset="0"/>
              <a:buChar char="•"/>
              <a:defRPr sz="1800" kern="1200">
                <a:solidFill>
                  <a:schemeClr val="tx1"/>
                </a:solidFill>
                <a:latin typeface="+mn-lt"/>
                <a:ea typeface="Tahoma" panose="020B0604030504040204" pitchFamily="34" charset="0"/>
                <a:cs typeface="Tahoma" panose="020B0604030504040204" pitchFamily="34" charset="0"/>
              </a:defRPr>
            </a:lvl2pPr>
            <a:lvl3pPr marL="685800" indent="-228600" algn="l" defTabSz="914400" rtl="0" eaLnBrk="1" latinLnBrk="0" hangingPunct="1">
              <a:lnSpc>
                <a:spcPct val="100000"/>
              </a:lnSpc>
              <a:spcBef>
                <a:spcPts val="400"/>
              </a:spcBef>
              <a:spcAft>
                <a:spcPts val="1200"/>
              </a:spcAft>
              <a:buClr>
                <a:srgbClr val="0B8ECC"/>
              </a:buClr>
              <a:buSzPct val="100000"/>
              <a:buFont typeface="Arial" panose="020B0604020202020204" pitchFamily="34" charset="0"/>
              <a:buChar char="•"/>
              <a:defRPr sz="1800" kern="1200">
                <a:solidFill>
                  <a:schemeClr val="tx1"/>
                </a:solidFill>
                <a:latin typeface="+mn-lt"/>
                <a:ea typeface="Tahoma" panose="020B0604030504040204" pitchFamily="34" charset="0"/>
                <a:cs typeface="Tahoma" panose="020B0604030504040204" pitchFamily="34" charset="0"/>
              </a:defRPr>
            </a:lvl3pPr>
            <a:lvl4pPr marL="1600200" indent="-228600" algn="l" defTabSz="914400" rtl="0" eaLnBrk="1" latinLnBrk="0" hangingPunct="1">
              <a:lnSpc>
                <a:spcPct val="100000"/>
              </a:lnSpc>
              <a:spcBef>
                <a:spcPts val="400"/>
              </a:spcBef>
              <a:spcAft>
                <a:spcPts val="1200"/>
              </a:spcAft>
              <a:buClr>
                <a:srgbClr val="0B8ECC"/>
              </a:buClr>
              <a:buFont typeface="Arial" panose="020B0604020202020204" pitchFamily="34" charset="0"/>
              <a:buChar char="•"/>
              <a:defRPr sz="1800" kern="1200">
                <a:solidFill>
                  <a:schemeClr val="tx1"/>
                </a:solidFill>
                <a:latin typeface="+mn-lt"/>
                <a:ea typeface="Tahoma" panose="020B0604030504040204" pitchFamily="34" charset="0"/>
                <a:cs typeface="Tahoma" panose="020B0604030504040204" pitchFamily="34" charset="0"/>
              </a:defRPr>
            </a:lvl4pPr>
            <a:lvl5pPr marL="2057400" indent="-228600" algn="l" defTabSz="914400" rtl="0" eaLnBrk="1" latinLnBrk="0" hangingPunct="1">
              <a:lnSpc>
                <a:spcPct val="100000"/>
              </a:lnSpc>
              <a:spcBef>
                <a:spcPts val="400"/>
              </a:spcBef>
              <a:spcAft>
                <a:spcPts val="1200"/>
              </a:spcAft>
              <a:buClr>
                <a:srgbClr val="0B8ECC"/>
              </a:buClr>
              <a:buFont typeface="Arial" panose="020B0604020202020204" pitchFamily="34" charset="0"/>
              <a:buChar char="•"/>
              <a:defRPr sz="1800" kern="1200">
                <a:solidFill>
                  <a:schemeClr val="tx1"/>
                </a:solidFill>
                <a:latin typeface="+mn-lt"/>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609630">
              <a:lnSpc>
                <a:spcPct val="120000"/>
              </a:lnSpc>
              <a:spcBef>
                <a:spcPts val="333"/>
              </a:spcBef>
              <a:spcAft>
                <a:spcPts val="333"/>
              </a:spcAft>
              <a:buNone/>
            </a:pPr>
            <a:r>
              <a:rPr lang="en-US" sz="2000" b="1" dirty="0">
                <a:solidFill>
                  <a:srgbClr val="000000"/>
                </a:solidFill>
                <a:latin typeface="Montserrat" panose="00000500000000000000" pitchFamily="2" charset="0"/>
              </a:rPr>
              <a:t>Output Indicator: </a:t>
            </a:r>
            <a:r>
              <a:rPr lang="en-US" sz="2000" dirty="0">
                <a:solidFill>
                  <a:srgbClr val="000000"/>
                </a:solidFill>
                <a:latin typeface="Montserrat" panose="00000500000000000000" pitchFamily="2" charset="0"/>
              </a:rPr>
              <a:t>Define the expected format and structure</a:t>
            </a:r>
          </a:p>
        </p:txBody>
      </p:sp>
      <p:cxnSp>
        <p:nvCxnSpPr>
          <p:cNvPr id="42" name="Connector: Elbow 41">
            <a:extLst>
              <a:ext uri="{FF2B5EF4-FFF2-40B4-BE49-F238E27FC236}">
                <a16:creationId xmlns:a16="http://schemas.microsoft.com/office/drawing/2014/main" id="{A0058166-79A5-51DC-4F51-3F82CFA43ACE}"/>
              </a:ext>
            </a:extLst>
          </p:cNvPr>
          <p:cNvCxnSpPr>
            <a:cxnSpLocks/>
          </p:cNvCxnSpPr>
          <p:nvPr/>
        </p:nvCxnSpPr>
        <p:spPr>
          <a:xfrm>
            <a:off x="7785207" y="1418850"/>
            <a:ext cx="1052655" cy="373985"/>
          </a:xfrm>
          <a:prstGeom prst="bentConnector3">
            <a:avLst>
              <a:gd name="adj1" fmla="val -2046"/>
            </a:avLst>
          </a:prstGeom>
          <a:ln w="57150">
            <a:solidFill>
              <a:srgbClr val="D56E48"/>
            </a:solidFill>
            <a:tailEnd type="triangle"/>
          </a:ln>
        </p:spPr>
        <p:style>
          <a:lnRef idx="1">
            <a:schemeClr val="accent1"/>
          </a:lnRef>
          <a:fillRef idx="0">
            <a:schemeClr val="accent1"/>
          </a:fillRef>
          <a:effectRef idx="0">
            <a:schemeClr val="accent1"/>
          </a:effectRef>
          <a:fontRef idx="minor">
            <a:schemeClr val="tx1"/>
          </a:fontRef>
        </p:style>
      </p:cxnSp>
      <p:cxnSp>
        <p:nvCxnSpPr>
          <p:cNvPr id="43" name="Connector: Elbow 42">
            <a:extLst>
              <a:ext uri="{FF2B5EF4-FFF2-40B4-BE49-F238E27FC236}">
                <a16:creationId xmlns:a16="http://schemas.microsoft.com/office/drawing/2014/main" id="{BF0B8A4A-5B47-ABC6-BEAF-79FE88CB4CAC}"/>
              </a:ext>
            </a:extLst>
          </p:cNvPr>
          <p:cNvCxnSpPr>
            <a:cxnSpLocks/>
          </p:cNvCxnSpPr>
          <p:nvPr/>
        </p:nvCxnSpPr>
        <p:spPr>
          <a:xfrm>
            <a:off x="6068534" y="2543196"/>
            <a:ext cx="1052655" cy="373985"/>
          </a:xfrm>
          <a:prstGeom prst="bentConnector3">
            <a:avLst>
              <a:gd name="adj1" fmla="val -2046"/>
            </a:avLst>
          </a:prstGeom>
          <a:ln w="57150">
            <a:solidFill>
              <a:srgbClr val="D56E48"/>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C3E79204-107F-82A3-F613-43058C365F48}"/>
              </a:ext>
            </a:extLst>
          </p:cNvPr>
          <p:cNvCxnSpPr>
            <a:cxnSpLocks/>
          </p:cNvCxnSpPr>
          <p:nvPr/>
        </p:nvCxnSpPr>
        <p:spPr>
          <a:xfrm>
            <a:off x="7969380" y="3592466"/>
            <a:ext cx="1052655" cy="373985"/>
          </a:xfrm>
          <a:prstGeom prst="bentConnector3">
            <a:avLst>
              <a:gd name="adj1" fmla="val -2046"/>
            </a:avLst>
          </a:prstGeom>
          <a:ln w="57150">
            <a:solidFill>
              <a:srgbClr val="D56E48"/>
            </a:solidFill>
            <a:tailEnd type="triangle"/>
          </a:ln>
        </p:spPr>
        <p:style>
          <a:lnRef idx="1">
            <a:schemeClr val="accent1"/>
          </a:lnRef>
          <a:fillRef idx="0">
            <a:schemeClr val="accent1"/>
          </a:fillRef>
          <a:effectRef idx="0">
            <a:schemeClr val="accent1"/>
          </a:effectRef>
          <a:fontRef idx="minor">
            <a:schemeClr val="tx1"/>
          </a:fontRef>
        </p:style>
      </p:cxnSp>
      <p:cxnSp>
        <p:nvCxnSpPr>
          <p:cNvPr id="45" name="Connector: Elbow 44">
            <a:extLst>
              <a:ext uri="{FF2B5EF4-FFF2-40B4-BE49-F238E27FC236}">
                <a16:creationId xmlns:a16="http://schemas.microsoft.com/office/drawing/2014/main" id="{C7FA7A86-41AF-DCE4-29F3-E6B74EBEC148}"/>
              </a:ext>
            </a:extLst>
          </p:cNvPr>
          <p:cNvCxnSpPr>
            <a:cxnSpLocks/>
          </p:cNvCxnSpPr>
          <p:nvPr/>
        </p:nvCxnSpPr>
        <p:spPr>
          <a:xfrm>
            <a:off x="6068534" y="4995139"/>
            <a:ext cx="1052655" cy="373985"/>
          </a:xfrm>
          <a:prstGeom prst="bentConnector3">
            <a:avLst>
              <a:gd name="adj1" fmla="val -2046"/>
            </a:avLst>
          </a:prstGeom>
          <a:ln w="57150">
            <a:solidFill>
              <a:srgbClr val="D56E48"/>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980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2">
                                            <p:txEl>
                                              <p:pRg st="1" end="1"/>
                                            </p:txEl>
                                          </p:spTgt>
                                        </p:tgtEl>
                                        <p:attrNameLst>
                                          <p:attrName>style.visibility</p:attrName>
                                        </p:attrNameLst>
                                      </p:cBhvr>
                                      <p:to>
                                        <p:strVal val="visible"/>
                                      </p:to>
                                    </p:set>
                                    <p:animEffect transition="in" filter="fade">
                                      <p:cBhvr>
                                        <p:cTn id="12" dur="500"/>
                                        <p:tgtEl>
                                          <p:spTgt spid="32">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2">
                                            <p:txEl>
                                              <p:pRg st="0" end="0"/>
                                            </p:txEl>
                                          </p:spTgt>
                                        </p:tgtEl>
                                        <p:attrNameLst>
                                          <p:attrName>style.visibility</p:attrName>
                                        </p:attrNameLst>
                                      </p:cBhvr>
                                      <p:to>
                                        <p:strVal val="visible"/>
                                      </p:to>
                                    </p:set>
                                    <p:animEffect transition="in" filter="fade">
                                      <p:cBhvr>
                                        <p:cTn id="15" dur="500"/>
                                        <p:tgtEl>
                                          <p:spTgt spid="32">
                                            <p:txEl>
                                              <p:pRg st="0" end="0"/>
                                            </p:txEl>
                                          </p:spTgt>
                                        </p:tgtEl>
                                      </p:cBhvr>
                                    </p:animEffect>
                                  </p:childTnLst>
                                </p:cTn>
                              </p:par>
                              <p:par>
                                <p:cTn id="16" presetID="2" presetClass="entr" presetSubtype="4" fill="hold" nodeType="withEffect">
                                  <p:stCondLst>
                                    <p:cond delay="0"/>
                                  </p:stCondLst>
                                  <p:childTnLst>
                                    <p:set>
                                      <p:cBhvr>
                                        <p:cTn id="17" dur="1" fill="hold">
                                          <p:stCondLst>
                                            <p:cond delay="0"/>
                                          </p:stCondLst>
                                        </p:cTn>
                                        <p:tgtEl>
                                          <p:spTgt spid="42"/>
                                        </p:tgtEl>
                                        <p:attrNameLst>
                                          <p:attrName>style.visibility</p:attrName>
                                        </p:attrNameLst>
                                      </p:cBhvr>
                                      <p:to>
                                        <p:strVal val="visible"/>
                                      </p:to>
                                    </p:set>
                                    <p:anim calcmode="lin" valueType="num">
                                      <p:cBhvr additive="base">
                                        <p:cTn id="18" dur="500" fill="hold"/>
                                        <p:tgtEl>
                                          <p:spTgt spid="42"/>
                                        </p:tgtEl>
                                        <p:attrNameLst>
                                          <p:attrName>ppt_x</p:attrName>
                                        </p:attrNameLst>
                                      </p:cBhvr>
                                      <p:tavLst>
                                        <p:tav tm="0">
                                          <p:val>
                                            <p:strVal val="#ppt_x"/>
                                          </p:val>
                                        </p:tav>
                                        <p:tav tm="100000">
                                          <p:val>
                                            <p:strVal val="#ppt_x"/>
                                          </p:val>
                                        </p:tav>
                                      </p:tavLst>
                                    </p:anim>
                                    <p:anim calcmode="lin" valueType="num">
                                      <p:cBhvr additive="base">
                                        <p:cTn id="19" dur="500" fill="hold"/>
                                        <p:tgtEl>
                                          <p:spTgt spid="42"/>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34"/>
                                        </p:tgtEl>
                                        <p:attrNameLst>
                                          <p:attrName>style.visibility</p:attrName>
                                        </p:attrNameLst>
                                      </p:cBhvr>
                                      <p:to>
                                        <p:strVal val="visible"/>
                                      </p:to>
                                    </p:set>
                                    <p:anim calcmode="lin" valueType="num">
                                      <p:cBhvr additive="base">
                                        <p:cTn id="22" dur="500" fill="hold"/>
                                        <p:tgtEl>
                                          <p:spTgt spid="34"/>
                                        </p:tgtEl>
                                        <p:attrNameLst>
                                          <p:attrName>ppt_x</p:attrName>
                                        </p:attrNameLst>
                                      </p:cBhvr>
                                      <p:tavLst>
                                        <p:tav tm="0">
                                          <p:val>
                                            <p:strVal val="#ppt_x"/>
                                          </p:val>
                                        </p:tav>
                                        <p:tav tm="100000">
                                          <p:val>
                                            <p:strVal val="#ppt_x"/>
                                          </p:val>
                                        </p:tav>
                                      </p:tavLst>
                                    </p:anim>
                                    <p:anim calcmode="lin" valueType="num">
                                      <p:cBhvr additive="base">
                                        <p:cTn id="23"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9"/>
                                        </p:tgtEl>
                                        <p:attrNameLst>
                                          <p:attrName>style.visibility</p:attrName>
                                        </p:attrNameLst>
                                      </p:cBhvr>
                                      <p:to>
                                        <p:strVal val="visible"/>
                                      </p:to>
                                    </p:set>
                                    <p:animEffect transition="in" filter="fade">
                                      <p:cBhvr>
                                        <p:cTn id="28" dur="500"/>
                                        <p:tgtEl>
                                          <p:spTgt spid="3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2">
                                            <p:txEl>
                                              <p:pRg st="4" end="4"/>
                                            </p:txEl>
                                          </p:spTgt>
                                        </p:tgtEl>
                                        <p:attrNameLst>
                                          <p:attrName>style.visibility</p:attrName>
                                        </p:attrNameLst>
                                      </p:cBhvr>
                                      <p:to>
                                        <p:strVal val="visible"/>
                                      </p:to>
                                    </p:set>
                                    <p:animEffect transition="in" filter="fade">
                                      <p:cBhvr>
                                        <p:cTn id="33" dur="500"/>
                                        <p:tgtEl>
                                          <p:spTgt spid="32">
                                            <p:txEl>
                                              <p:pRg st="4" end="4"/>
                                            </p:txEl>
                                          </p:spTgt>
                                        </p:tgtEl>
                                      </p:cBhvr>
                                    </p:animEffect>
                                  </p:childTnLst>
                                </p:cTn>
                              </p:par>
                              <p:par>
                                <p:cTn id="34" presetID="2" presetClass="entr" presetSubtype="4" fill="hold" nodeType="withEffect">
                                  <p:stCondLst>
                                    <p:cond delay="0"/>
                                  </p:stCondLst>
                                  <p:childTnLst>
                                    <p:set>
                                      <p:cBhvr>
                                        <p:cTn id="35" dur="1" fill="hold">
                                          <p:stCondLst>
                                            <p:cond delay="0"/>
                                          </p:stCondLst>
                                        </p:cTn>
                                        <p:tgtEl>
                                          <p:spTgt spid="43"/>
                                        </p:tgtEl>
                                        <p:attrNameLst>
                                          <p:attrName>style.visibility</p:attrName>
                                        </p:attrNameLst>
                                      </p:cBhvr>
                                      <p:to>
                                        <p:strVal val="visible"/>
                                      </p:to>
                                    </p:set>
                                    <p:anim calcmode="lin" valueType="num">
                                      <p:cBhvr additive="base">
                                        <p:cTn id="36" dur="500" fill="hold"/>
                                        <p:tgtEl>
                                          <p:spTgt spid="43"/>
                                        </p:tgtEl>
                                        <p:attrNameLst>
                                          <p:attrName>ppt_x</p:attrName>
                                        </p:attrNameLst>
                                      </p:cBhvr>
                                      <p:tavLst>
                                        <p:tav tm="0">
                                          <p:val>
                                            <p:strVal val="#ppt_x"/>
                                          </p:val>
                                        </p:tav>
                                        <p:tav tm="100000">
                                          <p:val>
                                            <p:strVal val="#ppt_x"/>
                                          </p:val>
                                        </p:tav>
                                      </p:tavLst>
                                    </p:anim>
                                    <p:anim calcmode="lin" valueType="num">
                                      <p:cBhvr additive="base">
                                        <p:cTn id="37" dur="500" fill="hold"/>
                                        <p:tgtEl>
                                          <p:spTgt spid="43"/>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0"/>
                                  </p:stCondLst>
                                  <p:childTnLst>
                                    <p:set>
                                      <p:cBhvr>
                                        <p:cTn id="39" dur="1" fill="hold">
                                          <p:stCondLst>
                                            <p:cond delay="0"/>
                                          </p:stCondLst>
                                        </p:cTn>
                                        <p:tgtEl>
                                          <p:spTgt spid="35"/>
                                        </p:tgtEl>
                                        <p:attrNameLst>
                                          <p:attrName>style.visibility</p:attrName>
                                        </p:attrNameLst>
                                      </p:cBhvr>
                                      <p:to>
                                        <p:strVal val="visible"/>
                                      </p:to>
                                    </p:set>
                                    <p:anim calcmode="lin" valueType="num">
                                      <p:cBhvr additive="base">
                                        <p:cTn id="40" dur="500" fill="hold"/>
                                        <p:tgtEl>
                                          <p:spTgt spid="35"/>
                                        </p:tgtEl>
                                        <p:attrNameLst>
                                          <p:attrName>ppt_x</p:attrName>
                                        </p:attrNameLst>
                                      </p:cBhvr>
                                      <p:tavLst>
                                        <p:tav tm="0">
                                          <p:val>
                                            <p:strVal val="#ppt_x"/>
                                          </p:val>
                                        </p:tav>
                                        <p:tav tm="100000">
                                          <p:val>
                                            <p:strVal val="#ppt_x"/>
                                          </p:val>
                                        </p:tav>
                                      </p:tavLst>
                                    </p:anim>
                                    <p:anim calcmode="lin" valueType="num">
                                      <p:cBhvr additive="base">
                                        <p:cTn id="41"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40"/>
                                        </p:tgtEl>
                                        <p:attrNameLst>
                                          <p:attrName>style.visibility</p:attrName>
                                        </p:attrNameLst>
                                      </p:cBhvr>
                                      <p:to>
                                        <p:strVal val="visible"/>
                                      </p:to>
                                    </p:set>
                                    <p:animEffect transition="in" filter="fade">
                                      <p:cBhvr>
                                        <p:cTn id="46" dur="500"/>
                                        <p:tgtEl>
                                          <p:spTgt spid="40"/>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32">
                                            <p:txEl>
                                              <p:pRg st="8" end="8"/>
                                            </p:txEl>
                                          </p:spTgt>
                                        </p:tgtEl>
                                        <p:attrNameLst>
                                          <p:attrName>style.visibility</p:attrName>
                                        </p:attrNameLst>
                                      </p:cBhvr>
                                      <p:to>
                                        <p:strVal val="visible"/>
                                      </p:to>
                                    </p:set>
                                    <p:animEffect transition="in" filter="fade">
                                      <p:cBhvr>
                                        <p:cTn id="51" dur="500"/>
                                        <p:tgtEl>
                                          <p:spTgt spid="32">
                                            <p:txEl>
                                              <p:pRg st="8" end="8"/>
                                            </p:txEl>
                                          </p:spTgt>
                                        </p:tgtEl>
                                      </p:cBhvr>
                                    </p:animEffect>
                                  </p:childTnLst>
                                </p:cTn>
                              </p:par>
                              <p:par>
                                <p:cTn id="52" presetID="2" presetClass="entr" presetSubtype="4" fill="hold" nodeType="withEffect">
                                  <p:stCondLst>
                                    <p:cond delay="0"/>
                                  </p:stCondLst>
                                  <p:childTnLst>
                                    <p:set>
                                      <p:cBhvr>
                                        <p:cTn id="53" dur="1" fill="hold">
                                          <p:stCondLst>
                                            <p:cond delay="0"/>
                                          </p:stCondLst>
                                        </p:cTn>
                                        <p:tgtEl>
                                          <p:spTgt spid="44"/>
                                        </p:tgtEl>
                                        <p:attrNameLst>
                                          <p:attrName>style.visibility</p:attrName>
                                        </p:attrNameLst>
                                      </p:cBhvr>
                                      <p:to>
                                        <p:strVal val="visible"/>
                                      </p:to>
                                    </p:set>
                                    <p:anim calcmode="lin" valueType="num">
                                      <p:cBhvr additive="base">
                                        <p:cTn id="54" dur="500" fill="hold"/>
                                        <p:tgtEl>
                                          <p:spTgt spid="44"/>
                                        </p:tgtEl>
                                        <p:attrNameLst>
                                          <p:attrName>ppt_x</p:attrName>
                                        </p:attrNameLst>
                                      </p:cBhvr>
                                      <p:tavLst>
                                        <p:tav tm="0">
                                          <p:val>
                                            <p:strVal val="#ppt_x"/>
                                          </p:val>
                                        </p:tav>
                                        <p:tav tm="100000">
                                          <p:val>
                                            <p:strVal val="#ppt_x"/>
                                          </p:val>
                                        </p:tav>
                                      </p:tavLst>
                                    </p:anim>
                                    <p:anim calcmode="lin" valueType="num">
                                      <p:cBhvr additive="base">
                                        <p:cTn id="55" dur="500" fill="hold"/>
                                        <p:tgtEl>
                                          <p:spTgt spid="44"/>
                                        </p:tgtEl>
                                        <p:attrNameLst>
                                          <p:attrName>ppt_y</p:attrName>
                                        </p:attrNameLst>
                                      </p:cBhvr>
                                      <p:tavLst>
                                        <p:tav tm="0">
                                          <p:val>
                                            <p:strVal val="1+#ppt_h/2"/>
                                          </p:val>
                                        </p:tav>
                                        <p:tav tm="100000">
                                          <p:val>
                                            <p:strVal val="#ppt_y"/>
                                          </p:val>
                                        </p:tav>
                                      </p:tavLst>
                                    </p:anim>
                                  </p:childTnLst>
                                </p:cTn>
                              </p:par>
                              <p:par>
                                <p:cTn id="56" presetID="2" presetClass="entr" presetSubtype="4" fill="hold" grpId="0" nodeType="withEffect">
                                  <p:stCondLst>
                                    <p:cond delay="0"/>
                                  </p:stCondLst>
                                  <p:childTnLst>
                                    <p:set>
                                      <p:cBhvr>
                                        <p:cTn id="57" dur="1" fill="hold">
                                          <p:stCondLst>
                                            <p:cond delay="0"/>
                                          </p:stCondLst>
                                        </p:cTn>
                                        <p:tgtEl>
                                          <p:spTgt spid="36"/>
                                        </p:tgtEl>
                                        <p:attrNameLst>
                                          <p:attrName>style.visibility</p:attrName>
                                        </p:attrNameLst>
                                      </p:cBhvr>
                                      <p:to>
                                        <p:strVal val="visible"/>
                                      </p:to>
                                    </p:set>
                                    <p:anim calcmode="lin" valueType="num">
                                      <p:cBhvr additive="base">
                                        <p:cTn id="58" dur="500" fill="hold"/>
                                        <p:tgtEl>
                                          <p:spTgt spid="36"/>
                                        </p:tgtEl>
                                        <p:attrNameLst>
                                          <p:attrName>ppt_x</p:attrName>
                                        </p:attrNameLst>
                                      </p:cBhvr>
                                      <p:tavLst>
                                        <p:tav tm="0">
                                          <p:val>
                                            <p:strVal val="#ppt_x"/>
                                          </p:val>
                                        </p:tav>
                                        <p:tav tm="100000">
                                          <p:val>
                                            <p:strVal val="#ppt_x"/>
                                          </p:val>
                                        </p:tav>
                                      </p:tavLst>
                                    </p:anim>
                                    <p:anim calcmode="lin" valueType="num">
                                      <p:cBhvr additive="base">
                                        <p:cTn id="59"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41"/>
                                        </p:tgtEl>
                                        <p:attrNameLst>
                                          <p:attrName>style.visibility</p:attrName>
                                        </p:attrNameLst>
                                      </p:cBhvr>
                                      <p:to>
                                        <p:strVal val="visible"/>
                                      </p:to>
                                    </p:set>
                                    <p:animEffect transition="in" filter="fade">
                                      <p:cBhvr>
                                        <p:cTn id="64" dur="500"/>
                                        <p:tgtEl>
                                          <p:spTgt spid="41"/>
                                        </p:tgtEl>
                                      </p:cBhvr>
                                    </p:animEffect>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nodeType="clickEffect">
                                  <p:stCondLst>
                                    <p:cond delay="0"/>
                                  </p:stCondLst>
                                  <p:childTnLst>
                                    <p:set>
                                      <p:cBhvr>
                                        <p:cTn id="68" dur="1" fill="hold">
                                          <p:stCondLst>
                                            <p:cond delay="0"/>
                                          </p:stCondLst>
                                        </p:cTn>
                                        <p:tgtEl>
                                          <p:spTgt spid="32">
                                            <p:txEl>
                                              <p:pRg st="11" end="11"/>
                                            </p:txEl>
                                          </p:spTgt>
                                        </p:tgtEl>
                                        <p:attrNameLst>
                                          <p:attrName>style.visibility</p:attrName>
                                        </p:attrNameLst>
                                      </p:cBhvr>
                                      <p:to>
                                        <p:strVal val="visible"/>
                                      </p:to>
                                    </p:set>
                                    <p:anim calcmode="lin" valueType="num">
                                      <p:cBhvr additive="base">
                                        <p:cTn id="69" dur="500" fill="hold"/>
                                        <p:tgtEl>
                                          <p:spTgt spid="32">
                                            <p:txEl>
                                              <p:pRg st="11" end="11"/>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32">
                                            <p:txEl>
                                              <p:pRg st="11" end="11"/>
                                            </p:txEl>
                                          </p:spTgt>
                                        </p:tgtEl>
                                        <p:attrNameLst>
                                          <p:attrName>ppt_y</p:attrName>
                                        </p:attrNameLst>
                                      </p:cBhvr>
                                      <p:tavLst>
                                        <p:tav tm="0">
                                          <p:val>
                                            <p:strVal val="1+#ppt_h/2"/>
                                          </p:val>
                                        </p:tav>
                                        <p:tav tm="100000">
                                          <p:val>
                                            <p:strVal val="#ppt_y"/>
                                          </p:val>
                                        </p:tav>
                                      </p:tavLst>
                                    </p:anim>
                                  </p:childTnLst>
                                </p:cTn>
                              </p:par>
                              <p:par>
                                <p:cTn id="71" presetID="2" presetClass="entr" presetSubtype="4" fill="hold" nodeType="withEffect">
                                  <p:stCondLst>
                                    <p:cond delay="0"/>
                                  </p:stCondLst>
                                  <p:childTnLst>
                                    <p:set>
                                      <p:cBhvr>
                                        <p:cTn id="72" dur="1" fill="hold">
                                          <p:stCondLst>
                                            <p:cond delay="0"/>
                                          </p:stCondLst>
                                        </p:cTn>
                                        <p:tgtEl>
                                          <p:spTgt spid="45"/>
                                        </p:tgtEl>
                                        <p:attrNameLst>
                                          <p:attrName>style.visibility</p:attrName>
                                        </p:attrNameLst>
                                      </p:cBhvr>
                                      <p:to>
                                        <p:strVal val="visible"/>
                                      </p:to>
                                    </p:set>
                                    <p:anim calcmode="lin" valueType="num">
                                      <p:cBhvr additive="base">
                                        <p:cTn id="73" dur="500" fill="hold"/>
                                        <p:tgtEl>
                                          <p:spTgt spid="45"/>
                                        </p:tgtEl>
                                        <p:attrNameLst>
                                          <p:attrName>ppt_x</p:attrName>
                                        </p:attrNameLst>
                                      </p:cBhvr>
                                      <p:tavLst>
                                        <p:tav tm="0">
                                          <p:val>
                                            <p:strVal val="#ppt_x"/>
                                          </p:val>
                                        </p:tav>
                                        <p:tav tm="100000">
                                          <p:val>
                                            <p:strVal val="#ppt_x"/>
                                          </p:val>
                                        </p:tav>
                                      </p:tavLst>
                                    </p:anim>
                                    <p:anim calcmode="lin" valueType="num">
                                      <p:cBhvr additive="base">
                                        <p:cTn id="74" dur="500" fill="hold"/>
                                        <p:tgtEl>
                                          <p:spTgt spid="45"/>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37"/>
                                        </p:tgtEl>
                                        <p:attrNameLst>
                                          <p:attrName>style.visibility</p:attrName>
                                        </p:attrNameLst>
                                      </p:cBhvr>
                                      <p:to>
                                        <p:strVal val="visible"/>
                                      </p:to>
                                    </p:set>
                                    <p:anim calcmode="lin" valueType="num">
                                      <p:cBhvr additive="base">
                                        <p:cTn id="77" dur="500" fill="hold"/>
                                        <p:tgtEl>
                                          <p:spTgt spid="37"/>
                                        </p:tgtEl>
                                        <p:attrNameLst>
                                          <p:attrName>ppt_x</p:attrName>
                                        </p:attrNameLst>
                                      </p:cBhvr>
                                      <p:tavLst>
                                        <p:tav tm="0">
                                          <p:val>
                                            <p:strVal val="#ppt_x"/>
                                          </p:val>
                                        </p:tav>
                                        <p:tav tm="100000">
                                          <p:val>
                                            <p:strVal val="#ppt_x"/>
                                          </p:val>
                                        </p:tav>
                                      </p:tavLst>
                                    </p:anim>
                                    <p:anim calcmode="lin" valueType="num">
                                      <p:cBhvr additive="base">
                                        <p:cTn id="78"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p:bldP spid="36" grpId="0"/>
      <p:bldP spid="37" grpId="0"/>
      <p:bldP spid="38" grpId="0" animBg="1"/>
      <p:bldP spid="39" grpId="0" animBg="1"/>
      <p:bldP spid="40" grpId="0" animBg="1"/>
      <p:bldP spid="4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C2E2C-FE04-E3F8-B8AA-50762A95894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DA43217-E728-83F0-1A2D-36544F900389}"/>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1721EE94-A89E-B6AF-ED8F-C008F0A339A3}"/>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30A7BB07-E7C1-6A4B-400D-354DCFA9092D}"/>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Prompting Essentials</a:t>
            </a:r>
          </a:p>
        </p:txBody>
      </p:sp>
      <p:sp>
        <p:nvSpPr>
          <p:cNvPr id="9" name="TextBox 8">
            <a:extLst>
              <a:ext uri="{FF2B5EF4-FFF2-40B4-BE49-F238E27FC236}">
                <a16:creationId xmlns:a16="http://schemas.microsoft.com/office/drawing/2014/main" id="{00A01F1F-FBAF-2487-4897-3A7668F989B4}"/>
              </a:ext>
            </a:extLst>
          </p:cNvPr>
          <p:cNvSpPr txBox="1"/>
          <p:nvPr/>
        </p:nvSpPr>
        <p:spPr>
          <a:xfrm rot="5400000">
            <a:off x="9505627" y="3450945"/>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graphicFrame>
        <p:nvGraphicFramePr>
          <p:cNvPr id="2" name="Diagram 1">
            <a:extLst>
              <a:ext uri="{FF2B5EF4-FFF2-40B4-BE49-F238E27FC236}">
                <a16:creationId xmlns:a16="http://schemas.microsoft.com/office/drawing/2014/main" id="{BDB2E059-44E8-0568-E24E-877B7B8393BD}"/>
              </a:ext>
            </a:extLst>
          </p:cNvPr>
          <p:cNvGraphicFramePr/>
          <p:nvPr>
            <p:extLst>
              <p:ext uri="{D42A27DB-BD31-4B8C-83A1-F6EECF244321}">
                <p14:modId xmlns:p14="http://schemas.microsoft.com/office/powerpoint/2010/main" val="4025131035"/>
              </p:ext>
            </p:extLst>
          </p:nvPr>
        </p:nvGraphicFramePr>
        <p:xfrm>
          <a:off x="55549" y="474092"/>
          <a:ext cx="12080902" cy="560501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575135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graphicEl>
                                              <a:dgm id="{C990541E-9525-4B2C-8234-06662E7CEDC6}"/>
                                            </p:graphicEl>
                                          </p:spTgt>
                                        </p:tgtEl>
                                        <p:attrNameLst>
                                          <p:attrName>style.visibility</p:attrName>
                                        </p:attrNameLst>
                                      </p:cBhvr>
                                      <p:to>
                                        <p:strVal val="visible"/>
                                      </p:to>
                                    </p:set>
                                    <p:animEffect transition="in" filter="fade">
                                      <p:cBhvr>
                                        <p:cTn id="7" dur="500"/>
                                        <p:tgtEl>
                                          <p:spTgt spid="2">
                                            <p:graphicEl>
                                              <a:dgm id="{C990541E-9525-4B2C-8234-06662E7CEDC6}"/>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graphicEl>
                                              <a:dgm id="{657AFCB1-7251-4BA4-9D06-5F2257B5DE2A}"/>
                                            </p:graphicEl>
                                          </p:spTgt>
                                        </p:tgtEl>
                                        <p:attrNameLst>
                                          <p:attrName>style.visibility</p:attrName>
                                        </p:attrNameLst>
                                      </p:cBhvr>
                                      <p:to>
                                        <p:strVal val="visible"/>
                                      </p:to>
                                    </p:set>
                                    <p:animEffect transition="in" filter="fade">
                                      <p:cBhvr>
                                        <p:cTn id="12" dur="500"/>
                                        <p:tgtEl>
                                          <p:spTgt spid="2">
                                            <p:graphicEl>
                                              <a:dgm id="{657AFCB1-7251-4BA4-9D06-5F2257B5DE2A}"/>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graphicEl>
                                              <a:dgm id="{4992DE3B-5367-48F3-A222-767B0D598C85}"/>
                                            </p:graphicEl>
                                          </p:spTgt>
                                        </p:tgtEl>
                                        <p:attrNameLst>
                                          <p:attrName>style.visibility</p:attrName>
                                        </p:attrNameLst>
                                      </p:cBhvr>
                                      <p:to>
                                        <p:strVal val="visible"/>
                                      </p:to>
                                    </p:set>
                                    <p:animEffect transition="in" filter="fade">
                                      <p:cBhvr>
                                        <p:cTn id="17" dur="500"/>
                                        <p:tgtEl>
                                          <p:spTgt spid="2">
                                            <p:graphicEl>
                                              <a:dgm id="{4992DE3B-5367-48F3-A222-767B0D598C85}"/>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graphicEl>
                                              <a:dgm id="{319D02D5-205D-48D9-91D0-F518019683EA}"/>
                                            </p:graphicEl>
                                          </p:spTgt>
                                        </p:tgtEl>
                                        <p:attrNameLst>
                                          <p:attrName>style.visibility</p:attrName>
                                        </p:attrNameLst>
                                      </p:cBhvr>
                                      <p:to>
                                        <p:strVal val="visible"/>
                                      </p:to>
                                    </p:set>
                                    <p:animEffect transition="in" filter="fade">
                                      <p:cBhvr>
                                        <p:cTn id="22" dur="500"/>
                                        <p:tgtEl>
                                          <p:spTgt spid="2">
                                            <p:graphicEl>
                                              <a:dgm id="{319D02D5-205D-48D9-91D0-F518019683EA}"/>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
                                            <p:graphicEl>
                                              <a:dgm id="{70B3777D-9AB4-4C20-A928-FB7A9E2B8412}"/>
                                            </p:graphicEl>
                                          </p:spTgt>
                                        </p:tgtEl>
                                        <p:attrNameLst>
                                          <p:attrName>style.visibility</p:attrName>
                                        </p:attrNameLst>
                                      </p:cBhvr>
                                      <p:to>
                                        <p:strVal val="visible"/>
                                      </p:to>
                                    </p:set>
                                    <p:animEffect transition="in" filter="fade">
                                      <p:cBhvr>
                                        <p:cTn id="27" dur="500"/>
                                        <p:tgtEl>
                                          <p:spTgt spid="2">
                                            <p:graphicEl>
                                              <a:dgm id="{70B3777D-9AB4-4C20-A928-FB7A9E2B8412}"/>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
                                            <p:graphicEl>
                                              <a:dgm id="{F9129A72-9A16-4BF9-8A53-1E4B13A9BCA3}"/>
                                            </p:graphicEl>
                                          </p:spTgt>
                                        </p:tgtEl>
                                        <p:attrNameLst>
                                          <p:attrName>style.visibility</p:attrName>
                                        </p:attrNameLst>
                                      </p:cBhvr>
                                      <p:to>
                                        <p:strVal val="visible"/>
                                      </p:to>
                                    </p:set>
                                    <p:animEffect transition="in" filter="fade">
                                      <p:cBhvr>
                                        <p:cTn id="32" dur="500"/>
                                        <p:tgtEl>
                                          <p:spTgt spid="2">
                                            <p:graphicEl>
                                              <a:dgm id="{F9129A72-9A16-4BF9-8A53-1E4B13A9BCA3}"/>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
                                            <p:graphicEl>
                                              <a:dgm id="{6052F529-2232-4925-A816-29D992A53351}"/>
                                            </p:graphicEl>
                                          </p:spTgt>
                                        </p:tgtEl>
                                        <p:attrNameLst>
                                          <p:attrName>style.visibility</p:attrName>
                                        </p:attrNameLst>
                                      </p:cBhvr>
                                      <p:to>
                                        <p:strVal val="visible"/>
                                      </p:to>
                                    </p:set>
                                    <p:animEffect transition="in" filter="fade">
                                      <p:cBhvr>
                                        <p:cTn id="37" dur="500"/>
                                        <p:tgtEl>
                                          <p:spTgt spid="2">
                                            <p:graphicEl>
                                              <a:dgm id="{6052F529-2232-4925-A816-29D992A53351}"/>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Dgm bld="one"/>
        </p:bldSub>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47912-CAD3-F294-AD93-B46D06D76E9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77C425C-CF5D-DB36-4427-F6403017C1DA}"/>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177787C7-C45C-C55A-2F35-6487DA9030F9}"/>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9059CA85-F2D4-AD32-11D4-DC00ED2A6F8E}"/>
              </a:ext>
            </a:extLst>
          </p:cNvPr>
          <p:cNvSpPr/>
          <p:nvPr/>
        </p:nvSpPr>
        <p:spPr>
          <a:xfrm>
            <a:off x="293914" y="793804"/>
            <a:ext cx="5802086" cy="1938992"/>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LARGE LANGUAGE MODELS FOUNDATIONS</a:t>
            </a:r>
          </a:p>
        </p:txBody>
      </p:sp>
      <p:pic>
        <p:nvPicPr>
          <p:cNvPr id="5" name="Picture 4">
            <a:extLst>
              <a:ext uri="{FF2B5EF4-FFF2-40B4-BE49-F238E27FC236}">
                <a16:creationId xmlns:a16="http://schemas.microsoft.com/office/drawing/2014/main" id="{C2336E85-1A6C-C38D-FFBC-A0071623742E}"/>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37941722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96C21-CD28-3319-9153-D5D785A15EC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75E52CD-DECF-818C-E732-05B47F90F766}"/>
              </a:ext>
            </a:extLst>
          </p:cNvPr>
          <p:cNvPicPr>
            <a:picLocks noChangeAspect="1"/>
          </p:cNvPicPr>
          <p:nvPr/>
        </p:nvPicPr>
        <p:blipFill>
          <a:blip r:embed="rId2"/>
          <a:stretch>
            <a:fillRect/>
          </a:stretch>
        </p:blipFill>
        <p:spPr>
          <a:xfrm>
            <a:off x="-32773" y="0"/>
            <a:ext cx="12224773" cy="6858000"/>
          </a:xfrm>
          <a:prstGeom prst="rect">
            <a:avLst/>
          </a:prstGeom>
        </p:spPr>
      </p:pic>
      <p:pic>
        <p:nvPicPr>
          <p:cNvPr id="6" name="Picture 5">
            <a:extLst>
              <a:ext uri="{FF2B5EF4-FFF2-40B4-BE49-F238E27FC236}">
                <a16:creationId xmlns:a16="http://schemas.microsoft.com/office/drawing/2014/main" id="{619569AC-BD12-83B4-8634-2615B620FEE9}"/>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E3E9BBFC-9E88-F8AF-D5CA-860DD41086E1}"/>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Large Language Models (LLMs)</a:t>
            </a:r>
          </a:p>
        </p:txBody>
      </p:sp>
      <p:sp>
        <p:nvSpPr>
          <p:cNvPr id="9" name="TextBox 8">
            <a:extLst>
              <a:ext uri="{FF2B5EF4-FFF2-40B4-BE49-F238E27FC236}">
                <a16:creationId xmlns:a16="http://schemas.microsoft.com/office/drawing/2014/main" id="{435DAAC8-4190-22A8-473B-779FAF80CA14}"/>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15" name="TextBox 14">
            <a:extLst>
              <a:ext uri="{FF2B5EF4-FFF2-40B4-BE49-F238E27FC236}">
                <a16:creationId xmlns:a16="http://schemas.microsoft.com/office/drawing/2014/main" id="{88545837-30EF-30E9-D9B7-7E12FAB3B8CB}"/>
              </a:ext>
            </a:extLst>
          </p:cNvPr>
          <p:cNvSpPr txBox="1"/>
          <p:nvPr/>
        </p:nvSpPr>
        <p:spPr>
          <a:xfrm>
            <a:off x="189384" y="871861"/>
            <a:ext cx="11780457" cy="1979233"/>
          </a:xfrm>
          <a:prstGeom prst="rect">
            <a:avLst/>
          </a:prstGeom>
        </p:spPr>
        <p:txBody>
          <a:bodyPr vert="horz" lIns="91440" tIns="45720" rIns="91440" bIns="45720" rtlCol="0">
            <a:normAutofit/>
          </a:bodyPr>
          <a:lstStyle>
            <a:defPPr>
              <a:defRPr lang="en-US"/>
            </a:defPPr>
            <a:lvl1pPr marL="228600" indent="-228600">
              <a:lnSpc>
                <a:spcPct val="90000"/>
              </a:lnSpc>
              <a:spcBef>
                <a:spcPts val="1000"/>
              </a:spcBef>
              <a:buClr>
                <a:srgbClr val="1BBFD1"/>
              </a:buClr>
              <a:buFont typeface="Arial" panose="020B0604020202020204" pitchFamily="34" charset="0"/>
              <a:buChar char="•"/>
              <a:defRPr>
                <a:latin typeface="Montserrat" panose="00000500000000000000" pitchFamily="2" charset="0"/>
              </a:defRPr>
            </a:lvl1pPr>
            <a:lvl2pPr marL="742987" indent="-285764"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2pPr>
            <a:lvl3pPr marL="1143057" indent="-228611"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3pPr>
            <a:lvl4pPr marL="1600280"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4pPr>
            <a:lvl5pPr marL="2057503"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5pPr>
            <a:lvl6pPr marL="2514726" indent="-228611" defTabSz="914446">
              <a:lnSpc>
                <a:spcPct val="90000"/>
              </a:lnSpc>
              <a:spcBef>
                <a:spcPts val="500"/>
              </a:spcBef>
              <a:buFont typeface="Arial" panose="020B0604020202020204" pitchFamily="34" charset="0"/>
              <a:buChar char="•"/>
            </a:lvl6pPr>
            <a:lvl7pPr marL="2971949" indent="-228611" defTabSz="914446">
              <a:lnSpc>
                <a:spcPct val="90000"/>
              </a:lnSpc>
              <a:spcBef>
                <a:spcPts val="500"/>
              </a:spcBef>
              <a:buFont typeface="Arial" panose="020B0604020202020204" pitchFamily="34" charset="0"/>
              <a:buChar char="•"/>
            </a:lvl7pPr>
            <a:lvl8pPr marL="3429171" indent="-228611" defTabSz="914446">
              <a:lnSpc>
                <a:spcPct val="90000"/>
              </a:lnSpc>
              <a:spcBef>
                <a:spcPts val="500"/>
              </a:spcBef>
              <a:buFont typeface="Arial" panose="020B0604020202020204" pitchFamily="34" charset="0"/>
              <a:buChar char="•"/>
            </a:lvl8pPr>
            <a:lvl9pPr marL="3886394" indent="-228611" defTabSz="914446">
              <a:lnSpc>
                <a:spcPct val="90000"/>
              </a:lnSpc>
              <a:spcBef>
                <a:spcPts val="500"/>
              </a:spcBef>
              <a:buFont typeface="Arial" panose="020B0604020202020204" pitchFamily="34" charset="0"/>
              <a:buChar char="•"/>
            </a:lvl9pPr>
          </a:lstStyle>
          <a:p>
            <a:r>
              <a:rPr lang="en-US" sz="1700" dirty="0"/>
              <a:t>A Large Language Model is a neural network trained on massive text datasets to understand and generate human language. At its core, it predicts the next most probable token in a sequence.</a:t>
            </a:r>
          </a:p>
          <a:p>
            <a:endParaRPr lang="en-US" sz="1700" dirty="0"/>
          </a:p>
        </p:txBody>
      </p:sp>
      <p:sp>
        <p:nvSpPr>
          <p:cNvPr id="20" name="Rectangle 2">
            <a:extLst>
              <a:ext uri="{FF2B5EF4-FFF2-40B4-BE49-F238E27FC236}">
                <a16:creationId xmlns:a16="http://schemas.microsoft.com/office/drawing/2014/main" id="{6C81C8BA-32E9-FCB8-F916-3CED105A57A1}"/>
              </a:ext>
            </a:extLst>
          </p:cNvPr>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sp>
        <p:nvSpPr>
          <p:cNvPr id="3" name="Shape 4">
            <a:extLst>
              <a:ext uri="{FF2B5EF4-FFF2-40B4-BE49-F238E27FC236}">
                <a16:creationId xmlns:a16="http://schemas.microsoft.com/office/drawing/2014/main" id="{ABC8D61E-8B0C-6CB2-6073-0277DC70A56C}"/>
              </a:ext>
            </a:extLst>
          </p:cNvPr>
          <p:cNvSpPr/>
          <p:nvPr/>
        </p:nvSpPr>
        <p:spPr>
          <a:xfrm>
            <a:off x="337939" y="2754568"/>
            <a:ext cx="2560320" cy="2796540"/>
          </a:xfrm>
          <a:prstGeom prst="rect">
            <a:avLst/>
          </a:prstGeom>
          <a:solidFill>
            <a:srgbClr val="D56E48"/>
          </a:solidFill>
          <a:ln/>
          <a:effectLst>
            <a:outerShdw blurRad="76200" dist="25400" dir="8100000" algn="bl" rotWithShape="0">
              <a:srgbClr val="000000">
                <a:alpha val="10000"/>
              </a:srgbClr>
            </a:outerShdw>
          </a:effectLst>
        </p:spPr>
        <p:txBody>
          <a:bodyPr/>
          <a:lstStyle/>
          <a:p>
            <a:endParaRPr lang="en-CA"/>
          </a:p>
        </p:txBody>
      </p:sp>
      <p:sp>
        <p:nvSpPr>
          <p:cNvPr id="10" name="Text 7">
            <a:extLst>
              <a:ext uri="{FF2B5EF4-FFF2-40B4-BE49-F238E27FC236}">
                <a16:creationId xmlns:a16="http://schemas.microsoft.com/office/drawing/2014/main" id="{FFC83E80-230F-F638-55E7-DF1AE37CF66A}"/>
              </a:ext>
            </a:extLst>
          </p:cNvPr>
          <p:cNvSpPr/>
          <p:nvPr/>
        </p:nvSpPr>
        <p:spPr>
          <a:xfrm>
            <a:off x="520819" y="3440368"/>
            <a:ext cx="2194560" cy="320040"/>
          </a:xfrm>
          <a:prstGeom prst="rect">
            <a:avLst/>
          </a:prstGeom>
          <a:noFill/>
          <a:ln/>
        </p:spPr>
        <p:txBody>
          <a:bodyPr wrap="square" lIns="0" tIns="0" rIns="0" bIns="0" rtlCol="0" anchor="ctr"/>
          <a:lstStyle/>
          <a:p>
            <a:pPr marL="0" indent="0">
              <a:buNone/>
            </a:pPr>
            <a:r>
              <a:rPr lang="en-US" sz="2400" b="1" dirty="0">
                <a:solidFill>
                  <a:schemeClr val="bg1"/>
                </a:solidFill>
                <a:latin typeface="Montserrat" panose="00000500000000000000" pitchFamily="2" charset="0"/>
                <a:ea typeface="Calibri" pitchFamily="34" charset="-122"/>
                <a:cs typeface="Calibri" pitchFamily="34" charset="-120"/>
              </a:rPr>
              <a:t>Training Data</a:t>
            </a:r>
            <a:endParaRPr lang="en-US" sz="2400" dirty="0">
              <a:solidFill>
                <a:schemeClr val="bg1"/>
              </a:solidFill>
              <a:latin typeface="Montserrat" panose="00000500000000000000" pitchFamily="2" charset="0"/>
            </a:endParaRPr>
          </a:p>
        </p:txBody>
      </p:sp>
      <p:sp>
        <p:nvSpPr>
          <p:cNvPr id="11" name="Text 8">
            <a:extLst>
              <a:ext uri="{FF2B5EF4-FFF2-40B4-BE49-F238E27FC236}">
                <a16:creationId xmlns:a16="http://schemas.microsoft.com/office/drawing/2014/main" id="{FD531D90-10B2-1A8B-3599-4BC9BC48CBE9}"/>
              </a:ext>
            </a:extLst>
          </p:cNvPr>
          <p:cNvSpPr/>
          <p:nvPr/>
        </p:nvSpPr>
        <p:spPr>
          <a:xfrm>
            <a:off x="440809" y="3960433"/>
            <a:ext cx="2194560" cy="1790700"/>
          </a:xfrm>
          <a:prstGeom prst="rect">
            <a:avLst/>
          </a:prstGeom>
          <a:noFill/>
          <a:ln/>
        </p:spPr>
        <p:txBody>
          <a:bodyPr wrap="square" lIns="0" tIns="0" rIns="0" bIns="0" rtlCol="0" anchor="t"/>
          <a:lstStyle/>
          <a:p>
            <a:pPr marL="0" indent="0" algn="ctr">
              <a:buNone/>
            </a:pPr>
            <a:r>
              <a:rPr lang="en-US" dirty="0">
                <a:solidFill>
                  <a:schemeClr val="bg1"/>
                </a:solidFill>
                <a:latin typeface="Montserrat" panose="00000500000000000000" pitchFamily="2" charset="0"/>
                <a:ea typeface="Calibri" pitchFamily="34" charset="-122"/>
                <a:cs typeface="Calibri" pitchFamily="34" charset="-120"/>
              </a:rPr>
              <a:t>Billions of tokens from books, web pages, code, and conversations</a:t>
            </a:r>
            <a:endParaRPr lang="en-US" dirty="0">
              <a:solidFill>
                <a:schemeClr val="bg1"/>
              </a:solidFill>
              <a:latin typeface="Montserrat" panose="00000500000000000000" pitchFamily="2" charset="0"/>
            </a:endParaRPr>
          </a:p>
        </p:txBody>
      </p:sp>
      <p:sp>
        <p:nvSpPr>
          <p:cNvPr id="12" name="Shape 9">
            <a:extLst>
              <a:ext uri="{FF2B5EF4-FFF2-40B4-BE49-F238E27FC236}">
                <a16:creationId xmlns:a16="http://schemas.microsoft.com/office/drawing/2014/main" id="{0E0EB3F4-9379-7188-C8BC-B0978C9363E2}"/>
              </a:ext>
            </a:extLst>
          </p:cNvPr>
          <p:cNvSpPr/>
          <p:nvPr/>
        </p:nvSpPr>
        <p:spPr>
          <a:xfrm>
            <a:off x="4605139" y="2783834"/>
            <a:ext cx="2560320" cy="2767273"/>
          </a:xfrm>
          <a:prstGeom prst="rect">
            <a:avLst/>
          </a:prstGeom>
          <a:solidFill>
            <a:srgbClr val="0C1752"/>
          </a:solidFill>
          <a:ln/>
          <a:effectLst>
            <a:outerShdw blurRad="76200" dist="25400" dir="8100000" algn="bl" rotWithShape="0">
              <a:srgbClr val="000000">
                <a:alpha val="10000"/>
              </a:srgbClr>
            </a:outerShdw>
          </a:effectLst>
        </p:spPr>
        <p:txBody>
          <a:bodyPr/>
          <a:lstStyle/>
          <a:p>
            <a:endParaRPr lang="en-CA" dirty="0"/>
          </a:p>
        </p:txBody>
      </p:sp>
      <p:sp>
        <p:nvSpPr>
          <p:cNvPr id="18" name="Text 12">
            <a:extLst>
              <a:ext uri="{FF2B5EF4-FFF2-40B4-BE49-F238E27FC236}">
                <a16:creationId xmlns:a16="http://schemas.microsoft.com/office/drawing/2014/main" id="{95B6E00C-1EDF-905F-A1EB-5F80D6CAC7C9}"/>
              </a:ext>
            </a:extLst>
          </p:cNvPr>
          <p:cNvSpPr/>
          <p:nvPr/>
        </p:nvSpPr>
        <p:spPr>
          <a:xfrm>
            <a:off x="4970899" y="3440368"/>
            <a:ext cx="2194560" cy="320040"/>
          </a:xfrm>
          <a:prstGeom prst="rect">
            <a:avLst/>
          </a:prstGeom>
          <a:noFill/>
          <a:ln/>
        </p:spPr>
        <p:txBody>
          <a:bodyPr wrap="square" lIns="0" tIns="0" rIns="0" bIns="0" rtlCol="0" anchor="ctr"/>
          <a:lstStyle/>
          <a:p>
            <a:r>
              <a:rPr lang="en-US" sz="2400" b="1" dirty="0">
                <a:solidFill>
                  <a:schemeClr val="bg1"/>
                </a:solidFill>
                <a:latin typeface="Montserrat" panose="00000500000000000000" pitchFamily="2" charset="0"/>
                <a:ea typeface="Calibri" pitchFamily="34" charset="-122"/>
                <a:cs typeface="Calibri" pitchFamily="34" charset="-120"/>
              </a:rPr>
              <a:t>Parameters</a:t>
            </a:r>
          </a:p>
        </p:txBody>
      </p:sp>
      <p:sp>
        <p:nvSpPr>
          <p:cNvPr id="19" name="Text 13">
            <a:extLst>
              <a:ext uri="{FF2B5EF4-FFF2-40B4-BE49-F238E27FC236}">
                <a16:creationId xmlns:a16="http://schemas.microsoft.com/office/drawing/2014/main" id="{148BC2BC-FA9B-6174-13F7-A20EC0DE0F8F}"/>
              </a:ext>
            </a:extLst>
          </p:cNvPr>
          <p:cNvSpPr/>
          <p:nvPr/>
        </p:nvSpPr>
        <p:spPr>
          <a:xfrm>
            <a:off x="4675624" y="3881721"/>
            <a:ext cx="2362200" cy="1761433"/>
          </a:xfrm>
          <a:prstGeom prst="rect">
            <a:avLst/>
          </a:prstGeom>
          <a:noFill/>
          <a:ln/>
        </p:spPr>
        <p:txBody>
          <a:bodyPr wrap="square" lIns="0" tIns="0" rIns="0" bIns="0" rtlCol="0" anchor="t"/>
          <a:lstStyle/>
          <a:p>
            <a:pPr algn="ctr"/>
            <a:r>
              <a:rPr lang="en-US" dirty="0">
                <a:solidFill>
                  <a:schemeClr val="bg1"/>
                </a:solidFill>
                <a:latin typeface="Montserrat" panose="00000500000000000000" pitchFamily="2" charset="0"/>
                <a:ea typeface="Calibri" pitchFamily="34" charset="-122"/>
                <a:cs typeface="Calibri" pitchFamily="34" charset="-120"/>
              </a:rPr>
              <a:t>Billions of learned weights that encode language patterns and knowledge</a:t>
            </a:r>
          </a:p>
        </p:txBody>
      </p:sp>
      <p:sp>
        <p:nvSpPr>
          <p:cNvPr id="21" name="Shape 14">
            <a:extLst>
              <a:ext uri="{FF2B5EF4-FFF2-40B4-BE49-F238E27FC236}">
                <a16:creationId xmlns:a16="http://schemas.microsoft.com/office/drawing/2014/main" id="{42CC5797-4BAA-308A-4622-C3411327E9BF}"/>
              </a:ext>
            </a:extLst>
          </p:cNvPr>
          <p:cNvSpPr/>
          <p:nvPr/>
        </p:nvSpPr>
        <p:spPr>
          <a:xfrm>
            <a:off x="8769469" y="2807908"/>
            <a:ext cx="2560320" cy="2743199"/>
          </a:xfrm>
          <a:prstGeom prst="rect">
            <a:avLst/>
          </a:prstGeom>
          <a:solidFill>
            <a:schemeClr val="bg1">
              <a:lumMod val="65000"/>
            </a:schemeClr>
          </a:solidFill>
          <a:ln/>
          <a:effectLst>
            <a:outerShdw blurRad="76200" dist="25400" dir="8100000" algn="bl" rotWithShape="0">
              <a:srgbClr val="000000">
                <a:alpha val="10000"/>
              </a:srgbClr>
            </a:outerShdw>
          </a:effectLst>
        </p:spPr>
        <p:txBody>
          <a:bodyPr/>
          <a:lstStyle/>
          <a:p>
            <a:endParaRPr lang="en-CA"/>
          </a:p>
        </p:txBody>
      </p:sp>
      <p:sp>
        <p:nvSpPr>
          <p:cNvPr id="25" name="Text 17">
            <a:extLst>
              <a:ext uri="{FF2B5EF4-FFF2-40B4-BE49-F238E27FC236}">
                <a16:creationId xmlns:a16="http://schemas.microsoft.com/office/drawing/2014/main" id="{24EB9A00-D2E4-F2DC-F877-AFF79CC99C50}"/>
              </a:ext>
            </a:extLst>
          </p:cNvPr>
          <p:cNvSpPr/>
          <p:nvPr/>
        </p:nvSpPr>
        <p:spPr>
          <a:xfrm>
            <a:off x="9135229" y="3406685"/>
            <a:ext cx="2194560" cy="320040"/>
          </a:xfrm>
          <a:prstGeom prst="rect">
            <a:avLst/>
          </a:prstGeom>
          <a:noFill/>
          <a:ln/>
        </p:spPr>
        <p:txBody>
          <a:bodyPr wrap="square" lIns="0" tIns="0" rIns="0" bIns="0" rtlCol="0" anchor="ctr"/>
          <a:lstStyle/>
          <a:p>
            <a:r>
              <a:rPr lang="en-US" sz="2400" b="1" dirty="0">
                <a:solidFill>
                  <a:schemeClr val="bg1"/>
                </a:solidFill>
                <a:latin typeface="Montserrat" panose="00000500000000000000" pitchFamily="2" charset="0"/>
                <a:ea typeface="Calibri" pitchFamily="34" charset="-122"/>
                <a:cs typeface="Calibri" pitchFamily="34" charset="-120"/>
              </a:rPr>
              <a:t>Generation</a:t>
            </a:r>
          </a:p>
        </p:txBody>
      </p:sp>
      <p:sp>
        <p:nvSpPr>
          <p:cNvPr id="29" name="Text 18">
            <a:extLst>
              <a:ext uri="{FF2B5EF4-FFF2-40B4-BE49-F238E27FC236}">
                <a16:creationId xmlns:a16="http://schemas.microsoft.com/office/drawing/2014/main" id="{C08C47C0-08D5-005F-DFF8-90981E7FA9D0}"/>
              </a:ext>
            </a:extLst>
          </p:cNvPr>
          <p:cNvSpPr/>
          <p:nvPr/>
        </p:nvSpPr>
        <p:spPr>
          <a:xfrm>
            <a:off x="8952349" y="3813748"/>
            <a:ext cx="2194560" cy="731520"/>
          </a:xfrm>
          <a:prstGeom prst="rect">
            <a:avLst/>
          </a:prstGeom>
          <a:noFill/>
          <a:ln/>
        </p:spPr>
        <p:txBody>
          <a:bodyPr wrap="square" lIns="0" tIns="0" rIns="0" bIns="0" rtlCol="0" anchor="t"/>
          <a:lstStyle/>
          <a:p>
            <a:pPr algn="ctr"/>
            <a:r>
              <a:rPr lang="en-US" dirty="0">
                <a:solidFill>
                  <a:schemeClr val="bg1"/>
                </a:solidFill>
                <a:latin typeface="Montserrat" panose="00000500000000000000" pitchFamily="2" charset="0"/>
                <a:ea typeface="Calibri" pitchFamily="34" charset="-122"/>
                <a:cs typeface="Calibri" pitchFamily="34" charset="-120"/>
              </a:rPr>
              <a:t>Produces text token-by-token using probability distributions</a:t>
            </a:r>
          </a:p>
        </p:txBody>
      </p:sp>
      <p:pic>
        <p:nvPicPr>
          <p:cNvPr id="31" name="Picture 30">
            <a:extLst>
              <a:ext uri="{FF2B5EF4-FFF2-40B4-BE49-F238E27FC236}">
                <a16:creationId xmlns:a16="http://schemas.microsoft.com/office/drawing/2014/main" id="{97245D3C-99F1-10A5-CA60-06C73700D928}"/>
              </a:ext>
            </a:extLst>
          </p:cNvPr>
          <p:cNvPicPr>
            <a:picLocks noChangeAspect="1"/>
          </p:cNvPicPr>
          <p:nvPr/>
        </p:nvPicPr>
        <p:blipFill>
          <a:blip r:embed="rId4">
            <a:clrChange>
              <a:clrFrom>
                <a:srgbClr val="FEFEFE"/>
              </a:clrFrom>
              <a:clrTo>
                <a:srgbClr val="FEFEFE">
                  <a:alpha val="0"/>
                </a:srgbClr>
              </a:clrTo>
            </a:clrChange>
            <a:duotone>
              <a:prstClr val="black"/>
              <a:schemeClr val="accent1">
                <a:tint val="45000"/>
                <a:satMod val="400000"/>
              </a:schemeClr>
            </a:duotone>
          </a:blip>
          <a:stretch>
            <a:fillRect/>
          </a:stretch>
        </p:blipFill>
        <p:spPr>
          <a:xfrm>
            <a:off x="5072053" y="1500492"/>
            <a:ext cx="1493763" cy="1493763"/>
          </a:xfrm>
          <a:prstGeom prst="rect">
            <a:avLst/>
          </a:prstGeom>
        </p:spPr>
      </p:pic>
      <p:pic>
        <p:nvPicPr>
          <p:cNvPr id="33" name="Picture 32">
            <a:extLst>
              <a:ext uri="{FF2B5EF4-FFF2-40B4-BE49-F238E27FC236}">
                <a16:creationId xmlns:a16="http://schemas.microsoft.com/office/drawing/2014/main" id="{75FE1FB2-E01D-9ABC-9B9E-C48C51161ED4}"/>
              </a:ext>
            </a:extLst>
          </p:cNvPr>
          <p:cNvPicPr>
            <a:picLocks noChangeAspect="1"/>
          </p:cNvPicPr>
          <p:nvPr/>
        </p:nvPicPr>
        <p:blipFill>
          <a:blip r:embed="rId5">
            <a:duotone>
              <a:schemeClr val="accent2">
                <a:shade val="45000"/>
                <a:satMod val="135000"/>
              </a:schemeClr>
              <a:prstClr val="white"/>
            </a:duotone>
          </a:blip>
          <a:stretch>
            <a:fillRect/>
          </a:stretch>
        </p:blipFill>
        <p:spPr>
          <a:xfrm>
            <a:off x="751317" y="1382293"/>
            <a:ext cx="1730160" cy="1730160"/>
          </a:xfrm>
          <a:prstGeom prst="rect">
            <a:avLst/>
          </a:prstGeom>
        </p:spPr>
      </p:pic>
      <p:pic>
        <p:nvPicPr>
          <p:cNvPr id="37" name="Picture 36">
            <a:extLst>
              <a:ext uri="{FF2B5EF4-FFF2-40B4-BE49-F238E27FC236}">
                <a16:creationId xmlns:a16="http://schemas.microsoft.com/office/drawing/2014/main" id="{B1E0E101-D4A1-7B53-BB29-B309ACC476E4}"/>
              </a:ext>
            </a:extLst>
          </p:cNvPr>
          <p:cNvPicPr>
            <a:picLocks noChangeAspect="1"/>
          </p:cNvPicPr>
          <p:nvPr/>
        </p:nvPicPr>
        <p:blipFill>
          <a:blip r:embed="rId6">
            <a:clrChange>
              <a:clrFrom>
                <a:srgbClr val="FEFEFE"/>
              </a:clrFrom>
              <a:clrTo>
                <a:srgbClr val="FEFEFE">
                  <a:alpha val="0"/>
                </a:srgbClr>
              </a:clrTo>
            </a:clrChange>
            <a:duotone>
              <a:schemeClr val="accent3">
                <a:shade val="45000"/>
                <a:satMod val="135000"/>
              </a:schemeClr>
              <a:prstClr val="white"/>
            </a:duotone>
          </a:blip>
          <a:stretch>
            <a:fillRect/>
          </a:stretch>
        </p:blipFill>
        <p:spPr>
          <a:xfrm>
            <a:off x="9437908" y="1720090"/>
            <a:ext cx="1180237" cy="933895"/>
          </a:xfrm>
          <a:prstGeom prst="rect">
            <a:avLst/>
          </a:prstGeom>
        </p:spPr>
      </p:pic>
    </p:spTree>
    <p:extLst>
      <p:ext uri="{BB962C8B-B14F-4D97-AF65-F5344CB8AC3E}">
        <p14:creationId xmlns:p14="http://schemas.microsoft.com/office/powerpoint/2010/main" val="1091999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33"/>
                                        </p:tgtEl>
                                        <p:attrNameLst>
                                          <p:attrName>style.visibility</p:attrName>
                                        </p:attrNameLst>
                                      </p:cBhvr>
                                      <p:to>
                                        <p:strVal val="visible"/>
                                      </p:to>
                                    </p:set>
                                    <p:animEffect transition="in" filter="fade">
                                      <p:cBhvr>
                                        <p:cTn id="16" dur="500"/>
                                        <p:tgtEl>
                                          <p:spTgt spid="3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500"/>
                                        <p:tgtEl>
                                          <p:spTgt spid="1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500"/>
                                        <p:tgtEl>
                                          <p:spTgt spid="19"/>
                                        </p:tgtEl>
                                      </p:cBhvr>
                                    </p:animEffect>
                                  </p:childTnLst>
                                </p:cTn>
                              </p:par>
                              <p:par>
                                <p:cTn id="28" presetID="10" presetClass="entr" presetSubtype="0" fill="hold" nodeType="withEffect">
                                  <p:stCondLst>
                                    <p:cond delay="0"/>
                                  </p:stCondLst>
                                  <p:childTnLst>
                                    <p:set>
                                      <p:cBhvr>
                                        <p:cTn id="29" dur="1" fill="hold">
                                          <p:stCondLst>
                                            <p:cond delay="0"/>
                                          </p:stCondLst>
                                        </p:cTn>
                                        <p:tgtEl>
                                          <p:spTgt spid="31"/>
                                        </p:tgtEl>
                                        <p:attrNameLst>
                                          <p:attrName>style.visibility</p:attrName>
                                        </p:attrNameLst>
                                      </p:cBhvr>
                                      <p:to>
                                        <p:strVal val="visible"/>
                                      </p:to>
                                    </p:set>
                                    <p:animEffect transition="in" filter="fade">
                                      <p:cBhvr>
                                        <p:cTn id="30" dur="500"/>
                                        <p:tgtEl>
                                          <p:spTgt spid="3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500"/>
                                        <p:tgtEl>
                                          <p:spTgt spid="2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500"/>
                                        <p:tgtEl>
                                          <p:spTgt spid="2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500"/>
                                        <p:tgtEl>
                                          <p:spTgt spid="29"/>
                                        </p:tgtEl>
                                      </p:cBhvr>
                                    </p:animEffect>
                                  </p:childTnLst>
                                </p:cTn>
                              </p:par>
                              <p:par>
                                <p:cTn id="42" presetID="10" presetClass="entr" presetSubtype="0" fill="hold" nodeType="withEffect">
                                  <p:stCondLst>
                                    <p:cond delay="0"/>
                                  </p:stCondLst>
                                  <p:childTnLst>
                                    <p:set>
                                      <p:cBhvr>
                                        <p:cTn id="43" dur="1" fill="hold">
                                          <p:stCondLst>
                                            <p:cond delay="0"/>
                                          </p:stCondLst>
                                        </p:cTn>
                                        <p:tgtEl>
                                          <p:spTgt spid="37"/>
                                        </p:tgtEl>
                                        <p:attrNameLst>
                                          <p:attrName>style.visibility</p:attrName>
                                        </p:attrNameLst>
                                      </p:cBhvr>
                                      <p:to>
                                        <p:strVal val="visible"/>
                                      </p:to>
                                    </p:set>
                                    <p:animEffect transition="in" filter="fade">
                                      <p:cBhvr>
                                        <p:cTn id="44"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0" grpId="0" animBg="1"/>
      <p:bldP spid="11" grpId="0" animBg="1"/>
      <p:bldP spid="12" grpId="0" animBg="1"/>
      <p:bldP spid="18" grpId="0" animBg="1"/>
      <p:bldP spid="19" grpId="0" animBg="1"/>
      <p:bldP spid="21" grpId="0" animBg="1"/>
      <p:bldP spid="25" grpId="0" animBg="1"/>
      <p:bldP spid="2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DE3C2-7E78-52DD-27B2-F1A1DE67C4B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91493CD-6B46-C6DA-5202-3FC6A4224C4D}"/>
              </a:ext>
            </a:extLst>
          </p:cNvPr>
          <p:cNvPicPr>
            <a:picLocks noChangeAspect="1"/>
          </p:cNvPicPr>
          <p:nvPr/>
        </p:nvPicPr>
        <p:blipFill>
          <a:blip r:embed="rId2"/>
          <a:stretch>
            <a:fillRect/>
          </a:stretch>
        </p:blipFill>
        <p:spPr>
          <a:xfrm>
            <a:off x="-32773" y="0"/>
            <a:ext cx="12224773" cy="6858000"/>
          </a:xfrm>
          <a:prstGeom prst="rect">
            <a:avLst/>
          </a:prstGeom>
        </p:spPr>
      </p:pic>
      <p:pic>
        <p:nvPicPr>
          <p:cNvPr id="6" name="Picture 5">
            <a:extLst>
              <a:ext uri="{FF2B5EF4-FFF2-40B4-BE49-F238E27FC236}">
                <a16:creationId xmlns:a16="http://schemas.microsoft.com/office/drawing/2014/main" id="{EBD3DDAA-E46A-BEEC-326F-D96988041144}"/>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4831DC05-DAE0-6251-CBA3-EECF599AE9AD}"/>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How LLMs work?</a:t>
            </a:r>
          </a:p>
        </p:txBody>
      </p:sp>
      <p:sp>
        <p:nvSpPr>
          <p:cNvPr id="9" name="TextBox 8">
            <a:extLst>
              <a:ext uri="{FF2B5EF4-FFF2-40B4-BE49-F238E27FC236}">
                <a16:creationId xmlns:a16="http://schemas.microsoft.com/office/drawing/2014/main" id="{F4A84152-B416-3ADB-9C38-79AE443A17CE}"/>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15" name="TextBox 14">
            <a:extLst>
              <a:ext uri="{FF2B5EF4-FFF2-40B4-BE49-F238E27FC236}">
                <a16:creationId xmlns:a16="http://schemas.microsoft.com/office/drawing/2014/main" id="{D908AE43-A565-9E5C-A3F5-D0080FF6920F}"/>
              </a:ext>
            </a:extLst>
          </p:cNvPr>
          <p:cNvSpPr txBox="1"/>
          <p:nvPr/>
        </p:nvSpPr>
        <p:spPr>
          <a:xfrm>
            <a:off x="358195" y="2982660"/>
            <a:ext cx="11780457" cy="1979233"/>
          </a:xfrm>
          <a:prstGeom prst="rect">
            <a:avLst/>
          </a:prstGeom>
        </p:spPr>
        <p:txBody>
          <a:bodyPr vert="horz" lIns="91440" tIns="45720" rIns="91440" bIns="45720" rtlCol="0">
            <a:normAutofit/>
          </a:bodyPr>
          <a:lstStyle>
            <a:defPPr>
              <a:defRPr lang="en-US"/>
            </a:defPPr>
            <a:lvl1pPr marL="228600" indent="-228600">
              <a:lnSpc>
                <a:spcPct val="90000"/>
              </a:lnSpc>
              <a:spcBef>
                <a:spcPts val="1000"/>
              </a:spcBef>
              <a:buClr>
                <a:srgbClr val="1BBFD1"/>
              </a:buClr>
              <a:buFont typeface="Arial" panose="020B0604020202020204" pitchFamily="34" charset="0"/>
              <a:buChar char="•"/>
              <a:defRPr>
                <a:latin typeface="Montserrat" panose="00000500000000000000" pitchFamily="2" charset="0"/>
              </a:defRPr>
            </a:lvl1pPr>
            <a:lvl2pPr marL="742987" indent="-285764"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2pPr>
            <a:lvl3pPr marL="1143057" indent="-228611"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3pPr>
            <a:lvl4pPr marL="1600280"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4pPr>
            <a:lvl5pPr marL="2057503"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5pPr>
            <a:lvl6pPr marL="2514726" indent="-228611" defTabSz="914446">
              <a:lnSpc>
                <a:spcPct val="90000"/>
              </a:lnSpc>
              <a:spcBef>
                <a:spcPts val="500"/>
              </a:spcBef>
              <a:buFont typeface="Arial" panose="020B0604020202020204" pitchFamily="34" charset="0"/>
              <a:buChar char="•"/>
            </a:lvl6pPr>
            <a:lvl7pPr marL="2971949" indent="-228611" defTabSz="914446">
              <a:lnSpc>
                <a:spcPct val="90000"/>
              </a:lnSpc>
              <a:spcBef>
                <a:spcPts val="500"/>
              </a:spcBef>
              <a:buFont typeface="Arial" panose="020B0604020202020204" pitchFamily="34" charset="0"/>
              <a:buChar char="•"/>
            </a:lvl7pPr>
            <a:lvl8pPr marL="3429171" indent="-228611" defTabSz="914446">
              <a:lnSpc>
                <a:spcPct val="90000"/>
              </a:lnSpc>
              <a:spcBef>
                <a:spcPts val="500"/>
              </a:spcBef>
              <a:buFont typeface="Arial" panose="020B0604020202020204" pitchFamily="34" charset="0"/>
              <a:buChar char="•"/>
            </a:lvl8pPr>
            <a:lvl9pPr marL="3886394" indent="-228611" defTabSz="914446">
              <a:lnSpc>
                <a:spcPct val="90000"/>
              </a:lnSpc>
              <a:spcBef>
                <a:spcPts val="500"/>
              </a:spcBef>
              <a:buFont typeface="Arial" panose="020B0604020202020204" pitchFamily="34" charset="0"/>
              <a:buChar char="•"/>
            </a:lvl9pPr>
          </a:lstStyle>
          <a:p>
            <a:pPr eaLnBrk="0" fontAlgn="base" hangingPunct="0">
              <a:lnSpc>
                <a:spcPct val="150000"/>
              </a:lnSpc>
              <a:spcBef>
                <a:spcPct val="0"/>
              </a:spcBef>
              <a:spcAft>
                <a:spcPct val="0"/>
              </a:spcAft>
              <a:buClrTx/>
            </a:pPr>
            <a:r>
              <a:rPr lang="en-US" altLang="en-US" sz="1600" b="1" dirty="0"/>
              <a:t>Input Text:</a:t>
            </a:r>
            <a:r>
              <a:rPr lang="en-US" altLang="en-US" sz="1600" dirty="0"/>
              <a:t> The user provides a prompt in natural language.</a:t>
            </a:r>
          </a:p>
          <a:p>
            <a:pPr eaLnBrk="0" fontAlgn="base" hangingPunct="0">
              <a:lnSpc>
                <a:spcPct val="150000"/>
              </a:lnSpc>
              <a:spcBef>
                <a:spcPct val="0"/>
              </a:spcBef>
              <a:spcAft>
                <a:spcPct val="0"/>
              </a:spcAft>
              <a:buClrTx/>
            </a:pPr>
            <a:r>
              <a:rPr lang="en-US" altLang="en-US" sz="1600" b="1" dirty="0"/>
              <a:t>Tokenization:</a:t>
            </a:r>
            <a:r>
              <a:rPr lang="en-US" altLang="en-US" sz="1600" dirty="0"/>
              <a:t> The text is converted into numerical tokens the model can process.</a:t>
            </a:r>
          </a:p>
          <a:p>
            <a:pPr eaLnBrk="0" fontAlgn="base" hangingPunct="0">
              <a:lnSpc>
                <a:spcPct val="150000"/>
              </a:lnSpc>
              <a:spcBef>
                <a:spcPct val="0"/>
              </a:spcBef>
              <a:spcAft>
                <a:spcPct val="0"/>
              </a:spcAft>
              <a:buClrTx/>
            </a:pPr>
            <a:r>
              <a:rPr lang="en-US" altLang="en-US" sz="1600" b="1" dirty="0"/>
              <a:t>Transformer Layers:</a:t>
            </a:r>
            <a:r>
              <a:rPr lang="en-US" altLang="en-US" sz="1600" dirty="0"/>
              <a:t> The model analyzes token relationships using self-attention to understand context.</a:t>
            </a:r>
          </a:p>
          <a:p>
            <a:pPr eaLnBrk="0" fontAlgn="base" hangingPunct="0">
              <a:lnSpc>
                <a:spcPct val="150000"/>
              </a:lnSpc>
              <a:spcBef>
                <a:spcPct val="0"/>
              </a:spcBef>
              <a:spcAft>
                <a:spcPct val="0"/>
              </a:spcAft>
              <a:buClrTx/>
            </a:pPr>
            <a:r>
              <a:rPr lang="en-US" altLang="en-US" sz="1600" b="1" dirty="0"/>
              <a:t>Probability Distribution:</a:t>
            </a:r>
            <a:r>
              <a:rPr lang="en-US" altLang="en-US" sz="1600" dirty="0"/>
              <a:t> The model calculates the likelihood of every possible next token.</a:t>
            </a:r>
          </a:p>
          <a:p>
            <a:pPr eaLnBrk="0" fontAlgn="base" hangingPunct="0">
              <a:lnSpc>
                <a:spcPct val="150000"/>
              </a:lnSpc>
              <a:spcBef>
                <a:spcPct val="0"/>
              </a:spcBef>
              <a:spcAft>
                <a:spcPct val="0"/>
              </a:spcAft>
              <a:buClrTx/>
            </a:pPr>
            <a:r>
              <a:rPr lang="en-US" altLang="en-US" sz="1600" b="1" dirty="0"/>
              <a:t>Output Token:</a:t>
            </a:r>
            <a:r>
              <a:rPr lang="en-US" altLang="en-US" sz="1600" dirty="0"/>
              <a:t> The most likely (or sampled) token is selected and generated as output.</a:t>
            </a:r>
          </a:p>
        </p:txBody>
      </p:sp>
      <p:sp>
        <p:nvSpPr>
          <p:cNvPr id="20" name="Rectangle 2">
            <a:extLst>
              <a:ext uri="{FF2B5EF4-FFF2-40B4-BE49-F238E27FC236}">
                <a16:creationId xmlns:a16="http://schemas.microsoft.com/office/drawing/2014/main" id="{1DA5CC54-E0F5-83F2-620A-1194526BBCD4}"/>
              </a:ext>
            </a:extLst>
          </p:cNvPr>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grpSp>
        <p:nvGrpSpPr>
          <p:cNvPr id="52" name="Group 51">
            <a:extLst>
              <a:ext uri="{FF2B5EF4-FFF2-40B4-BE49-F238E27FC236}">
                <a16:creationId xmlns:a16="http://schemas.microsoft.com/office/drawing/2014/main" id="{A908366B-504D-D285-31B8-2CEED00CF475}"/>
              </a:ext>
            </a:extLst>
          </p:cNvPr>
          <p:cNvGrpSpPr/>
          <p:nvPr/>
        </p:nvGrpSpPr>
        <p:grpSpPr>
          <a:xfrm>
            <a:off x="358195" y="1580130"/>
            <a:ext cx="1681564" cy="1106806"/>
            <a:chOff x="1028149" y="3106362"/>
            <a:chExt cx="1463040" cy="822960"/>
          </a:xfrm>
        </p:grpSpPr>
        <p:sp>
          <p:nvSpPr>
            <p:cNvPr id="38" name="Shape 3">
              <a:extLst>
                <a:ext uri="{FF2B5EF4-FFF2-40B4-BE49-F238E27FC236}">
                  <a16:creationId xmlns:a16="http://schemas.microsoft.com/office/drawing/2014/main" id="{E9ABBA5A-1AD4-7B02-6269-8EE1EEA2F986}"/>
                </a:ext>
              </a:extLst>
            </p:cNvPr>
            <p:cNvSpPr/>
            <p:nvPr/>
          </p:nvSpPr>
          <p:spPr>
            <a:xfrm>
              <a:off x="1028149" y="3106362"/>
              <a:ext cx="1463040" cy="822960"/>
            </a:xfrm>
            <a:prstGeom prst="rect">
              <a:avLst/>
            </a:prstGeom>
            <a:solidFill>
              <a:srgbClr val="D56E48"/>
            </a:solidFill>
            <a:ln/>
            <a:effectLst>
              <a:outerShdw blurRad="76200" dist="25400" dir="8100000" algn="bl" rotWithShape="0">
                <a:srgbClr val="000000">
                  <a:alpha val="10000"/>
                </a:srgbClr>
              </a:outerShdw>
            </a:effectLst>
          </p:spPr>
          <p:txBody>
            <a:bodyPr/>
            <a:lstStyle/>
            <a:p>
              <a:endParaRPr lang="en-CA" sz="1500">
                <a:latin typeface="Montserrat" panose="00000500000000000000" pitchFamily="2" charset="0"/>
              </a:endParaRPr>
            </a:p>
          </p:txBody>
        </p:sp>
        <p:sp>
          <p:nvSpPr>
            <p:cNvPr id="39" name="Text 4">
              <a:extLst>
                <a:ext uri="{FF2B5EF4-FFF2-40B4-BE49-F238E27FC236}">
                  <a16:creationId xmlns:a16="http://schemas.microsoft.com/office/drawing/2014/main" id="{FE8970C4-05EA-0694-0C48-DA2BCC77D3D3}"/>
                </a:ext>
              </a:extLst>
            </p:cNvPr>
            <p:cNvSpPr/>
            <p:nvPr/>
          </p:nvSpPr>
          <p:spPr>
            <a:xfrm>
              <a:off x="1028149" y="3106362"/>
              <a:ext cx="1463040" cy="822960"/>
            </a:xfrm>
            <a:prstGeom prst="rect">
              <a:avLst/>
            </a:prstGeom>
            <a:noFill/>
            <a:ln/>
          </p:spPr>
          <p:txBody>
            <a:bodyPr wrap="square" lIns="0" tIns="0" rIns="0" bIns="0" rtlCol="0" anchor="ctr"/>
            <a:lstStyle/>
            <a:p>
              <a:pPr marL="0" indent="0" algn="ctr">
                <a:buNone/>
              </a:pPr>
              <a:r>
                <a:rPr lang="en-US" sz="1500" b="1" dirty="0">
                  <a:solidFill>
                    <a:schemeClr val="bg1"/>
                  </a:solidFill>
                  <a:latin typeface="Montserrat" panose="00000500000000000000" pitchFamily="2" charset="0"/>
                  <a:ea typeface="Calibri" pitchFamily="34" charset="-122"/>
                  <a:cs typeface="Calibri" pitchFamily="34" charset="-120"/>
                </a:rPr>
                <a:t>Input Text</a:t>
              </a:r>
              <a:endParaRPr lang="en-US" sz="1500" dirty="0">
                <a:solidFill>
                  <a:schemeClr val="bg1"/>
                </a:solidFill>
                <a:latin typeface="Montserrat" panose="00000500000000000000" pitchFamily="2" charset="0"/>
              </a:endParaRPr>
            </a:p>
          </p:txBody>
        </p:sp>
      </p:grpSp>
      <p:grpSp>
        <p:nvGrpSpPr>
          <p:cNvPr id="53" name="Group 52">
            <a:extLst>
              <a:ext uri="{FF2B5EF4-FFF2-40B4-BE49-F238E27FC236}">
                <a16:creationId xmlns:a16="http://schemas.microsoft.com/office/drawing/2014/main" id="{2ACF1EC9-46DB-454A-0FC8-416799059598}"/>
              </a:ext>
            </a:extLst>
          </p:cNvPr>
          <p:cNvGrpSpPr/>
          <p:nvPr/>
        </p:nvGrpSpPr>
        <p:grpSpPr>
          <a:xfrm>
            <a:off x="2772074" y="1594732"/>
            <a:ext cx="1767596" cy="1106806"/>
            <a:chOff x="2852029" y="3106362"/>
            <a:chExt cx="1463040" cy="822960"/>
          </a:xfrm>
        </p:grpSpPr>
        <p:sp>
          <p:nvSpPr>
            <p:cNvPr id="41" name="Shape 6">
              <a:extLst>
                <a:ext uri="{FF2B5EF4-FFF2-40B4-BE49-F238E27FC236}">
                  <a16:creationId xmlns:a16="http://schemas.microsoft.com/office/drawing/2014/main" id="{D8ABC665-32C8-1639-A32A-000662B67B73}"/>
                </a:ext>
              </a:extLst>
            </p:cNvPr>
            <p:cNvSpPr/>
            <p:nvPr/>
          </p:nvSpPr>
          <p:spPr>
            <a:xfrm>
              <a:off x="2852029" y="3106362"/>
              <a:ext cx="1463040" cy="822960"/>
            </a:xfrm>
            <a:prstGeom prst="rect">
              <a:avLst/>
            </a:prstGeom>
            <a:solidFill>
              <a:srgbClr val="0C1752"/>
            </a:solidFill>
            <a:ln/>
            <a:effectLst>
              <a:outerShdw blurRad="76200" dist="25400" dir="8100000" algn="bl" rotWithShape="0">
                <a:srgbClr val="000000">
                  <a:alpha val="10000"/>
                </a:srgbClr>
              </a:outerShdw>
            </a:effectLst>
          </p:spPr>
          <p:txBody>
            <a:bodyPr/>
            <a:lstStyle/>
            <a:p>
              <a:endParaRPr lang="en-CA" sz="1500">
                <a:latin typeface="Montserrat" panose="00000500000000000000" pitchFamily="2" charset="0"/>
              </a:endParaRPr>
            </a:p>
          </p:txBody>
        </p:sp>
        <p:sp>
          <p:nvSpPr>
            <p:cNvPr id="42" name="Text 7">
              <a:extLst>
                <a:ext uri="{FF2B5EF4-FFF2-40B4-BE49-F238E27FC236}">
                  <a16:creationId xmlns:a16="http://schemas.microsoft.com/office/drawing/2014/main" id="{337878E0-03C4-8D30-261E-F2C7E44E6E90}"/>
                </a:ext>
              </a:extLst>
            </p:cNvPr>
            <p:cNvSpPr/>
            <p:nvPr/>
          </p:nvSpPr>
          <p:spPr>
            <a:xfrm>
              <a:off x="2852029" y="3106362"/>
              <a:ext cx="1463040" cy="822960"/>
            </a:xfrm>
            <a:prstGeom prst="rect">
              <a:avLst/>
            </a:prstGeom>
            <a:noFill/>
            <a:ln/>
          </p:spPr>
          <p:txBody>
            <a:bodyPr wrap="square" lIns="0" tIns="0" rIns="0" bIns="0" rtlCol="0" anchor="ctr"/>
            <a:lstStyle/>
            <a:p>
              <a:pPr marL="0" indent="0" algn="ctr">
                <a:buNone/>
              </a:pPr>
              <a:r>
                <a:rPr lang="en-US" sz="1500" b="1" dirty="0">
                  <a:solidFill>
                    <a:schemeClr val="bg1"/>
                  </a:solidFill>
                  <a:latin typeface="Montserrat" panose="00000500000000000000" pitchFamily="2" charset="0"/>
                  <a:ea typeface="Calibri" pitchFamily="34" charset="-122"/>
                  <a:cs typeface="Calibri" pitchFamily="34" charset="-120"/>
                </a:rPr>
                <a:t>Tokenization</a:t>
              </a:r>
              <a:endParaRPr lang="en-US" sz="1500" dirty="0">
                <a:solidFill>
                  <a:schemeClr val="bg1"/>
                </a:solidFill>
                <a:latin typeface="Montserrat" panose="00000500000000000000" pitchFamily="2" charset="0"/>
              </a:endParaRPr>
            </a:p>
          </p:txBody>
        </p:sp>
      </p:grpSp>
      <p:grpSp>
        <p:nvGrpSpPr>
          <p:cNvPr id="54" name="Group 53">
            <a:extLst>
              <a:ext uri="{FF2B5EF4-FFF2-40B4-BE49-F238E27FC236}">
                <a16:creationId xmlns:a16="http://schemas.microsoft.com/office/drawing/2014/main" id="{F25B377A-12B3-374A-B9B0-1DE76F27EBF1}"/>
              </a:ext>
            </a:extLst>
          </p:cNvPr>
          <p:cNvGrpSpPr/>
          <p:nvPr/>
        </p:nvGrpSpPr>
        <p:grpSpPr>
          <a:xfrm>
            <a:off x="5335415" y="1594732"/>
            <a:ext cx="1767595" cy="1106806"/>
            <a:chOff x="5211529" y="3106362"/>
            <a:chExt cx="1463040" cy="822960"/>
          </a:xfrm>
        </p:grpSpPr>
        <p:sp>
          <p:nvSpPr>
            <p:cNvPr id="44" name="Shape 9">
              <a:extLst>
                <a:ext uri="{FF2B5EF4-FFF2-40B4-BE49-F238E27FC236}">
                  <a16:creationId xmlns:a16="http://schemas.microsoft.com/office/drawing/2014/main" id="{F9495DF2-6B72-DC11-F966-F617FB863083}"/>
                </a:ext>
              </a:extLst>
            </p:cNvPr>
            <p:cNvSpPr/>
            <p:nvPr/>
          </p:nvSpPr>
          <p:spPr>
            <a:xfrm>
              <a:off x="5211529" y="3106362"/>
              <a:ext cx="1463040" cy="822960"/>
            </a:xfrm>
            <a:prstGeom prst="rect">
              <a:avLst/>
            </a:prstGeom>
            <a:solidFill>
              <a:schemeClr val="bg1">
                <a:lumMod val="65000"/>
              </a:schemeClr>
            </a:solidFill>
            <a:ln/>
            <a:effectLst>
              <a:outerShdw blurRad="76200" dist="25400" dir="8100000" algn="bl" rotWithShape="0">
                <a:srgbClr val="000000">
                  <a:alpha val="10000"/>
                </a:srgbClr>
              </a:outerShdw>
            </a:effectLst>
          </p:spPr>
          <p:txBody>
            <a:bodyPr/>
            <a:lstStyle/>
            <a:p>
              <a:endParaRPr lang="en-CA" sz="1500">
                <a:latin typeface="Montserrat" panose="00000500000000000000" pitchFamily="2" charset="0"/>
              </a:endParaRPr>
            </a:p>
          </p:txBody>
        </p:sp>
        <p:sp>
          <p:nvSpPr>
            <p:cNvPr id="45" name="Text 10">
              <a:extLst>
                <a:ext uri="{FF2B5EF4-FFF2-40B4-BE49-F238E27FC236}">
                  <a16:creationId xmlns:a16="http://schemas.microsoft.com/office/drawing/2014/main" id="{A53CA60A-8BA4-1D59-B5DF-55ACD20FF5E6}"/>
                </a:ext>
              </a:extLst>
            </p:cNvPr>
            <p:cNvSpPr/>
            <p:nvPr/>
          </p:nvSpPr>
          <p:spPr>
            <a:xfrm>
              <a:off x="5211529" y="3106362"/>
              <a:ext cx="1463040" cy="822960"/>
            </a:xfrm>
            <a:prstGeom prst="rect">
              <a:avLst/>
            </a:prstGeom>
            <a:noFill/>
            <a:ln/>
          </p:spPr>
          <p:txBody>
            <a:bodyPr wrap="square" lIns="0" tIns="0" rIns="0" bIns="0" rtlCol="0" anchor="ctr"/>
            <a:lstStyle/>
            <a:p>
              <a:pPr marL="0" indent="0" algn="ctr">
                <a:buNone/>
              </a:pPr>
              <a:r>
                <a:rPr lang="en-US" sz="1500" b="1" dirty="0">
                  <a:solidFill>
                    <a:srgbClr val="FFFFFF"/>
                  </a:solidFill>
                  <a:latin typeface="Montserrat" panose="00000500000000000000" pitchFamily="2" charset="0"/>
                  <a:ea typeface="Calibri" pitchFamily="34" charset="-122"/>
                  <a:cs typeface="Calibri" pitchFamily="34" charset="-120"/>
                </a:rPr>
                <a:t>Transformer</a:t>
              </a:r>
              <a:endParaRPr lang="en-US" sz="1500" dirty="0">
                <a:latin typeface="Montserrat" panose="00000500000000000000" pitchFamily="2" charset="0"/>
              </a:endParaRPr>
            </a:p>
            <a:p>
              <a:pPr marL="0" indent="0" algn="ctr">
                <a:buNone/>
              </a:pPr>
              <a:r>
                <a:rPr lang="en-US" sz="1500" b="1" dirty="0">
                  <a:solidFill>
                    <a:srgbClr val="FFFFFF"/>
                  </a:solidFill>
                  <a:latin typeface="Montserrat" panose="00000500000000000000" pitchFamily="2" charset="0"/>
                  <a:ea typeface="Calibri" pitchFamily="34" charset="-122"/>
                  <a:cs typeface="Calibri" pitchFamily="34" charset="-120"/>
                </a:rPr>
                <a:t>Layers</a:t>
              </a:r>
              <a:endParaRPr lang="en-US" sz="1500" dirty="0">
                <a:latin typeface="Montserrat" panose="00000500000000000000" pitchFamily="2" charset="0"/>
              </a:endParaRPr>
            </a:p>
          </p:txBody>
        </p:sp>
      </p:grpSp>
      <p:grpSp>
        <p:nvGrpSpPr>
          <p:cNvPr id="56" name="Group 55">
            <a:extLst>
              <a:ext uri="{FF2B5EF4-FFF2-40B4-BE49-F238E27FC236}">
                <a16:creationId xmlns:a16="http://schemas.microsoft.com/office/drawing/2014/main" id="{AFD3396C-CF43-5051-2272-A895B0DD9FDF}"/>
              </a:ext>
            </a:extLst>
          </p:cNvPr>
          <p:cNvGrpSpPr/>
          <p:nvPr/>
        </p:nvGrpSpPr>
        <p:grpSpPr>
          <a:xfrm>
            <a:off x="10216570" y="1579642"/>
            <a:ext cx="1592895" cy="1063626"/>
            <a:chOff x="9587615" y="3106362"/>
            <a:chExt cx="1463040" cy="822960"/>
          </a:xfrm>
        </p:grpSpPr>
        <p:sp>
          <p:nvSpPr>
            <p:cNvPr id="50" name="Shape 15">
              <a:extLst>
                <a:ext uri="{FF2B5EF4-FFF2-40B4-BE49-F238E27FC236}">
                  <a16:creationId xmlns:a16="http://schemas.microsoft.com/office/drawing/2014/main" id="{C0885846-60E0-B3C1-4B12-5B73C191494F}"/>
                </a:ext>
              </a:extLst>
            </p:cNvPr>
            <p:cNvSpPr/>
            <p:nvPr/>
          </p:nvSpPr>
          <p:spPr>
            <a:xfrm>
              <a:off x="9587615" y="3106362"/>
              <a:ext cx="1463040" cy="822960"/>
            </a:xfrm>
            <a:prstGeom prst="rect">
              <a:avLst/>
            </a:prstGeom>
            <a:solidFill>
              <a:srgbClr val="0C1752"/>
            </a:solidFill>
            <a:ln/>
            <a:effectLst>
              <a:outerShdw blurRad="76200" dist="25400" dir="8100000" algn="bl" rotWithShape="0">
                <a:srgbClr val="000000">
                  <a:alpha val="10000"/>
                </a:srgbClr>
              </a:outerShdw>
            </a:effectLst>
          </p:spPr>
          <p:txBody>
            <a:bodyPr/>
            <a:lstStyle/>
            <a:p>
              <a:endParaRPr lang="en-CA" sz="1500">
                <a:latin typeface="Montserrat" panose="00000500000000000000" pitchFamily="2" charset="0"/>
              </a:endParaRPr>
            </a:p>
          </p:txBody>
        </p:sp>
        <p:sp>
          <p:nvSpPr>
            <p:cNvPr id="51" name="Text 16">
              <a:extLst>
                <a:ext uri="{FF2B5EF4-FFF2-40B4-BE49-F238E27FC236}">
                  <a16:creationId xmlns:a16="http://schemas.microsoft.com/office/drawing/2014/main" id="{F99321C7-9D83-B448-7D04-1089D52C04CD}"/>
                </a:ext>
              </a:extLst>
            </p:cNvPr>
            <p:cNvSpPr/>
            <p:nvPr/>
          </p:nvSpPr>
          <p:spPr>
            <a:xfrm>
              <a:off x="9587615" y="3106362"/>
              <a:ext cx="1463040" cy="822960"/>
            </a:xfrm>
            <a:prstGeom prst="rect">
              <a:avLst/>
            </a:prstGeom>
            <a:noFill/>
            <a:ln/>
          </p:spPr>
          <p:txBody>
            <a:bodyPr wrap="square" lIns="0" tIns="0" rIns="0" bIns="0" rtlCol="0" anchor="ctr"/>
            <a:lstStyle/>
            <a:p>
              <a:pPr marL="0" indent="0" algn="ctr">
                <a:buNone/>
              </a:pPr>
              <a:r>
                <a:rPr lang="en-US" sz="1500" b="1" dirty="0">
                  <a:solidFill>
                    <a:schemeClr val="bg1"/>
                  </a:solidFill>
                  <a:latin typeface="Montserrat" panose="00000500000000000000" pitchFamily="2" charset="0"/>
                  <a:ea typeface="Calibri" pitchFamily="34" charset="-122"/>
                  <a:cs typeface="Calibri" pitchFamily="34" charset="-120"/>
                </a:rPr>
                <a:t>Output</a:t>
              </a:r>
              <a:endParaRPr lang="en-US" sz="1500" dirty="0">
                <a:solidFill>
                  <a:schemeClr val="bg1"/>
                </a:solidFill>
                <a:latin typeface="Montserrat" panose="00000500000000000000" pitchFamily="2" charset="0"/>
              </a:endParaRPr>
            </a:p>
            <a:p>
              <a:pPr marL="0" indent="0" algn="ctr">
                <a:buNone/>
              </a:pPr>
              <a:r>
                <a:rPr lang="en-US" sz="1500" b="1" dirty="0">
                  <a:solidFill>
                    <a:schemeClr val="bg1"/>
                  </a:solidFill>
                  <a:latin typeface="Montserrat" panose="00000500000000000000" pitchFamily="2" charset="0"/>
                  <a:ea typeface="Calibri" pitchFamily="34" charset="-122"/>
                  <a:cs typeface="Calibri" pitchFamily="34" charset="-120"/>
                </a:rPr>
                <a:t>Token</a:t>
              </a:r>
              <a:endParaRPr lang="en-US" sz="1500" dirty="0">
                <a:solidFill>
                  <a:schemeClr val="bg1"/>
                </a:solidFill>
                <a:latin typeface="Montserrat" panose="00000500000000000000" pitchFamily="2" charset="0"/>
              </a:endParaRPr>
            </a:p>
          </p:txBody>
        </p:sp>
      </p:grpSp>
      <p:cxnSp>
        <p:nvCxnSpPr>
          <p:cNvPr id="58" name="Straight Arrow Connector 57">
            <a:extLst>
              <a:ext uri="{FF2B5EF4-FFF2-40B4-BE49-F238E27FC236}">
                <a16:creationId xmlns:a16="http://schemas.microsoft.com/office/drawing/2014/main" id="{434938F1-132C-6076-9875-A41507178671}"/>
              </a:ext>
            </a:extLst>
          </p:cNvPr>
          <p:cNvCxnSpPr>
            <a:cxnSpLocks/>
          </p:cNvCxnSpPr>
          <p:nvPr/>
        </p:nvCxnSpPr>
        <p:spPr>
          <a:xfrm>
            <a:off x="2039759" y="2126174"/>
            <a:ext cx="732315" cy="0"/>
          </a:xfrm>
          <a:prstGeom prst="straightConnector1">
            <a:avLst/>
          </a:prstGeom>
          <a:ln w="38100">
            <a:solidFill>
              <a:srgbClr val="0C1752"/>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A2FAE960-A8FA-4C44-5957-107ACCC16467}"/>
              </a:ext>
            </a:extLst>
          </p:cNvPr>
          <p:cNvCxnSpPr>
            <a:cxnSpLocks/>
          </p:cNvCxnSpPr>
          <p:nvPr/>
        </p:nvCxnSpPr>
        <p:spPr>
          <a:xfrm>
            <a:off x="4539670" y="2111456"/>
            <a:ext cx="795745" cy="0"/>
          </a:xfrm>
          <a:prstGeom prst="straightConnector1">
            <a:avLst/>
          </a:prstGeom>
          <a:ln w="38100">
            <a:solidFill>
              <a:srgbClr val="0C1752"/>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9CA3DBF8-7C1A-2B4C-AB5C-818068E9EEC7}"/>
              </a:ext>
            </a:extLst>
          </p:cNvPr>
          <p:cNvCxnSpPr>
            <a:cxnSpLocks/>
          </p:cNvCxnSpPr>
          <p:nvPr/>
        </p:nvCxnSpPr>
        <p:spPr>
          <a:xfrm>
            <a:off x="7103010" y="2090124"/>
            <a:ext cx="682036" cy="0"/>
          </a:xfrm>
          <a:prstGeom prst="straightConnector1">
            <a:avLst/>
          </a:prstGeom>
          <a:ln w="38100">
            <a:solidFill>
              <a:srgbClr val="0C1752"/>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CFE2A7F8-4394-3DD9-7431-D032E487C742}"/>
              </a:ext>
            </a:extLst>
          </p:cNvPr>
          <p:cNvCxnSpPr>
            <a:cxnSpLocks/>
          </p:cNvCxnSpPr>
          <p:nvPr/>
        </p:nvCxnSpPr>
        <p:spPr>
          <a:xfrm>
            <a:off x="9561241" y="2067931"/>
            <a:ext cx="682036" cy="0"/>
          </a:xfrm>
          <a:prstGeom prst="straightConnector1">
            <a:avLst/>
          </a:prstGeom>
          <a:ln w="38100">
            <a:solidFill>
              <a:srgbClr val="0C1752"/>
            </a:solidFill>
            <a:tailEnd type="triangle"/>
          </a:ln>
        </p:spPr>
        <p:style>
          <a:lnRef idx="1">
            <a:schemeClr val="accent1"/>
          </a:lnRef>
          <a:fillRef idx="0">
            <a:schemeClr val="accent1"/>
          </a:fillRef>
          <a:effectRef idx="0">
            <a:schemeClr val="accent1"/>
          </a:effectRef>
          <a:fontRef idx="minor">
            <a:schemeClr val="tx1"/>
          </a:fontRef>
        </p:style>
      </p:cxnSp>
      <p:grpSp>
        <p:nvGrpSpPr>
          <p:cNvPr id="55" name="Group 54">
            <a:extLst>
              <a:ext uri="{FF2B5EF4-FFF2-40B4-BE49-F238E27FC236}">
                <a16:creationId xmlns:a16="http://schemas.microsoft.com/office/drawing/2014/main" id="{B880FA88-BBD5-292A-3B74-AE8C6C5DB66B}"/>
              </a:ext>
            </a:extLst>
          </p:cNvPr>
          <p:cNvGrpSpPr/>
          <p:nvPr/>
        </p:nvGrpSpPr>
        <p:grpSpPr>
          <a:xfrm>
            <a:off x="7785046" y="1579642"/>
            <a:ext cx="1821717" cy="1121895"/>
            <a:chOff x="7360383" y="3106362"/>
            <a:chExt cx="1463040" cy="822960"/>
          </a:xfrm>
        </p:grpSpPr>
        <p:sp>
          <p:nvSpPr>
            <p:cNvPr id="47" name="Shape 12">
              <a:extLst>
                <a:ext uri="{FF2B5EF4-FFF2-40B4-BE49-F238E27FC236}">
                  <a16:creationId xmlns:a16="http://schemas.microsoft.com/office/drawing/2014/main" id="{FB6ABA33-0629-59F3-40B1-E948735AEA9F}"/>
                </a:ext>
              </a:extLst>
            </p:cNvPr>
            <p:cNvSpPr/>
            <p:nvPr/>
          </p:nvSpPr>
          <p:spPr>
            <a:xfrm>
              <a:off x="7360383" y="3106362"/>
              <a:ext cx="1463040" cy="822960"/>
            </a:xfrm>
            <a:prstGeom prst="rect">
              <a:avLst/>
            </a:prstGeom>
            <a:solidFill>
              <a:srgbClr val="1BBFD1"/>
            </a:solidFill>
            <a:ln/>
            <a:effectLst>
              <a:outerShdw blurRad="76200" dist="25400" dir="8100000" algn="bl" rotWithShape="0">
                <a:srgbClr val="000000">
                  <a:alpha val="10000"/>
                </a:srgbClr>
              </a:outerShdw>
            </a:effectLst>
          </p:spPr>
          <p:txBody>
            <a:bodyPr/>
            <a:lstStyle/>
            <a:p>
              <a:endParaRPr lang="en-CA" sz="1500">
                <a:latin typeface="Montserrat" panose="00000500000000000000" pitchFamily="2" charset="0"/>
              </a:endParaRPr>
            </a:p>
          </p:txBody>
        </p:sp>
        <p:sp>
          <p:nvSpPr>
            <p:cNvPr id="48" name="Text 13">
              <a:extLst>
                <a:ext uri="{FF2B5EF4-FFF2-40B4-BE49-F238E27FC236}">
                  <a16:creationId xmlns:a16="http://schemas.microsoft.com/office/drawing/2014/main" id="{E5B2351A-8AAC-AE76-BD66-A8625263FEC2}"/>
                </a:ext>
              </a:extLst>
            </p:cNvPr>
            <p:cNvSpPr/>
            <p:nvPr/>
          </p:nvSpPr>
          <p:spPr>
            <a:xfrm>
              <a:off x="7360383" y="3106362"/>
              <a:ext cx="1463040" cy="822960"/>
            </a:xfrm>
            <a:prstGeom prst="rect">
              <a:avLst/>
            </a:prstGeom>
            <a:noFill/>
            <a:ln/>
          </p:spPr>
          <p:txBody>
            <a:bodyPr wrap="square" lIns="0" tIns="0" rIns="0" bIns="0" rtlCol="0" anchor="ctr"/>
            <a:lstStyle/>
            <a:p>
              <a:pPr marL="0" indent="0" algn="ctr">
                <a:buNone/>
              </a:pPr>
              <a:r>
                <a:rPr lang="en-US" sz="1500" b="1" dirty="0">
                  <a:solidFill>
                    <a:schemeClr val="bg1"/>
                  </a:solidFill>
                  <a:latin typeface="Montserrat" panose="00000500000000000000" pitchFamily="2" charset="0"/>
                  <a:ea typeface="Calibri" pitchFamily="34" charset="-122"/>
                  <a:cs typeface="Calibri" pitchFamily="34" charset="-120"/>
                </a:rPr>
                <a:t>Probability</a:t>
              </a:r>
              <a:endParaRPr lang="en-US" sz="1500" dirty="0">
                <a:solidFill>
                  <a:schemeClr val="bg1"/>
                </a:solidFill>
                <a:latin typeface="Montserrat" panose="00000500000000000000" pitchFamily="2" charset="0"/>
              </a:endParaRPr>
            </a:p>
            <a:p>
              <a:pPr marL="0" indent="0" algn="ctr">
                <a:buNone/>
              </a:pPr>
              <a:r>
                <a:rPr lang="en-US" sz="1500" b="1" dirty="0">
                  <a:solidFill>
                    <a:schemeClr val="bg1"/>
                  </a:solidFill>
                  <a:latin typeface="Montserrat" panose="00000500000000000000" pitchFamily="2" charset="0"/>
                  <a:ea typeface="Calibri" pitchFamily="34" charset="-122"/>
                  <a:cs typeface="Calibri" pitchFamily="34" charset="-120"/>
                </a:rPr>
                <a:t>Distribution</a:t>
              </a:r>
              <a:endParaRPr lang="en-US" sz="1500" dirty="0">
                <a:solidFill>
                  <a:schemeClr val="bg1"/>
                </a:solidFill>
                <a:latin typeface="Montserrat" panose="00000500000000000000" pitchFamily="2" charset="0"/>
              </a:endParaRPr>
            </a:p>
          </p:txBody>
        </p:sp>
      </p:grpSp>
    </p:spTree>
    <p:extLst>
      <p:ext uri="{BB962C8B-B14F-4D97-AF65-F5344CB8AC3E}">
        <p14:creationId xmlns:p14="http://schemas.microsoft.com/office/powerpoint/2010/main" val="3649809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fade">
                                      <p:cBhvr>
                                        <p:cTn id="7" dur="500"/>
                                        <p:tgtEl>
                                          <p:spTgt spid="52"/>
                                        </p:tgtEl>
                                      </p:cBhvr>
                                    </p:animEffect>
                                  </p:childTnLst>
                                </p:cTn>
                              </p:par>
                              <p:par>
                                <p:cTn id="8" presetID="10" presetClass="entr" presetSubtype="0" fill="hold" nodeType="withEffect">
                                  <p:stCondLst>
                                    <p:cond delay="0"/>
                                  </p:stCondLst>
                                  <p:childTnLst>
                                    <p:set>
                                      <p:cBhvr>
                                        <p:cTn id="9" dur="1" fill="hold">
                                          <p:stCondLst>
                                            <p:cond delay="0"/>
                                          </p:stCondLst>
                                        </p:cTn>
                                        <p:tgtEl>
                                          <p:spTgt spid="15">
                                            <p:txEl>
                                              <p:pRg st="0" end="0"/>
                                            </p:txEl>
                                          </p:spTgt>
                                        </p:tgtEl>
                                        <p:attrNameLst>
                                          <p:attrName>style.visibility</p:attrName>
                                        </p:attrNameLst>
                                      </p:cBhvr>
                                      <p:to>
                                        <p:strVal val="visible"/>
                                      </p:to>
                                    </p:set>
                                    <p:animEffect transition="in" filter="fade">
                                      <p:cBhvr>
                                        <p:cTn id="10" dur="500"/>
                                        <p:tgtEl>
                                          <p:spTgt spid="15">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8"/>
                                        </p:tgtEl>
                                        <p:attrNameLst>
                                          <p:attrName>style.visibility</p:attrName>
                                        </p:attrNameLst>
                                      </p:cBhvr>
                                      <p:to>
                                        <p:strVal val="visible"/>
                                      </p:to>
                                    </p:set>
                                    <p:animEffect transition="in" filter="fade">
                                      <p:cBhvr>
                                        <p:cTn id="15" dur="500"/>
                                        <p:tgtEl>
                                          <p:spTgt spid="58"/>
                                        </p:tgtEl>
                                      </p:cBhvr>
                                    </p:animEffect>
                                  </p:childTnLst>
                                </p:cTn>
                              </p:par>
                              <p:par>
                                <p:cTn id="16" presetID="10" presetClass="entr" presetSubtype="0" fill="hold" nodeType="withEffect">
                                  <p:stCondLst>
                                    <p:cond delay="0"/>
                                  </p:stCondLst>
                                  <p:childTnLst>
                                    <p:set>
                                      <p:cBhvr>
                                        <p:cTn id="17" dur="1" fill="hold">
                                          <p:stCondLst>
                                            <p:cond delay="0"/>
                                          </p:stCondLst>
                                        </p:cTn>
                                        <p:tgtEl>
                                          <p:spTgt spid="53"/>
                                        </p:tgtEl>
                                        <p:attrNameLst>
                                          <p:attrName>style.visibility</p:attrName>
                                        </p:attrNameLst>
                                      </p:cBhvr>
                                      <p:to>
                                        <p:strVal val="visible"/>
                                      </p:to>
                                    </p:set>
                                    <p:animEffect transition="in" filter="fade">
                                      <p:cBhvr>
                                        <p:cTn id="18" dur="500"/>
                                        <p:tgtEl>
                                          <p:spTgt spid="53"/>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xEl>
                                              <p:pRg st="1" end="1"/>
                                            </p:txEl>
                                          </p:spTgt>
                                        </p:tgtEl>
                                        <p:attrNameLst>
                                          <p:attrName>style.visibility</p:attrName>
                                        </p:attrNameLst>
                                      </p:cBhvr>
                                      <p:to>
                                        <p:strVal val="visible"/>
                                      </p:to>
                                    </p:set>
                                    <p:animEffect transition="in" filter="fade">
                                      <p:cBhvr>
                                        <p:cTn id="21" dur="500"/>
                                        <p:tgtEl>
                                          <p:spTgt spid="15">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60"/>
                                        </p:tgtEl>
                                        <p:attrNameLst>
                                          <p:attrName>style.visibility</p:attrName>
                                        </p:attrNameLst>
                                      </p:cBhvr>
                                      <p:to>
                                        <p:strVal val="visible"/>
                                      </p:to>
                                    </p:set>
                                    <p:animEffect transition="in" filter="fade">
                                      <p:cBhvr>
                                        <p:cTn id="26" dur="500"/>
                                        <p:tgtEl>
                                          <p:spTgt spid="60"/>
                                        </p:tgtEl>
                                      </p:cBhvr>
                                    </p:animEffect>
                                  </p:childTnLst>
                                </p:cTn>
                              </p:par>
                              <p:par>
                                <p:cTn id="27" presetID="10" presetClass="entr" presetSubtype="0" fill="hold" nodeType="withEffect">
                                  <p:stCondLst>
                                    <p:cond delay="0"/>
                                  </p:stCondLst>
                                  <p:childTnLst>
                                    <p:set>
                                      <p:cBhvr>
                                        <p:cTn id="28" dur="1" fill="hold">
                                          <p:stCondLst>
                                            <p:cond delay="0"/>
                                          </p:stCondLst>
                                        </p:cTn>
                                        <p:tgtEl>
                                          <p:spTgt spid="54"/>
                                        </p:tgtEl>
                                        <p:attrNameLst>
                                          <p:attrName>style.visibility</p:attrName>
                                        </p:attrNameLst>
                                      </p:cBhvr>
                                      <p:to>
                                        <p:strVal val="visible"/>
                                      </p:to>
                                    </p:set>
                                    <p:animEffect transition="in" filter="fade">
                                      <p:cBhvr>
                                        <p:cTn id="29" dur="500"/>
                                        <p:tgtEl>
                                          <p:spTgt spid="54"/>
                                        </p:tgtEl>
                                      </p:cBhvr>
                                    </p:animEffect>
                                  </p:childTnLst>
                                </p:cTn>
                              </p:par>
                              <p:par>
                                <p:cTn id="30" presetID="10" presetClass="entr" presetSubtype="0" fill="hold" nodeType="withEffect">
                                  <p:stCondLst>
                                    <p:cond delay="0"/>
                                  </p:stCondLst>
                                  <p:childTnLst>
                                    <p:set>
                                      <p:cBhvr>
                                        <p:cTn id="31" dur="1" fill="hold">
                                          <p:stCondLst>
                                            <p:cond delay="0"/>
                                          </p:stCondLst>
                                        </p:cTn>
                                        <p:tgtEl>
                                          <p:spTgt spid="15">
                                            <p:txEl>
                                              <p:pRg st="2" end="2"/>
                                            </p:txEl>
                                          </p:spTgt>
                                        </p:tgtEl>
                                        <p:attrNameLst>
                                          <p:attrName>style.visibility</p:attrName>
                                        </p:attrNameLst>
                                      </p:cBhvr>
                                      <p:to>
                                        <p:strVal val="visible"/>
                                      </p:to>
                                    </p:set>
                                    <p:animEffect transition="in" filter="fade">
                                      <p:cBhvr>
                                        <p:cTn id="32" dur="500"/>
                                        <p:tgtEl>
                                          <p:spTgt spid="15">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2"/>
                                        </p:tgtEl>
                                        <p:attrNameLst>
                                          <p:attrName>style.visibility</p:attrName>
                                        </p:attrNameLst>
                                      </p:cBhvr>
                                      <p:to>
                                        <p:strVal val="visible"/>
                                      </p:to>
                                    </p:set>
                                    <p:animEffect transition="in" filter="fade">
                                      <p:cBhvr>
                                        <p:cTn id="37" dur="500"/>
                                        <p:tgtEl>
                                          <p:spTgt spid="62"/>
                                        </p:tgtEl>
                                      </p:cBhvr>
                                    </p:animEffect>
                                  </p:childTnLst>
                                </p:cTn>
                              </p:par>
                              <p:par>
                                <p:cTn id="38" presetID="10" presetClass="entr" presetSubtype="0" fill="hold" nodeType="withEffect">
                                  <p:stCondLst>
                                    <p:cond delay="0"/>
                                  </p:stCondLst>
                                  <p:childTnLst>
                                    <p:set>
                                      <p:cBhvr>
                                        <p:cTn id="39" dur="1" fill="hold">
                                          <p:stCondLst>
                                            <p:cond delay="0"/>
                                          </p:stCondLst>
                                        </p:cTn>
                                        <p:tgtEl>
                                          <p:spTgt spid="55"/>
                                        </p:tgtEl>
                                        <p:attrNameLst>
                                          <p:attrName>style.visibility</p:attrName>
                                        </p:attrNameLst>
                                      </p:cBhvr>
                                      <p:to>
                                        <p:strVal val="visible"/>
                                      </p:to>
                                    </p:set>
                                    <p:animEffect transition="in" filter="fade">
                                      <p:cBhvr>
                                        <p:cTn id="40" dur="500"/>
                                        <p:tgtEl>
                                          <p:spTgt spid="55"/>
                                        </p:tgtEl>
                                      </p:cBhvr>
                                    </p:animEffect>
                                  </p:childTnLst>
                                </p:cTn>
                              </p:par>
                              <p:par>
                                <p:cTn id="41" presetID="10" presetClass="entr" presetSubtype="0" fill="hold" nodeType="withEffect">
                                  <p:stCondLst>
                                    <p:cond delay="0"/>
                                  </p:stCondLst>
                                  <p:childTnLst>
                                    <p:set>
                                      <p:cBhvr>
                                        <p:cTn id="42" dur="1" fill="hold">
                                          <p:stCondLst>
                                            <p:cond delay="0"/>
                                          </p:stCondLst>
                                        </p:cTn>
                                        <p:tgtEl>
                                          <p:spTgt spid="15">
                                            <p:txEl>
                                              <p:pRg st="3" end="3"/>
                                            </p:txEl>
                                          </p:spTgt>
                                        </p:tgtEl>
                                        <p:attrNameLst>
                                          <p:attrName>style.visibility</p:attrName>
                                        </p:attrNameLst>
                                      </p:cBhvr>
                                      <p:to>
                                        <p:strVal val="visible"/>
                                      </p:to>
                                    </p:set>
                                    <p:animEffect transition="in" filter="fade">
                                      <p:cBhvr>
                                        <p:cTn id="43" dur="500"/>
                                        <p:tgtEl>
                                          <p:spTgt spid="15">
                                            <p:txEl>
                                              <p:pRg st="3" end="3"/>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64"/>
                                        </p:tgtEl>
                                        <p:attrNameLst>
                                          <p:attrName>style.visibility</p:attrName>
                                        </p:attrNameLst>
                                      </p:cBhvr>
                                      <p:to>
                                        <p:strVal val="visible"/>
                                      </p:to>
                                    </p:set>
                                    <p:animEffect transition="in" filter="fade">
                                      <p:cBhvr>
                                        <p:cTn id="48" dur="500"/>
                                        <p:tgtEl>
                                          <p:spTgt spid="64"/>
                                        </p:tgtEl>
                                      </p:cBhvr>
                                    </p:animEffect>
                                  </p:childTnLst>
                                </p:cTn>
                              </p:par>
                              <p:par>
                                <p:cTn id="49" presetID="10" presetClass="entr" presetSubtype="0" fill="hold" nodeType="withEffect">
                                  <p:stCondLst>
                                    <p:cond delay="0"/>
                                  </p:stCondLst>
                                  <p:childTnLst>
                                    <p:set>
                                      <p:cBhvr>
                                        <p:cTn id="50" dur="1" fill="hold">
                                          <p:stCondLst>
                                            <p:cond delay="0"/>
                                          </p:stCondLst>
                                        </p:cTn>
                                        <p:tgtEl>
                                          <p:spTgt spid="56"/>
                                        </p:tgtEl>
                                        <p:attrNameLst>
                                          <p:attrName>style.visibility</p:attrName>
                                        </p:attrNameLst>
                                      </p:cBhvr>
                                      <p:to>
                                        <p:strVal val="visible"/>
                                      </p:to>
                                    </p:set>
                                    <p:animEffect transition="in" filter="fade">
                                      <p:cBhvr>
                                        <p:cTn id="51" dur="500"/>
                                        <p:tgtEl>
                                          <p:spTgt spid="56"/>
                                        </p:tgtEl>
                                      </p:cBhvr>
                                    </p:animEffect>
                                  </p:childTnLst>
                                </p:cTn>
                              </p:par>
                              <p:par>
                                <p:cTn id="52" presetID="10" presetClass="entr" presetSubtype="0" fill="hold" nodeType="withEffect">
                                  <p:stCondLst>
                                    <p:cond delay="0"/>
                                  </p:stCondLst>
                                  <p:childTnLst>
                                    <p:set>
                                      <p:cBhvr>
                                        <p:cTn id="53" dur="1" fill="hold">
                                          <p:stCondLst>
                                            <p:cond delay="0"/>
                                          </p:stCondLst>
                                        </p:cTn>
                                        <p:tgtEl>
                                          <p:spTgt spid="15">
                                            <p:txEl>
                                              <p:pRg st="4" end="4"/>
                                            </p:txEl>
                                          </p:spTgt>
                                        </p:tgtEl>
                                        <p:attrNameLst>
                                          <p:attrName>style.visibility</p:attrName>
                                        </p:attrNameLst>
                                      </p:cBhvr>
                                      <p:to>
                                        <p:strVal val="visible"/>
                                      </p:to>
                                    </p:set>
                                    <p:animEffect transition="in" filter="fade">
                                      <p:cBhvr>
                                        <p:cTn id="54" dur="500"/>
                                        <p:tgtEl>
                                          <p:spTgt spid="1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689A3-6559-728A-89FE-3184C1689C2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BD2D3AD-D426-E146-EBCF-D8692C0750E9}"/>
              </a:ext>
            </a:extLst>
          </p:cNvPr>
          <p:cNvPicPr>
            <a:picLocks noChangeAspect="1"/>
          </p:cNvPicPr>
          <p:nvPr/>
        </p:nvPicPr>
        <p:blipFill>
          <a:blip r:embed="rId2"/>
          <a:stretch>
            <a:fillRect/>
          </a:stretch>
        </p:blipFill>
        <p:spPr>
          <a:xfrm>
            <a:off x="-32773" y="0"/>
            <a:ext cx="12224773" cy="6858000"/>
          </a:xfrm>
          <a:prstGeom prst="rect">
            <a:avLst/>
          </a:prstGeom>
        </p:spPr>
      </p:pic>
      <p:pic>
        <p:nvPicPr>
          <p:cNvPr id="6" name="Picture 5">
            <a:extLst>
              <a:ext uri="{FF2B5EF4-FFF2-40B4-BE49-F238E27FC236}">
                <a16:creationId xmlns:a16="http://schemas.microsoft.com/office/drawing/2014/main" id="{E80DCD08-AF0F-41A5-0BBF-DF82AFCDC012}"/>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1450A713-AF78-C5F0-202C-604F8EC8605A}"/>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Tokens</a:t>
            </a:r>
          </a:p>
        </p:txBody>
      </p:sp>
      <p:sp>
        <p:nvSpPr>
          <p:cNvPr id="9" name="TextBox 8">
            <a:extLst>
              <a:ext uri="{FF2B5EF4-FFF2-40B4-BE49-F238E27FC236}">
                <a16:creationId xmlns:a16="http://schemas.microsoft.com/office/drawing/2014/main" id="{D3E74964-DD66-C32E-1465-EB6408FA4366}"/>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20" name="Rectangle 2">
            <a:extLst>
              <a:ext uri="{FF2B5EF4-FFF2-40B4-BE49-F238E27FC236}">
                <a16:creationId xmlns:a16="http://schemas.microsoft.com/office/drawing/2014/main" id="{849E045A-4275-E6D7-FBAB-8CB4626F6DDE}"/>
              </a:ext>
            </a:extLst>
          </p:cNvPr>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sp>
        <p:nvSpPr>
          <p:cNvPr id="3" name="TextBox 2">
            <a:extLst>
              <a:ext uri="{FF2B5EF4-FFF2-40B4-BE49-F238E27FC236}">
                <a16:creationId xmlns:a16="http://schemas.microsoft.com/office/drawing/2014/main" id="{62600D81-CA4B-E4E5-B4AC-69B13CC8B695}"/>
              </a:ext>
            </a:extLst>
          </p:cNvPr>
          <p:cNvSpPr txBox="1"/>
          <p:nvPr/>
        </p:nvSpPr>
        <p:spPr>
          <a:xfrm>
            <a:off x="222159" y="865898"/>
            <a:ext cx="11780457" cy="1569660"/>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Montserrat" panose="00000500000000000000" pitchFamily="2" charset="0"/>
              </a:rPr>
              <a:t>Tokens are chunks of text, typically words, </a:t>
            </a:r>
            <a:r>
              <a:rPr lang="en-US" sz="1600" dirty="0" err="1">
                <a:latin typeface="Montserrat" panose="00000500000000000000" pitchFamily="2" charset="0"/>
              </a:rPr>
              <a:t>subwords</a:t>
            </a:r>
            <a:r>
              <a:rPr lang="en-US" sz="1600" dirty="0">
                <a:latin typeface="Montserrat" panose="00000500000000000000" pitchFamily="2" charset="0"/>
              </a:rPr>
              <a:t>, or characters, that the model uses to process and generate language. Understanding tokens is key to managing costs and context limits.</a:t>
            </a:r>
          </a:p>
          <a:p>
            <a:pPr marL="285750" indent="-285750">
              <a:buFont typeface="Arial" panose="020B0604020202020204" pitchFamily="34" charset="0"/>
              <a:buChar char="•"/>
            </a:pPr>
            <a:r>
              <a:rPr lang="en-US" sz="1600" dirty="0">
                <a:latin typeface="Montserrat" panose="00000500000000000000" pitchFamily="2" charset="0"/>
              </a:rPr>
              <a:t>The model doesn't "read" text like humans do. Instead, a tokenizer breaks down the input into these tokens and converts them into numerical IDs the model can understand.</a:t>
            </a:r>
          </a:p>
          <a:p>
            <a:pPr marL="285750" indent="-285750">
              <a:buFont typeface="Arial" panose="020B0604020202020204" pitchFamily="34" charset="0"/>
              <a:buChar char="•"/>
            </a:pPr>
            <a:r>
              <a:rPr lang="en-US" sz="1600" dirty="0">
                <a:latin typeface="Montserrat" panose="00000500000000000000" pitchFamily="2" charset="0"/>
              </a:rPr>
              <a:t>The model then learns relationships between these tokens to predict the next one in a sequence.</a:t>
            </a:r>
          </a:p>
          <a:p>
            <a:pPr marL="285750" indent="-285750">
              <a:buFont typeface="Arial" panose="020B0604020202020204" pitchFamily="34" charset="0"/>
              <a:buChar char="•"/>
            </a:pPr>
            <a:r>
              <a:rPr lang="en-US" sz="1600" dirty="0">
                <a:latin typeface="Montserrat" panose="00000500000000000000" pitchFamily="2" charset="0"/>
              </a:rPr>
              <a:t>Check OpenAI's Tokenizers here: </a:t>
            </a:r>
            <a:r>
              <a:rPr lang="en-US" sz="1600" dirty="0">
                <a:latin typeface="Montserrat" panose="00000500000000000000" pitchFamily="2" charset="0"/>
                <a:hlinkClick r:id="rId4"/>
              </a:rPr>
              <a:t>https://platform.openai.com/tokenizer</a:t>
            </a:r>
            <a:endParaRPr lang="en-US" sz="1600" dirty="0">
              <a:latin typeface="Montserrat" panose="00000500000000000000" pitchFamily="2" charset="0"/>
            </a:endParaRPr>
          </a:p>
        </p:txBody>
      </p:sp>
      <p:sp>
        <p:nvSpPr>
          <p:cNvPr id="17" name="Shape 4">
            <a:extLst>
              <a:ext uri="{FF2B5EF4-FFF2-40B4-BE49-F238E27FC236}">
                <a16:creationId xmlns:a16="http://schemas.microsoft.com/office/drawing/2014/main" id="{31C23C73-C6C2-9910-077C-2EDEB9D1332E}"/>
              </a:ext>
            </a:extLst>
          </p:cNvPr>
          <p:cNvSpPr/>
          <p:nvPr/>
        </p:nvSpPr>
        <p:spPr>
          <a:xfrm>
            <a:off x="2016042" y="2592598"/>
            <a:ext cx="8046720" cy="11887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sz="2800">
              <a:latin typeface="Montserrat" panose="00000500000000000000" pitchFamily="2" charset="0"/>
            </a:endParaRPr>
          </a:p>
        </p:txBody>
      </p:sp>
      <p:sp>
        <p:nvSpPr>
          <p:cNvPr id="18" name="Text 5">
            <a:extLst>
              <a:ext uri="{FF2B5EF4-FFF2-40B4-BE49-F238E27FC236}">
                <a16:creationId xmlns:a16="http://schemas.microsoft.com/office/drawing/2014/main" id="{23729B43-D62C-F752-651C-F2258B2F05B8}"/>
              </a:ext>
            </a:extLst>
          </p:cNvPr>
          <p:cNvSpPr/>
          <p:nvPr/>
        </p:nvSpPr>
        <p:spPr>
          <a:xfrm>
            <a:off x="2198922" y="2638318"/>
            <a:ext cx="1828800" cy="320040"/>
          </a:xfrm>
          <a:prstGeom prst="rect">
            <a:avLst/>
          </a:prstGeom>
          <a:noFill/>
          <a:ln/>
        </p:spPr>
        <p:txBody>
          <a:bodyPr wrap="square" lIns="0" tIns="0" rIns="0" bIns="0" rtlCol="0" anchor="ctr"/>
          <a:lstStyle/>
          <a:p>
            <a:pPr marL="0" indent="0">
              <a:buNone/>
            </a:pPr>
            <a:r>
              <a:rPr lang="en-US" b="1" dirty="0">
                <a:solidFill>
                  <a:srgbClr val="0C1752"/>
                </a:solidFill>
                <a:latin typeface="Montserrat" panose="00000500000000000000" pitchFamily="2" charset="0"/>
                <a:ea typeface="Calibri" pitchFamily="34" charset="-122"/>
                <a:cs typeface="Calibri" pitchFamily="34" charset="-120"/>
              </a:rPr>
              <a:t>Example</a:t>
            </a:r>
            <a:endParaRPr lang="en-US" dirty="0">
              <a:solidFill>
                <a:srgbClr val="0C1752"/>
              </a:solidFill>
              <a:latin typeface="Montserrat" panose="00000500000000000000" pitchFamily="2" charset="0"/>
            </a:endParaRPr>
          </a:p>
        </p:txBody>
      </p:sp>
      <p:sp>
        <p:nvSpPr>
          <p:cNvPr id="19" name="Text 6">
            <a:extLst>
              <a:ext uri="{FF2B5EF4-FFF2-40B4-BE49-F238E27FC236}">
                <a16:creationId xmlns:a16="http://schemas.microsoft.com/office/drawing/2014/main" id="{20B5A196-9D4D-D35D-4C61-47D8E282F25D}"/>
              </a:ext>
            </a:extLst>
          </p:cNvPr>
          <p:cNvSpPr/>
          <p:nvPr/>
        </p:nvSpPr>
        <p:spPr>
          <a:xfrm>
            <a:off x="2198922" y="2958358"/>
            <a:ext cx="7680960" cy="731520"/>
          </a:xfrm>
          <a:prstGeom prst="rect">
            <a:avLst/>
          </a:prstGeom>
          <a:noFill/>
          <a:ln/>
        </p:spPr>
        <p:txBody>
          <a:bodyPr wrap="square" lIns="0" tIns="0" rIns="0" bIns="0" rtlCol="0" anchor="ctr"/>
          <a:lstStyle/>
          <a:p>
            <a:r>
              <a:rPr lang="en-US" sz="2000" b="1" dirty="0">
                <a:solidFill>
                  <a:srgbClr val="1B2A4A"/>
                </a:solidFill>
                <a:latin typeface="Montserrat" panose="00000500000000000000" pitchFamily="2" charset="0"/>
                <a:ea typeface="Consolas" pitchFamily="34" charset="-122"/>
                <a:cs typeface="Consolas" pitchFamily="34" charset="-120"/>
              </a:rPr>
              <a:t>"Welcome to the Bootcamp!"</a:t>
            </a:r>
            <a:endParaRPr lang="en-US" sz="2000" dirty="0">
              <a:latin typeface="Montserrat" panose="00000500000000000000" pitchFamily="2" charset="0"/>
            </a:endParaRPr>
          </a:p>
          <a:p>
            <a:pPr marL="0" indent="0">
              <a:buNone/>
            </a:pPr>
            <a:r>
              <a:rPr lang="en-US" dirty="0">
                <a:solidFill>
                  <a:srgbClr val="D56E48"/>
                </a:solidFill>
                <a:latin typeface="Montserrat" panose="00000500000000000000" pitchFamily="2" charset="0"/>
                <a:ea typeface="Consolas" pitchFamily="34" charset="-122"/>
                <a:cs typeface="Consolas" pitchFamily="34" charset="-120"/>
              </a:rPr>
              <a:t>→  [“Welcome", “to", " the", " Boot", " camp", " !"]  =  6 tokens</a:t>
            </a:r>
            <a:endParaRPr lang="en-US" sz="2000" dirty="0">
              <a:solidFill>
                <a:srgbClr val="D56E48"/>
              </a:solidFill>
              <a:latin typeface="Montserrat" panose="00000500000000000000" pitchFamily="2" charset="0"/>
            </a:endParaRPr>
          </a:p>
        </p:txBody>
      </p:sp>
      <p:sp>
        <p:nvSpPr>
          <p:cNvPr id="21" name="Shape 7">
            <a:extLst>
              <a:ext uri="{FF2B5EF4-FFF2-40B4-BE49-F238E27FC236}">
                <a16:creationId xmlns:a16="http://schemas.microsoft.com/office/drawing/2014/main" id="{BD513371-D5AB-6D12-97E5-B993307C9C02}"/>
              </a:ext>
            </a:extLst>
          </p:cNvPr>
          <p:cNvSpPr/>
          <p:nvPr/>
        </p:nvSpPr>
        <p:spPr>
          <a:xfrm>
            <a:off x="639875" y="4310142"/>
            <a:ext cx="2560320" cy="1815882"/>
          </a:xfrm>
          <a:prstGeom prst="rect">
            <a:avLst/>
          </a:prstGeom>
          <a:solidFill>
            <a:srgbClr val="0C1752"/>
          </a:solidFill>
          <a:ln/>
          <a:effectLst>
            <a:outerShdw blurRad="76200" dist="25400" dir="8100000" algn="bl" rotWithShape="0">
              <a:srgbClr val="000000">
                <a:alpha val="10000"/>
              </a:srgbClr>
            </a:outerShdw>
          </a:effectLst>
        </p:spPr>
        <p:txBody>
          <a:bodyPr/>
          <a:lstStyle/>
          <a:p>
            <a:endParaRPr lang="en-CA" sz="2400">
              <a:latin typeface="Montserrat" panose="00000500000000000000" pitchFamily="2" charset="0"/>
            </a:endParaRPr>
          </a:p>
        </p:txBody>
      </p:sp>
      <p:sp>
        <p:nvSpPr>
          <p:cNvPr id="22" name="Text 8">
            <a:extLst>
              <a:ext uri="{FF2B5EF4-FFF2-40B4-BE49-F238E27FC236}">
                <a16:creationId xmlns:a16="http://schemas.microsoft.com/office/drawing/2014/main" id="{4ED03A90-4A6F-A3A2-AA20-66607E832EEF}"/>
              </a:ext>
            </a:extLst>
          </p:cNvPr>
          <p:cNvSpPr/>
          <p:nvPr/>
        </p:nvSpPr>
        <p:spPr>
          <a:xfrm>
            <a:off x="639875" y="4487625"/>
            <a:ext cx="2560320" cy="548640"/>
          </a:xfrm>
          <a:prstGeom prst="rect">
            <a:avLst/>
          </a:prstGeom>
          <a:noFill/>
          <a:ln/>
        </p:spPr>
        <p:txBody>
          <a:bodyPr wrap="square" lIns="0" tIns="0" rIns="0" bIns="0" rtlCol="0" anchor="ctr"/>
          <a:lstStyle/>
          <a:p>
            <a:pPr marL="0" indent="0" algn="ctr">
              <a:buNone/>
            </a:pPr>
            <a:r>
              <a:rPr lang="en-US" sz="3200" b="1" dirty="0">
                <a:solidFill>
                  <a:schemeClr val="bg1"/>
                </a:solidFill>
                <a:latin typeface="Montserrat" panose="00000500000000000000" pitchFamily="2" charset="0"/>
                <a:ea typeface="Georgia" pitchFamily="34" charset="-122"/>
                <a:cs typeface="Georgia" pitchFamily="34" charset="-120"/>
              </a:rPr>
              <a:t>~1 token</a:t>
            </a:r>
            <a:endParaRPr lang="en-US" sz="3200" dirty="0">
              <a:solidFill>
                <a:schemeClr val="bg1"/>
              </a:solidFill>
              <a:latin typeface="Montserrat" panose="00000500000000000000" pitchFamily="2" charset="0"/>
            </a:endParaRPr>
          </a:p>
        </p:txBody>
      </p:sp>
      <p:sp>
        <p:nvSpPr>
          <p:cNvPr id="23" name="Text 9">
            <a:extLst>
              <a:ext uri="{FF2B5EF4-FFF2-40B4-BE49-F238E27FC236}">
                <a16:creationId xmlns:a16="http://schemas.microsoft.com/office/drawing/2014/main" id="{FFBEA5F5-A45F-0ED9-0C16-FC37FDC1C3E9}"/>
              </a:ext>
            </a:extLst>
          </p:cNvPr>
          <p:cNvSpPr/>
          <p:nvPr/>
        </p:nvSpPr>
        <p:spPr>
          <a:xfrm>
            <a:off x="639875" y="5325550"/>
            <a:ext cx="2560320" cy="594360"/>
          </a:xfrm>
          <a:prstGeom prst="rect">
            <a:avLst/>
          </a:prstGeom>
          <a:noFill/>
          <a:ln/>
        </p:spPr>
        <p:txBody>
          <a:bodyPr wrap="square" lIns="0" tIns="0" rIns="0" bIns="0" rtlCol="0" anchor="t"/>
          <a:lstStyle/>
          <a:p>
            <a:pPr marL="0" indent="0" algn="ctr">
              <a:buNone/>
            </a:pPr>
            <a:r>
              <a:rPr lang="en-US" dirty="0">
                <a:solidFill>
                  <a:schemeClr val="bg1"/>
                </a:solidFill>
                <a:latin typeface="Montserrat" panose="00000500000000000000" pitchFamily="2" charset="0"/>
                <a:ea typeface="Calibri" pitchFamily="34" charset="-122"/>
                <a:cs typeface="Calibri" pitchFamily="34" charset="-120"/>
              </a:rPr>
              <a:t>≈ 4 characters</a:t>
            </a:r>
            <a:endParaRPr lang="en-US" dirty="0">
              <a:solidFill>
                <a:schemeClr val="bg1"/>
              </a:solidFill>
              <a:latin typeface="Montserrat" panose="00000500000000000000" pitchFamily="2" charset="0"/>
            </a:endParaRPr>
          </a:p>
          <a:p>
            <a:pPr marL="0" indent="0" algn="ctr">
              <a:buNone/>
            </a:pPr>
            <a:r>
              <a:rPr lang="en-US" dirty="0">
                <a:solidFill>
                  <a:schemeClr val="bg1"/>
                </a:solidFill>
                <a:latin typeface="Montserrat" panose="00000500000000000000" pitchFamily="2" charset="0"/>
                <a:ea typeface="Calibri" pitchFamily="34" charset="-122"/>
                <a:cs typeface="Calibri" pitchFamily="34" charset="-120"/>
              </a:rPr>
              <a:t>in English</a:t>
            </a:r>
            <a:endParaRPr lang="en-US" dirty="0">
              <a:solidFill>
                <a:schemeClr val="bg1"/>
              </a:solidFill>
              <a:latin typeface="Montserrat" panose="00000500000000000000" pitchFamily="2" charset="0"/>
            </a:endParaRPr>
          </a:p>
        </p:txBody>
      </p:sp>
      <p:sp>
        <p:nvSpPr>
          <p:cNvPr id="24" name="Shape 10">
            <a:extLst>
              <a:ext uri="{FF2B5EF4-FFF2-40B4-BE49-F238E27FC236}">
                <a16:creationId xmlns:a16="http://schemas.microsoft.com/office/drawing/2014/main" id="{8DA52108-45DA-003C-90C0-A40BCCC8165A}"/>
              </a:ext>
            </a:extLst>
          </p:cNvPr>
          <p:cNvSpPr/>
          <p:nvPr/>
        </p:nvSpPr>
        <p:spPr>
          <a:xfrm>
            <a:off x="4759242" y="4300033"/>
            <a:ext cx="2560320" cy="1809893"/>
          </a:xfrm>
          <a:prstGeom prst="rect">
            <a:avLst/>
          </a:prstGeom>
          <a:solidFill>
            <a:srgbClr val="D56E48"/>
          </a:solidFill>
          <a:ln/>
          <a:effectLst>
            <a:outerShdw blurRad="76200" dist="25400" dir="8100000" algn="bl" rotWithShape="0">
              <a:srgbClr val="000000">
                <a:alpha val="10000"/>
              </a:srgbClr>
            </a:outerShdw>
          </a:effectLst>
        </p:spPr>
        <p:txBody>
          <a:bodyPr/>
          <a:lstStyle/>
          <a:p>
            <a:endParaRPr lang="en-CA" sz="2400">
              <a:latin typeface="Montserrat" panose="00000500000000000000" pitchFamily="2" charset="0"/>
            </a:endParaRPr>
          </a:p>
        </p:txBody>
      </p:sp>
      <p:sp>
        <p:nvSpPr>
          <p:cNvPr id="25" name="Text 11">
            <a:extLst>
              <a:ext uri="{FF2B5EF4-FFF2-40B4-BE49-F238E27FC236}">
                <a16:creationId xmlns:a16="http://schemas.microsoft.com/office/drawing/2014/main" id="{B726CCFD-7E6D-5939-861D-E5A2C84A6192}"/>
              </a:ext>
            </a:extLst>
          </p:cNvPr>
          <p:cNvSpPr/>
          <p:nvPr/>
        </p:nvSpPr>
        <p:spPr>
          <a:xfrm>
            <a:off x="4759242" y="4457073"/>
            <a:ext cx="2560320" cy="548640"/>
          </a:xfrm>
          <a:prstGeom prst="rect">
            <a:avLst/>
          </a:prstGeom>
          <a:noFill/>
          <a:ln/>
        </p:spPr>
        <p:txBody>
          <a:bodyPr wrap="square" lIns="0" tIns="0" rIns="0" bIns="0" rtlCol="0" anchor="ctr"/>
          <a:lstStyle/>
          <a:p>
            <a:pPr marL="0" indent="0" algn="ctr">
              <a:buNone/>
            </a:pPr>
            <a:r>
              <a:rPr lang="en-US" sz="3200" b="1" dirty="0">
                <a:solidFill>
                  <a:schemeClr val="bg1"/>
                </a:solidFill>
                <a:latin typeface="Montserrat" panose="00000500000000000000" pitchFamily="2" charset="0"/>
                <a:ea typeface="Georgia" pitchFamily="34" charset="-122"/>
                <a:cs typeface="Georgia" pitchFamily="34" charset="-120"/>
              </a:rPr>
              <a:t>~750</a:t>
            </a:r>
            <a:endParaRPr lang="en-US" sz="3200" dirty="0">
              <a:solidFill>
                <a:schemeClr val="bg1"/>
              </a:solidFill>
              <a:latin typeface="Montserrat" panose="00000500000000000000" pitchFamily="2" charset="0"/>
            </a:endParaRPr>
          </a:p>
        </p:txBody>
      </p:sp>
      <p:sp>
        <p:nvSpPr>
          <p:cNvPr id="26" name="Text 12">
            <a:extLst>
              <a:ext uri="{FF2B5EF4-FFF2-40B4-BE49-F238E27FC236}">
                <a16:creationId xmlns:a16="http://schemas.microsoft.com/office/drawing/2014/main" id="{9C499881-0EE5-069B-14FD-CD64CD12201F}"/>
              </a:ext>
            </a:extLst>
          </p:cNvPr>
          <p:cNvSpPr/>
          <p:nvPr/>
        </p:nvSpPr>
        <p:spPr>
          <a:xfrm>
            <a:off x="4853932" y="5283014"/>
            <a:ext cx="2560320" cy="594360"/>
          </a:xfrm>
          <a:prstGeom prst="rect">
            <a:avLst/>
          </a:prstGeom>
          <a:noFill/>
          <a:ln/>
        </p:spPr>
        <p:txBody>
          <a:bodyPr wrap="square" lIns="0" tIns="0" rIns="0" bIns="0" rtlCol="0" anchor="t"/>
          <a:lstStyle/>
          <a:p>
            <a:pPr marL="0" indent="0" algn="ctr">
              <a:buNone/>
            </a:pPr>
            <a:r>
              <a:rPr lang="en-US" dirty="0">
                <a:solidFill>
                  <a:schemeClr val="bg1"/>
                </a:solidFill>
                <a:latin typeface="Montserrat" panose="00000500000000000000" pitchFamily="2" charset="0"/>
                <a:ea typeface="Calibri" pitchFamily="34" charset="-122"/>
                <a:cs typeface="Calibri" pitchFamily="34" charset="-120"/>
              </a:rPr>
              <a:t>words per</a:t>
            </a:r>
            <a:endParaRPr lang="en-US" dirty="0">
              <a:solidFill>
                <a:schemeClr val="bg1"/>
              </a:solidFill>
              <a:latin typeface="Montserrat" panose="00000500000000000000" pitchFamily="2" charset="0"/>
            </a:endParaRPr>
          </a:p>
          <a:p>
            <a:pPr marL="0" indent="0" algn="ctr">
              <a:buNone/>
            </a:pPr>
            <a:r>
              <a:rPr lang="en-US" dirty="0">
                <a:solidFill>
                  <a:schemeClr val="bg1"/>
                </a:solidFill>
                <a:latin typeface="Montserrat" panose="00000500000000000000" pitchFamily="2" charset="0"/>
                <a:ea typeface="Calibri" pitchFamily="34" charset="-122"/>
                <a:cs typeface="Calibri" pitchFamily="34" charset="-120"/>
              </a:rPr>
              <a:t>1,000 tokens</a:t>
            </a:r>
            <a:endParaRPr lang="en-US" dirty="0">
              <a:solidFill>
                <a:schemeClr val="bg1"/>
              </a:solidFill>
              <a:latin typeface="Montserrat" panose="00000500000000000000" pitchFamily="2" charset="0"/>
            </a:endParaRPr>
          </a:p>
        </p:txBody>
      </p:sp>
      <p:sp>
        <p:nvSpPr>
          <p:cNvPr id="27" name="Shape 13">
            <a:extLst>
              <a:ext uri="{FF2B5EF4-FFF2-40B4-BE49-F238E27FC236}">
                <a16:creationId xmlns:a16="http://schemas.microsoft.com/office/drawing/2014/main" id="{E9833D4C-2354-5193-4BF4-1A16BA2FDB52}"/>
              </a:ext>
            </a:extLst>
          </p:cNvPr>
          <p:cNvSpPr/>
          <p:nvPr/>
        </p:nvSpPr>
        <p:spPr>
          <a:xfrm>
            <a:off x="8782602" y="4305474"/>
            <a:ext cx="2560320" cy="1815882"/>
          </a:xfrm>
          <a:prstGeom prst="rect">
            <a:avLst/>
          </a:prstGeom>
          <a:solidFill>
            <a:schemeClr val="bg1">
              <a:lumMod val="65000"/>
            </a:schemeClr>
          </a:solidFill>
          <a:ln/>
          <a:effectLst>
            <a:outerShdw blurRad="76200" dist="25400" dir="8100000" algn="bl" rotWithShape="0">
              <a:srgbClr val="000000">
                <a:alpha val="10000"/>
              </a:srgbClr>
            </a:outerShdw>
          </a:effectLst>
        </p:spPr>
        <p:txBody>
          <a:bodyPr/>
          <a:lstStyle/>
          <a:p>
            <a:endParaRPr lang="en-CA" sz="2400">
              <a:solidFill>
                <a:schemeClr val="bg1">
                  <a:lumMod val="65000"/>
                </a:schemeClr>
              </a:solidFill>
              <a:latin typeface="Montserrat" panose="00000500000000000000" pitchFamily="2" charset="0"/>
            </a:endParaRPr>
          </a:p>
        </p:txBody>
      </p:sp>
      <p:sp>
        <p:nvSpPr>
          <p:cNvPr id="28" name="Text 14">
            <a:extLst>
              <a:ext uri="{FF2B5EF4-FFF2-40B4-BE49-F238E27FC236}">
                <a16:creationId xmlns:a16="http://schemas.microsoft.com/office/drawing/2014/main" id="{5B3689BE-CC37-173A-E740-901F34C2892E}"/>
              </a:ext>
            </a:extLst>
          </p:cNvPr>
          <p:cNvSpPr/>
          <p:nvPr/>
        </p:nvSpPr>
        <p:spPr>
          <a:xfrm>
            <a:off x="8782602" y="4426080"/>
            <a:ext cx="2560320" cy="548640"/>
          </a:xfrm>
          <a:prstGeom prst="rect">
            <a:avLst/>
          </a:prstGeom>
          <a:noFill/>
          <a:ln/>
        </p:spPr>
        <p:txBody>
          <a:bodyPr wrap="square" lIns="0" tIns="0" rIns="0" bIns="0" rtlCol="0" anchor="ctr"/>
          <a:lstStyle/>
          <a:p>
            <a:pPr marL="0" indent="0" algn="ctr">
              <a:buNone/>
            </a:pPr>
            <a:r>
              <a:rPr lang="en-US" sz="3200" b="1" dirty="0">
                <a:solidFill>
                  <a:schemeClr val="bg1"/>
                </a:solidFill>
                <a:latin typeface="Montserrat" panose="00000500000000000000" pitchFamily="2" charset="0"/>
                <a:ea typeface="Georgia" pitchFamily="34" charset="-122"/>
                <a:cs typeface="Georgia" pitchFamily="34" charset="-120"/>
              </a:rPr>
              <a:t>1M tokens</a:t>
            </a:r>
            <a:endParaRPr lang="en-US" sz="3200" dirty="0">
              <a:solidFill>
                <a:schemeClr val="bg1"/>
              </a:solidFill>
              <a:latin typeface="Montserrat" panose="00000500000000000000" pitchFamily="2" charset="0"/>
            </a:endParaRPr>
          </a:p>
        </p:txBody>
      </p:sp>
      <p:sp>
        <p:nvSpPr>
          <p:cNvPr id="29" name="Text 15">
            <a:extLst>
              <a:ext uri="{FF2B5EF4-FFF2-40B4-BE49-F238E27FC236}">
                <a16:creationId xmlns:a16="http://schemas.microsoft.com/office/drawing/2014/main" id="{7EEE39C7-959C-8FE1-4346-C38618823E65}"/>
              </a:ext>
            </a:extLst>
          </p:cNvPr>
          <p:cNvSpPr/>
          <p:nvPr/>
        </p:nvSpPr>
        <p:spPr>
          <a:xfrm>
            <a:off x="8782602" y="5102918"/>
            <a:ext cx="2560320" cy="594360"/>
          </a:xfrm>
          <a:prstGeom prst="rect">
            <a:avLst/>
          </a:prstGeom>
          <a:noFill/>
          <a:ln/>
        </p:spPr>
        <p:txBody>
          <a:bodyPr wrap="square" lIns="0" tIns="0" rIns="0" bIns="0" rtlCol="0" anchor="t"/>
          <a:lstStyle/>
          <a:p>
            <a:pPr marL="0" indent="0" algn="ctr">
              <a:buNone/>
            </a:pPr>
            <a:r>
              <a:rPr lang="en-US" dirty="0">
                <a:solidFill>
                  <a:schemeClr val="bg1"/>
                </a:solidFill>
                <a:latin typeface="Montserrat" panose="00000500000000000000" pitchFamily="2" charset="0"/>
                <a:ea typeface="Calibri" pitchFamily="34" charset="-122"/>
                <a:cs typeface="Calibri" pitchFamily="34" charset="-120"/>
              </a:rPr>
              <a:t>≈ Entire works of Shakespeare OR </a:t>
            </a:r>
          </a:p>
          <a:p>
            <a:pPr marL="0" indent="0" algn="ctr">
              <a:buNone/>
            </a:pPr>
            <a:r>
              <a:rPr lang="en-US" dirty="0">
                <a:solidFill>
                  <a:schemeClr val="bg1"/>
                </a:solidFill>
                <a:latin typeface="Montserrat" panose="00000500000000000000" pitchFamily="2" charset="0"/>
                <a:ea typeface="Calibri" pitchFamily="34" charset="-122"/>
                <a:cs typeface="Calibri" pitchFamily="34" charset="-120"/>
              </a:rPr>
              <a:t>≈ 8 full-length novels</a:t>
            </a:r>
            <a:endParaRPr lang="en-US" dirty="0">
              <a:solidFill>
                <a:schemeClr val="bg1"/>
              </a:solidFill>
              <a:latin typeface="Montserrat" panose="00000500000000000000" pitchFamily="2" charset="0"/>
            </a:endParaRPr>
          </a:p>
        </p:txBody>
      </p:sp>
    </p:spTree>
    <p:extLst>
      <p:ext uri="{BB962C8B-B14F-4D97-AF65-F5344CB8AC3E}">
        <p14:creationId xmlns:p14="http://schemas.microsoft.com/office/powerpoint/2010/main" val="3887124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5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500"/>
                                        <p:tgtEl>
                                          <p:spTgt spid="2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500"/>
                                        <p:tgtEl>
                                          <p:spTgt spid="2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500"/>
                                        <p:tgtEl>
                                          <p:spTgt spid="2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500"/>
                                        <p:tgtEl>
                                          <p:spTgt spid="2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fade">
                                      <p:cBhvr>
                                        <p:cTn id="35" dur="5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500"/>
                                        <p:tgtEl>
                                          <p:spTgt spid="2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500"/>
                                        <p:tgtEl>
                                          <p:spTgt spid="2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5B119-793C-0FDF-C32E-5F9DDE91E12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39267E8-8584-BDA9-D39B-300EAC7A87B4}"/>
              </a:ext>
            </a:extLst>
          </p:cNvPr>
          <p:cNvPicPr>
            <a:picLocks noChangeAspect="1"/>
          </p:cNvPicPr>
          <p:nvPr/>
        </p:nvPicPr>
        <p:blipFill>
          <a:blip r:embed="rId2"/>
          <a:stretch>
            <a:fillRect/>
          </a:stretch>
        </p:blipFill>
        <p:spPr>
          <a:xfrm>
            <a:off x="-32773" y="0"/>
            <a:ext cx="12224773" cy="6858000"/>
          </a:xfrm>
          <a:prstGeom prst="rect">
            <a:avLst/>
          </a:prstGeom>
        </p:spPr>
      </p:pic>
      <p:pic>
        <p:nvPicPr>
          <p:cNvPr id="6" name="Picture 5">
            <a:extLst>
              <a:ext uri="{FF2B5EF4-FFF2-40B4-BE49-F238E27FC236}">
                <a16:creationId xmlns:a16="http://schemas.microsoft.com/office/drawing/2014/main" id="{E92872C3-0E9D-1C5F-A116-5900D1DCADC0}"/>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AADF091B-9C17-B638-40BA-5AE0C84FB818}"/>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Practice Opportunity: Understanding Tokens </a:t>
            </a:r>
          </a:p>
        </p:txBody>
      </p:sp>
      <p:sp>
        <p:nvSpPr>
          <p:cNvPr id="9" name="TextBox 8">
            <a:extLst>
              <a:ext uri="{FF2B5EF4-FFF2-40B4-BE49-F238E27FC236}">
                <a16:creationId xmlns:a16="http://schemas.microsoft.com/office/drawing/2014/main" id="{62AC4715-593F-BF2A-1E8F-7A0FF7951D7B}"/>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15" name="TextBox 14">
            <a:extLst>
              <a:ext uri="{FF2B5EF4-FFF2-40B4-BE49-F238E27FC236}">
                <a16:creationId xmlns:a16="http://schemas.microsoft.com/office/drawing/2014/main" id="{B431A747-CE62-D3DB-6E1D-A991DED273B4}"/>
              </a:ext>
            </a:extLst>
          </p:cNvPr>
          <p:cNvSpPr txBox="1"/>
          <p:nvPr/>
        </p:nvSpPr>
        <p:spPr>
          <a:xfrm>
            <a:off x="189384" y="871861"/>
            <a:ext cx="11780457" cy="6495097"/>
          </a:xfrm>
          <a:prstGeom prst="rect">
            <a:avLst/>
          </a:prstGeom>
        </p:spPr>
        <p:txBody>
          <a:bodyPr vert="horz" lIns="91440" tIns="45720" rIns="91440" bIns="45720" rtlCol="0">
            <a:noAutofit/>
          </a:bodyPr>
          <a:lstStyle>
            <a:defPPr>
              <a:defRPr lang="en-US"/>
            </a:defPPr>
            <a:lvl1pPr marL="228600" indent="-228600">
              <a:lnSpc>
                <a:spcPct val="90000"/>
              </a:lnSpc>
              <a:spcBef>
                <a:spcPts val="1000"/>
              </a:spcBef>
              <a:buClr>
                <a:srgbClr val="1BBFD1"/>
              </a:buClr>
              <a:buFont typeface="Arial" panose="020B0604020202020204" pitchFamily="34" charset="0"/>
              <a:buChar char="•"/>
              <a:defRPr>
                <a:latin typeface="Montserrat" panose="00000500000000000000" pitchFamily="2" charset="0"/>
              </a:defRPr>
            </a:lvl1pPr>
            <a:lvl2pPr marL="742987" indent="-285764"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2pPr>
            <a:lvl3pPr marL="1143057" indent="-228611"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3pPr>
            <a:lvl4pPr marL="1600280"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4pPr>
            <a:lvl5pPr marL="2057503"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5pPr>
            <a:lvl6pPr marL="2514726" indent="-228611" defTabSz="914446">
              <a:lnSpc>
                <a:spcPct val="90000"/>
              </a:lnSpc>
              <a:spcBef>
                <a:spcPts val="500"/>
              </a:spcBef>
              <a:buFont typeface="Arial" panose="020B0604020202020204" pitchFamily="34" charset="0"/>
              <a:buChar char="•"/>
            </a:lvl6pPr>
            <a:lvl7pPr marL="2971949" indent="-228611" defTabSz="914446">
              <a:lnSpc>
                <a:spcPct val="90000"/>
              </a:lnSpc>
              <a:spcBef>
                <a:spcPts val="500"/>
              </a:spcBef>
              <a:buFont typeface="Arial" panose="020B0604020202020204" pitchFamily="34" charset="0"/>
              <a:buChar char="•"/>
            </a:lvl7pPr>
            <a:lvl8pPr marL="3429171" indent="-228611" defTabSz="914446">
              <a:lnSpc>
                <a:spcPct val="90000"/>
              </a:lnSpc>
              <a:spcBef>
                <a:spcPts val="500"/>
              </a:spcBef>
              <a:buFont typeface="Arial" panose="020B0604020202020204" pitchFamily="34" charset="0"/>
              <a:buChar char="•"/>
            </a:lvl8pPr>
            <a:lvl9pPr marL="3886394" indent="-228611" defTabSz="914446">
              <a:lnSpc>
                <a:spcPct val="90000"/>
              </a:lnSpc>
              <a:spcBef>
                <a:spcPts val="500"/>
              </a:spcBef>
              <a:buFont typeface="Arial" panose="020B0604020202020204" pitchFamily="34" charset="0"/>
              <a:buChar char="•"/>
            </a:lvl9pPr>
          </a:lstStyle>
          <a:p>
            <a:pPr lvl="1"/>
            <a:endParaRPr lang="en-US" sz="1600" dirty="0"/>
          </a:p>
          <a:p>
            <a:endParaRPr lang="en-US" sz="1400" dirty="0"/>
          </a:p>
        </p:txBody>
      </p:sp>
      <p:sp>
        <p:nvSpPr>
          <p:cNvPr id="20" name="Rectangle 2">
            <a:extLst>
              <a:ext uri="{FF2B5EF4-FFF2-40B4-BE49-F238E27FC236}">
                <a16:creationId xmlns:a16="http://schemas.microsoft.com/office/drawing/2014/main" id="{E4E95363-7C0B-15FF-C8BD-02853A7DEC97}"/>
              </a:ext>
            </a:extLst>
          </p:cNvPr>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sp>
        <p:nvSpPr>
          <p:cNvPr id="3" name="TextBox 2">
            <a:extLst>
              <a:ext uri="{FF2B5EF4-FFF2-40B4-BE49-F238E27FC236}">
                <a16:creationId xmlns:a16="http://schemas.microsoft.com/office/drawing/2014/main" id="{560A6279-38FB-B7CB-89A2-84DEBF975B7E}"/>
              </a:ext>
            </a:extLst>
          </p:cNvPr>
          <p:cNvSpPr txBox="1"/>
          <p:nvPr/>
        </p:nvSpPr>
        <p:spPr>
          <a:xfrm>
            <a:off x="153409" y="907669"/>
            <a:ext cx="8905799" cy="3046988"/>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Montserrat" panose="00000500000000000000" pitchFamily="2" charset="0"/>
              </a:rPr>
              <a:t>Use the </a:t>
            </a:r>
            <a:r>
              <a:rPr lang="en-US" sz="1600" dirty="0">
                <a:latin typeface="Montserrat" panose="00000500000000000000" pitchFamily="2" charset="0"/>
                <a:hlinkClick r:id="rId4"/>
              </a:rPr>
              <a:t>OpenAI Tokenizer Tool </a:t>
            </a:r>
            <a:r>
              <a:rPr lang="en-US" sz="1600" dirty="0">
                <a:latin typeface="Montserrat" panose="00000500000000000000" pitchFamily="2" charset="0"/>
              </a:rPr>
              <a:t>to analyze the following two prompts. Record the number of tokens for each of the following examples:</a:t>
            </a:r>
          </a:p>
          <a:p>
            <a:pPr marL="742950" lvl="1" indent="-285750">
              <a:buFont typeface="Courier New" panose="02070309020205020404" pitchFamily="49" charset="0"/>
              <a:buChar char="o"/>
            </a:pPr>
            <a:r>
              <a:rPr lang="en-US" sz="1600" i="1" dirty="0">
                <a:latin typeface="Montserrat" panose="00000500000000000000" pitchFamily="2" charset="0"/>
              </a:rPr>
              <a:t>Example 1: "Explain the difference between supervised and unsupervised learning in AI."</a:t>
            </a:r>
          </a:p>
          <a:p>
            <a:pPr marL="742950" lvl="1" indent="-285750">
              <a:buFont typeface="Courier New" panose="02070309020205020404" pitchFamily="49" charset="0"/>
              <a:buChar char="o"/>
            </a:pPr>
            <a:r>
              <a:rPr lang="en-US" sz="1600" i="1" dirty="0">
                <a:latin typeface="Montserrat" panose="00000500000000000000" pitchFamily="2" charset="0"/>
              </a:rPr>
              <a:t>Example 2: "Please explain the difference between supervised and unsupervised learning in AI. Thank You."</a:t>
            </a:r>
          </a:p>
          <a:p>
            <a:pPr marL="285750" indent="-285750">
              <a:buFont typeface="Arial" panose="020B0604020202020204" pitchFamily="34" charset="0"/>
              <a:buChar char="•"/>
            </a:pPr>
            <a:r>
              <a:rPr lang="en-US" sz="1600" dirty="0">
                <a:latin typeface="Montserrat" panose="00000500000000000000" pitchFamily="2" charset="0"/>
              </a:rPr>
              <a:t>Which sentence had more tokens?</a:t>
            </a:r>
          </a:p>
          <a:p>
            <a:pPr marL="285750" indent="-285750">
              <a:buFont typeface="Arial" panose="020B0604020202020204" pitchFamily="34" charset="0"/>
              <a:buChar char="•"/>
            </a:pPr>
            <a:r>
              <a:rPr lang="en-US" sz="1600" dirty="0">
                <a:latin typeface="Montserrat" panose="00000500000000000000" pitchFamily="2" charset="0"/>
              </a:rPr>
              <a:t>Reflect: Sam Altman once mentioned that people typing “thank you” and "please" to ChatGPT cost OpenAI millions of dollars. What does this tell you about the importance of token efficiency when designing prompts or building tools? (</a:t>
            </a:r>
            <a:r>
              <a:rPr lang="en-US" sz="1600" dirty="0">
                <a:latin typeface="Montserrat" panose="00000500000000000000" pitchFamily="2" charset="0"/>
                <a:hlinkClick r:id="rId5"/>
              </a:rPr>
              <a:t>https://futurism.com/altman-please-thanks-chatgpt</a:t>
            </a:r>
            <a:r>
              <a:rPr lang="en-US" sz="1600" dirty="0">
                <a:latin typeface="Montserrat" panose="00000500000000000000" pitchFamily="2" charset="0"/>
              </a:rPr>
              <a:t>)</a:t>
            </a:r>
          </a:p>
          <a:p>
            <a:endParaRPr lang="en-US" sz="1400" dirty="0">
              <a:latin typeface="Montserrat" panose="00000500000000000000" pitchFamily="2" charset="0"/>
            </a:endParaRPr>
          </a:p>
        </p:txBody>
      </p:sp>
      <p:pic>
        <p:nvPicPr>
          <p:cNvPr id="2" name="Picture 1">
            <a:extLst>
              <a:ext uri="{FF2B5EF4-FFF2-40B4-BE49-F238E27FC236}">
                <a16:creationId xmlns:a16="http://schemas.microsoft.com/office/drawing/2014/main" id="{CA27231B-FFAA-F14A-02D5-B1871A7DECF8}"/>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8998545" y="747334"/>
            <a:ext cx="3060152" cy="2421464"/>
          </a:xfrm>
          <a:prstGeom prst="rect">
            <a:avLst/>
          </a:prstGeom>
        </p:spPr>
      </p:pic>
    </p:spTree>
    <p:extLst>
      <p:ext uri="{BB962C8B-B14F-4D97-AF65-F5344CB8AC3E}">
        <p14:creationId xmlns:p14="http://schemas.microsoft.com/office/powerpoint/2010/main" val="29076602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E945B-9AC5-9655-1F3F-BA8913D45B1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F780441-8869-1559-1FBA-4AE9F8E4DA82}"/>
              </a:ext>
            </a:extLst>
          </p:cNvPr>
          <p:cNvPicPr>
            <a:picLocks noChangeAspect="1"/>
          </p:cNvPicPr>
          <p:nvPr/>
        </p:nvPicPr>
        <p:blipFill>
          <a:blip r:embed="rId2"/>
          <a:stretch>
            <a:fillRect/>
          </a:stretch>
        </p:blipFill>
        <p:spPr>
          <a:xfrm>
            <a:off x="-32773" y="0"/>
            <a:ext cx="12224773" cy="6858000"/>
          </a:xfrm>
          <a:prstGeom prst="rect">
            <a:avLst/>
          </a:prstGeom>
        </p:spPr>
      </p:pic>
      <p:pic>
        <p:nvPicPr>
          <p:cNvPr id="6" name="Picture 5">
            <a:extLst>
              <a:ext uri="{FF2B5EF4-FFF2-40B4-BE49-F238E27FC236}">
                <a16:creationId xmlns:a16="http://schemas.microsoft.com/office/drawing/2014/main" id="{5E594419-2D55-73D1-796E-0D29D1F00F59}"/>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4BC95098-DA5D-8E90-AA7A-9EE94D9F06F1}"/>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Practice Opportunity Solution</a:t>
            </a:r>
          </a:p>
        </p:txBody>
      </p:sp>
      <p:sp>
        <p:nvSpPr>
          <p:cNvPr id="9" name="TextBox 8">
            <a:extLst>
              <a:ext uri="{FF2B5EF4-FFF2-40B4-BE49-F238E27FC236}">
                <a16:creationId xmlns:a16="http://schemas.microsoft.com/office/drawing/2014/main" id="{99A51415-D902-DB72-57F4-B249C4FB9E2F}"/>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15" name="TextBox 14">
            <a:extLst>
              <a:ext uri="{FF2B5EF4-FFF2-40B4-BE49-F238E27FC236}">
                <a16:creationId xmlns:a16="http://schemas.microsoft.com/office/drawing/2014/main" id="{1D2F54A1-A847-84F9-E14D-28C0FDD23C3B}"/>
              </a:ext>
            </a:extLst>
          </p:cNvPr>
          <p:cNvSpPr txBox="1"/>
          <p:nvPr/>
        </p:nvSpPr>
        <p:spPr>
          <a:xfrm>
            <a:off x="189384" y="871861"/>
            <a:ext cx="11780457" cy="6495097"/>
          </a:xfrm>
          <a:prstGeom prst="rect">
            <a:avLst/>
          </a:prstGeom>
        </p:spPr>
        <p:txBody>
          <a:bodyPr vert="horz" lIns="91440" tIns="45720" rIns="91440" bIns="45720" rtlCol="0">
            <a:noAutofit/>
          </a:bodyPr>
          <a:lstStyle>
            <a:defPPr>
              <a:defRPr lang="en-US"/>
            </a:defPPr>
            <a:lvl1pPr marL="228600" indent="-228600">
              <a:lnSpc>
                <a:spcPct val="90000"/>
              </a:lnSpc>
              <a:spcBef>
                <a:spcPts val="1000"/>
              </a:spcBef>
              <a:buClr>
                <a:srgbClr val="1BBFD1"/>
              </a:buClr>
              <a:buFont typeface="Arial" panose="020B0604020202020204" pitchFamily="34" charset="0"/>
              <a:buChar char="•"/>
              <a:defRPr>
                <a:latin typeface="Montserrat" panose="00000500000000000000" pitchFamily="2" charset="0"/>
              </a:defRPr>
            </a:lvl1pPr>
            <a:lvl2pPr marL="742987" indent="-285764"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2pPr>
            <a:lvl3pPr marL="1143057" indent="-228611"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3pPr>
            <a:lvl4pPr marL="1600280"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4pPr>
            <a:lvl5pPr marL="2057503"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5pPr>
            <a:lvl6pPr marL="2514726" indent="-228611" defTabSz="914446">
              <a:lnSpc>
                <a:spcPct val="90000"/>
              </a:lnSpc>
              <a:spcBef>
                <a:spcPts val="500"/>
              </a:spcBef>
              <a:buFont typeface="Arial" panose="020B0604020202020204" pitchFamily="34" charset="0"/>
              <a:buChar char="•"/>
            </a:lvl6pPr>
            <a:lvl7pPr marL="2971949" indent="-228611" defTabSz="914446">
              <a:lnSpc>
                <a:spcPct val="90000"/>
              </a:lnSpc>
              <a:spcBef>
                <a:spcPts val="500"/>
              </a:spcBef>
              <a:buFont typeface="Arial" panose="020B0604020202020204" pitchFamily="34" charset="0"/>
              <a:buChar char="•"/>
            </a:lvl7pPr>
            <a:lvl8pPr marL="3429171" indent="-228611" defTabSz="914446">
              <a:lnSpc>
                <a:spcPct val="90000"/>
              </a:lnSpc>
              <a:spcBef>
                <a:spcPts val="500"/>
              </a:spcBef>
              <a:buFont typeface="Arial" panose="020B0604020202020204" pitchFamily="34" charset="0"/>
              <a:buChar char="•"/>
            </a:lvl8pPr>
            <a:lvl9pPr marL="3886394" indent="-228611" defTabSz="914446">
              <a:lnSpc>
                <a:spcPct val="90000"/>
              </a:lnSpc>
              <a:spcBef>
                <a:spcPts val="500"/>
              </a:spcBef>
              <a:buFont typeface="Arial" panose="020B0604020202020204" pitchFamily="34" charset="0"/>
              <a:buChar char="•"/>
            </a:lvl9pPr>
          </a:lstStyle>
          <a:p>
            <a:pPr lvl="1"/>
            <a:endParaRPr lang="en-US" sz="1600" dirty="0"/>
          </a:p>
          <a:p>
            <a:endParaRPr lang="en-US" sz="1400" dirty="0"/>
          </a:p>
        </p:txBody>
      </p:sp>
      <p:sp>
        <p:nvSpPr>
          <p:cNvPr id="20" name="Rectangle 2">
            <a:extLst>
              <a:ext uri="{FF2B5EF4-FFF2-40B4-BE49-F238E27FC236}">
                <a16:creationId xmlns:a16="http://schemas.microsoft.com/office/drawing/2014/main" id="{1133437D-8854-84C2-795A-FA3A35919691}"/>
              </a:ext>
            </a:extLst>
          </p:cNvPr>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pic>
        <p:nvPicPr>
          <p:cNvPr id="2" name="Picture 1">
            <a:extLst>
              <a:ext uri="{FF2B5EF4-FFF2-40B4-BE49-F238E27FC236}">
                <a16:creationId xmlns:a16="http://schemas.microsoft.com/office/drawing/2014/main" id="{27641939-3BD4-782F-1EC6-3078BEAB4736}"/>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8998545" y="747334"/>
            <a:ext cx="3060152" cy="2421464"/>
          </a:xfrm>
          <a:prstGeom prst="rect">
            <a:avLst/>
          </a:prstGeom>
        </p:spPr>
      </p:pic>
      <p:pic>
        <p:nvPicPr>
          <p:cNvPr id="11" name="Picture 10">
            <a:extLst>
              <a:ext uri="{FF2B5EF4-FFF2-40B4-BE49-F238E27FC236}">
                <a16:creationId xmlns:a16="http://schemas.microsoft.com/office/drawing/2014/main" id="{4EC9C979-DB65-0995-7B76-86C67FEFB6A7}"/>
              </a:ext>
            </a:extLst>
          </p:cNvPr>
          <p:cNvPicPr>
            <a:picLocks noChangeAspect="1"/>
          </p:cNvPicPr>
          <p:nvPr/>
        </p:nvPicPr>
        <p:blipFill>
          <a:blip r:embed="rId5"/>
          <a:stretch>
            <a:fillRect/>
          </a:stretch>
        </p:blipFill>
        <p:spPr>
          <a:xfrm>
            <a:off x="164684" y="1017178"/>
            <a:ext cx="4317272" cy="3766391"/>
          </a:xfrm>
          <a:prstGeom prst="rect">
            <a:avLst/>
          </a:prstGeom>
        </p:spPr>
      </p:pic>
      <p:pic>
        <p:nvPicPr>
          <p:cNvPr id="13" name="Picture 12">
            <a:extLst>
              <a:ext uri="{FF2B5EF4-FFF2-40B4-BE49-F238E27FC236}">
                <a16:creationId xmlns:a16="http://schemas.microsoft.com/office/drawing/2014/main" id="{84B6D989-F72A-F660-79AF-F662FCF47299}"/>
              </a:ext>
            </a:extLst>
          </p:cNvPr>
          <p:cNvPicPr>
            <a:picLocks noChangeAspect="1"/>
          </p:cNvPicPr>
          <p:nvPr/>
        </p:nvPicPr>
        <p:blipFill>
          <a:blip r:embed="rId6"/>
          <a:stretch>
            <a:fillRect/>
          </a:stretch>
        </p:blipFill>
        <p:spPr>
          <a:xfrm>
            <a:off x="4793157" y="1094367"/>
            <a:ext cx="4359232" cy="3689202"/>
          </a:xfrm>
          <a:prstGeom prst="rect">
            <a:avLst/>
          </a:prstGeom>
        </p:spPr>
      </p:pic>
    </p:spTree>
    <p:extLst>
      <p:ext uri="{BB962C8B-B14F-4D97-AF65-F5344CB8AC3E}">
        <p14:creationId xmlns:p14="http://schemas.microsoft.com/office/powerpoint/2010/main" val="3210756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4463F-A36F-9D61-D6D8-1013AE178C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2AAAD86-EB35-9870-30A8-58B09EAD1987}"/>
              </a:ext>
            </a:extLst>
          </p:cNvPr>
          <p:cNvPicPr>
            <a:picLocks noChangeAspect="1"/>
          </p:cNvPicPr>
          <p:nvPr/>
        </p:nvPicPr>
        <p:blipFill>
          <a:blip r:embed="rId2"/>
          <a:stretch>
            <a:fillRect/>
          </a:stretch>
        </p:blipFill>
        <p:spPr>
          <a:xfrm>
            <a:off x="-32773" y="0"/>
            <a:ext cx="12224773" cy="6858000"/>
          </a:xfrm>
          <a:prstGeom prst="rect">
            <a:avLst/>
          </a:prstGeom>
        </p:spPr>
      </p:pic>
      <p:pic>
        <p:nvPicPr>
          <p:cNvPr id="6" name="Picture 5">
            <a:extLst>
              <a:ext uri="{FF2B5EF4-FFF2-40B4-BE49-F238E27FC236}">
                <a16:creationId xmlns:a16="http://schemas.microsoft.com/office/drawing/2014/main" id="{D9243261-24CC-1DB6-3324-09D8C77FE3FE}"/>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C643021B-60C5-6942-2743-AE2A01F08658}"/>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The Context Window</a:t>
            </a:r>
          </a:p>
        </p:txBody>
      </p:sp>
      <p:sp>
        <p:nvSpPr>
          <p:cNvPr id="9" name="TextBox 8">
            <a:extLst>
              <a:ext uri="{FF2B5EF4-FFF2-40B4-BE49-F238E27FC236}">
                <a16:creationId xmlns:a16="http://schemas.microsoft.com/office/drawing/2014/main" id="{8F50E4DC-B747-2EB2-513C-BC3DCE653F91}"/>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15" name="TextBox 14">
            <a:extLst>
              <a:ext uri="{FF2B5EF4-FFF2-40B4-BE49-F238E27FC236}">
                <a16:creationId xmlns:a16="http://schemas.microsoft.com/office/drawing/2014/main" id="{95177514-1B9F-9486-2153-F8522FC5FDF5}"/>
              </a:ext>
            </a:extLst>
          </p:cNvPr>
          <p:cNvSpPr txBox="1"/>
          <p:nvPr/>
        </p:nvSpPr>
        <p:spPr>
          <a:xfrm>
            <a:off x="189384" y="871861"/>
            <a:ext cx="11780457" cy="1979233"/>
          </a:xfrm>
          <a:prstGeom prst="rect">
            <a:avLst/>
          </a:prstGeom>
        </p:spPr>
        <p:txBody>
          <a:bodyPr vert="horz" lIns="91440" tIns="45720" rIns="91440" bIns="45720" rtlCol="0">
            <a:normAutofit/>
          </a:bodyPr>
          <a:lstStyle>
            <a:defPPr>
              <a:defRPr lang="en-US"/>
            </a:defPPr>
            <a:lvl1pPr marL="228600" indent="-228600">
              <a:lnSpc>
                <a:spcPct val="90000"/>
              </a:lnSpc>
              <a:spcBef>
                <a:spcPts val="1000"/>
              </a:spcBef>
              <a:buClr>
                <a:srgbClr val="1BBFD1"/>
              </a:buClr>
              <a:buFont typeface="Arial" panose="020B0604020202020204" pitchFamily="34" charset="0"/>
              <a:buChar char="•"/>
              <a:defRPr>
                <a:latin typeface="Montserrat" panose="00000500000000000000" pitchFamily="2" charset="0"/>
              </a:defRPr>
            </a:lvl1pPr>
            <a:lvl2pPr marL="742987" indent="-285764"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2pPr>
            <a:lvl3pPr marL="1143057" indent="-228611"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3pPr>
            <a:lvl4pPr marL="1600280"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4pPr>
            <a:lvl5pPr marL="2057503"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5pPr>
            <a:lvl6pPr marL="2514726" indent="-228611" defTabSz="914446">
              <a:lnSpc>
                <a:spcPct val="90000"/>
              </a:lnSpc>
              <a:spcBef>
                <a:spcPts val="500"/>
              </a:spcBef>
              <a:buFont typeface="Arial" panose="020B0604020202020204" pitchFamily="34" charset="0"/>
              <a:buChar char="•"/>
            </a:lvl6pPr>
            <a:lvl7pPr marL="2971949" indent="-228611" defTabSz="914446">
              <a:lnSpc>
                <a:spcPct val="90000"/>
              </a:lnSpc>
              <a:spcBef>
                <a:spcPts val="500"/>
              </a:spcBef>
              <a:buFont typeface="Arial" panose="020B0604020202020204" pitchFamily="34" charset="0"/>
              <a:buChar char="•"/>
            </a:lvl7pPr>
            <a:lvl8pPr marL="3429171" indent="-228611" defTabSz="914446">
              <a:lnSpc>
                <a:spcPct val="90000"/>
              </a:lnSpc>
              <a:spcBef>
                <a:spcPts val="500"/>
              </a:spcBef>
              <a:buFont typeface="Arial" panose="020B0604020202020204" pitchFamily="34" charset="0"/>
              <a:buChar char="•"/>
            </a:lvl8pPr>
            <a:lvl9pPr marL="3886394" indent="-228611" defTabSz="914446">
              <a:lnSpc>
                <a:spcPct val="90000"/>
              </a:lnSpc>
              <a:spcBef>
                <a:spcPts val="500"/>
              </a:spcBef>
              <a:buFont typeface="Arial" panose="020B0604020202020204" pitchFamily="34" charset="0"/>
              <a:buChar char="•"/>
            </a:lvl9pPr>
          </a:lstStyle>
          <a:p>
            <a:r>
              <a:rPr lang="en-US" sz="1700" dirty="0"/>
              <a:t>The context window is the maximum number of tokens an LLM can process in a single interaction including both input and output. It defines how much information the model can "see" at once.</a:t>
            </a:r>
          </a:p>
          <a:p>
            <a:endParaRPr lang="en-US" sz="1700" dirty="0"/>
          </a:p>
        </p:txBody>
      </p:sp>
      <p:sp>
        <p:nvSpPr>
          <p:cNvPr id="20" name="Rectangle 2">
            <a:extLst>
              <a:ext uri="{FF2B5EF4-FFF2-40B4-BE49-F238E27FC236}">
                <a16:creationId xmlns:a16="http://schemas.microsoft.com/office/drawing/2014/main" id="{4D0986B4-605D-347E-5CFD-A07E329E0683}"/>
              </a:ext>
            </a:extLst>
          </p:cNvPr>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sp>
        <p:nvSpPr>
          <p:cNvPr id="4" name="Text 3">
            <a:extLst>
              <a:ext uri="{FF2B5EF4-FFF2-40B4-BE49-F238E27FC236}">
                <a16:creationId xmlns:a16="http://schemas.microsoft.com/office/drawing/2014/main" id="{927F478E-8A65-D52F-B8E8-50BDF33C3788}"/>
              </a:ext>
            </a:extLst>
          </p:cNvPr>
          <p:cNvSpPr/>
          <p:nvPr/>
        </p:nvSpPr>
        <p:spPr>
          <a:xfrm>
            <a:off x="548640" y="1005840"/>
            <a:ext cx="8046720" cy="640080"/>
          </a:xfrm>
          <a:prstGeom prst="rect">
            <a:avLst/>
          </a:prstGeom>
          <a:noFill/>
          <a:ln/>
        </p:spPr>
        <p:txBody>
          <a:bodyPr wrap="square" lIns="0" tIns="0" rIns="0" bIns="0" rtlCol="0" anchor="ctr"/>
          <a:lstStyle/>
          <a:p>
            <a:pPr marL="0" indent="0">
              <a:buNone/>
            </a:pPr>
            <a:endParaRPr lang="en-US" sz="1500" dirty="0"/>
          </a:p>
        </p:txBody>
      </p:sp>
      <p:sp>
        <p:nvSpPr>
          <p:cNvPr id="8" name="Text 4">
            <a:extLst>
              <a:ext uri="{FF2B5EF4-FFF2-40B4-BE49-F238E27FC236}">
                <a16:creationId xmlns:a16="http://schemas.microsoft.com/office/drawing/2014/main" id="{41E3F8B8-934B-99BA-951C-407321F3D3A1}"/>
              </a:ext>
            </a:extLst>
          </p:cNvPr>
          <p:cNvSpPr/>
          <p:nvPr/>
        </p:nvSpPr>
        <p:spPr>
          <a:xfrm>
            <a:off x="1423589" y="1469878"/>
            <a:ext cx="2011680" cy="411480"/>
          </a:xfrm>
          <a:prstGeom prst="rect">
            <a:avLst/>
          </a:prstGeom>
          <a:noFill/>
          <a:ln/>
        </p:spPr>
        <p:txBody>
          <a:bodyPr wrap="square" lIns="0" tIns="0" rIns="0" bIns="0" rtlCol="0" anchor="ctr"/>
          <a:lstStyle/>
          <a:p>
            <a:pPr marL="0" indent="0">
              <a:buNone/>
            </a:pPr>
            <a:r>
              <a:rPr lang="en-US" sz="1600" b="1" dirty="0">
                <a:solidFill>
                  <a:srgbClr val="1B2A4A"/>
                </a:solidFill>
                <a:latin typeface="Montserrat" panose="00000500000000000000" pitchFamily="2" charset="0"/>
                <a:ea typeface="Calibri" pitchFamily="34" charset="-122"/>
                <a:cs typeface="Calibri" pitchFamily="34" charset="-120"/>
              </a:rPr>
              <a:t>GPT-5.4</a:t>
            </a:r>
            <a:endParaRPr lang="en-US" sz="1600" dirty="0">
              <a:latin typeface="Montserrat" panose="00000500000000000000" pitchFamily="2" charset="0"/>
            </a:endParaRPr>
          </a:p>
        </p:txBody>
      </p:sp>
      <p:sp>
        <p:nvSpPr>
          <p:cNvPr id="10" name="Shape 5">
            <a:extLst>
              <a:ext uri="{FF2B5EF4-FFF2-40B4-BE49-F238E27FC236}">
                <a16:creationId xmlns:a16="http://schemas.microsoft.com/office/drawing/2014/main" id="{79D07D50-B2DF-3729-61C4-70C066545837}"/>
              </a:ext>
            </a:extLst>
          </p:cNvPr>
          <p:cNvSpPr/>
          <p:nvPr/>
        </p:nvSpPr>
        <p:spPr>
          <a:xfrm>
            <a:off x="3526709" y="1543030"/>
            <a:ext cx="4645739" cy="274320"/>
          </a:xfrm>
          <a:prstGeom prst="rect">
            <a:avLst/>
          </a:prstGeom>
          <a:solidFill>
            <a:srgbClr val="D56E48"/>
          </a:solidFill>
          <a:ln/>
        </p:spPr>
        <p:txBody>
          <a:bodyPr/>
          <a:lstStyle/>
          <a:p>
            <a:endParaRPr lang="en-CA">
              <a:solidFill>
                <a:srgbClr val="D56E48"/>
              </a:solidFill>
            </a:endParaRPr>
          </a:p>
        </p:txBody>
      </p:sp>
      <p:sp>
        <p:nvSpPr>
          <p:cNvPr id="11" name="Text 6">
            <a:extLst>
              <a:ext uri="{FF2B5EF4-FFF2-40B4-BE49-F238E27FC236}">
                <a16:creationId xmlns:a16="http://schemas.microsoft.com/office/drawing/2014/main" id="{2CE5F398-F9C9-136E-5B90-8DB529993B32}"/>
              </a:ext>
            </a:extLst>
          </p:cNvPr>
          <p:cNvSpPr/>
          <p:nvPr/>
        </p:nvSpPr>
        <p:spPr>
          <a:xfrm>
            <a:off x="8394607" y="1503799"/>
            <a:ext cx="914400" cy="411480"/>
          </a:xfrm>
          <a:prstGeom prst="rect">
            <a:avLst/>
          </a:prstGeom>
          <a:noFill/>
          <a:ln/>
        </p:spPr>
        <p:txBody>
          <a:bodyPr wrap="square" lIns="0" tIns="0" rIns="0" bIns="0" rtlCol="0" anchor="ctr"/>
          <a:lstStyle/>
          <a:p>
            <a:pPr marL="0" indent="0">
              <a:buNone/>
            </a:pPr>
            <a:r>
              <a:rPr lang="en-US" b="1" dirty="0">
                <a:solidFill>
                  <a:srgbClr val="D56E48"/>
                </a:solidFill>
                <a:latin typeface="Montserrat" panose="00000500000000000000" pitchFamily="2" charset="0"/>
                <a:ea typeface="Calibri" pitchFamily="34" charset="-122"/>
                <a:cs typeface="Calibri" pitchFamily="34" charset="-120"/>
              </a:rPr>
              <a:t>1M</a:t>
            </a:r>
            <a:endParaRPr lang="en-US" dirty="0">
              <a:solidFill>
                <a:srgbClr val="D56E48"/>
              </a:solidFill>
              <a:latin typeface="Montserrat" panose="00000500000000000000" pitchFamily="2" charset="0"/>
            </a:endParaRPr>
          </a:p>
        </p:txBody>
      </p:sp>
      <p:sp>
        <p:nvSpPr>
          <p:cNvPr id="12" name="Text 7">
            <a:extLst>
              <a:ext uri="{FF2B5EF4-FFF2-40B4-BE49-F238E27FC236}">
                <a16:creationId xmlns:a16="http://schemas.microsoft.com/office/drawing/2014/main" id="{1B7E11A2-0433-9325-CEB4-D28A655D6F51}"/>
              </a:ext>
            </a:extLst>
          </p:cNvPr>
          <p:cNvSpPr/>
          <p:nvPr/>
        </p:nvSpPr>
        <p:spPr>
          <a:xfrm>
            <a:off x="1423589" y="2018518"/>
            <a:ext cx="2011680" cy="411480"/>
          </a:xfrm>
          <a:prstGeom prst="rect">
            <a:avLst/>
          </a:prstGeom>
          <a:noFill/>
          <a:ln/>
        </p:spPr>
        <p:txBody>
          <a:bodyPr wrap="square" lIns="0" tIns="0" rIns="0" bIns="0" rtlCol="0" anchor="ctr"/>
          <a:lstStyle/>
          <a:p>
            <a:pPr marL="0" indent="0">
              <a:buNone/>
            </a:pPr>
            <a:r>
              <a:rPr lang="en-US" sz="1600" b="1" dirty="0">
                <a:solidFill>
                  <a:srgbClr val="1B2A4A"/>
                </a:solidFill>
                <a:latin typeface="Montserrat" panose="00000500000000000000" pitchFamily="2" charset="0"/>
                <a:ea typeface="Calibri" pitchFamily="34" charset="-122"/>
                <a:cs typeface="Calibri" pitchFamily="34" charset="-120"/>
              </a:rPr>
              <a:t>Claude Opus 4.6</a:t>
            </a:r>
            <a:endParaRPr lang="en-US" sz="1600" dirty="0">
              <a:latin typeface="Montserrat" panose="00000500000000000000" pitchFamily="2" charset="0"/>
            </a:endParaRPr>
          </a:p>
        </p:txBody>
      </p:sp>
      <p:sp>
        <p:nvSpPr>
          <p:cNvPr id="13" name="Shape 8">
            <a:extLst>
              <a:ext uri="{FF2B5EF4-FFF2-40B4-BE49-F238E27FC236}">
                <a16:creationId xmlns:a16="http://schemas.microsoft.com/office/drawing/2014/main" id="{613C4032-36B8-6F62-6BDB-AA047B7FDD88}"/>
              </a:ext>
            </a:extLst>
          </p:cNvPr>
          <p:cNvSpPr/>
          <p:nvPr/>
        </p:nvSpPr>
        <p:spPr>
          <a:xfrm>
            <a:off x="3526709" y="2091670"/>
            <a:ext cx="4645741" cy="274320"/>
          </a:xfrm>
          <a:prstGeom prst="rect">
            <a:avLst/>
          </a:prstGeom>
          <a:solidFill>
            <a:schemeClr val="bg1">
              <a:lumMod val="65000"/>
            </a:schemeClr>
          </a:solidFill>
          <a:ln/>
        </p:spPr>
        <p:txBody>
          <a:bodyPr/>
          <a:lstStyle/>
          <a:p>
            <a:endParaRPr lang="en-CA"/>
          </a:p>
        </p:txBody>
      </p:sp>
      <p:sp>
        <p:nvSpPr>
          <p:cNvPr id="17" name="Text 9">
            <a:extLst>
              <a:ext uri="{FF2B5EF4-FFF2-40B4-BE49-F238E27FC236}">
                <a16:creationId xmlns:a16="http://schemas.microsoft.com/office/drawing/2014/main" id="{0CC3C94E-8F4F-858C-E52C-B90C329CD459}"/>
              </a:ext>
            </a:extLst>
          </p:cNvPr>
          <p:cNvSpPr/>
          <p:nvPr/>
        </p:nvSpPr>
        <p:spPr>
          <a:xfrm>
            <a:off x="8382430" y="2056253"/>
            <a:ext cx="914400" cy="411480"/>
          </a:xfrm>
          <a:prstGeom prst="rect">
            <a:avLst/>
          </a:prstGeom>
          <a:noFill/>
          <a:ln/>
        </p:spPr>
        <p:txBody>
          <a:bodyPr wrap="square" lIns="0" tIns="0" rIns="0" bIns="0" rtlCol="0" anchor="ctr"/>
          <a:lstStyle/>
          <a:p>
            <a:pPr marL="0" indent="0">
              <a:buNone/>
            </a:pPr>
            <a:r>
              <a:rPr lang="en-US" b="1" dirty="0">
                <a:solidFill>
                  <a:schemeClr val="bg1">
                    <a:lumMod val="50000"/>
                  </a:schemeClr>
                </a:solidFill>
                <a:latin typeface="Montserrat" panose="00000500000000000000" pitchFamily="2" charset="0"/>
                <a:ea typeface="Calibri" pitchFamily="34" charset="-122"/>
                <a:cs typeface="Calibri" pitchFamily="34" charset="-120"/>
              </a:rPr>
              <a:t>1M</a:t>
            </a:r>
            <a:endParaRPr lang="en-US" dirty="0">
              <a:solidFill>
                <a:schemeClr val="bg1">
                  <a:lumMod val="50000"/>
                </a:schemeClr>
              </a:solidFill>
              <a:latin typeface="Montserrat" panose="00000500000000000000" pitchFamily="2" charset="0"/>
            </a:endParaRPr>
          </a:p>
        </p:txBody>
      </p:sp>
      <p:sp>
        <p:nvSpPr>
          <p:cNvPr id="18" name="Text 10">
            <a:extLst>
              <a:ext uri="{FF2B5EF4-FFF2-40B4-BE49-F238E27FC236}">
                <a16:creationId xmlns:a16="http://schemas.microsoft.com/office/drawing/2014/main" id="{29270D2E-0012-4EE9-C057-FE40C218FEBF}"/>
              </a:ext>
            </a:extLst>
          </p:cNvPr>
          <p:cNvSpPr/>
          <p:nvPr/>
        </p:nvSpPr>
        <p:spPr>
          <a:xfrm>
            <a:off x="1423589" y="2567158"/>
            <a:ext cx="2011680" cy="411480"/>
          </a:xfrm>
          <a:prstGeom prst="rect">
            <a:avLst/>
          </a:prstGeom>
          <a:noFill/>
          <a:ln/>
        </p:spPr>
        <p:txBody>
          <a:bodyPr wrap="square" lIns="0" tIns="0" rIns="0" bIns="0" rtlCol="0" anchor="ctr"/>
          <a:lstStyle/>
          <a:p>
            <a:pPr marL="0" indent="0">
              <a:buNone/>
            </a:pPr>
            <a:r>
              <a:rPr lang="en-US" sz="1600" b="1" dirty="0">
                <a:solidFill>
                  <a:srgbClr val="1B2A4A"/>
                </a:solidFill>
                <a:latin typeface="Montserrat" panose="00000500000000000000" pitchFamily="2" charset="0"/>
                <a:ea typeface="Calibri" pitchFamily="34" charset="-122"/>
                <a:cs typeface="Calibri" pitchFamily="34" charset="-120"/>
              </a:rPr>
              <a:t>Gemini 3.0</a:t>
            </a:r>
            <a:endParaRPr lang="en-US" sz="1600" dirty="0">
              <a:latin typeface="Montserrat" panose="00000500000000000000" pitchFamily="2" charset="0"/>
            </a:endParaRPr>
          </a:p>
        </p:txBody>
      </p:sp>
      <p:sp>
        <p:nvSpPr>
          <p:cNvPr id="19" name="Shape 11">
            <a:extLst>
              <a:ext uri="{FF2B5EF4-FFF2-40B4-BE49-F238E27FC236}">
                <a16:creationId xmlns:a16="http://schemas.microsoft.com/office/drawing/2014/main" id="{532C980E-E8C4-D2EA-41BA-CE1CFE395B22}"/>
              </a:ext>
            </a:extLst>
          </p:cNvPr>
          <p:cNvSpPr/>
          <p:nvPr/>
        </p:nvSpPr>
        <p:spPr>
          <a:xfrm>
            <a:off x="3526709" y="2640310"/>
            <a:ext cx="4645741" cy="274320"/>
          </a:xfrm>
          <a:prstGeom prst="rect">
            <a:avLst/>
          </a:prstGeom>
          <a:solidFill>
            <a:srgbClr val="0C1752"/>
          </a:solidFill>
          <a:ln/>
        </p:spPr>
        <p:txBody>
          <a:bodyPr/>
          <a:lstStyle/>
          <a:p>
            <a:endParaRPr lang="en-CA">
              <a:solidFill>
                <a:srgbClr val="0C1752"/>
              </a:solidFill>
            </a:endParaRPr>
          </a:p>
        </p:txBody>
      </p:sp>
      <p:sp>
        <p:nvSpPr>
          <p:cNvPr id="21" name="Text 12">
            <a:extLst>
              <a:ext uri="{FF2B5EF4-FFF2-40B4-BE49-F238E27FC236}">
                <a16:creationId xmlns:a16="http://schemas.microsoft.com/office/drawing/2014/main" id="{F4F8C250-F9EE-0240-C6FC-D7F6343AFC6D}"/>
              </a:ext>
            </a:extLst>
          </p:cNvPr>
          <p:cNvSpPr/>
          <p:nvPr/>
        </p:nvSpPr>
        <p:spPr>
          <a:xfrm>
            <a:off x="8394607" y="2598222"/>
            <a:ext cx="914400" cy="411480"/>
          </a:xfrm>
          <a:prstGeom prst="rect">
            <a:avLst/>
          </a:prstGeom>
          <a:noFill/>
          <a:ln/>
        </p:spPr>
        <p:txBody>
          <a:bodyPr wrap="square" lIns="0" tIns="0" rIns="0" bIns="0" rtlCol="0" anchor="ctr"/>
          <a:lstStyle/>
          <a:p>
            <a:pPr marL="0" indent="0">
              <a:buNone/>
            </a:pPr>
            <a:r>
              <a:rPr lang="en-US" b="1" dirty="0">
                <a:solidFill>
                  <a:srgbClr val="0C1752"/>
                </a:solidFill>
                <a:latin typeface="Montserrat" panose="00000500000000000000" pitchFamily="2" charset="0"/>
                <a:ea typeface="Calibri" pitchFamily="34" charset="-122"/>
                <a:cs typeface="Calibri" pitchFamily="34" charset="-120"/>
              </a:rPr>
              <a:t>1M</a:t>
            </a:r>
            <a:endParaRPr lang="en-US" dirty="0">
              <a:solidFill>
                <a:srgbClr val="0C1752"/>
              </a:solidFill>
              <a:latin typeface="Montserrat" panose="00000500000000000000" pitchFamily="2" charset="0"/>
            </a:endParaRPr>
          </a:p>
        </p:txBody>
      </p:sp>
      <p:sp>
        <p:nvSpPr>
          <p:cNvPr id="22" name="Text 13">
            <a:extLst>
              <a:ext uri="{FF2B5EF4-FFF2-40B4-BE49-F238E27FC236}">
                <a16:creationId xmlns:a16="http://schemas.microsoft.com/office/drawing/2014/main" id="{C44D4C51-0FE4-5D05-FAFB-6A489E75F9DE}"/>
              </a:ext>
            </a:extLst>
          </p:cNvPr>
          <p:cNvSpPr/>
          <p:nvPr/>
        </p:nvSpPr>
        <p:spPr>
          <a:xfrm>
            <a:off x="1423589" y="3115798"/>
            <a:ext cx="2011680" cy="411480"/>
          </a:xfrm>
          <a:prstGeom prst="rect">
            <a:avLst/>
          </a:prstGeom>
          <a:noFill/>
          <a:ln/>
        </p:spPr>
        <p:txBody>
          <a:bodyPr wrap="square" lIns="0" tIns="0" rIns="0" bIns="0" rtlCol="0" anchor="ctr"/>
          <a:lstStyle/>
          <a:p>
            <a:pPr marL="0" indent="0">
              <a:buNone/>
            </a:pPr>
            <a:r>
              <a:rPr lang="en-US" sz="1600" b="1" dirty="0">
                <a:solidFill>
                  <a:srgbClr val="1B2A4A"/>
                </a:solidFill>
                <a:latin typeface="Montserrat" panose="00000500000000000000" pitchFamily="2" charset="0"/>
                <a:ea typeface="Calibri" pitchFamily="34" charset="-122"/>
                <a:cs typeface="Calibri" pitchFamily="34" charset="-120"/>
              </a:rPr>
              <a:t>Llama 4 Maverick</a:t>
            </a:r>
            <a:endParaRPr lang="en-US" sz="1600" dirty="0">
              <a:latin typeface="Montserrat" panose="00000500000000000000" pitchFamily="2" charset="0"/>
            </a:endParaRPr>
          </a:p>
        </p:txBody>
      </p:sp>
      <p:sp>
        <p:nvSpPr>
          <p:cNvPr id="23" name="Shape 14">
            <a:extLst>
              <a:ext uri="{FF2B5EF4-FFF2-40B4-BE49-F238E27FC236}">
                <a16:creationId xmlns:a16="http://schemas.microsoft.com/office/drawing/2014/main" id="{26B4D30A-B359-245E-09D3-4D44C84C3174}"/>
              </a:ext>
            </a:extLst>
          </p:cNvPr>
          <p:cNvSpPr/>
          <p:nvPr/>
        </p:nvSpPr>
        <p:spPr>
          <a:xfrm>
            <a:off x="3526708" y="3188950"/>
            <a:ext cx="7388937" cy="274320"/>
          </a:xfrm>
          <a:prstGeom prst="rect">
            <a:avLst/>
          </a:prstGeom>
          <a:solidFill>
            <a:srgbClr val="1BBFD1"/>
          </a:solidFill>
          <a:ln/>
        </p:spPr>
        <p:txBody>
          <a:bodyPr/>
          <a:lstStyle/>
          <a:p>
            <a:endParaRPr lang="en-CA"/>
          </a:p>
        </p:txBody>
      </p:sp>
      <p:sp>
        <p:nvSpPr>
          <p:cNvPr id="25" name="Text 15">
            <a:extLst>
              <a:ext uri="{FF2B5EF4-FFF2-40B4-BE49-F238E27FC236}">
                <a16:creationId xmlns:a16="http://schemas.microsoft.com/office/drawing/2014/main" id="{9EF19AC7-C427-D040-AC03-2FF99B7E5764}"/>
              </a:ext>
            </a:extLst>
          </p:cNvPr>
          <p:cNvSpPr/>
          <p:nvPr/>
        </p:nvSpPr>
        <p:spPr>
          <a:xfrm>
            <a:off x="11096623" y="3136589"/>
            <a:ext cx="914400" cy="411480"/>
          </a:xfrm>
          <a:prstGeom prst="rect">
            <a:avLst/>
          </a:prstGeom>
          <a:noFill/>
          <a:ln/>
        </p:spPr>
        <p:txBody>
          <a:bodyPr wrap="square" lIns="0" tIns="0" rIns="0" bIns="0" rtlCol="0" anchor="ctr"/>
          <a:lstStyle/>
          <a:p>
            <a:pPr marL="0" indent="0">
              <a:buNone/>
            </a:pPr>
            <a:r>
              <a:rPr lang="en-US" b="1" dirty="0">
                <a:solidFill>
                  <a:srgbClr val="1BBFD1"/>
                </a:solidFill>
                <a:latin typeface="Montserrat" panose="00000500000000000000" pitchFamily="2" charset="0"/>
                <a:ea typeface="Calibri" pitchFamily="34" charset="-122"/>
                <a:cs typeface="Calibri" pitchFamily="34" charset="-120"/>
              </a:rPr>
              <a:t>10M</a:t>
            </a:r>
            <a:endParaRPr lang="en-US" dirty="0">
              <a:solidFill>
                <a:srgbClr val="1BBFD1"/>
              </a:solidFill>
              <a:latin typeface="Montserrat" panose="00000500000000000000" pitchFamily="2" charset="0"/>
            </a:endParaRPr>
          </a:p>
        </p:txBody>
      </p:sp>
      <p:sp>
        <p:nvSpPr>
          <p:cNvPr id="32" name="Shape 19">
            <a:extLst>
              <a:ext uri="{FF2B5EF4-FFF2-40B4-BE49-F238E27FC236}">
                <a16:creationId xmlns:a16="http://schemas.microsoft.com/office/drawing/2014/main" id="{89033E47-3189-C62C-2FB8-0325C01D0371}"/>
              </a:ext>
            </a:extLst>
          </p:cNvPr>
          <p:cNvSpPr/>
          <p:nvPr/>
        </p:nvSpPr>
        <p:spPr>
          <a:xfrm>
            <a:off x="689029" y="3735685"/>
            <a:ext cx="10586131" cy="923233"/>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sz="2800"/>
          </a:p>
        </p:txBody>
      </p:sp>
      <p:sp>
        <p:nvSpPr>
          <p:cNvPr id="33" name="Text 20">
            <a:extLst>
              <a:ext uri="{FF2B5EF4-FFF2-40B4-BE49-F238E27FC236}">
                <a16:creationId xmlns:a16="http://schemas.microsoft.com/office/drawing/2014/main" id="{C5EAC387-2B31-74D3-7997-DFD3B9F24BFC}"/>
              </a:ext>
            </a:extLst>
          </p:cNvPr>
          <p:cNvSpPr/>
          <p:nvPr/>
        </p:nvSpPr>
        <p:spPr>
          <a:xfrm>
            <a:off x="916840" y="3828071"/>
            <a:ext cx="2743200" cy="320040"/>
          </a:xfrm>
          <a:prstGeom prst="rect">
            <a:avLst/>
          </a:prstGeom>
          <a:noFill/>
          <a:ln/>
        </p:spPr>
        <p:txBody>
          <a:bodyPr wrap="square" lIns="0" tIns="0" rIns="0" bIns="0" rtlCol="0" anchor="ctr"/>
          <a:lstStyle/>
          <a:p>
            <a:pPr marL="0" indent="0">
              <a:buNone/>
            </a:pPr>
            <a:r>
              <a:rPr lang="en-US" sz="2000" b="1" dirty="0">
                <a:latin typeface="Montserrat" panose="00000500000000000000" pitchFamily="2" charset="0"/>
                <a:ea typeface="Calibri" pitchFamily="34" charset="-122"/>
                <a:cs typeface="Calibri" pitchFamily="34" charset="-120"/>
              </a:rPr>
              <a:t>Why it matters</a:t>
            </a:r>
            <a:endParaRPr lang="en-US" sz="2000" dirty="0">
              <a:latin typeface="Montserrat" panose="00000500000000000000" pitchFamily="2" charset="0"/>
            </a:endParaRPr>
          </a:p>
        </p:txBody>
      </p:sp>
      <p:sp>
        <p:nvSpPr>
          <p:cNvPr id="34" name="Text 21">
            <a:extLst>
              <a:ext uri="{FF2B5EF4-FFF2-40B4-BE49-F238E27FC236}">
                <a16:creationId xmlns:a16="http://schemas.microsoft.com/office/drawing/2014/main" id="{56D7E4E5-031D-C50B-7E34-FB720CD895A3}"/>
              </a:ext>
            </a:extLst>
          </p:cNvPr>
          <p:cNvSpPr/>
          <p:nvPr/>
        </p:nvSpPr>
        <p:spPr>
          <a:xfrm>
            <a:off x="1325903" y="3931955"/>
            <a:ext cx="10162332" cy="854201"/>
          </a:xfrm>
          <a:prstGeom prst="rect">
            <a:avLst/>
          </a:prstGeom>
          <a:noFill/>
          <a:ln/>
        </p:spPr>
        <p:txBody>
          <a:bodyPr wrap="square" lIns="0" tIns="0" rIns="0" bIns="0" rtlCol="0" anchor="ctr"/>
          <a:lstStyle/>
          <a:p>
            <a:pPr marL="0" indent="0">
              <a:buNone/>
            </a:pPr>
            <a:r>
              <a:rPr lang="en-US" sz="1600" dirty="0">
                <a:latin typeface="Montserrat" panose="00000500000000000000" pitchFamily="2" charset="0"/>
                <a:ea typeface="Calibri" pitchFamily="34" charset="-122"/>
                <a:cs typeface="Calibri" pitchFamily="34" charset="-120"/>
              </a:rPr>
              <a:t>Larger context = more documents, longer conversations, and complex tasks. </a:t>
            </a:r>
            <a:endParaRPr lang="en-US" sz="1600" dirty="0">
              <a:latin typeface="Montserrat" panose="00000500000000000000" pitchFamily="2" charset="0"/>
            </a:endParaRPr>
          </a:p>
        </p:txBody>
      </p:sp>
      <p:graphicFrame>
        <p:nvGraphicFramePr>
          <p:cNvPr id="38" name="Table 37">
            <a:extLst>
              <a:ext uri="{FF2B5EF4-FFF2-40B4-BE49-F238E27FC236}">
                <a16:creationId xmlns:a16="http://schemas.microsoft.com/office/drawing/2014/main" id="{38DE4487-DF52-21DA-C0A7-A43ECE69E6FA}"/>
              </a:ext>
            </a:extLst>
          </p:cNvPr>
          <p:cNvGraphicFramePr>
            <a:graphicFrameLocks noGrp="1"/>
          </p:cNvGraphicFramePr>
          <p:nvPr>
            <p:extLst>
              <p:ext uri="{D42A27DB-BD31-4B8C-83A1-F6EECF244321}">
                <p14:modId xmlns:p14="http://schemas.microsoft.com/office/powerpoint/2010/main" val="4029252679"/>
              </p:ext>
            </p:extLst>
          </p:nvPr>
        </p:nvGraphicFramePr>
        <p:xfrm>
          <a:off x="2559139" y="4890040"/>
          <a:ext cx="6580879" cy="1676400"/>
        </p:xfrm>
        <a:graphic>
          <a:graphicData uri="http://schemas.openxmlformats.org/drawingml/2006/table">
            <a:tbl>
              <a:tblPr>
                <a:tableStyleId>{0E3FDE45-AF77-4B5C-9715-49D594BDF05E}</a:tableStyleId>
              </a:tblPr>
              <a:tblGrid>
                <a:gridCol w="1941752">
                  <a:extLst>
                    <a:ext uri="{9D8B030D-6E8A-4147-A177-3AD203B41FA5}">
                      <a16:colId xmlns:a16="http://schemas.microsoft.com/office/drawing/2014/main" val="1291129798"/>
                    </a:ext>
                  </a:extLst>
                </a:gridCol>
                <a:gridCol w="4639127">
                  <a:extLst>
                    <a:ext uri="{9D8B030D-6E8A-4147-A177-3AD203B41FA5}">
                      <a16:colId xmlns:a16="http://schemas.microsoft.com/office/drawing/2014/main" val="646490295"/>
                    </a:ext>
                  </a:extLst>
                </a:gridCol>
              </a:tblGrid>
              <a:tr h="236144">
                <a:tc>
                  <a:txBody>
                    <a:bodyPr/>
                    <a:lstStyle/>
                    <a:p>
                      <a:pPr algn="ctr">
                        <a:buNone/>
                      </a:pPr>
                      <a:r>
                        <a:rPr lang="en-CA" sz="1600" b="1" dirty="0">
                          <a:latin typeface="Montserrat" panose="00000500000000000000" pitchFamily="2" charset="0"/>
                        </a:rPr>
                        <a:t>Model</a:t>
                      </a:r>
                    </a:p>
                  </a:txBody>
                  <a:tcPr anchor="ctr"/>
                </a:tc>
                <a:tc>
                  <a:txBody>
                    <a:bodyPr/>
                    <a:lstStyle/>
                    <a:p>
                      <a:pPr algn="ctr">
                        <a:buNone/>
                      </a:pPr>
                      <a:r>
                        <a:rPr lang="en-CA" sz="1600" b="1" dirty="0">
                          <a:latin typeface="Montserrat" panose="00000500000000000000" pitchFamily="2" charset="0"/>
                        </a:rPr>
                        <a:t>Tokens</a:t>
                      </a:r>
                    </a:p>
                  </a:txBody>
                  <a:tcPr anchor="ctr"/>
                </a:tc>
                <a:extLst>
                  <a:ext uri="{0D108BD9-81ED-4DB2-BD59-A6C34878D82A}">
                    <a16:rowId xmlns:a16="http://schemas.microsoft.com/office/drawing/2014/main" val="2076730139"/>
                  </a:ext>
                </a:extLst>
              </a:tr>
              <a:tr h="236144">
                <a:tc>
                  <a:txBody>
                    <a:bodyPr/>
                    <a:lstStyle/>
                    <a:p>
                      <a:pPr algn="ctr">
                        <a:buNone/>
                      </a:pPr>
                      <a:r>
                        <a:rPr lang="en-CA" sz="1600" dirty="0">
                          <a:latin typeface="Montserrat" panose="00000500000000000000" pitchFamily="2" charset="0"/>
                        </a:rPr>
                        <a:t>128K</a:t>
                      </a:r>
                    </a:p>
                  </a:txBody>
                  <a:tcPr anchor="ctr"/>
                </a:tc>
                <a:tc>
                  <a:txBody>
                    <a:bodyPr/>
                    <a:lstStyle/>
                    <a:p>
                      <a:pPr algn="ctr">
                        <a:buNone/>
                      </a:pPr>
                      <a:r>
                        <a:rPr lang="en-CA" sz="1600" dirty="0">
                          <a:latin typeface="Montserrat" panose="00000500000000000000" pitchFamily="2" charset="0"/>
                        </a:rPr>
                        <a:t>~300 pages</a:t>
                      </a:r>
                    </a:p>
                  </a:txBody>
                  <a:tcPr anchor="ctr"/>
                </a:tc>
                <a:extLst>
                  <a:ext uri="{0D108BD9-81ED-4DB2-BD59-A6C34878D82A}">
                    <a16:rowId xmlns:a16="http://schemas.microsoft.com/office/drawing/2014/main" val="761086204"/>
                  </a:ext>
                </a:extLst>
              </a:tr>
              <a:tr h="236144">
                <a:tc>
                  <a:txBody>
                    <a:bodyPr/>
                    <a:lstStyle/>
                    <a:p>
                      <a:pPr algn="ctr">
                        <a:buNone/>
                      </a:pPr>
                      <a:r>
                        <a:rPr lang="en-CA" sz="1600">
                          <a:latin typeface="Montserrat" panose="00000500000000000000" pitchFamily="2" charset="0"/>
                        </a:rPr>
                        <a:t>400K</a:t>
                      </a:r>
                    </a:p>
                  </a:txBody>
                  <a:tcPr anchor="ctr"/>
                </a:tc>
                <a:tc>
                  <a:txBody>
                    <a:bodyPr/>
                    <a:lstStyle/>
                    <a:p>
                      <a:pPr algn="ctr">
                        <a:buNone/>
                      </a:pPr>
                      <a:r>
                        <a:rPr lang="en-CA" sz="1600" dirty="0">
                          <a:latin typeface="Montserrat" panose="00000500000000000000" pitchFamily="2" charset="0"/>
                        </a:rPr>
                        <a:t>~1,200 pages</a:t>
                      </a:r>
                    </a:p>
                  </a:txBody>
                  <a:tcPr anchor="ctr"/>
                </a:tc>
                <a:extLst>
                  <a:ext uri="{0D108BD9-81ED-4DB2-BD59-A6C34878D82A}">
                    <a16:rowId xmlns:a16="http://schemas.microsoft.com/office/drawing/2014/main" val="1195696201"/>
                  </a:ext>
                </a:extLst>
              </a:tr>
              <a:tr h="236144">
                <a:tc>
                  <a:txBody>
                    <a:bodyPr/>
                    <a:lstStyle/>
                    <a:p>
                      <a:pPr algn="ctr">
                        <a:buNone/>
                      </a:pPr>
                      <a:r>
                        <a:rPr lang="en-CA" sz="1600">
                          <a:latin typeface="Montserrat" panose="00000500000000000000" pitchFamily="2" charset="0"/>
                        </a:rPr>
                        <a:t>1M</a:t>
                      </a:r>
                    </a:p>
                  </a:txBody>
                  <a:tcPr anchor="ctr"/>
                </a:tc>
                <a:tc>
                  <a:txBody>
                    <a:bodyPr/>
                    <a:lstStyle/>
                    <a:p>
                      <a:pPr algn="ctr">
                        <a:buNone/>
                      </a:pPr>
                      <a:r>
                        <a:rPr lang="en-CA" sz="1600" dirty="0">
                          <a:latin typeface="Montserrat" panose="00000500000000000000" pitchFamily="2" charset="0"/>
                        </a:rPr>
                        <a:t>~2,500–3,000 pages</a:t>
                      </a:r>
                    </a:p>
                  </a:txBody>
                  <a:tcPr anchor="ctr"/>
                </a:tc>
                <a:extLst>
                  <a:ext uri="{0D108BD9-81ED-4DB2-BD59-A6C34878D82A}">
                    <a16:rowId xmlns:a16="http://schemas.microsoft.com/office/drawing/2014/main" val="553903336"/>
                  </a:ext>
                </a:extLst>
              </a:tr>
              <a:tr h="236144">
                <a:tc>
                  <a:txBody>
                    <a:bodyPr/>
                    <a:lstStyle/>
                    <a:p>
                      <a:pPr algn="ctr">
                        <a:buNone/>
                      </a:pPr>
                      <a:r>
                        <a:rPr lang="en-CA" sz="1600">
                          <a:latin typeface="Montserrat" panose="00000500000000000000" pitchFamily="2" charset="0"/>
                        </a:rPr>
                        <a:t>10M</a:t>
                      </a:r>
                    </a:p>
                  </a:txBody>
                  <a:tcPr anchor="ctr"/>
                </a:tc>
                <a:tc>
                  <a:txBody>
                    <a:bodyPr/>
                    <a:lstStyle/>
                    <a:p>
                      <a:pPr algn="ctr">
                        <a:buNone/>
                      </a:pPr>
                      <a:r>
                        <a:rPr lang="en-CA" sz="1600" dirty="0">
                          <a:latin typeface="Montserrat" panose="00000500000000000000" pitchFamily="2" charset="0"/>
                        </a:rPr>
                        <a:t>Entire codebase / archive</a:t>
                      </a:r>
                    </a:p>
                  </a:txBody>
                  <a:tcPr anchor="ctr"/>
                </a:tc>
                <a:extLst>
                  <a:ext uri="{0D108BD9-81ED-4DB2-BD59-A6C34878D82A}">
                    <a16:rowId xmlns:a16="http://schemas.microsoft.com/office/drawing/2014/main" val="52615529"/>
                  </a:ext>
                </a:extLst>
              </a:tr>
            </a:tbl>
          </a:graphicData>
        </a:graphic>
      </p:graphicFrame>
    </p:spTree>
    <p:extLst>
      <p:ext uri="{BB962C8B-B14F-4D97-AF65-F5344CB8AC3E}">
        <p14:creationId xmlns:p14="http://schemas.microsoft.com/office/powerpoint/2010/main" val="707036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ppt_x"/>
                                          </p:val>
                                        </p:tav>
                                        <p:tav tm="100000">
                                          <p:val>
                                            <p:strVal val="#ppt_x"/>
                                          </p:val>
                                        </p:tav>
                                      </p:tavLst>
                                    </p:anim>
                                    <p:anim calcmode="lin" valueType="num">
                                      <p:cBhvr additive="base">
                                        <p:cTn id="24" dur="500" fill="hold"/>
                                        <p:tgtEl>
                                          <p:spTgt spid="13"/>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additive="base">
                                        <p:cTn id="27" dur="500" fill="hold"/>
                                        <p:tgtEl>
                                          <p:spTgt spid="17"/>
                                        </p:tgtEl>
                                        <p:attrNameLst>
                                          <p:attrName>ppt_x</p:attrName>
                                        </p:attrNameLst>
                                      </p:cBhvr>
                                      <p:tavLst>
                                        <p:tav tm="0">
                                          <p:val>
                                            <p:strVal val="#ppt_x"/>
                                          </p:val>
                                        </p:tav>
                                        <p:tav tm="100000">
                                          <p:val>
                                            <p:strVal val="#ppt_x"/>
                                          </p:val>
                                        </p:tav>
                                      </p:tavLst>
                                    </p:anim>
                                    <p:anim calcmode="lin" valueType="num">
                                      <p:cBhvr additive="base">
                                        <p:cTn id="28" dur="500" fill="hold"/>
                                        <p:tgtEl>
                                          <p:spTgt spid="17"/>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ppt_x"/>
                                          </p:val>
                                        </p:tav>
                                        <p:tav tm="100000">
                                          <p:val>
                                            <p:strVal val="#ppt_x"/>
                                          </p:val>
                                        </p:tav>
                                      </p:tavLst>
                                    </p:anim>
                                    <p:anim calcmode="lin" valueType="num">
                                      <p:cBhvr additive="base">
                                        <p:cTn id="32" dur="500" fill="hold"/>
                                        <p:tgtEl>
                                          <p:spTgt spid="18"/>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 calcmode="lin" valueType="num">
                                      <p:cBhvr additive="base">
                                        <p:cTn id="35" dur="500" fill="hold"/>
                                        <p:tgtEl>
                                          <p:spTgt spid="19"/>
                                        </p:tgtEl>
                                        <p:attrNameLst>
                                          <p:attrName>ppt_x</p:attrName>
                                        </p:attrNameLst>
                                      </p:cBhvr>
                                      <p:tavLst>
                                        <p:tav tm="0">
                                          <p:val>
                                            <p:strVal val="#ppt_x"/>
                                          </p:val>
                                        </p:tav>
                                        <p:tav tm="100000">
                                          <p:val>
                                            <p:strVal val="#ppt_x"/>
                                          </p:val>
                                        </p:tav>
                                      </p:tavLst>
                                    </p:anim>
                                    <p:anim calcmode="lin" valueType="num">
                                      <p:cBhvr additive="base">
                                        <p:cTn id="36" dur="500" fill="hold"/>
                                        <p:tgtEl>
                                          <p:spTgt spid="19"/>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 calcmode="lin" valueType="num">
                                      <p:cBhvr additive="base">
                                        <p:cTn id="39" dur="500" fill="hold"/>
                                        <p:tgtEl>
                                          <p:spTgt spid="21"/>
                                        </p:tgtEl>
                                        <p:attrNameLst>
                                          <p:attrName>ppt_x</p:attrName>
                                        </p:attrNameLst>
                                      </p:cBhvr>
                                      <p:tavLst>
                                        <p:tav tm="0">
                                          <p:val>
                                            <p:strVal val="#ppt_x"/>
                                          </p:val>
                                        </p:tav>
                                        <p:tav tm="100000">
                                          <p:val>
                                            <p:strVal val="#ppt_x"/>
                                          </p:val>
                                        </p:tav>
                                      </p:tavLst>
                                    </p:anim>
                                    <p:anim calcmode="lin" valueType="num">
                                      <p:cBhvr additive="base">
                                        <p:cTn id="40" dur="500" fill="hold"/>
                                        <p:tgtEl>
                                          <p:spTgt spid="21"/>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anim calcmode="lin" valueType="num">
                                      <p:cBhvr additive="base">
                                        <p:cTn id="43" dur="500" fill="hold"/>
                                        <p:tgtEl>
                                          <p:spTgt spid="22"/>
                                        </p:tgtEl>
                                        <p:attrNameLst>
                                          <p:attrName>ppt_x</p:attrName>
                                        </p:attrNameLst>
                                      </p:cBhvr>
                                      <p:tavLst>
                                        <p:tav tm="0">
                                          <p:val>
                                            <p:strVal val="#ppt_x"/>
                                          </p:val>
                                        </p:tav>
                                        <p:tav tm="100000">
                                          <p:val>
                                            <p:strVal val="#ppt_x"/>
                                          </p:val>
                                        </p:tav>
                                      </p:tavLst>
                                    </p:anim>
                                    <p:anim calcmode="lin" valueType="num">
                                      <p:cBhvr additive="base">
                                        <p:cTn id="44" dur="500" fill="hold"/>
                                        <p:tgtEl>
                                          <p:spTgt spid="22"/>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anim calcmode="lin" valueType="num">
                                      <p:cBhvr additive="base">
                                        <p:cTn id="47" dur="500" fill="hold"/>
                                        <p:tgtEl>
                                          <p:spTgt spid="23"/>
                                        </p:tgtEl>
                                        <p:attrNameLst>
                                          <p:attrName>ppt_x</p:attrName>
                                        </p:attrNameLst>
                                      </p:cBhvr>
                                      <p:tavLst>
                                        <p:tav tm="0">
                                          <p:val>
                                            <p:strVal val="#ppt_x"/>
                                          </p:val>
                                        </p:tav>
                                        <p:tav tm="100000">
                                          <p:val>
                                            <p:strVal val="#ppt_x"/>
                                          </p:val>
                                        </p:tav>
                                      </p:tavLst>
                                    </p:anim>
                                    <p:anim calcmode="lin" valueType="num">
                                      <p:cBhvr additive="base">
                                        <p:cTn id="48" dur="500" fill="hold"/>
                                        <p:tgtEl>
                                          <p:spTgt spid="23"/>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25"/>
                                        </p:tgtEl>
                                        <p:attrNameLst>
                                          <p:attrName>style.visibility</p:attrName>
                                        </p:attrNameLst>
                                      </p:cBhvr>
                                      <p:to>
                                        <p:strVal val="visible"/>
                                      </p:to>
                                    </p:set>
                                    <p:anim calcmode="lin" valueType="num">
                                      <p:cBhvr additive="base">
                                        <p:cTn id="51" dur="500" fill="hold"/>
                                        <p:tgtEl>
                                          <p:spTgt spid="25"/>
                                        </p:tgtEl>
                                        <p:attrNameLst>
                                          <p:attrName>ppt_x</p:attrName>
                                        </p:attrNameLst>
                                      </p:cBhvr>
                                      <p:tavLst>
                                        <p:tav tm="0">
                                          <p:val>
                                            <p:strVal val="#ppt_x"/>
                                          </p:val>
                                        </p:tav>
                                        <p:tav tm="100000">
                                          <p:val>
                                            <p:strVal val="#ppt_x"/>
                                          </p:val>
                                        </p:tav>
                                      </p:tavLst>
                                    </p:anim>
                                    <p:anim calcmode="lin" valueType="num">
                                      <p:cBhvr additive="base">
                                        <p:cTn id="52"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2"/>
                                        </p:tgtEl>
                                        <p:attrNameLst>
                                          <p:attrName>style.visibility</p:attrName>
                                        </p:attrNameLst>
                                      </p:cBhvr>
                                      <p:to>
                                        <p:strVal val="visible"/>
                                      </p:to>
                                    </p:set>
                                    <p:animEffect transition="in" filter="fade">
                                      <p:cBhvr>
                                        <p:cTn id="57" dur="500"/>
                                        <p:tgtEl>
                                          <p:spTgt spid="3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3"/>
                                        </p:tgtEl>
                                        <p:attrNameLst>
                                          <p:attrName>style.visibility</p:attrName>
                                        </p:attrNameLst>
                                      </p:cBhvr>
                                      <p:to>
                                        <p:strVal val="visible"/>
                                      </p:to>
                                    </p:set>
                                    <p:animEffect transition="in" filter="fade">
                                      <p:cBhvr>
                                        <p:cTn id="60" dur="500"/>
                                        <p:tgtEl>
                                          <p:spTgt spid="3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4"/>
                                        </p:tgtEl>
                                        <p:attrNameLst>
                                          <p:attrName>style.visibility</p:attrName>
                                        </p:attrNameLst>
                                      </p:cBhvr>
                                      <p:to>
                                        <p:strVal val="visible"/>
                                      </p:to>
                                    </p:set>
                                    <p:animEffect transition="in" filter="fade">
                                      <p:cBhvr>
                                        <p:cTn id="63" dur="500"/>
                                        <p:tgtEl>
                                          <p:spTgt spid="34"/>
                                        </p:tgtEl>
                                      </p:cBhvr>
                                    </p:animEffect>
                                  </p:childTnLst>
                                </p:cTn>
                              </p:par>
                              <p:par>
                                <p:cTn id="64" presetID="10" presetClass="entr" presetSubtype="0" fill="hold" nodeType="withEffect">
                                  <p:stCondLst>
                                    <p:cond delay="0"/>
                                  </p:stCondLst>
                                  <p:childTnLst>
                                    <p:set>
                                      <p:cBhvr>
                                        <p:cTn id="65" dur="1" fill="hold">
                                          <p:stCondLst>
                                            <p:cond delay="0"/>
                                          </p:stCondLst>
                                        </p:cTn>
                                        <p:tgtEl>
                                          <p:spTgt spid="38"/>
                                        </p:tgtEl>
                                        <p:attrNameLst>
                                          <p:attrName>style.visibility</p:attrName>
                                        </p:attrNameLst>
                                      </p:cBhvr>
                                      <p:to>
                                        <p:strVal val="visible"/>
                                      </p:to>
                                    </p:set>
                                    <p:animEffect transition="in" filter="fade">
                                      <p:cBhvr>
                                        <p:cTn id="66"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2" grpId="0" animBg="1"/>
      <p:bldP spid="13" grpId="0" animBg="1"/>
      <p:bldP spid="17" grpId="0" animBg="1"/>
      <p:bldP spid="18" grpId="0" animBg="1"/>
      <p:bldP spid="19" grpId="0" animBg="1"/>
      <p:bldP spid="21" grpId="0" animBg="1"/>
      <p:bldP spid="22" grpId="0" animBg="1"/>
      <p:bldP spid="23" grpId="0" animBg="1"/>
      <p:bldP spid="25" grpId="0" animBg="1"/>
      <p:bldP spid="32" grpId="0" animBg="1"/>
      <p:bldP spid="33" grpId="0" animBg="1"/>
      <p:bldP spid="3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909FB-E671-B17D-77BB-65311A51D4C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F45C378-4A8E-9187-A206-DB4730F91548}"/>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0A225B6F-0705-62E5-DF16-79898F062A86}"/>
              </a:ext>
            </a:extLst>
          </p:cNvPr>
          <p:cNvPicPr>
            <a:picLocks noChangeAspect="1"/>
          </p:cNvPicPr>
          <p:nvPr/>
        </p:nvPicPr>
        <p:blipFill>
          <a:blip r:embed="rId2"/>
          <a:stretch>
            <a:fillRect/>
          </a:stretch>
        </p:blipFill>
        <p:spPr>
          <a:xfrm>
            <a:off x="3496990" y="1992488"/>
            <a:ext cx="5198017" cy="1436512"/>
          </a:xfrm>
          <a:prstGeom prst="rect">
            <a:avLst/>
          </a:prstGeom>
        </p:spPr>
      </p:pic>
      <p:sp>
        <p:nvSpPr>
          <p:cNvPr id="6" name="Rectangle 5">
            <a:extLst>
              <a:ext uri="{FF2B5EF4-FFF2-40B4-BE49-F238E27FC236}">
                <a16:creationId xmlns:a16="http://schemas.microsoft.com/office/drawing/2014/main" id="{AEA9FA6F-A71D-92D5-9E16-A91F986E09CE}"/>
              </a:ext>
            </a:extLst>
          </p:cNvPr>
          <p:cNvSpPr/>
          <p:nvPr/>
        </p:nvSpPr>
        <p:spPr>
          <a:xfrm>
            <a:off x="3306715" y="3495040"/>
            <a:ext cx="5578566" cy="707886"/>
          </a:xfrm>
          <a:prstGeom prst="rect">
            <a:avLst/>
          </a:prstGeom>
        </p:spPr>
        <p:txBody>
          <a:bodyPr wrap="square">
            <a:spAutoFit/>
          </a:bodyPr>
          <a:lstStyle/>
          <a:p>
            <a:pPr algn="ctr"/>
            <a:r>
              <a:rPr lang="en-US" sz="4000" dirty="0">
                <a:solidFill>
                  <a:schemeClr val="bg1"/>
                </a:solidFill>
                <a:latin typeface="Montserrat" charset="0"/>
                <a:ea typeface="Montserrat" charset="0"/>
                <a:cs typeface="Montserrat" charset="0"/>
              </a:rPr>
              <a:t>Thank you!</a:t>
            </a:r>
          </a:p>
        </p:txBody>
      </p:sp>
    </p:spTree>
    <p:extLst>
      <p:ext uri="{BB962C8B-B14F-4D97-AF65-F5344CB8AC3E}">
        <p14:creationId xmlns:p14="http://schemas.microsoft.com/office/powerpoint/2010/main" val="25961540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6270</TotalTime>
  <Words>1023</Words>
  <Application>Microsoft Office PowerPoint</Application>
  <PresentationFormat>Widescreen</PresentationFormat>
  <Paragraphs>127</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Calibri Light</vt:lpstr>
      <vt:lpstr>Cambria</vt:lpstr>
      <vt:lpstr>Courier New</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kukesh kodess</dc:creator>
  <cp:lastModifiedBy>Ryan Ahmed</cp:lastModifiedBy>
  <cp:revision>620</cp:revision>
  <dcterms:created xsi:type="dcterms:W3CDTF">2019-11-18T17:58:36Z</dcterms:created>
  <dcterms:modified xsi:type="dcterms:W3CDTF">2026-05-12T05:40:27Z</dcterms:modified>
</cp:coreProperties>
</file>